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media/image2.jpg" ContentType="image/jp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2"/>
  </p:notesMasterIdLst>
  <p:sldIdLst>
    <p:sldId id="257" r:id="rId2"/>
    <p:sldId id="1897" r:id="rId3"/>
    <p:sldId id="1898" r:id="rId4"/>
    <p:sldId id="1971" r:id="rId5"/>
    <p:sldId id="1972" r:id="rId6"/>
    <p:sldId id="1973" r:id="rId7"/>
    <p:sldId id="1974" r:id="rId8"/>
    <p:sldId id="1975" r:id="rId9"/>
    <p:sldId id="1976" r:id="rId10"/>
    <p:sldId id="1977" r:id="rId11"/>
    <p:sldId id="1978" r:id="rId12"/>
    <p:sldId id="1979" r:id="rId13"/>
    <p:sldId id="1980" r:id="rId14"/>
    <p:sldId id="1981" r:id="rId15"/>
    <p:sldId id="1982" r:id="rId16"/>
    <p:sldId id="1983" r:id="rId17"/>
    <p:sldId id="1984" r:id="rId18"/>
    <p:sldId id="1985" r:id="rId19"/>
    <p:sldId id="1986" r:id="rId20"/>
    <p:sldId id="1987" r:id="rId21"/>
    <p:sldId id="1988" r:id="rId22"/>
    <p:sldId id="1989" r:id="rId23"/>
    <p:sldId id="1990" r:id="rId24"/>
    <p:sldId id="1991" r:id="rId25"/>
    <p:sldId id="1992" r:id="rId26"/>
    <p:sldId id="1993" r:id="rId27"/>
    <p:sldId id="1994" r:id="rId28"/>
    <p:sldId id="1995" r:id="rId29"/>
    <p:sldId id="1996" r:id="rId30"/>
    <p:sldId id="1997" r:id="rId31"/>
    <p:sldId id="1998" r:id="rId32"/>
    <p:sldId id="1999" r:id="rId33"/>
    <p:sldId id="2000" r:id="rId34"/>
    <p:sldId id="2001" r:id="rId35"/>
    <p:sldId id="2002" r:id="rId36"/>
    <p:sldId id="2003" r:id="rId37"/>
    <p:sldId id="2004" r:id="rId38"/>
    <p:sldId id="2005" r:id="rId39"/>
    <p:sldId id="2006" r:id="rId40"/>
    <p:sldId id="2007" r:id="rId41"/>
    <p:sldId id="2008" r:id="rId42"/>
    <p:sldId id="2009" r:id="rId43"/>
    <p:sldId id="2010" r:id="rId44"/>
    <p:sldId id="2011" r:id="rId45"/>
    <p:sldId id="2012" r:id="rId46"/>
    <p:sldId id="2013" r:id="rId47"/>
    <p:sldId id="2014" r:id="rId48"/>
    <p:sldId id="2015" r:id="rId49"/>
    <p:sldId id="2016" r:id="rId50"/>
    <p:sldId id="2017" r:id="rId51"/>
    <p:sldId id="2018" r:id="rId52"/>
    <p:sldId id="2019" r:id="rId53"/>
    <p:sldId id="2020" r:id="rId54"/>
    <p:sldId id="2021" r:id="rId55"/>
    <p:sldId id="2022" r:id="rId56"/>
    <p:sldId id="2023" r:id="rId57"/>
    <p:sldId id="2024" r:id="rId58"/>
    <p:sldId id="2025" r:id="rId59"/>
    <p:sldId id="2026" r:id="rId60"/>
    <p:sldId id="2027" r:id="rId61"/>
    <p:sldId id="2028" r:id="rId62"/>
    <p:sldId id="2029" r:id="rId63"/>
    <p:sldId id="2030" r:id="rId64"/>
    <p:sldId id="2031" r:id="rId65"/>
    <p:sldId id="2032" r:id="rId66"/>
    <p:sldId id="2033" r:id="rId67"/>
    <p:sldId id="2034" r:id="rId68"/>
    <p:sldId id="2035" r:id="rId69"/>
    <p:sldId id="2036" r:id="rId70"/>
    <p:sldId id="2037" r:id="rId71"/>
    <p:sldId id="2038" r:id="rId72"/>
    <p:sldId id="2039" r:id="rId73"/>
    <p:sldId id="2040" r:id="rId74"/>
    <p:sldId id="2041" r:id="rId75"/>
    <p:sldId id="2042" r:id="rId76"/>
    <p:sldId id="2043" r:id="rId77"/>
    <p:sldId id="2044" r:id="rId78"/>
    <p:sldId id="2045" r:id="rId79"/>
    <p:sldId id="2046" r:id="rId80"/>
    <p:sldId id="2047" r:id="rId81"/>
    <p:sldId id="2048" r:id="rId82"/>
    <p:sldId id="2049" r:id="rId83"/>
    <p:sldId id="2050" r:id="rId84"/>
    <p:sldId id="2051" r:id="rId85"/>
    <p:sldId id="2052" r:id="rId86"/>
    <p:sldId id="2053" r:id="rId87"/>
    <p:sldId id="2054" r:id="rId88"/>
    <p:sldId id="2055" r:id="rId89"/>
    <p:sldId id="2056" r:id="rId90"/>
    <p:sldId id="2057" r:id="rId91"/>
    <p:sldId id="2058" r:id="rId92"/>
    <p:sldId id="2059" r:id="rId93"/>
    <p:sldId id="2060" r:id="rId94"/>
    <p:sldId id="2061" r:id="rId95"/>
    <p:sldId id="2062" r:id="rId96"/>
    <p:sldId id="2063" r:id="rId97"/>
    <p:sldId id="2064" r:id="rId98"/>
    <p:sldId id="2065" r:id="rId99"/>
    <p:sldId id="2066" r:id="rId100"/>
    <p:sldId id="2067" r:id="rId101"/>
    <p:sldId id="2068" r:id="rId102"/>
    <p:sldId id="2069" r:id="rId103"/>
    <p:sldId id="2070" r:id="rId104"/>
    <p:sldId id="2071" r:id="rId105"/>
    <p:sldId id="2072" r:id="rId106"/>
    <p:sldId id="2073" r:id="rId107"/>
    <p:sldId id="2074" r:id="rId108"/>
    <p:sldId id="2075" r:id="rId109"/>
    <p:sldId id="2076" r:id="rId110"/>
    <p:sldId id="2077" r:id="rId111"/>
    <p:sldId id="2078" r:id="rId112"/>
    <p:sldId id="2079" r:id="rId113"/>
    <p:sldId id="2080" r:id="rId114"/>
    <p:sldId id="2081" r:id="rId115"/>
    <p:sldId id="2082" r:id="rId116"/>
    <p:sldId id="2083" r:id="rId117"/>
    <p:sldId id="2084" r:id="rId118"/>
    <p:sldId id="1871" r:id="rId119"/>
    <p:sldId id="749" r:id="rId120"/>
    <p:sldId id="353" r:id="rId1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50" d="100"/>
          <a:sy n="50" d="100"/>
        </p:scale>
        <p:origin x="1723" y="4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697DCA-64BC-45F8-BF68-471B4397264F}" type="datetimeFigureOut">
              <a:rPr lang="en-US" smtClean="0"/>
              <a:t>4/23/2026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AD0D0B-8444-4E13-B800-D172D14A68D8}" type="slidenum">
              <a:rPr lang="en-US" smtClean="0"/>
              <a:t>‹#›</a:t>
            </a:fld>
            <a:endParaRPr lang="en-US"/>
          </a:p>
        </p:txBody>
      </p:sp>
    </p:spTree>
    <p:extLst>
      <p:ext uri="{BB962C8B-B14F-4D97-AF65-F5344CB8AC3E}">
        <p14:creationId xmlns:p14="http://schemas.microsoft.com/office/powerpoint/2010/main" val="29120987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E8BA0-3567-A69C-89D5-35649AD8AD4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9BFD70E-1D55-8D25-8E4D-7902E6D8090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E743844-3636-B493-A041-6B9449A09C07}"/>
              </a:ext>
            </a:extLst>
          </p:cNvPr>
          <p:cNvSpPr>
            <a:spLocks noGrp="1"/>
          </p:cNvSpPr>
          <p:nvPr>
            <p:ph type="dt" sz="half" idx="10"/>
          </p:nvPr>
        </p:nvSpPr>
        <p:spPr/>
        <p:txBody>
          <a:bodyPr/>
          <a:lstStyle/>
          <a:p>
            <a:fld id="{65187918-C88E-4AE8-98BA-82190638546D}" type="datetimeFigureOut">
              <a:rPr lang="en-US" smtClean="0"/>
              <a:t>4/23/2026</a:t>
            </a:fld>
            <a:endParaRPr lang="en-US"/>
          </a:p>
        </p:txBody>
      </p:sp>
      <p:sp>
        <p:nvSpPr>
          <p:cNvPr id="5" name="Footer Placeholder 4">
            <a:extLst>
              <a:ext uri="{FF2B5EF4-FFF2-40B4-BE49-F238E27FC236}">
                <a16:creationId xmlns:a16="http://schemas.microsoft.com/office/drawing/2014/main" id="{1FFAC05F-0F8E-0A34-83EA-FF89BD7510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8DFA5B-DBEC-459E-DE20-69CCB6B8C422}"/>
              </a:ext>
            </a:extLst>
          </p:cNvPr>
          <p:cNvSpPr>
            <a:spLocks noGrp="1"/>
          </p:cNvSpPr>
          <p:nvPr>
            <p:ph type="sldNum" sz="quarter" idx="12"/>
          </p:nvPr>
        </p:nvSpPr>
        <p:spPr/>
        <p:txBody>
          <a:bodyPr/>
          <a:lstStyle/>
          <a:p>
            <a:fld id="{CDE7C756-0902-4473-83B7-28EB270F081E}" type="slidenum">
              <a:rPr lang="en-US" smtClean="0"/>
              <a:t>‹#›</a:t>
            </a:fld>
            <a:endParaRPr lang="en-US"/>
          </a:p>
        </p:txBody>
      </p:sp>
    </p:spTree>
    <p:extLst>
      <p:ext uri="{BB962C8B-B14F-4D97-AF65-F5344CB8AC3E}">
        <p14:creationId xmlns:p14="http://schemas.microsoft.com/office/powerpoint/2010/main" val="1123747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82B09-6193-D2CF-28A5-F10D004F88A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535128D-32CD-ED17-13D9-5D1FEF1A32C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F0ACAA-AC57-8F09-F181-C7E6CEF4DABA}"/>
              </a:ext>
            </a:extLst>
          </p:cNvPr>
          <p:cNvSpPr>
            <a:spLocks noGrp="1"/>
          </p:cNvSpPr>
          <p:nvPr>
            <p:ph type="dt" sz="half" idx="10"/>
          </p:nvPr>
        </p:nvSpPr>
        <p:spPr/>
        <p:txBody>
          <a:bodyPr/>
          <a:lstStyle/>
          <a:p>
            <a:fld id="{65187918-C88E-4AE8-98BA-82190638546D}" type="datetimeFigureOut">
              <a:rPr lang="en-US" smtClean="0"/>
              <a:t>4/23/2026</a:t>
            </a:fld>
            <a:endParaRPr lang="en-US"/>
          </a:p>
        </p:txBody>
      </p:sp>
      <p:sp>
        <p:nvSpPr>
          <p:cNvPr id="5" name="Footer Placeholder 4">
            <a:extLst>
              <a:ext uri="{FF2B5EF4-FFF2-40B4-BE49-F238E27FC236}">
                <a16:creationId xmlns:a16="http://schemas.microsoft.com/office/drawing/2014/main" id="{C75FEFC4-B2D3-6536-6686-3E34538126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BFBAAB-91C7-139B-EB52-F4E313439669}"/>
              </a:ext>
            </a:extLst>
          </p:cNvPr>
          <p:cNvSpPr>
            <a:spLocks noGrp="1"/>
          </p:cNvSpPr>
          <p:nvPr>
            <p:ph type="sldNum" sz="quarter" idx="12"/>
          </p:nvPr>
        </p:nvSpPr>
        <p:spPr/>
        <p:txBody>
          <a:bodyPr/>
          <a:lstStyle/>
          <a:p>
            <a:fld id="{CDE7C756-0902-4473-83B7-28EB270F081E}" type="slidenum">
              <a:rPr lang="en-US" smtClean="0"/>
              <a:t>‹#›</a:t>
            </a:fld>
            <a:endParaRPr lang="en-US"/>
          </a:p>
        </p:txBody>
      </p:sp>
    </p:spTree>
    <p:extLst>
      <p:ext uri="{BB962C8B-B14F-4D97-AF65-F5344CB8AC3E}">
        <p14:creationId xmlns:p14="http://schemas.microsoft.com/office/powerpoint/2010/main" val="13061472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765FC-76F4-ADE5-9E7F-9C38C892770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58616C1-C975-6067-2B7F-DB9F155945F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1DA170B-965A-0241-0525-B2ABC4FB04DB}"/>
              </a:ext>
            </a:extLst>
          </p:cNvPr>
          <p:cNvSpPr>
            <a:spLocks noGrp="1"/>
          </p:cNvSpPr>
          <p:nvPr>
            <p:ph type="dt" sz="half" idx="10"/>
          </p:nvPr>
        </p:nvSpPr>
        <p:spPr/>
        <p:txBody>
          <a:bodyPr/>
          <a:lstStyle/>
          <a:p>
            <a:fld id="{65187918-C88E-4AE8-98BA-82190638546D}" type="datetimeFigureOut">
              <a:rPr lang="en-US" smtClean="0"/>
              <a:t>4/23/2026</a:t>
            </a:fld>
            <a:endParaRPr lang="en-US"/>
          </a:p>
        </p:txBody>
      </p:sp>
      <p:sp>
        <p:nvSpPr>
          <p:cNvPr id="5" name="Footer Placeholder 4">
            <a:extLst>
              <a:ext uri="{FF2B5EF4-FFF2-40B4-BE49-F238E27FC236}">
                <a16:creationId xmlns:a16="http://schemas.microsoft.com/office/drawing/2014/main" id="{F8FB2E0F-705A-6BE2-C9AF-3547914E22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FF3A05-66F5-6587-251F-AFB191B71610}"/>
              </a:ext>
            </a:extLst>
          </p:cNvPr>
          <p:cNvSpPr>
            <a:spLocks noGrp="1"/>
          </p:cNvSpPr>
          <p:nvPr>
            <p:ph type="sldNum" sz="quarter" idx="12"/>
          </p:nvPr>
        </p:nvSpPr>
        <p:spPr/>
        <p:txBody>
          <a:bodyPr/>
          <a:lstStyle/>
          <a:p>
            <a:fld id="{CDE7C756-0902-4473-83B7-28EB270F081E}" type="slidenum">
              <a:rPr lang="en-US" smtClean="0"/>
              <a:t>‹#›</a:t>
            </a:fld>
            <a:endParaRPr lang="en-US"/>
          </a:p>
        </p:txBody>
      </p:sp>
    </p:spTree>
    <p:extLst>
      <p:ext uri="{BB962C8B-B14F-4D97-AF65-F5344CB8AC3E}">
        <p14:creationId xmlns:p14="http://schemas.microsoft.com/office/powerpoint/2010/main" val="209234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38300-E4D2-4208-EAB8-E99C531EFF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7C9A71-89D7-144F-FF96-7956B29BA15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892D053-F65C-300C-6B4C-811431D8583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BA8B57A-8426-57B7-6B7B-D14D244BEFAC}"/>
              </a:ext>
            </a:extLst>
          </p:cNvPr>
          <p:cNvSpPr>
            <a:spLocks noGrp="1"/>
          </p:cNvSpPr>
          <p:nvPr>
            <p:ph type="dt" sz="half" idx="10"/>
          </p:nvPr>
        </p:nvSpPr>
        <p:spPr/>
        <p:txBody>
          <a:bodyPr/>
          <a:lstStyle/>
          <a:p>
            <a:fld id="{65187918-C88E-4AE8-98BA-82190638546D}" type="datetimeFigureOut">
              <a:rPr lang="en-US" smtClean="0"/>
              <a:t>4/23/2026</a:t>
            </a:fld>
            <a:endParaRPr lang="en-US"/>
          </a:p>
        </p:txBody>
      </p:sp>
      <p:sp>
        <p:nvSpPr>
          <p:cNvPr id="6" name="Footer Placeholder 5">
            <a:extLst>
              <a:ext uri="{FF2B5EF4-FFF2-40B4-BE49-F238E27FC236}">
                <a16:creationId xmlns:a16="http://schemas.microsoft.com/office/drawing/2014/main" id="{43D5F8B9-6890-73AB-2F24-36801188A7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7E8C89-2F91-3376-69B5-D80C544F7A0E}"/>
              </a:ext>
            </a:extLst>
          </p:cNvPr>
          <p:cNvSpPr>
            <a:spLocks noGrp="1"/>
          </p:cNvSpPr>
          <p:nvPr>
            <p:ph type="sldNum" sz="quarter" idx="12"/>
          </p:nvPr>
        </p:nvSpPr>
        <p:spPr/>
        <p:txBody>
          <a:bodyPr/>
          <a:lstStyle/>
          <a:p>
            <a:fld id="{CDE7C756-0902-4473-83B7-28EB270F081E}" type="slidenum">
              <a:rPr lang="en-US" smtClean="0"/>
              <a:t>‹#›</a:t>
            </a:fld>
            <a:endParaRPr lang="en-US"/>
          </a:p>
        </p:txBody>
      </p:sp>
    </p:spTree>
    <p:extLst>
      <p:ext uri="{BB962C8B-B14F-4D97-AF65-F5344CB8AC3E}">
        <p14:creationId xmlns:p14="http://schemas.microsoft.com/office/powerpoint/2010/main" val="502587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D6761-A66D-1F0C-3137-C65C5E333DE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20D2A34-8ED3-BB9C-9363-3066A95983D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1A6FD0C-1CF8-4719-A49E-F09206577C2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95BB3EE-7150-36F7-0C76-A935571B09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D1F896F-DA57-2611-5C7C-88A5A722D2D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BDC29C8-8642-A852-811D-368E2555DD34}"/>
              </a:ext>
            </a:extLst>
          </p:cNvPr>
          <p:cNvSpPr>
            <a:spLocks noGrp="1"/>
          </p:cNvSpPr>
          <p:nvPr>
            <p:ph type="dt" sz="half" idx="10"/>
          </p:nvPr>
        </p:nvSpPr>
        <p:spPr/>
        <p:txBody>
          <a:bodyPr/>
          <a:lstStyle/>
          <a:p>
            <a:fld id="{65187918-C88E-4AE8-98BA-82190638546D}" type="datetimeFigureOut">
              <a:rPr lang="en-US" smtClean="0"/>
              <a:t>4/23/2026</a:t>
            </a:fld>
            <a:endParaRPr lang="en-US"/>
          </a:p>
        </p:txBody>
      </p:sp>
      <p:sp>
        <p:nvSpPr>
          <p:cNvPr id="8" name="Footer Placeholder 7">
            <a:extLst>
              <a:ext uri="{FF2B5EF4-FFF2-40B4-BE49-F238E27FC236}">
                <a16:creationId xmlns:a16="http://schemas.microsoft.com/office/drawing/2014/main" id="{15A87AAF-B101-D6D4-A4AB-E18BFF1C897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89846B1-A764-6F86-2BB1-3EFDCD04EB42}"/>
              </a:ext>
            </a:extLst>
          </p:cNvPr>
          <p:cNvSpPr>
            <a:spLocks noGrp="1"/>
          </p:cNvSpPr>
          <p:nvPr>
            <p:ph type="sldNum" sz="quarter" idx="12"/>
          </p:nvPr>
        </p:nvSpPr>
        <p:spPr/>
        <p:txBody>
          <a:bodyPr/>
          <a:lstStyle/>
          <a:p>
            <a:fld id="{CDE7C756-0902-4473-83B7-28EB270F081E}" type="slidenum">
              <a:rPr lang="en-US" smtClean="0"/>
              <a:t>‹#›</a:t>
            </a:fld>
            <a:endParaRPr lang="en-US"/>
          </a:p>
        </p:txBody>
      </p:sp>
    </p:spTree>
    <p:extLst>
      <p:ext uri="{BB962C8B-B14F-4D97-AF65-F5344CB8AC3E}">
        <p14:creationId xmlns:p14="http://schemas.microsoft.com/office/powerpoint/2010/main" val="35406608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593E2-A908-74A4-4A51-CDAC7C16F23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46027D4-B88A-94C4-F850-5434CC0519D0}"/>
              </a:ext>
            </a:extLst>
          </p:cNvPr>
          <p:cNvSpPr>
            <a:spLocks noGrp="1"/>
          </p:cNvSpPr>
          <p:nvPr>
            <p:ph type="dt" sz="half" idx="10"/>
          </p:nvPr>
        </p:nvSpPr>
        <p:spPr/>
        <p:txBody>
          <a:bodyPr/>
          <a:lstStyle/>
          <a:p>
            <a:fld id="{65187918-C88E-4AE8-98BA-82190638546D}" type="datetimeFigureOut">
              <a:rPr lang="en-US" smtClean="0"/>
              <a:t>4/23/2026</a:t>
            </a:fld>
            <a:endParaRPr lang="en-US"/>
          </a:p>
        </p:txBody>
      </p:sp>
      <p:sp>
        <p:nvSpPr>
          <p:cNvPr id="4" name="Footer Placeholder 3">
            <a:extLst>
              <a:ext uri="{FF2B5EF4-FFF2-40B4-BE49-F238E27FC236}">
                <a16:creationId xmlns:a16="http://schemas.microsoft.com/office/drawing/2014/main" id="{112A6CA0-BB0E-2595-FBBE-57558425C66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3327B39-0229-5495-4AF4-28EE9BCD558A}"/>
              </a:ext>
            </a:extLst>
          </p:cNvPr>
          <p:cNvSpPr>
            <a:spLocks noGrp="1"/>
          </p:cNvSpPr>
          <p:nvPr>
            <p:ph type="sldNum" sz="quarter" idx="12"/>
          </p:nvPr>
        </p:nvSpPr>
        <p:spPr/>
        <p:txBody>
          <a:bodyPr/>
          <a:lstStyle/>
          <a:p>
            <a:fld id="{CDE7C756-0902-4473-83B7-28EB270F081E}" type="slidenum">
              <a:rPr lang="en-US" smtClean="0"/>
              <a:t>‹#›</a:t>
            </a:fld>
            <a:endParaRPr lang="en-US"/>
          </a:p>
        </p:txBody>
      </p:sp>
    </p:spTree>
    <p:extLst>
      <p:ext uri="{BB962C8B-B14F-4D97-AF65-F5344CB8AC3E}">
        <p14:creationId xmlns:p14="http://schemas.microsoft.com/office/powerpoint/2010/main" val="34018606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E900644-265F-AAA9-1596-2848CF7F0587}"/>
              </a:ext>
            </a:extLst>
          </p:cNvPr>
          <p:cNvSpPr>
            <a:spLocks noGrp="1"/>
          </p:cNvSpPr>
          <p:nvPr>
            <p:ph type="dt" sz="half" idx="10"/>
          </p:nvPr>
        </p:nvSpPr>
        <p:spPr/>
        <p:txBody>
          <a:bodyPr/>
          <a:lstStyle/>
          <a:p>
            <a:fld id="{65187918-C88E-4AE8-98BA-82190638546D}" type="datetimeFigureOut">
              <a:rPr lang="en-US" smtClean="0"/>
              <a:t>4/23/2026</a:t>
            </a:fld>
            <a:endParaRPr lang="en-US"/>
          </a:p>
        </p:txBody>
      </p:sp>
      <p:sp>
        <p:nvSpPr>
          <p:cNvPr id="3" name="Footer Placeholder 2">
            <a:extLst>
              <a:ext uri="{FF2B5EF4-FFF2-40B4-BE49-F238E27FC236}">
                <a16:creationId xmlns:a16="http://schemas.microsoft.com/office/drawing/2014/main" id="{581AA8B1-B0F3-5E64-3282-105EEDF2455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94C6DCF-6D35-E204-6296-59518601AE28}"/>
              </a:ext>
            </a:extLst>
          </p:cNvPr>
          <p:cNvSpPr>
            <a:spLocks noGrp="1"/>
          </p:cNvSpPr>
          <p:nvPr>
            <p:ph type="sldNum" sz="quarter" idx="12"/>
          </p:nvPr>
        </p:nvSpPr>
        <p:spPr/>
        <p:txBody>
          <a:bodyPr/>
          <a:lstStyle/>
          <a:p>
            <a:fld id="{CDE7C756-0902-4473-83B7-28EB270F081E}" type="slidenum">
              <a:rPr lang="en-US" smtClean="0"/>
              <a:t>‹#›</a:t>
            </a:fld>
            <a:endParaRPr lang="en-US"/>
          </a:p>
        </p:txBody>
      </p:sp>
    </p:spTree>
    <p:extLst>
      <p:ext uri="{BB962C8B-B14F-4D97-AF65-F5344CB8AC3E}">
        <p14:creationId xmlns:p14="http://schemas.microsoft.com/office/powerpoint/2010/main" val="21916980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015E1-7907-C9F2-CE58-E61415FC48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9C62A7B-90E2-E613-EC88-72B99816E68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D777170-642E-6882-7340-E46C633F70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34D353-A3F6-8354-656B-826A364BC2E2}"/>
              </a:ext>
            </a:extLst>
          </p:cNvPr>
          <p:cNvSpPr>
            <a:spLocks noGrp="1"/>
          </p:cNvSpPr>
          <p:nvPr>
            <p:ph type="dt" sz="half" idx="10"/>
          </p:nvPr>
        </p:nvSpPr>
        <p:spPr/>
        <p:txBody>
          <a:bodyPr/>
          <a:lstStyle/>
          <a:p>
            <a:fld id="{65187918-C88E-4AE8-98BA-82190638546D}" type="datetimeFigureOut">
              <a:rPr lang="en-US" smtClean="0"/>
              <a:t>4/23/2026</a:t>
            </a:fld>
            <a:endParaRPr lang="en-US"/>
          </a:p>
        </p:txBody>
      </p:sp>
      <p:sp>
        <p:nvSpPr>
          <p:cNvPr id="6" name="Footer Placeholder 5">
            <a:extLst>
              <a:ext uri="{FF2B5EF4-FFF2-40B4-BE49-F238E27FC236}">
                <a16:creationId xmlns:a16="http://schemas.microsoft.com/office/drawing/2014/main" id="{8B081F9B-817F-1676-DD52-A35BAC6562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BBAD93-244A-FB8B-A7B4-DA2A2ED8F56A}"/>
              </a:ext>
            </a:extLst>
          </p:cNvPr>
          <p:cNvSpPr>
            <a:spLocks noGrp="1"/>
          </p:cNvSpPr>
          <p:nvPr>
            <p:ph type="sldNum" sz="quarter" idx="12"/>
          </p:nvPr>
        </p:nvSpPr>
        <p:spPr/>
        <p:txBody>
          <a:bodyPr/>
          <a:lstStyle/>
          <a:p>
            <a:fld id="{CDE7C756-0902-4473-83B7-28EB270F081E}" type="slidenum">
              <a:rPr lang="en-US" smtClean="0"/>
              <a:t>‹#›</a:t>
            </a:fld>
            <a:endParaRPr lang="en-US"/>
          </a:p>
        </p:txBody>
      </p:sp>
    </p:spTree>
    <p:extLst>
      <p:ext uri="{BB962C8B-B14F-4D97-AF65-F5344CB8AC3E}">
        <p14:creationId xmlns:p14="http://schemas.microsoft.com/office/powerpoint/2010/main" val="12877245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C595D-1F53-53E9-3B82-7CB3B8B644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A908AA5-49B6-80BC-834E-629BE44AF93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2571CED-2C52-DD4D-5578-E9F6B0B2AD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B6541D-EEC6-080E-2610-4DF6FC66EB47}"/>
              </a:ext>
            </a:extLst>
          </p:cNvPr>
          <p:cNvSpPr>
            <a:spLocks noGrp="1"/>
          </p:cNvSpPr>
          <p:nvPr>
            <p:ph type="dt" sz="half" idx="10"/>
          </p:nvPr>
        </p:nvSpPr>
        <p:spPr/>
        <p:txBody>
          <a:bodyPr/>
          <a:lstStyle/>
          <a:p>
            <a:fld id="{65187918-C88E-4AE8-98BA-82190638546D}" type="datetimeFigureOut">
              <a:rPr lang="en-US" smtClean="0"/>
              <a:t>4/23/2026</a:t>
            </a:fld>
            <a:endParaRPr lang="en-US"/>
          </a:p>
        </p:txBody>
      </p:sp>
      <p:sp>
        <p:nvSpPr>
          <p:cNvPr id="6" name="Footer Placeholder 5">
            <a:extLst>
              <a:ext uri="{FF2B5EF4-FFF2-40B4-BE49-F238E27FC236}">
                <a16:creationId xmlns:a16="http://schemas.microsoft.com/office/drawing/2014/main" id="{B1829E2D-62A5-155F-F235-656326BE06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A874E9-562B-6D85-D536-BEC5BF7E2604}"/>
              </a:ext>
            </a:extLst>
          </p:cNvPr>
          <p:cNvSpPr>
            <a:spLocks noGrp="1"/>
          </p:cNvSpPr>
          <p:nvPr>
            <p:ph type="sldNum" sz="quarter" idx="12"/>
          </p:nvPr>
        </p:nvSpPr>
        <p:spPr/>
        <p:txBody>
          <a:bodyPr/>
          <a:lstStyle/>
          <a:p>
            <a:fld id="{CDE7C756-0902-4473-83B7-28EB270F081E}" type="slidenum">
              <a:rPr lang="en-US" smtClean="0"/>
              <a:t>‹#›</a:t>
            </a:fld>
            <a:endParaRPr lang="en-US"/>
          </a:p>
        </p:txBody>
      </p:sp>
    </p:spTree>
    <p:extLst>
      <p:ext uri="{BB962C8B-B14F-4D97-AF65-F5344CB8AC3E}">
        <p14:creationId xmlns:p14="http://schemas.microsoft.com/office/powerpoint/2010/main" val="38311601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445D7-5390-D91F-E743-97E29EAFD45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13AFDCC-DE28-3F52-4634-F3FBDAF1C3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FED6F8-D8E4-E68B-7727-216ACADF223D}"/>
              </a:ext>
            </a:extLst>
          </p:cNvPr>
          <p:cNvSpPr>
            <a:spLocks noGrp="1"/>
          </p:cNvSpPr>
          <p:nvPr>
            <p:ph type="dt" sz="half" idx="10"/>
          </p:nvPr>
        </p:nvSpPr>
        <p:spPr/>
        <p:txBody>
          <a:bodyPr/>
          <a:lstStyle/>
          <a:p>
            <a:fld id="{65187918-C88E-4AE8-98BA-82190638546D}" type="datetimeFigureOut">
              <a:rPr lang="en-US" smtClean="0"/>
              <a:t>4/23/2026</a:t>
            </a:fld>
            <a:endParaRPr lang="en-US"/>
          </a:p>
        </p:txBody>
      </p:sp>
      <p:sp>
        <p:nvSpPr>
          <p:cNvPr id="5" name="Footer Placeholder 4">
            <a:extLst>
              <a:ext uri="{FF2B5EF4-FFF2-40B4-BE49-F238E27FC236}">
                <a16:creationId xmlns:a16="http://schemas.microsoft.com/office/drawing/2014/main" id="{4379CE75-4F1C-DE69-C05B-0916E139A1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1737B7-C61D-DD5B-45F4-2A65BA3B649D}"/>
              </a:ext>
            </a:extLst>
          </p:cNvPr>
          <p:cNvSpPr>
            <a:spLocks noGrp="1"/>
          </p:cNvSpPr>
          <p:nvPr>
            <p:ph type="sldNum" sz="quarter" idx="12"/>
          </p:nvPr>
        </p:nvSpPr>
        <p:spPr/>
        <p:txBody>
          <a:bodyPr/>
          <a:lstStyle/>
          <a:p>
            <a:fld id="{CDE7C756-0902-4473-83B7-28EB270F081E}" type="slidenum">
              <a:rPr lang="en-US" smtClean="0"/>
              <a:t>‹#›</a:t>
            </a:fld>
            <a:endParaRPr lang="en-US"/>
          </a:p>
        </p:txBody>
      </p:sp>
    </p:spTree>
    <p:extLst>
      <p:ext uri="{BB962C8B-B14F-4D97-AF65-F5344CB8AC3E}">
        <p14:creationId xmlns:p14="http://schemas.microsoft.com/office/powerpoint/2010/main" val="4052064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A43388-E01D-7A9F-EC12-0CD0881CD70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94CEE70-4A8E-31D3-5BA2-E822E6F5D09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DC0CA9-5029-CEB4-3FAF-A452EFBDEDB7}"/>
              </a:ext>
            </a:extLst>
          </p:cNvPr>
          <p:cNvSpPr>
            <a:spLocks noGrp="1"/>
          </p:cNvSpPr>
          <p:nvPr>
            <p:ph type="dt" sz="half" idx="10"/>
          </p:nvPr>
        </p:nvSpPr>
        <p:spPr/>
        <p:txBody>
          <a:bodyPr/>
          <a:lstStyle/>
          <a:p>
            <a:fld id="{65187918-C88E-4AE8-98BA-82190638546D}" type="datetimeFigureOut">
              <a:rPr lang="en-US" smtClean="0"/>
              <a:t>4/23/2026</a:t>
            </a:fld>
            <a:endParaRPr lang="en-US"/>
          </a:p>
        </p:txBody>
      </p:sp>
      <p:sp>
        <p:nvSpPr>
          <p:cNvPr id="5" name="Footer Placeholder 4">
            <a:extLst>
              <a:ext uri="{FF2B5EF4-FFF2-40B4-BE49-F238E27FC236}">
                <a16:creationId xmlns:a16="http://schemas.microsoft.com/office/drawing/2014/main" id="{1457D8D2-C12E-5712-06DE-6F511DC144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722757-1319-FD30-A649-F781E2862956}"/>
              </a:ext>
            </a:extLst>
          </p:cNvPr>
          <p:cNvSpPr>
            <a:spLocks noGrp="1"/>
          </p:cNvSpPr>
          <p:nvPr>
            <p:ph type="sldNum" sz="quarter" idx="12"/>
          </p:nvPr>
        </p:nvSpPr>
        <p:spPr/>
        <p:txBody>
          <a:bodyPr/>
          <a:lstStyle/>
          <a:p>
            <a:fld id="{CDE7C756-0902-4473-83B7-28EB270F081E}" type="slidenum">
              <a:rPr lang="en-US" smtClean="0"/>
              <a:t>‹#›</a:t>
            </a:fld>
            <a:endParaRPr lang="en-US"/>
          </a:p>
        </p:txBody>
      </p:sp>
    </p:spTree>
    <p:extLst>
      <p:ext uri="{BB962C8B-B14F-4D97-AF65-F5344CB8AC3E}">
        <p14:creationId xmlns:p14="http://schemas.microsoft.com/office/powerpoint/2010/main" val="11412703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9754DBC-87E7-B994-958D-4334EA4CBF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4A84B89-260B-DA3B-282C-1AE14EFEBC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7049DE-292B-FF07-9E02-2FFFFA5AC0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5187918-C88E-4AE8-98BA-82190638546D}" type="datetimeFigureOut">
              <a:rPr lang="en-US" smtClean="0"/>
              <a:t>4/23/2026</a:t>
            </a:fld>
            <a:endParaRPr lang="en-US"/>
          </a:p>
        </p:txBody>
      </p:sp>
      <p:sp>
        <p:nvSpPr>
          <p:cNvPr id="5" name="Footer Placeholder 4">
            <a:extLst>
              <a:ext uri="{FF2B5EF4-FFF2-40B4-BE49-F238E27FC236}">
                <a16:creationId xmlns:a16="http://schemas.microsoft.com/office/drawing/2014/main" id="{5A69973F-6051-28CF-6202-6AF3780218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EE4D5BD-294A-4336-8EC3-EE921033D4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DE7C756-0902-4473-83B7-28EB270F081E}" type="slidenum">
              <a:rPr lang="en-US" smtClean="0"/>
              <a:t>‹#›</a:t>
            </a:fld>
            <a:endParaRPr lang="en-US"/>
          </a:p>
        </p:txBody>
      </p:sp>
    </p:spTree>
    <p:extLst>
      <p:ext uri="{BB962C8B-B14F-4D97-AF65-F5344CB8AC3E}">
        <p14:creationId xmlns:p14="http://schemas.microsoft.com/office/powerpoint/2010/main" val="16835342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7.xml"/><Relationship Id="rId4" Type="http://schemas.openxmlformats.org/officeDocument/2006/relationships/hyperlink" Target="https://holmesedug-my.sharepoint.com/:x:/g/personal/ftohidi_holmes_edu_au/IQD4_gSsoQZvRbv46Rb97GhpAUrfQ-SpE_I7om4JOF8-hyM?e=dYHOI1"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hyperlink" Target="https://www.linkedin.com/in/farshid-keivanian" TargetMode="External"/><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hyperlink" Target="https://github.com/FarshidKeivanian" TargetMode="Externa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3C8CCC5-7719-5429-9C16-F066E03793F0}"/>
              </a:ext>
            </a:extLst>
          </p:cNvPr>
          <p:cNvSpPr txBox="1"/>
          <p:nvPr/>
        </p:nvSpPr>
        <p:spPr>
          <a:xfrm>
            <a:off x="0" y="746115"/>
            <a:ext cx="6089530" cy="3615678"/>
          </a:xfrm>
          <a:prstGeom prst="rect">
            <a:avLst/>
          </a:prstGeom>
        </p:spPr>
        <p:txBody>
          <a:bodyPr vert="horz" lIns="51434" tIns="25718" rIns="51434" bIns="25718" rtlCol="0" anchor="b">
            <a:noAutofit/>
          </a:bodyPr>
          <a:lstStyle/>
          <a:p>
            <a:pPr algn="ctr">
              <a:lnSpc>
                <a:spcPct val="90000"/>
              </a:lnSpc>
              <a:spcBef>
                <a:spcPct val="0"/>
              </a:spcBef>
              <a:spcAft>
                <a:spcPts val="338"/>
              </a:spcAft>
            </a:pPr>
            <a:r>
              <a:rPr lang="en-US" sz="3800" b="1" dirty="0">
                <a:latin typeface="Calibir"/>
                <a:ea typeface="+mj-ea"/>
                <a:cs typeface="+mj-cs"/>
              </a:rPr>
              <a:t>HI6039 (Predictive Analysis)</a:t>
            </a:r>
          </a:p>
          <a:p>
            <a:pPr algn="ctr">
              <a:lnSpc>
                <a:spcPct val="90000"/>
              </a:lnSpc>
              <a:spcBef>
                <a:spcPct val="0"/>
              </a:spcBef>
              <a:spcAft>
                <a:spcPts val="338"/>
              </a:spcAft>
            </a:pPr>
            <a:r>
              <a:rPr lang="en-US" sz="3800" b="1" dirty="0">
                <a:latin typeface="Calibir"/>
                <a:ea typeface="+mj-ea"/>
                <a:cs typeface="+mj-cs"/>
              </a:rPr>
              <a:t>Dr. Farshid Keivanian</a:t>
            </a:r>
          </a:p>
          <a:p>
            <a:pPr algn="ctr">
              <a:lnSpc>
                <a:spcPct val="90000"/>
              </a:lnSpc>
              <a:spcBef>
                <a:spcPct val="0"/>
              </a:spcBef>
              <a:spcAft>
                <a:spcPts val="338"/>
              </a:spcAft>
            </a:pPr>
            <a:endParaRPr lang="en-US" sz="3800" b="1" dirty="0">
              <a:latin typeface="Calibir"/>
              <a:ea typeface="+mj-ea"/>
              <a:cs typeface="+mj-cs"/>
            </a:endParaRPr>
          </a:p>
          <a:p>
            <a:pPr algn="ctr">
              <a:lnSpc>
                <a:spcPct val="90000"/>
              </a:lnSpc>
              <a:spcBef>
                <a:spcPct val="0"/>
              </a:spcBef>
              <a:spcAft>
                <a:spcPts val="338"/>
              </a:spcAft>
            </a:pPr>
            <a:r>
              <a:rPr lang="en-US" sz="3800" b="1" dirty="0">
                <a:latin typeface="Calibir"/>
                <a:ea typeface="+mj-ea"/>
                <a:cs typeface="+mj-cs"/>
              </a:rPr>
              <a:t>Week 5: Addressing Overfitting in Predictive Analytics</a:t>
            </a:r>
          </a:p>
        </p:txBody>
      </p:sp>
      <p:pic>
        <p:nvPicPr>
          <p:cNvPr id="4" name="Picture 3">
            <a:extLst>
              <a:ext uri="{FF2B5EF4-FFF2-40B4-BE49-F238E27FC236}">
                <a16:creationId xmlns:a16="http://schemas.microsoft.com/office/drawing/2014/main" id="{37BA1B80-27DD-FC4B-43BE-F15BBB7F77C0}"/>
              </a:ext>
            </a:extLst>
          </p:cNvPr>
          <p:cNvPicPr>
            <a:picLocks noChangeAspect="1"/>
          </p:cNvPicPr>
          <p:nvPr/>
        </p:nvPicPr>
        <p:blipFill>
          <a:blip r:embed="rId2">
            <a:extLst>
              <a:ext uri="{28A0092B-C50C-407E-A947-70E740481C1C}">
                <a14:useLocalDpi xmlns:a14="http://schemas.microsoft.com/office/drawing/2010/main" val="0"/>
              </a:ext>
            </a:extLst>
          </a:blip>
          <a:srcRect l="4968" r="24813" b="1"/>
          <a:stretch>
            <a:fillRect/>
          </a:stretch>
        </p:blipFill>
        <p:spPr>
          <a:xfrm>
            <a:off x="6102471" y="746115"/>
            <a:ext cx="4040011" cy="6008804"/>
          </a:xfrm>
          <a:prstGeom prst="rect">
            <a:avLst/>
          </a:prstGeom>
        </p:spPr>
      </p:pic>
      <p:pic>
        <p:nvPicPr>
          <p:cNvPr id="3" name="object 3"/>
          <p:cNvPicPr/>
          <p:nvPr/>
        </p:nvPicPr>
        <p:blipFill>
          <a:blip r:embed="rId3" cstate="print"/>
          <a:srcRect l="24413" r="9390"/>
          <a:stretch>
            <a:fillRect/>
          </a:stretch>
        </p:blipFill>
        <p:spPr>
          <a:xfrm>
            <a:off x="10710041" y="73691"/>
            <a:ext cx="1481959" cy="194441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F47EF-CA19-2B80-555F-1928522B6C53}"/>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6D5E0246-14FB-D37C-C61E-AD4DC93AA7E2}"/>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6DD33C77-F48B-8EDB-CE77-5F3638EEF47D}"/>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1C9CE3CC-2052-B177-C938-25A6DE1ED67A}"/>
              </a:ext>
            </a:extLst>
          </p:cNvPr>
          <p:cNvSpPr txBox="1"/>
          <p:nvPr/>
        </p:nvSpPr>
        <p:spPr>
          <a:xfrm>
            <a:off x="94419" y="68639"/>
            <a:ext cx="5850731" cy="515045"/>
          </a:xfrm>
          <a:prstGeom prst="rect">
            <a:avLst/>
          </a:prstGeom>
        </p:spPr>
        <p:txBody>
          <a:bodyPr vert="horz" wrap="square" lIns="0" tIns="7144" rIns="0" bIns="0" rtlCol="0">
            <a:spAutoFit/>
          </a:bodyPr>
          <a:lstStyle/>
          <a:p>
            <a:r>
              <a:rPr lang="en-US" sz="3300" b="1" dirty="0">
                <a:latin typeface="Calibir"/>
              </a:rPr>
              <a:t>Group Registration</a:t>
            </a:r>
          </a:p>
        </p:txBody>
      </p:sp>
      <p:pic>
        <p:nvPicPr>
          <p:cNvPr id="3" name="Picture 2">
            <a:extLst>
              <a:ext uri="{FF2B5EF4-FFF2-40B4-BE49-F238E27FC236}">
                <a16:creationId xmlns:a16="http://schemas.microsoft.com/office/drawing/2014/main" id="{1E1D281E-AC5A-66ED-20ED-D28701C2A19A}"/>
              </a:ext>
            </a:extLst>
          </p:cNvPr>
          <p:cNvPicPr>
            <a:picLocks noChangeAspect="1"/>
          </p:cNvPicPr>
          <p:nvPr/>
        </p:nvPicPr>
        <p:blipFill>
          <a:blip r:embed="rId3"/>
          <a:srcRect l="14470" t="43608" r="1529" b="16235"/>
          <a:stretch>
            <a:fillRect/>
          </a:stretch>
        </p:blipFill>
        <p:spPr>
          <a:xfrm>
            <a:off x="120877" y="1822244"/>
            <a:ext cx="11950246" cy="3213512"/>
          </a:xfrm>
          <a:prstGeom prst="rect">
            <a:avLst/>
          </a:prstGeom>
        </p:spPr>
      </p:pic>
      <p:sp>
        <p:nvSpPr>
          <p:cNvPr id="9" name="TextBox 8">
            <a:extLst>
              <a:ext uri="{FF2B5EF4-FFF2-40B4-BE49-F238E27FC236}">
                <a16:creationId xmlns:a16="http://schemas.microsoft.com/office/drawing/2014/main" id="{EF394357-68BF-7E64-4021-96BFB421F3BD}"/>
              </a:ext>
            </a:extLst>
          </p:cNvPr>
          <p:cNvSpPr txBox="1"/>
          <p:nvPr/>
        </p:nvSpPr>
        <p:spPr>
          <a:xfrm>
            <a:off x="94419" y="5073987"/>
            <a:ext cx="11950246" cy="646331"/>
          </a:xfrm>
          <a:prstGeom prst="rect">
            <a:avLst/>
          </a:prstGeom>
          <a:noFill/>
        </p:spPr>
        <p:txBody>
          <a:bodyPr wrap="square">
            <a:spAutoFit/>
          </a:bodyPr>
          <a:lstStyle/>
          <a:p>
            <a:r>
              <a:rPr lang="en-US" dirty="0">
                <a:hlinkClick r:id="rId4"/>
              </a:rPr>
              <a:t>https://holmesedug-my.sharepoint.com/:x:/g/personal/ftohidi_holmes_edu_au/IQD4_gSsoQZvRbv46Rb97GhpAUrfQ-SpE_I7om4JOF8-hyM?e=dYHOI1</a:t>
            </a:r>
            <a:r>
              <a:rPr lang="en-US" dirty="0"/>
              <a:t> </a:t>
            </a:r>
          </a:p>
        </p:txBody>
      </p:sp>
    </p:spTree>
    <p:extLst>
      <p:ext uri="{BB962C8B-B14F-4D97-AF65-F5344CB8AC3E}">
        <p14:creationId xmlns:p14="http://schemas.microsoft.com/office/powerpoint/2010/main" val="32199430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977C0-7D48-A01B-F457-00977F1E7C61}"/>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04DBBF27-0445-DCC4-A1C6-8CA94A3218A0}"/>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0842978F-648D-E8F2-FDD9-1E3649CA2679}"/>
              </a:ext>
            </a:extLst>
          </p:cNvPr>
          <p:cNvSpPr txBox="1"/>
          <p:nvPr/>
        </p:nvSpPr>
        <p:spPr>
          <a:xfrm>
            <a:off x="0" y="583684"/>
            <a:ext cx="12191999" cy="5842497"/>
          </a:xfrm>
          <a:prstGeom prst="rect">
            <a:avLst/>
          </a:prstGeom>
          <a:noFill/>
        </p:spPr>
        <p:txBody>
          <a:bodyPr wrap="square">
            <a:spAutoFit/>
          </a:bodyPr>
          <a:lstStyle/>
          <a:p>
            <a:pPr>
              <a:lnSpc>
                <a:spcPct val="150000"/>
              </a:lnSpc>
            </a:pPr>
            <a:r>
              <a:rPr lang="en-US" sz="2800" b="1" dirty="0">
                <a:latin typeface="Calibir"/>
              </a:rPr>
              <a:t>1. What this assignment is really asking you to do</a:t>
            </a:r>
          </a:p>
          <a:p>
            <a:pPr>
              <a:lnSpc>
                <a:spcPct val="150000"/>
              </a:lnSpc>
            </a:pPr>
            <a:r>
              <a:rPr lang="en-US" sz="2800" dirty="0">
                <a:latin typeface="Calibir"/>
              </a:rPr>
              <a:t>This is not just a slide presentation. It is a full predictive analytics project that you must present, explain, justify, and defend.</a:t>
            </a:r>
          </a:p>
          <a:p>
            <a:pPr>
              <a:lnSpc>
                <a:spcPct val="150000"/>
              </a:lnSpc>
            </a:pPr>
            <a:r>
              <a:rPr lang="en-US" sz="2800" dirty="0">
                <a:latin typeface="Calibir"/>
              </a:rPr>
              <a:t>Your group must:</a:t>
            </a:r>
          </a:p>
          <a:p>
            <a:pPr marL="914400" lvl="1" indent="-457200">
              <a:lnSpc>
                <a:spcPct val="150000"/>
              </a:lnSpc>
              <a:buFont typeface="Arial" panose="020B0604020202020204" pitchFamily="34" charset="0"/>
              <a:buChar char="•"/>
            </a:pPr>
            <a:r>
              <a:rPr lang="en-US" sz="2800" dirty="0">
                <a:latin typeface="Calibir"/>
              </a:rPr>
              <a:t>choose one real dataset </a:t>
            </a:r>
          </a:p>
          <a:p>
            <a:pPr marL="914400" lvl="1" indent="-457200">
              <a:lnSpc>
                <a:spcPct val="150000"/>
              </a:lnSpc>
              <a:buFont typeface="Arial" panose="020B0604020202020204" pitchFamily="34" charset="0"/>
              <a:buChar char="•"/>
            </a:pPr>
            <a:r>
              <a:rPr lang="en-US" sz="2800" dirty="0">
                <a:latin typeface="Calibir"/>
              </a:rPr>
              <a:t>define one clear predictive problem </a:t>
            </a:r>
          </a:p>
          <a:p>
            <a:pPr marL="914400" lvl="1" indent="-457200">
              <a:lnSpc>
                <a:spcPct val="150000"/>
              </a:lnSpc>
              <a:buFont typeface="Arial" panose="020B0604020202020204" pitchFamily="34" charset="0"/>
              <a:buChar char="•"/>
            </a:pPr>
            <a:r>
              <a:rPr lang="en-US" sz="2800" dirty="0">
                <a:latin typeface="Calibir"/>
              </a:rPr>
              <a:t>build two predictive models </a:t>
            </a:r>
          </a:p>
          <a:p>
            <a:pPr marL="914400" lvl="1" indent="-457200">
              <a:lnSpc>
                <a:spcPct val="150000"/>
              </a:lnSpc>
              <a:buFont typeface="Arial" panose="020B0604020202020204" pitchFamily="34" charset="0"/>
              <a:buChar char="•"/>
            </a:pPr>
            <a:r>
              <a:rPr lang="en-US" sz="2800" dirty="0">
                <a:latin typeface="Calibir"/>
              </a:rPr>
              <a:t>compare the models properly </a:t>
            </a:r>
          </a:p>
          <a:p>
            <a:pPr marL="914400" lvl="1" indent="-457200">
              <a:lnSpc>
                <a:spcPct val="150000"/>
              </a:lnSpc>
              <a:buFont typeface="Arial" panose="020B0604020202020204" pitchFamily="34" charset="0"/>
              <a:buChar char="•"/>
            </a:pPr>
            <a:r>
              <a:rPr lang="en-US" sz="2800" dirty="0">
                <a:latin typeface="Calibir"/>
              </a:rPr>
              <a:t>explain preprocessing and modelling decisions</a:t>
            </a:r>
          </a:p>
        </p:txBody>
      </p:sp>
      <p:pic>
        <p:nvPicPr>
          <p:cNvPr id="4" name="object 3">
            <a:extLst>
              <a:ext uri="{FF2B5EF4-FFF2-40B4-BE49-F238E27FC236}">
                <a16:creationId xmlns:a16="http://schemas.microsoft.com/office/drawing/2014/main" id="{0A8DA876-19AE-086B-CEC4-3F9309C073F6}"/>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8D999C35-D593-CA94-774D-1C93D888B6DF}"/>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2355432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2E032-FE68-4F58-1365-BEA2A4FD79AA}"/>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5E5CA805-ADAC-0889-0E6D-2418C8EB1A9A}"/>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9C4F0B61-7315-8078-4718-5E04A8934B25}"/>
              </a:ext>
            </a:extLst>
          </p:cNvPr>
          <p:cNvSpPr txBox="1"/>
          <p:nvPr/>
        </p:nvSpPr>
        <p:spPr>
          <a:xfrm>
            <a:off x="0" y="583684"/>
            <a:ext cx="12191999" cy="2610843"/>
          </a:xfrm>
          <a:prstGeom prst="rect">
            <a:avLst/>
          </a:prstGeom>
          <a:noFill/>
        </p:spPr>
        <p:txBody>
          <a:bodyPr wrap="square">
            <a:spAutoFit/>
          </a:bodyPr>
          <a:lstStyle/>
          <a:p>
            <a:pPr marL="914400" lvl="1" indent="-457200">
              <a:lnSpc>
                <a:spcPct val="150000"/>
              </a:lnSpc>
              <a:buFont typeface="Arial" panose="020B0604020202020204" pitchFamily="34" charset="0"/>
              <a:buChar char="•"/>
            </a:pPr>
            <a:r>
              <a:rPr lang="en-US" sz="2800" dirty="0">
                <a:latin typeface="Calibir"/>
              </a:rPr>
              <a:t>generate business insights </a:t>
            </a:r>
          </a:p>
          <a:p>
            <a:pPr marL="914400" lvl="1" indent="-457200">
              <a:lnSpc>
                <a:spcPct val="150000"/>
              </a:lnSpc>
              <a:buFont typeface="Arial" panose="020B0604020202020204" pitchFamily="34" charset="0"/>
              <a:buChar char="•"/>
            </a:pPr>
            <a:r>
              <a:rPr lang="en-US" sz="2800" dirty="0">
                <a:latin typeface="Calibir"/>
              </a:rPr>
              <a:t>discuss ethics and bias </a:t>
            </a:r>
          </a:p>
          <a:p>
            <a:pPr marL="914400" lvl="1" indent="-457200">
              <a:lnSpc>
                <a:spcPct val="150000"/>
              </a:lnSpc>
              <a:buFont typeface="Arial" panose="020B0604020202020204" pitchFamily="34" charset="0"/>
              <a:buChar char="•"/>
            </a:pPr>
            <a:r>
              <a:rPr lang="en-US" sz="2800" dirty="0">
                <a:latin typeface="Calibir"/>
              </a:rPr>
              <a:t>reflect on limitations and lessons learned </a:t>
            </a:r>
          </a:p>
          <a:p>
            <a:pPr marL="914400" lvl="1" indent="-457200">
              <a:lnSpc>
                <a:spcPct val="150000"/>
              </a:lnSpc>
              <a:buFont typeface="Arial" panose="020B0604020202020204" pitchFamily="34" charset="0"/>
              <a:buChar char="•"/>
            </a:pPr>
            <a:r>
              <a:rPr lang="en-US" sz="2800" dirty="0">
                <a:latin typeface="Calibir"/>
              </a:rPr>
              <a:t>present the whole project clearly in class</a:t>
            </a:r>
          </a:p>
        </p:txBody>
      </p:sp>
      <p:pic>
        <p:nvPicPr>
          <p:cNvPr id="4" name="object 3">
            <a:extLst>
              <a:ext uri="{FF2B5EF4-FFF2-40B4-BE49-F238E27FC236}">
                <a16:creationId xmlns:a16="http://schemas.microsoft.com/office/drawing/2014/main" id="{20B24C0D-BCFB-71EF-AB38-064DCA339879}"/>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2589577C-70A8-0A68-6867-3722B2243F5F}"/>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7464737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53DEB-0901-821C-7208-9C9A116B65E3}"/>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98217E91-9B86-B52E-8A60-4E149B10CE75}"/>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4A738E89-DF9C-0EFC-6443-F5F822370773}"/>
              </a:ext>
            </a:extLst>
          </p:cNvPr>
          <p:cNvSpPr txBox="1"/>
          <p:nvPr/>
        </p:nvSpPr>
        <p:spPr>
          <a:xfrm>
            <a:off x="1" y="830917"/>
            <a:ext cx="12191999" cy="5196166"/>
          </a:xfrm>
          <a:prstGeom prst="rect">
            <a:avLst/>
          </a:prstGeom>
          <a:noFill/>
        </p:spPr>
        <p:txBody>
          <a:bodyPr wrap="square">
            <a:spAutoFit/>
          </a:bodyPr>
          <a:lstStyle/>
          <a:p>
            <a:pPr>
              <a:lnSpc>
                <a:spcPct val="150000"/>
              </a:lnSpc>
            </a:pPr>
            <a:r>
              <a:rPr lang="en-US" sz="2800" dirty="0">
                <a:latin typeface="Calibir"/>
              </a:rPr>
              <a:t>You are also expected to show evidence of actual work, especially:</a:t>
            </a:r>
          </a:p>
          <a:p>
            <a:pPr marL="914400" lvl="1" indent="-457200">
              <a:lnSpc>
                <a:spcPct val="150000"/>
              </a:lnSpc>
              <a:buFont typeface="Arial" panose="020B0604020202020204" pitchFamily="34" charset="0"/>
              <a:buChar char="•"/>
            </a:pPr>
            <a:r>
              <a:rPr lang="en-US" sz="2800" dirty="0">
                <a:latin typeface="Calibir"/>
              </a:rPr>
              <a:t>preprocessing screenshots </a:t>
            </a:r>
          </a:p>
          <a:p>
            <a:pPr marL="914400" lvl="1" indent="-457200">
              <a:lnSpc>
                <a:spcPct val="150000"/>
              </a:lnSpc>
              <a:buFont typeface="Arial" panose="020B0604020202020204" pitchFamily="34" charset="0"/>
              <a:buChar char="•"/>
            </a:pPr>
            <a:r>
              <a:rPr lang="en-US" sz="2800" dirty="0">
                <a:latin typeface="Calibir"/>
              </a:rPr>
              <a:t>model training screenshots </a:t>
            </a:r>
          </a:p>
          <a:p>
            <a:pPr marL="914400" lvl="1" indent="-457200">
              <a:lnSpc>
                <a:spcPct val="150000"/>
              </a:lnSpc>
              <a:buFont typeface="Arial" panose="020B0604020202020204" pitchFamily="34" charset="0"/>
              <a:buChar char="•"/>
            </a:pPr>
            <a:r>
              <a:rPr lang="en-US" sz="2800" dirty="0">
                <a:latin typeface="Calibir"/>
              </a:rPr>
              <a:t>parameter settings </a:t>
            </a:r>
          </a:p>
          <a:p>
            <a:pPr marL="914400" lvl="1" indent="-457200">
              <a:lnSpc>
                <a:spcPct val="150000"/>
              </a:lnSpc>
              <a:buFont typeface="Arial" panose="020B0604020202020204" pitchFamily="34" charset="0"/>
              <a:buChar char="•"/>
            </a:pPr>
            <a:r>
              <a:rPr lang="en-US" sz="2800" dirty="0">
                <a:latin typeface="Calibir"/>
              </a:rPr>
              <a:t>evaluation screenshots </a:t>
            </a:r>
          </a:p>
          <a:p>
            <a:pPr marL="914400" lvl="1" indent="-457200">
              <a:lnSpc>
                <a:spcPct val="150000"/>
              </a:lnSpc>
              <a:buFont typeface="Arial" panose="020B0604020202020204" pitchFamily="34" charset="0"/>
              <a:buChar char="•"/>
            </a:pPr>
            <a:r>
              <a:rPr lang="en-US" sz="2800" dirty="0">
                <a:latin typeface="Calibir"/>
              </a:rPr>
              <a:t>code/notebook </a:t>
            </a:r>
          </a:p>
          <a:p>
            <a:pPr marL="914400" lvl="1" indent="-457200">
              <a:lnSpc>
                <a:spcPct val="150000"/>
              </a:lnSpc>
              <a:buFont typeface="Arial" panose="020B0604020202020204" pitchFamily="34" charset="0"/>
              <a:buChar char="•"/>
            </a:pPr>
            <a:r>
              <a:rPr lang="en-US" sz="2800" dirty="0">
                <a:latin typeface="Calibir"/>
              </a:rPr>
              <a:t>dataset link </a:t>
            </a:r>
          </a:p>
          <a:p>
            <a:pPr>
              <a:lnSpc>
                <a:spcPct val="150000"/>
              </a:lnSpc>
            </a:pPr>
            <a:r>
              <a:rPr lang="en-US" sz="2800" dirty="0">
                <a:latin typeface="Calibir"/>
              </a:rPr>
              <a:t>This means you must do both the technical work and the explanation work.</a:t>
            </a:r>
          </a:p>
        </p:txBody>
      </p:sp>
      <p:pic>
        <p:nvPicPr>
          <p:cNvPr id="4" name="object 3">
            <a:extLst>
              <a:ext uri="{FF2B5EF4-FFF2-40B4-BE49-F238E27FC236}">
                <a16:creationId xmlns:a16="http://schemas.microsoft.com/office/drawing/2014/main" id="{51812DE7-9291-170A-7A4A-DF02889C171F}"/>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A1682E67-069B-DBBC-2D7B-EC9118069FD0}"/>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4568599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449458-0083-2F9F-83D4-91972075536D}"/>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146E294E-2B30-BF83-7C56-57544E73A876}"/>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D0A56985-6D62-3909-1AB2-880CF98A2DCE}"/>
              </a:ext>
            </a:extLst>
          </p:cNvPr>
          <p:cNvSpPr txBox="1"/>
          <p:nvPr/>
        </p:nvSpPr>
        <p:spPr>
          <a:xfrm>
            <a:off x="1" y="830917"/>
            <a:ext cx="12191999" cy="5196166"/>
          </a:xfrm>
          <a:prstGeom prst="rect">
            <a:avLst/>
          </a:prstGeom>
          <a:noFill/>
        </p:spPr>
        <p:txBody>
          <a:bodyPr wrap="square">
            <a:spAutoFit/>
          </a:bodyPr>
          <a:lstStyle/>
          <a:p>
            <a:pPr>
              <a:lnSpc>
                <a:spcPct val="150000"/>
              </a:lnSpc>
            </a:pPr>
            <a:r>
              <a:rPr lang="en-US" sz="2800" b="1" dirty="0">
                <a:latin typeface="Calibir"/>
              </a:rPr>
              <a:t>2. What you must submit</a:t>
            </a:r>
          </a:p>
          <a:p>
            <a:pPr>
              <a:lnSpc>
                <a:spcPct val="150000"/>
              </a:lnSpc>
            </a:pPr>
            <a:r>
              <a:rPr lang="en-US" sz="2800" dirty="0">
                <a:latin typeface="Calibir"/>
              </a:rPr>
              <a:t>You must submit:</a:t>
            </a:r>
          </a:p>
          <a:p>
            <a:pPr marL="971550" lvl="1" indent="-514350">
              <a:lnSpc>
                <a:spcPct val="150000"/>
              </a:lnSpc>
              <a:buFont typeface="+mj-lt"/>
              <a:buAutoNum type="arabicPeriod"/>
            </a:pPr>
            <a:r>
              <a:rPr lang="en-US" sz="2800" b="1" dirty="0">
                <a:latin typeface="Calibir"/>
              </a:rPr>
              <a:t>PowerPoint slides (.pptx)</a:t>
            </a:r>
            <a:br>
              <a:rPr lang="en-US" sz="2800" dirty="0">
                <a:latin typeface="Calibir"/>
              </a:rPr>
            </a:br>
            <a:r>
              <a:rPr lang="en-US" sz="2800" dirty="0">
                <a:latin typeface="Calibir"/>
              </a:rPr>
              <a:t>For the in-class presentation. </a:t>
            </a:r>
          </a:p>
          <a:p>
            <a:pPr marL="971550" lvl="1" indent="-514350">
              <a:lnSpc>
                <a:spcPct val="150000"/>
              </a:lnSpc>
              <a:buFont typeface="+mj-lt"/>
              <a:buAutoNum type="arabicPeriod"/>
            </a:pPr>
            <a:r>
              <a:rPr lang="en-US" sz="2800" b="1" dirty="0">
                <a:latin typeface="Calibir"/>
              </a:rPr>
              <a:t>Written report (.docx)</a:t>
            </a:r>
            <a:br>
              <a:rPr lang="en-US" sz="2800" dirty="0">
                <a:latin typeface="Calibir"/>
              </a:rPr>
            </a:br>
            <a:r>
              <a:rPr lang="en-US" sz="2800" dirty="0">
                <a:latin typeface="Calibir"/>
              </a:rPr>
              <a:t>Explains the full project in detail. </a:t>
            </a:r>
          </a:p>
          <a:p>
            <a:pPr marL="971550" lvl="1" indent="-514350">
              <a:lnSpc>
                <a:spcPct val="150000"/>
              </a:lnSpc>
              <a:buFont typeface="+mj-lt"/>
              <a:buAutoNum type="arabicPeriod"/>
            </a:pPr>
            <a:r>
              <a:rPr lang="en-US" sz="2800" b="1" dirty="0">
                <a:latin typeface="Calibir"/>
              </a:rPr>
              <a:t>Python notebook/script (.</a:t>
            </a:r>
            <a:r>
              <a:rPr lang="en-US" sz="2800" b="1" dirty="0" err="1">
                <a:latin typeface="Calibir"/>
              </a:rPr>
              <a:t>ipynb</a:t>
            </a:r>
            <a:r>
              <a:rPr lang="en-US" sz="2800" b="1" dirty="0">
                <a:latin typeface="Calibir"/>
              </a:rPr>
              <a:t> or .</a:t>
            </a:r>
            <a:r>
              <a:rPr lang="en-US" sz="2800" b="1" dirty="0" err="1">
                <a:latin typeface="Calibir"/>
              </a:rPr>
              <a:t>py</a:t>
            </a:r>
            <a:r>
              <a:rPr lang="en-US" sz="2800" b="1" dirty="0">
                <a:latin typeface="Calibir"/>
              </a:rPr>
              <a:t>)</a:t>
            </a:r>
            <a:br>
              <a:rPr lang="en-US" sz="2800" dirty="0">
                <a:latin typeface="Calibir"/>
              </a:rPr>
            </a:br>
            <a:r>
              <a:rPr lang="en-US" sz="2800" dirty="0">
                <a:latin typeface="Calibir"/>
              </a:rPr>
              <a:t>Your actual implementation.</a:t>
            </a:r>
          </a:p>
        </p:txBody>
      </p:sp>
      <p:pic>
        <p:nvPicPr>
          <p:cNvPr id="4" name="object 3">
            <a:extLst>
              <a:ext uri="{FF2B5EF4-FFF2-40B4-BE49-F238E27FC236}">
                <a16:creationId xmlns:a16="http://schemas.microsoft.com/office/drawing/2014/main" id="{5DEEBFD0-A538-1184-9918-8165FA331619}"/>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2F15C855-A776-9F49-0206-F16FCCB54019}"/>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10295360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33E22-1586-2702-E9CB-9805B642BAEA}"/>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49496555-190D-90C3-61D7-93B65EA9A270}"/>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F3B1BF23-5C57-42BC-172D-F98BC7CD5714}"/>
              </a:ext>
            </a:extLst>
          </p:cNvPr>
          <p:cNvSpPr txBox="1"/>
          <p:nvPr/>
        </p:nvSpPr>
        <p:spPr>
          <a:xfrm>
            <a:off x="1" y="1154082"/>
            <a:ext cx="12191999" cy="4549835"/>
          </a:xfrm>
          <a:prstGeom prst="rect">
            <a:avLst/>
          </a:prstGeom>
          <a:noFill/>
        </p:spPr>
        <p:txBody>
          <a:bodyPr wrap="square">
            <a:spAutoFit/>
          </a:bodyPr>
          <a:lstStyle/>
          <a:p>
            <a:pPr marL="514350" lvl="0" indent="-514350" eaLnBrk="0" fontAlgn="base" hangingPunct="0">
              <a:lnSpc>
                <a:spcPct val="150000"/>
              </a:lnSpc>
              <a:spcBef>
                <a:spcPct val="0"/>
              </a:spcBef>
              <a:spcAft>
                <a:spcPct val="0"/>
              </a:spcAft>
              <a:buFont typeface="+mj-lt"/>
              <a:buAutoNum type="arabicPeriod" startAt="4"/>
            </a:pPr>
            <a:r>
              <a:rPr lang="en-US" altLang="en-US" sz="2800" b="1" dirty="0">
                <a:latin typeface="Calibir"/>
              </a:rPr>
              <a:t>Screenshots</a:t>
            </a:r>
            <a:r>
              <a:rPr lang="en-US" altLang="en-US" sz="2800" dirty="0">
                <a:latin typeface="Calibir"/>
              </a:rPr>
              <a:t> of: </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preprocessing </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model training </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parameter settings </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output/evaluation </a:t>
            </a:r>
          </a:p>
          <a:p>
            <a:pPr marL="514350" lvl="0" indent="-514350" eaLnBrk="0" fontAlgn="base" hangingPunct="0">
              <a:lnSpc>
                <a:spcPct val="150000"/>
              </a:lnSpc>
              <a:spcBef>
                <a:spcPct val="0"/>
              </a:spcBef>
              <a:spcAft>
                <a:spcPct val="0"/>
              </a:spcAft>
              <a:buFont typeface="+mj-lt"/>
              <a:buAutoNum type="arabicPeriod" startAt="5"/>
            </a:pPr>
            <a:r>
              <a:rPr lang="en-US" altLang="en-US" sz="2800" b="1" dirty="0">
                <a:latin typeface="Calibir"/>
              </a:rPr>
              <a:t>Dataset link</a:t>
            </a:r>
            <a:br>
              <a:rPr lang="en-US" altLang="en-US" sz="2800" dirty="0">
                <a:latin typeface="Calibir"/>
              </a:rPr>
            </a:br>
            <a:r>
              <a:rPr lang="en-US" altLang="en-US" sz="2800" dirty="0">
                <a:latin typeface="Calibir"/>
              </a:rPr>
              <a:t>The exact source link. </a:t>
            </a:r>
          </a:p>
        </p:txBody>
      </p:sp>
      <p:pic>
        <p:nvPicPr>
          <p:cNvPr id="4" name="object 3">
            <a:extLst>
              <a:ext uri="{FF2B5EF4-FFF2-40B4-BE49-F238E27FC236}">
                <a16:creationId xmlns:a16="http://schemas.microsoft.com/office/drawing/2014/main" id="{019ADC5A-A72E-A230-248C-0A9D337A8927}"/>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782C3348-E8BB-734E-A1C4-99B085B636EB}"/>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9562035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D58FC-8120-DF2C-5C46-D9671D1E79F7}"/>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6548CE6C-CCBA-03F0-F7F4-8B011BFB0B6D}"/>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2C3DBB55-32AB-6828-CC22-E4513462BDA5}"/>
              </a:ext>
            </a:extLst>
          </p:cNvPr>
          <p:cNvSpPr txBox="1"/>
          <p:nvPr/>
        </p:nvSpPr>
        <p:spPr>
          <a:xfrm>
            <a:off x="1" y="1154082"/>
            <a:ext cx="12191999" cy="1964512"/>
          </a:xfrm>
          <a:prstGeom prst="rect">
            <a:avLst/>
          </a:prstGeom>
          <a:noFill/>
        </p:spPr>
        <p:txBody>
          <a:bodyPr wrap="square">
            <a:spAutoFit/>
          </a:bodyPr>
          <a:lstStyle/>
          <a:p>
            <a:pPr marL="514350" lvl="0" indent="-514350" eaLnBrk="0" fontAlgn="base" hangingPunct="0">
              <a:lnSpc>
                <a:spcPct val="150000"/>
              </a:lnSpc>
              <a:spcBef>
                <a:spcPct val="0"/>
              </a:spcBef>
              <a:spcAft>
                <a:spcPct val="0"/>
              </a:spcAft>
              <a:buFont typeface="+mj-lt"/>
              <a:buAutoNum type="arabicPeriod" startAt="5"/>
            </a:pPr>
            <a:r>
              <a:rPr lang="en-US" altLang="en-US" sz="2800" b="1" dirty="0">
                <a:latin typeface="Calibir"/>
              </a:rPr>
              <a:t>Group contribution sheet</a:t>
            </a:r>
            <a:r>
              <a:rPr lang="en-US" altLang="en-US" sz="2800" dirty="0">
                <a:latin typeface="Calibir"/>
              </a:rPr>
              <a:t> </a:t>
            </a:r>
          </a:p>
          <a:p>
            <a:pPr marL="514350" lvl="0" indent="-514350" eaLnBrk="0" fontAlgn="base" hangingPunct="0">
              <a:lnSpc>
                <a:spcPct val="150000"/>
              </a:lnSpc>
              <a:spcBef>
                <a:spcPct val="0"/>
              </a:spcBef>
              <a:spcAft>
                <a:spcPct val="0"/>
              </a:spcAft>
              <a:buFont typeface="+mj-lt"/>
              <a:buAutoNum type="arabicPeriod" startAt="5"/>
            </a:pPr>
            <a:r>
              <a:rPr lang="en-US" altLang="en-US" sz="2800" b="1" dirty="0">
                <a:latin typeface="Calibir"/>
              </a:rPr>
              <a:t>References</a:t>
            </a:r>
            <a:r>
              <a:rPr lang="en-US" altLang="en-US" sz="2800" dirty="0">
                <a:latin typeface="Calibir"/>
              </a:rPr>
              <a:t> in </a:t>
            </a:r>
            <a:r>
              <a:rPr lang="en-US" altLang="en-US" sz="2800" b="1" dirty="0">
                <a:latin typeface="Calibir"/>
              </a:rPr>
              <a:t>Holmes Adapted Harvard</a:t>
            </a:r>
            <a:r>
              <a:rPr lang="en-US" altLang="en-US" sz="2800" dirty="0">
                <a:latin typeface="Calibir"/>
              </a:rPr>
              <a:t> </a:t>
            </a:r>
          </a:p>
          <a:p>
            <a:pPr marL="514350" lvl="0" indent="-514350" eaLnBrk="0" fontAlgn="base" hangingPunct="0">
              <a:lnSpc>
                <a:spcPct val="150000"/>
              </a:lnSpc>
              <a:spcBef>
                <a:spcPct val="0"/>
              </a:spcBef>
              <a:spcAft>
                <a:spcPct val="0"/>
              </a:spcAft>
              <a:buFont typeface="+mj-lt"/>
              <a:buAutoNum type="arabicPeriod" startAt="5"/>
            </a:pPr>
            <a:r>
              <a:rPr lang="en-US" altLang="en-US" sz="2800" b="1" dirty="0">
                <a:latin typeface="Calibir"/>
              </a:rPr>
              <a:t>Assignment cover sheet</a:t>
            </a:r>
            <a:r>
              <a:rPr lang="en-US" altLang="en-US" sz="2800" dirty="0">
                <a:latin typeface="Calibir"/>
              </a:rPr>
              <a:t> </a:t>
            </a:r>
          </a:p>
        </p:txBody>
      </p:sp>
      <p:pic>
        <p:nvPicPr>
          <p:cNvPr id="4" name="object 3">
            <a:extLst>
              <a:ext uri="{FF2B5EF4-FFF2-40B4-BE49-F238E27FC236}">
                <a16:creationId xmlns:a16="http://schemas.microsoft.com/office/drawing/2014/main" id="{89FBAA31-4CEE-1B8E-359C-11B15FE6C10F}"/>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39157233-82AE-AF6B-3B7B-DC7495EA5765}"/>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25728903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96164-93EC-2024-5791-493CA7B63DF0}"/>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9A5524EB-7148-946D-A987-4B8ADCC4A2C0}"/>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DA9D0DFF-0501-58A4-DD2F-5860FF0C711B}"/>
              </a:ext>
            </a:extLst>
          </p:cNvPr>
          <p:cNvSpPr txBox="1"/>
          <p:nvPr/>
        </p:nvSpPr>
        <p:spPr>
          <a:xfrm>
            <a:off x="0" y="941812"/>
            <a:ext cx="12191999" cy="5842497"/>
          </a:xfrm>
          <a:prstGeom prst="rect">
            <a:avLst/>
          </a:prstGeom>
          <a:noFill/>
        </p:spPr>
        <p:txBody>
          <a:bodyPr wrap="square">
            <a:spAutoFit/>
          </a:bodyPr>
          <a:lstStyle/>
          <a:p>
            <a:pPr>
              <a:lnSpc>
                <a:spcPct val="150000"/>
              </a:lnSpc>
            </a:pPr>
            <a:r>
              <a:rPr lang="en-US" sz="2800" b="1" dirty="0">
                <a:latin typeface="Calibir"/>
              </a:rPr>
              <a:t>3. Recommended structure of the whole project</a:t>
            </a:r>
          </a:p>
          <a:p>
            <a:pPr>
              <a:lnSpc>
                <a:spcPct val="150000"/>
              </a:lnSpc>
            </a:pPr>
            <a:r>
              <a:rPr lang="en-US" sz="2800" dirty="0">
                <a:latin typeface="Calibir"/>
              </a:rPr>
              <a:t>A strong project usually follows this order:</a:t>
            </a:r>
          </a:p>
          <a:p>
            <a:pPr>
              <a:lnSpc>
                <a:spcPct val="150000"/>
              </a:lnSpc>
            </a:pPr>
            <a:r>
              <a:rPr lang="en-US" sz="2800" dirty="0">
                <a:latin typeface="Calibir"/>
              </a:rPr>
              <a:t>Select dataset </a:t>
            </a:r>
          </a:p>
          <a:p>
            <a:pPr marL="971550" lvl="1" indent="-514350">
              <a:lnSpc>
                <a:spcPct val="150000"/>
              </a:lnSpc>
              <a:buFont typeface="+mj-lt"/>
              <a:buAutoNum type="arabicPeriod"/>
            </a:pPr>
            <a:r>
              <a:rPr lang="en-US" sz="2800" dirty="0">
                <a:latin typeface="Calibir"/>
              </a:rPr>
              <a:t>Define business/predictive problem </a:t>
            </a:r>
          </a:p>
          <a:p>
            <a:pPr marL="971550" lvl="1" indent="-514350">
              <a:lnSpc>
                <a:spcPct val="150000"/>
              </a:lnSpc>
              <a:buFont typeface="+mj-lt"/>
              <a:buAutoNum type="arabicPeriod"/>
            </a:pPr>
            <a:r>
              <a:rPr lang="en-US" sz="2800" dirty="0">
                <a:latin typeface="Calibir"/>
              </a:rPr>
              <a:t>Understand the variables </a:t>
            </a:r>
          </a:p>
          <a:p>
            <a:pPr marL="971550" lvl="1" indent="-514350">
              <a:lnSpc>
                <a:spcPct val="150000"/>
              </a:lnSpc>
              <a:buFont typeface="+mj-lt"/>
              <a:buAutoNum type="arabicPeriod"/>
            </a:pPr>
            <a:r>
              <a:rPr lang="en-US" sz="2800" dirty="0">
                <a:latin typeface="Calibir"/>
              </a:rPr>
              <a:t>Clean and preprocess data </a:t>
            </a:r>
          </a:p>
          <a:p>
            <a:pPr marL="971550" lvl="1" indent="-514350">
              <a:lnSpc>
                <a:spcPct val="150000"/>
              </a:lnSpc>
              <a:buFont typeface="+mj-lt"/>
              <a:buAutoNum type="arabicPeriod"/>
            </a:pPr>
            <a:r>
              <a:rPr lang="en-US" sz="2800" dirty="0">
                <a:latin typeface="Calibir"/>
              </a:rPr>
              <a:t>Select target variable </a:t>
            </a:r>
          </a:p>
          <a:p>
            <a:pPr marL="971550" lvl="1" indent="-514350">
              <a:lnSpc>
                <a:spcPct val="150000"/>
              </a:lnSpc>
              <a:buFont typeface="+mj-lt"/>
              <a:buAutoNum type="arabicPeriod"/>
            </a:pPr>
            <a:r>
              <a:rPr lang="en-US" sz="2800" dirty="0">
                <a:latin typeface="Calibir"/>
              </a:rPr>
              <a:t>Choose two models </a:t>
            </a:r>
          </a:p>
          <a:p>
            <a:pPr marL="971550" lvl="1" indent="-514350">
              <a:lnSpc>
                <a:spcPct val="150000"/>
              </a:lnSpc>
              <a:buFont typeface="+mj-lt"/>
              <a:buAutoNum type="arabicPeriod"/>
            </a:pPr>
            <a:r>
              <a:rPr lang="en-US" sz="2800" dirty="0">
                <a:latin typeface="Calibir"/>
              </a:rPr>
              <a:t>Train both models</a:t>
            </a:r>
          </a:p>
        </p:txBody>
      </p:sp>
      <p:pic>
        <p:nvPicPr>
          <p:cNvPr id="4" name="object 3">
            <a:extLst>
              <a:ext uri="{FF2B5EF4-FFF2-40B4-BE49-F238E27FC236}">
                <a16:creationId xmlns:a16="http://schemas.microsoft.com/office/drawing/2014/main" id="{43173999-CCBA-9B5A-2E3D-45415605EA72}"/>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BB34E78D-EA4B-3209-B63D-2DDD6BFFB141}"/>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0950609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D2E56-C33C-1357-54E0-833D97281997}"/>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8638B8F8-2110-5F76-94DF-35D4E2D12574}"/>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0300F196-45B0-B316-81FD-CDD34C33FAC3}"/>
              </a:ext>
            </a:extLst>
          </p:cNvPr>
          <p:cNvSpPr txBox="1"/>
          <p:nvPr/>
        </p:nvSpPr>
        <p:spPr>
          <a:xfrm>
            <a:off x="0" y="941812"/>
            <a:ext cx="12191999" cy="4549835"/>
          </a:xfrm>
          <a:prstGeom prst="rect">
            <a:avLst/>
          </a:prstGeom>
          <a:noFill/>
        </p:spPr>
        <p:txBody>
          <a:bodyPr wrap="square">
            <a:spAutoFit/>
          </a:bodyPr>
          <a:lstStyle/>
          <a:p>
            <a:pPr marL="971550" lvl="1" indent="-514350">
              <a:lnSpc>
                <a:spcPct val="150000"/>
              </a:lnSpc>
              <a:buFont typeface="+mj-lt"/>
              <a:buAutoNum type="arabicPeriod" startAt="7"/>
            </a:pPr>
            <a:r>
              <a:rPr lang="en-US" sz="2800" dirty="0">
                <a:latin typeface="Calibir"/>
              </a:rPr>
              <a:t>Evaluate both models </a:t>
            </a:r>
          </a:p>
          <a:p>
            <a:pPr marL="971550" lvl="1" indent="-514350">
              <a:lnSpc>
                <a:spcPct val="150000"/>
              </a:lnSpc>
              <a:buFont typeface="+mj-lt"/>
              <a:buAutoNum type="arabicPeriod" startAt="7"/>
            </a:pPr>
            <a:r>
              <a:rPr lang="en-US" sz="2800" dirty="0">
                <a:latin typeface="Calibir"/>
              </a:rPr>
              <a:t>Compare results </a:t>
            </a:r>
          </a:p>
          <a:p>
            <a:pPr marL="971550" lvl="1" indent="-514350">
              <a:lnSpc>
                <a:spcPct val="150000"/>
              </a:lnSpc>
              <a:buFont typeface="+mj-lt"/>
              <a:buAutoNum type="arabicPeriod" startAt="7"/>
            </a:pPr>
            <a:r>
              <a:rPr lang="en-US" sz="2800" dirty="0">
                <a:latin typeface="Calibir"/>
              </a:rPr>
              <a:t>Select best final model </a:t>
            </a:r>
          </a:p>
          <a:p>
            <a:pPr marL="971550" lvl="1" indent="-514350">
              <a:lnSpc>
                <a:spcPct val="150000"/>
              </a:lnSpc>
              <a:buFont typeface="+mj-lt"/>
              <a:buAutoNum type="arabicPeriod" startAt="7"/>
            </a:pPr>
            <a:r>
              <a:rPr lang="en-US" sz="2800" dirty="0">
                <a:latin typeface="Calibir"/>
              </a:rPr>
              <a:t>Generate business insights </a:t>
            </a:r>
          </a:p>
          <a:p>
            <a:pPr marL="971550" lvl="1" indent="-514350">
              <a:lnSpc>
                <a:spcPct val="150000"/>
              </a:lnSpc>
              <a:buFont typeface="+mj-lt"/>
              <a:buAutoNum type="arabicPeriod" startAt="7"/>
            </a:pPr>
            <a:r>
              <a:rPr lang="en-US" sz="2800" dirty="0">
                <a:latin typeface="Calibir"/>
              </a:rPr>
              <a:t>Discuss ethics and bias </a:t>
            </a:r>
          </a:p>
          <a:p>
            <a:pPr marL="971550" lvl="1" indent="-514350">
              <a:lnSpc>
                <a:spcPct val="150000"/>
              </a:lnSpc>
              <a:buFont typeface="+mj-lt"/>
              <a:buAutoNum type="arabicPeriod" startAt="7"/>
            </a:pPr>
            <a:r>
              <a:rPr lang="en-US" sz="2800" dirty="0">
                <a:latin typeface="Calibir"/>
              </a:rPr>
              <a:t>Reflect on limitations and lessons learned </a:t>
            </a:r>
          </a:p>
          <a:p>
            <a:pPr marL="971550" lvl="1" indent="-514350">
              <a:lnSpc>
                <a:spcPct val="150000"/>
              </a:lnSpc>
              <a:buFont typeface="+mj-lt"/>
              <a:buAutoNum type="arabicPeriod" startAt="7"/>
            </a:pPr>
            <a:r>
              <a:rPr lang="en-US" sz="2800" dirty="0">
                <a:latin typeface="Calibir"/>
              </a:rPr>
              <a:t>Prepare report, slides, screenshots, code, references</a:t>
            </a:r>
          </a:p>
        </p:txBody>
      </p:sp>
      <p:pic>
        <p:nvPicPr>
          <p:cNvPr id="4" name="object 3">
            <a:extLst>
              <a:ext uri="{FF2B5EF4-FFF2-40B4-BE49-F238E27FC236}">
                <a16:creationId xmlns:a16="http://schemas.microsoft.com/office/drawing/2014/main" id="{E54ADCB8-E1F4-2B19-EB6E-6C71BD2496A1}"/>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A0D04100-2D45-551D-F358-9EAA49417270}"/>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8765626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D3F59-BB18-6125-B8DF-74EE77D81E7D}"/>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917CC503-423A-BE10-5F20-519B7FAD65B5}"/>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B006CDD3-F7DA-F93D-AB46-64A3B536F3AB}"/>
              </a:ext>
            </a:extLst>
          </p:cNvPr>
          <p:cNvSpPr txBox="1"/>
          <p:nvPr/>
        </p:nvSpPr>
        <p:spPr>
          <a:xfrm>
            <a:off x="0" y="941812"/>
            <a:ext cx="12191999" cy="5842497"/>
          </a:xfrm>
          <a:prstGeom prst="rect">
            <a:avLst/>
          </a:prstGeom>
          <a:noFill/>
        </p:spPr>
        <p:txBody>
          <a:bodyPr wrap="square">
            <a:spAutoFit/>
          </a:bodyPr>
          <a:lstStyle/>
          <a:p>
            <a:pPr>
              <a:lnSpc>
                <a:spcPct val="150000"/>
              </a:lnSpc>
            </a:pPr>
            <a:r>
              <a:rPr lang="en-US" sz="2800" b="1" dirty="0">
                <a:latin typeface="Calibir"/>
              </a:rPr>
              <a:t>4. Step-by-step guideline</a:t>
            </a:r>
          </a:p>
          <a:p>
            <a:pPr>
              <a:lnSpc>
                <a:spcPct val="150000"/>
              </a:lnSpc>
            </a:pPr>
            <a:r>
              <a:rPr lang="en-US" sz="2800" b="1" dirty="0">
                <a:latin typeface="Calibir"/>
              </a:rPr>
              <a:t>Step 1: Read the task carefully and divide team roles</a:t>
            </a:r>
          </a:p>
          <a:p>
            <a:pPr>
              <a:lnSpc>
                <a:spcPct val="150000"/>
              </a:lnSpc>
            </a:pPr>
            <a:r>
              <a:rPr lang="en-US" sz="2800" dirty="0">
                <a:latin typeface="Calibir"/>
              </a:rPr>
              <a:t>Before touching the dataset, make sure everyone understands the marking criteria.</a:t>
            </a:r>
          </a:p>
          <a:p>
            <a:pPr>
              <a:lnSpc>
                <a:spcPct val="150000"/>
              </a:lnSpc>
            </a:pPr>
            <a:r>
              <a:rPr lang="en-US" sz="2800" dirty="0">
                <a:latin typeface="Calibir"/>
              </a:rPr>
              <a:t>Suggested roles:</a:t>
            </a:r>
          </a:p>
          <a:p>
            <a:pPr marL="914400" lvl="1" indent="-457200">
              <a:lnSpc>
                <a:spcPct val="150000"/>
              </a:lnSpc>
              <a:buFont typeface="Arial" panose="020B0604020202020204" pitchFamily="34" charset="0"/>
              <a:buChar char="•"/>
            </a:pPr>
            <a:r>
              <a:rPr lang="en-US" sz="2800" b="1" dirty="0">
                <a:latin typeface="Calibir"/>
              </a:rPr>
              <a:t>Member 1:</a:t>
            </a:r>
            <a:r>
              <a:rPr lang="en-US" sz="2800" dirty="0">
                <a:latin typeface="Calibir"/>
              </a:rPr>
              <a:t> problem framing, literature/theory, assumptions </a:t>
            </a:r>
          </a:p>
          <a:p>
            <a:pPr marL="914400" lvl="1" indent="-457200">
              <a:lnSpc>
                <a:spcPct val="150000"/>
              </a:lnSpc>
              <a:buFont typeface="Arial" panose="020B0604020202020204" pitchFamily="34" charset="0"/>
              <a:buChar char="•"/>
            </a:pPr>
            <a:r>
              <a:rPr lang="en-US" sz="2800" b="1" dirty="0">
                <a:latin typeface="Calibir"/>
              </a:rPr>
              <a:t>Member 2:</a:t>
            </a:r>
            <a:r>
              <a:rPr lang="en-US" sz="2800" dirty="0">
                <a:latin typeface="Calibir"/>
              </a:rPr>
              <a:t> preprocessing and feature engineering </a:t>
            </a:r>
          </a:p>
          <a:p>
            <a:pPr marL="914400" lvl="1" indent="-457200">
              <a:lnSpc>
                <a:spcPct val="150000"/>
              </a:lnSpc>
              <a:buFont typeface="Arial" panose="020B0604020202020204" pitchFamily="34" charset="0"/>
              <a:buChar char="•"/>
            </a:pPr>
            <a:r>
              <a:rPr lang="en-US" sz="2800" b="1" dirty="0">
                <a:latin typeface="Calibir"/>
              </a:rPr>
              <a:t>Member 3:</a:t>
            </a:r>
            <a:r>
              <a:rPr lang="en-US" sz="2800" dirty="0">
                <a:latin typeface="Calibir"/>
              </a:rPr>
              <a:t> model 1 development and evaluation </a:t>
            </a:r>
          </a:p>
          <a:p>
            <a:pPr marL="914400" lvl="1" indent="-457200">
              <a:lnSpc>
                <a:spcPct val="150000"/>
              </a:lnSpc>
              <a:buFont typeface="Arial" panose="020B0604020202020204" pitchFamily="34" charset="0"/>
              <a:buChar char="•"/>
            </a:pPr>
            <a:r>
              <a:rPr lang="en-US" sz="2800" b="1" dirty="0">
                <a:latin typeface="Calibir"/>
              </a:rPr>
              <a:t>Member 4:</a:t>
            </a:r>
            <a:r>
              <a:rPr lang="en-US" sz="2800" dirty="0">
                <a:latin typeface="Calibir"/>
              </a:rPr>
              <a:t> model 2 development, comparison, ethics, reflection </a:t>
            </a:r>
          </a:p>
          <a:p>
            <a:pPr marL="914400" lvl="1" indent="-457200">
              <a:lnSpc>
                <a:spcPct val="150000"/>
              </a:lnSpc>
              <a:buFont typeface="Arial" panose="020B0604020202020204" pitchFamily="34" charset="0"/>
              <a:buChar char="•"/>
            </a:pPr>
            <a:r>
              <a:rPr lang="en-US" sz="2800" dirty="0">
                <a:latin typeface="Calibir"/>
              </a:rPr>
              <a:t>All members: presentation speaking and Q&amp;A</a:t>
            </a:r>
          </a:p>
        </p:txBody>
      </p:sp>
      <p:pic>
        <p:nvPicPr>
          <p:cNvPr id="4" name="object 3">
            <a:extLst>
              <a:ext uri="{FF2B5EF4-FFF2-40B4-BE49-F238E27FC236}">
                <a16:creationId xmlns:a16="http://schemas.microsoft.com/office/drawing/2014/main" id="{FE6E2831-6684-AB59-DE94-82615FD28930}"/>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EA4D01C5-2945-B5A3-1E86-6325602ECD9A}"/>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29096200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9BA398-79E3-9663-944D-55C6463E6569}"/>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3CB5945D-F68B-CC18-E57C-504518DBFC1D}"/>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5DC56586-5A22-1803-823B-90930B6B7971}"/>
              </a:ext>
            </a:extLst>
          </p:cNvPr>
          <p:cNvSpPr txBox="1"/>
          <p:nvPr/>
        </p:nvSpPr>
        <p:spPr>
          <a:xfrm>
            <a:off x="0" y="1579171"/>
            <a:ext cx="12191999" cy="1964512"/>
          </a:xfrm>
          <a:prstGeom prst="rect">
            <a:avLst/>
          </a:prstGeom>
          <a:noFill/>
        </p:spPr>
        <p:txBody>
          <a:bodyPr wrap="square">
            <a:spAutoFit/>
          </a:bodyPr>
          <a:lstStyle/>
          <a:p>
            <a:pPr>
              <a:lnSpc>
                <a:spcPct val="150000"/>
              </a:lnSpc>
            </a:pPr>
            <a:r>
              <a:rPr lang="en-US" sz="2800" b="1" dirty="0">
                <a:latin typeface="Calibir"/>
              </a:rPr>
              <a:t>Hint</a:t>
            </a:r>
          </a:p>
          <a:p>
            <a:pPr>
              <a:lnSpc>
                <a:spcPct val="150000"/>
              </a:lnSpc>
            </a:pPr>
            <a:r>
              <a:rPr lang="en-US" sz="2800" dirty="0">
                <a:latin typeface="Calibir"/>
              </a:rPr>
              <a:t>Do not let only one student do the coding. Since the lecturer may ask questions to verify understanding, every member should understand the full workflow.</a:t>
            </a:r>
          </a:p>
        </p:txBody>
      </p:sp>
      <p:pic>
        <p:nvPicPr>
          <p:cNvPr id="4" name="object 3">
            <a:extLst>
              <a:ext uri="{FF2B5EF4-FFF2-40B4-BE49-F238E27FC236}">
                <a16:creationId xmlns:a16="http://schemas.microsoft.com/office/drawing/2014/main" id="{DEE0F596-2C84-BD7B-768E-E4D2514B5182}"/>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C6C5269D-D4E5-D9DC-5F68-55681C79A1A7}"/>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42802304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150D1-7E20-1240-1C60-83BC2F8D8090}"/>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7F4C0D15-00D8-C0EB-9ADF-811EF5040860}"/>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E3010963-AE10-C637-0AE0-207ED5D1ECCF}"/>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6051263A-0F60-5D4D-4A37-F040EE474344}"/>
              </a:ext>
            </a:extLst>
          </p:cNvPr>
          <p:cNvSpPr txBox="1"/>
          <p:nvPr/>
        </p:nvSpPr>
        <p:spPr>
          <a:xfrm>
            <a:off x="0" y="1280284"/>
            <a:ext cx="12191999" cy="4549835"/>
          </a:xfrm>
          <a:prstGeom prst="rect">
            <a:avLst/>
          </a:prstGeom>
          <a:noFill/>
        </p:spPr>
        <p:txBody>
          <a:bodyPr wrap="square">
            <a:spAutoFit/>
          </a:bodyPr>
          <a:lstStyle/>
          <a:p>
            <a:pPr>
              <a:lnSpc>
                <a:spcPct val="150000"/>
              </a:lnSpc>
            </a:pPr>
            <a:r>
              <a:rPr lang="en-US" sz="2800" b="1" dirty="0">
                <a:latin typeface="Calibir"/>
              </a:rPr>
              <a:t>Step 2: Choose one dataset and define the predictive problem</a:t>
            </a:r>
          </a:p>
          <a:p>
            <a:pPr>
              <a:lnSpc>
                <a:spcPct val="150000"/>
              </a:lnSpc>
            </a:pPr>
            <a:r>
              <a:rPr lang="en-US" sz="2800" dirty="0">
                <a:latin typeface="Calibir"/>
              </a:rPr>
              <a:t>You must choose one dataset from the recommended list or another approved one.</a:t>
            </a:r>
          </a:p>
          <a:p>
            <a:pPr>
              <a:lnSpc>
                <a:spcPct val="150000"/>
              </a:lnSpc>
            </a:pPr>
            <a:r>
              <a:rPr lang="en-US" sz="2800" dirty="0">
                <a:latin typeface="Calibir"/>
              </a:rPr>
              <a:t>Examples of predictive problems:</a:t>
            </a:r>
          </a:p>
          <a:p>
            <a:pPr marL="914400" lvl="1" indent="-457200">
              <a:lnSpc>
                <a:spcPct val="150000"/>
              </a:lnSpc>
              <a:buFont typeface="Arial" panose="020B0604020202020204" pitchFamily="34" charset="0"/>
              <a:buChar char="•"/>
            </a:pPr>
            <a:r>
              <a:rPr lang="en-US" sz="2800" dirty="0">
                <a:latin typeface="Calibir"/>
              </a:rPr>
              <a:t>Heart Disease Dataset</a:t>
            </a:r>
            <a:br>
              <a:rPr lang="en-US" sz="2800" dirty="0">
                <a:latin typeface="Calibir"/>
              </a:rPr>
            </a:br>
            <a:r>
              <a:rPr lang="en-US" sz="2800" dirty="0">
                <a:latin typeface="Calibir"/>
              </a:rPr>
              <a:t>Predict whether a patient has heart disease.</a:t>
            </a:r>
            <a:br>
              <a:rPr lang="en-US" sz="2800" dirty="0">
                <a:latin typeface="Calibir"/>
              </a:rPr>
            </a:br>
            <a:r>
              <a:rPr lang="en-US" sz="2800" dirty="0">
                <a:latin typeface="Calibir"/>
              </a:rPr>
              <a:t>This is a classification problem. </a:t>
            </a:r>
          </a:p>
        </p:txBody>
      </p:sp>
      <p:sp>
        <p:nvSpPr>
          <p:cNvPr id="7" name="object 2">
            <a:extLst>
              <a:ext uri="{FF2B5EF4-FFF2-40B4-BE49-F238E27FC236}">
                <a16:creationId xmlns:a16="http://schemas.microsoft.com/office/drawing/2014/main" id="{2E75E3A0-8134-C515-2CF6-34B97AB0CF08}"/>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27442160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254B2-79E0-978D-9586-06FE054B44CC}"/>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5CDACF26-6B9B-C792-DB77-0F4EFD46A1D9}"/>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F0D7D913-0839-0B3F-6388-929597488A03}"/>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0F989C3E-0D46-9291-29FD-40D1FF25D650}"/>
              </a:ext>
            </a:extLst>
          </p:cNvPr>
          <p:cNvSpPr txBox="1"/>
          <p:nvPr/>
        </p:nvSpPr>
        <p:spPr>
          <a:xfrm>
            <a:off x="0" y="583684"/>
            <a:ext cx="12191999" cy="6133859"/>
          </a:xfrm>
          <a:prstGeom prst="rect">
            <a:avLst/>
          </a:prstGeom>
          <a:noFill/>
        </p:spPr>
        <p:txBody>
          <a:bodyPr wrap="square">
            <a:spAutoFit/>
          </a:bodyPr>
          <a:lstStyle/>
          <a:p>
            <a:pPr marL="914400" lvl="1" indent="-457200">
              <a:lnSpc>
                <a:spcPct val="150000"/>
              </a:lnSpc>
              <a:buFont typeface="Arial" panose="020B0604020202020204" pitchFamily="34" charset="0"/>
              <a:buChar char="•"/>
            </a:pPr>
            <a:r>
              <a:rPr lang="en-US" sz="2200" dirty="0">
                <a:latin typeface="Calibir"/>
              </a:rPr>
              <a:t>IBM HR Attrition Dataset</a:t>
            </a:r>
            <a:br>
              <a:rPr lang="en-US" sz="2200" dirty="0">
                <a:latin typeface="Calibir"/>
              </a:rPr>
            </a:br>
            <a:r>
              <a:rPr lang="en-US" sz="2200" dirty="0">
                <a:latin typeface="Calibir"/>
              </a:rPr>
              <a:t>Predict whether an employee will leave the company.</a:t>
            </a:r>
            <a:br>
              <a:rPr lang="en-US" sz="2200" dirty="0">
                <a:latin typeface="Calibir"/>
              </a:rPr>
            </a:br>
            <a:r>
              <a:rPr lang="en-US" sz="2200" dirty="0">
                <a:latin typeface="Calibir"/>
              </a:rPr>
              <a:t>This is a classification problem. </a:t>
            </a:r>
          </a:p>
          <a:p>
            <a:pPr marL="914400" lvl="1" indent="-457200">
              <a:lnSpc>
                <a:spcPct val="150000"/>
              </a:lnSpc>
              <a:buFont typeface="Arial" panose="020B0604020202020204" pitchFamily="34" charset="0"/>
              <a:buChar char="•"/>
            </a:pPr>
            <a:r>
              <a:rPr lang="en-US" sz="2200" dirty="0">
                <a:latin typeface="Calibir"/>
              </a:rPr>
              <a:t>Walmart Sales Forecasting</a:t>
            </a:r>
            <a:br>
              <a:rPr lang="en-US" sz="2200" dirty="0">
                <a:latin typeface="Calibir"/>
              </a:rPr>
            </a:br>
            <a:r>
              <a:rPr lang="en-US" sz="2200" dirty="0">
                <a:latin typeface="Calibir"/>
              </a:rPr>
              <a:t>Predict future weekly sales.</a:t>
            </a:r>
            <a:br>
              <a:rPr lang="en-US" sz="2200" dirty="0">
                <a:latin typeface="Calibir"/>
              </a:rPr>
            </a:br>
            <a:r>
              <a:rPr lang="en-US" sz="2200" dirty="0">
                <a:latin typeface="Calibir"/>
              </a:rPr>
              <a:t>This is a regression problem. </a:t>
            </a:r>
          </a:p>
          <a:p>
            <a:pPr marL="914400" lvl="1" indent="-457200">
              <a:lnSpc>
                <a:spcPct val="150000"/>
              </a:lnSpc>
              <a:buFont typeface="Arial" panose="020B0604020202020204" pitchFamily="34" charset="0"/>
              <a:buChar char="•"/>
            </a:pPr>
            <a:r>
              <a:rPr lang="en-US" sz="2200" dirty="0">
                <a:latin typeface="Calibir"/>
              </a:rPr>
              <a:t>Automobile Price Dataset</a:t>
            </a:r>
            <a:br>
              <a:rPr lang="en-US" sz="2200" dirty="0">
                <a:latin typeface="Calibir"/>
              </a:rPr>
            </a:br>
            <a:r>
              <a:rPr lang="en-US" sz="2200" dirty="0">
                <a:latin typeface="Calibir"/>
              </a:rPr>
              <a:t>Predict a car’s price based on features.</a:t>
            </a:r>
            <a:br>
              <a:rPr lang="en-US" sz="2200" dirty="0">
                <a:latin typeface="Calibir"/>
              </a:rPr>
            </a:br>
            <a:r>
              <a:rPr lang="en-US" sz="2200" dirty="0">
                <a:latin typeface="Calibir"/>
              </a:rPr>
              <a:t>This is a regression problem. </a:t>
            </a:r>
          </a:p>
          <a:p>
            <a:pPr marL="914400" lvl="1" indent="-457200">
              <a:lnSpc>
                <a:spcPct val="150000"/>
              </a:lnSpc>
              <a:buFont typeface="Arial" panose="020B0604020202020204" pitchFamily="34" charset="0"/>
              <a:buChar char="•"/>
            </a:pPr>
            <a:r>
              <a:rPr lang="en-US" sz="2200" dirty="0">
                <a:latin typeface="Calibir"/>
              </a:rPr>
              <a:t>Telco Customer Churn</a:t>
            </a:r>
            <a:br>
              <a:rPr lang="en-US" sz="2200" dirty="0">
                <a:latin typeface="Calibir"/>
              </a:rPr>
            </a:br>
            <a:r>
              <a:rPr lang="en-US" sz="2200" dirty="0">
                <a:latin typeface="Calibir"/>
              </a:rPr>
              <a:t>Predict whether a customer will churn.</a:t>
            </a:r>
            <a:br>
              <a:rPr lang="en-US" sz="2200" dirty="0">
                <a:latin typeface="Calibir"/>
              </a:rPr>
            </a:br>
            <a:r>
              <a:rPr lang="en-US" sz="2200" dirty="0">
                <a:latin typeface="Calibir"/>
              </a:rPr>
              <a:t>This is a classification problem.</a:t>
            </a:r>
          </a:p>
        </p:txBody>
      </p:sp>
      <p:sp>
        <p:nvSpPr>
          <p:cNvPr id="7" name="object 2">
            <a:extLst>
              <a:ext uri="{FF2B5EF4-FFF2-40B4-BE49-F238E27FC236}">
                <a16:creationId xmlns:a16="http://schemas.microsoft.com/office/drawing/2014/main" id="{C4A7D40D-4898-916E-DE05-5F5A81042BE4}"/>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6344151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A3E8E-D4B6-A3E4-4D15-F2696EED33FB}"/>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0EBCBF54-DBB2-CCF0-B62E-2AF0C3727084}"/>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8D82E000-9946-98C8-06C5-65363B6051E4}"/>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13AC22A5-BFA6-0641-75BC-8B69EF5A1FD5}"/>
              </a:ext>
            </a:extLst>
          </p:cNvPr>
          <p:cNvSpPr txBox="1"/>
          <p:nvPr/>
        </p:nvSpPr>
        <p:spPr>
          <a:xfrm>
            <a:off x="0" y="583684"/>
            <a:ext cx="12191999" cy="3903504"/>
          </a:xfrm>
          <a:prstGeom prst="rect">
            <a:avLst/>
          </a:prstGeom>
          <a:noFill/>
        </p:spPr>
        <p:txBody>
          <a:bodyPr wrap="square">
            <a:spAutoFit/>
          </a:bodyPr>
          <a:lstStyle/>
          <a:p>
            <a:pPr>
              <a:lnSpc>
                <a:spcPct val="150000"/>
              </a:lnSpc>
            </a:pPr>
            <a:r>
              <a:rPr lang="en-US" sz="2800" b="1" dirty="0">
                <a:latin typeface="Calibir"/>
              </a:rPr>
              <a:t>What to write</a:t>
            </a:r>
          </a:p>
          <a:p>
            <a:pPr>
              <a:lnSpc>
                <a:spcPct val="150000"/>
              </a:lnSpc>
            </a:pPr>
            <a:r>
              <a:rPr lang="en-US" sz="2800" dirty="0">
                <a:latin typeface="Calibir"/>
              </a:rPr>
              <a:t>You should clearly state:</a:t>
            </a:r>
          </a:p>
          <a:p>
            <a:pPr marL="914400" lvl="1" indent="-457200">
              <a:lnSpc>
                <a:spcPct val="150000"/>
              </a:lnSpc>
              <a:buFont typeface="Arial" panose="020B0604020202020204" pitchFamily="34" charset="0"/>
              <a:buChar char="•"/>
            </a:pPr>
            <a:r>
              <a:rPr lang="en-US" sz="2800" dirty="0">
                <a:latin typeface="Calibir"/>
              </a:rPr>
              <a:t>what the dataset is </a:t>
            </a:r>
          </a:p>
          <a:p>
            <a:pPr marL="914400" lvl="1" indent="-457200">
              <a:lnSpc>
                <a:spcPct val="150000"/>
              </a:lnSpc>
              <a:buFont typeface="Arial" panose="020B0604020202020204" pitchFamily="34" charset="0"/>
              <a:buChar char="•"/>
            </a:pPr>
            <a:r>
              <a:rPr lang="en-US" sz="2800" dirty="0">
                <a:latin typeface="Calibir"/>
              </a:rPr>
              <a:t>what the target variable is </a:t>
            </a:r>
          </a:p>
          <a:p>
            <a:pPr marL="914400" lvl="1" indent="-457200">
              <a:lnSpc>
                <a:spcPct val="150000"/>
              </a:lnSpc>
              <a:buFont typeface="Arial" panose="020B0604020202020204" pitchFamily="34" charset="0"/>
              <a:buChar char="•"/>
            </a:pPr>
            <a:r>
              <a:rPr lang="en-US" sz="2800" dirty="0">
                <a:latin typeface="Calibir"/>
              </a:rPr>
              <a:t>why the problem matters in real life </a:t>
            </a:r>
          </a:p>
          <a:p>
            <a:pPr marL="914400" lvl="1" indent="-457200">
              <a:lnSpc>
                <a:spcPct val="150000"/>
              </a:lnSpc>
              <a:buFont typeface="Arial" panose="020B0604020202020204" pitchFamily="34" charset="0"/>
              <a:buChar char="•"/>
            </a:pPr>
            <a:r>
              <a:rPr lang="en-US" sz="2800" dirty="0">
                <a:latin typeface="Calibir"/>
              </a:rPr>
              <a:t>why predictive analytics is useful for this problem</a:t>
            </a:r>
          </a:p>
        </p:txBody>
      </p:sp>
      <p:sp>
        <p:nvSpPr>
          <p:cNvPr id="7" name="object 2">
            <a:extLst>
              <a:ext uri="{FF2B5EF4-FFF2-40B4-BE49-F238E27FC236}">
                <a16:creationId xmlns:a16="http://schemas.microsoft.com/office/drawing/2014/main" id="{3BC30E5A-260E-9B41-3757-A4A512BA1680}"/>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2248730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2E7DE-25CD-0337-C43B-74A69CEE2E4C}"/>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DE0CCCE1-D580-56A6-7451-D69180ABE294}"/>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54203519-A911-5DF2-C127-3D2C1EAC314E}"/>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86D4CCDD-4DDC-5913-5E79-03C15401D702}"/>
              </a:ext>
            </a:extLst>
          </p:cNvPr>
          <p:cNvSpPr txBox="1"/>
          <p:nvPr/>
        </p:nvSpPr>
        <p:spPr>
          <a:xfrm>
            <a:off x="0" y="583684"/>
            <a:ext cx="12191999" cy="5196166"/>
          </a:xfrm>
          <a:prstGeom prst="rect">
            <a:avLst/>
          </a:prstGeom>
          <a:noFill/>
        </p:spPr>
        <p:txBody>
          <a:bodyPr wrap="square">
            <a:spAutoFit/>
          </a:bodyPr>
          <a:lstStyle/>
          <a:p>
            <a:pPr>
              <a:lnSpc>
                <a:spcPct val="150000"/>
              </a:lnSpc>
            </a:pPr>
            <a:r>
              <a:rPr lang="en-US" sz="2800" b="1" dirty="0">
                <a:latin typeface="Calibir"/>
              </a:rPr>
              <a:t>Example</a:t>
            </a:r>
          </a:p>
          <a:p>
            <a:pPr>
              <a:lnSpc>
                <a:spcPct val="150000"/>
              </a:lnSpc>
            </a:pPr>
            <a:r>
              <a:rPr lang="en-US" sz="2800" dirty="0">
                <a:latin typeface="Calibir"/>
              </a:rPr>
              <a:t>“Using the IBM HR Attrition dataset, this project aims to predict whether an employee is likely to leave the company. Early prediction of attrition can help HR departments reduce turnover, improve retention strategies, and lower recruitment costs.”</a:t>
            </a:r>
          </a:p>
          <a:p>
            <a:pPr>
              <a:lnSpc>
                <a:spcPct val="150000"/>
              </a:lnSpc>
            </a:pPr>
            <a:r>
              <a:rPr lang="en-US" sz="2800" b="1" dirty="0">
                <a:latin typeface="Calibir"/>
              </a:rPr>
              <a:t>Common mistake</a:t>
            </a:r>
          </a:p>
          <a:p>
            <a:pPr>
              <a:lnSpc>
                <a:spcPct val="150000"/>
              </a:lnSpc>
            </a:pPr>
            <a:r>
              <a:rPr lang="en-US" sz="2800" dirty="0">
                <a:latin typeface="Calibir"/>
              </a:rPr>
              <a:t>Students often describe the dataset but do not clearly define the predictive target.</a:t>
            </a:r>
            <a:br>
              <a:rPr lang="en-US" sz="2800" dirty="0">
                <a:latin typeface="Calibir"/>
              </a:rPr>
            </a:br>
            <a:r>
              <a:rPr lang="en-US" sz="2800" dirty="0">
                <a:latin typeface="Calibir"/>
              </a:rPr>
              <a:t>That loses marks.</a:t>
            </a:r>
          </a:p>
        </p:txBody>
      </p:sp>
      <p:sp>
        <p:nvSpPr>
          <p:cNvPr id="7" name="object 2">
            <a:extLst>
              <a:ext uri="{FF2B5EF4-FFF2-40B4-BE49-F238E27FC236}">
                <a16:creationId xmlns:a16="http://schemas.microsoft.com/office/drawing/2014/main" id="{49143ED9-559C-E88F-453D-BE64F95C17A4}"/>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23039727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AA32B-DEAB-6434-1FE0-32E002B5BC09}"/>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A0600F63-FBC1-75BE-FD41-CB751AE19117}"/>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10E92F50-58F3-AD96-DB09-A3093C6E31E2}"/>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A926018E-FCDB-5C3E-444D-45D131D5792F}"/>
              </a:ext>
            </a:extLst>
          </p:cNvPr>
          <p:cNvSpPr txBox="1"/>
          <p:nvPr/>
        </p:nvSpPr>
        <p:spPr>
          <a:xfrm>
            <a:off x="0" y="583684"/>
            <a:ext cx="12191999" cy="6488828"/>
          </a:xfrm>
          <a:prstGeom prst="rect">
            <a:avLst/>
          </a:prstGeom>
          <a:noFill/>
        </p:spPr>
        <p:txBody>
          <a:bodyPr wrap="square">
            <a:spAutoFit/>
          </a:bodyPr>
          <a:lstStyle/>
          <a:p>
            <a:pPr>
              <a:lnSpc>
                <a:spcPct val="150000"/>
              </a:lnSpc>
            </a:pPr>
            <a:r>
              <a:rPr lang="en-US" sz="2800" b="1" dirty="0">
                <a:latin typeface="Calibir"/>
              </a:rPr>
              <a:t>Step 3: Understand the dataset deeply</a:t>
            </a:r>
          </a:p>
          <a:p>
            <a:pPr>
              <a:lnSpc>
                <a:spcPct val="150000"/>
              </a:lnSpc>
            </a:pPr>
            <a:r>
              <a:rPr lang="en-US" sz="2800" dirty="0">
                <a:latin typeface="Calibir"/>
              </a:rPr>
              <a:t>You need to show that you understand:</a:t>
            </a:r>
          </a:p>
          <a:p>
            <a:pPr marL="914400" lvl="1" indent="-457200">
              <a:lnSpc>
                <a:spcPct val="150000"/>
              </a:lnSpc>
              <a:buFont typeface="Arial" panose="020B0604020202020204" pitchFamily="34" charset="0"/>
              <a:buChar char="•"/>
            </a:pPr>
            <a:r>
              <a:rPr lang="en-US" sz="2800" dirty="0">
                <a:latin typeface="Calibir"/>
              </a:rPr>
              <a:t>number of rows and columns </a:t>
            </a:r>
          </a:p>
          <a:p>
            <a:pPr marL="914400" lvl="1" indent="-457200">
              <a:lnSpc>
                <a:spcPct val="150000"/>
              </a:lnSpc>
              <a:buFont typeface="Arial" panose="020B0604020202020204" pitchFamily="34" charset="0"/>
              <a:buChar char="•"/>
            </a:pPr>
            <a:r>
              <a:rPr lang="en-US" sz="2800" dirty="0">
                <a:latin typeface="Calibir"/>
              </a:rPr>
              <a:t>variable names </a:t>
            </a:r>
          </a:p>
          <a:p>
            <a:pPr marL="914400" lvl="1" indent="-457200">
              <a:lnSpc>
                <a:spcPct val="150000"/>
              </a:lnSpc>
              <a:buFont typeface="Arial" panose="020B0604020202020204" pitchFamily="34" charset="0"/>
              <a:buChar char="•"/>
            </a:pPr>
            <a:r>
              <a:rPr lang="en-US" sz="2800" dirty="0">
                <a:latin typeface="Calibir"/>
              </a:rPr>
              <a:t>variable types </a:t>
            </a:r>
          </a:p>
          <a:p>
            <a:pPr marL="914400" lvl="1" indent="-457200">
              <a:lnSpc>
                <a:spcPct val="150000"/>
              </a:lnSpc>
              <a:buFont typeface="Arial" panose="020B0604020202020204" pitchFamily="34" charset="0"/>
              <a:buChar char="•"/>
            </a:pPr>
            <a:r>
              <a:rPr lang="en-US" sz="2800" dirty="0">
                <a:latin typeface="Calibir"/>
              </a:rPr>
              <a:t>missing values </a:t>
            </a:r>
          </a:p>
          <a:p>
            <a:pPr marL="914400" lvl="1" indent="-457200">
              <a:lnSpc>
                <a:spcPct val="150000"/>
              </a:lnSpc>
              <a:buFont typeface="Arial" panose="020B0604020202020204" pitchFamily="34" charset="0"/>
              <a:buChar char="•"/>
            </a:pPr>
            <a:r>
              <a:rPr lang="en-US" sz="2800" dirty="0">
                <a:latin typeface="Calibir"/>
              </a:rPr>
              <a:t>duplicates </a:t>
            </a:r>
          </a:p>
          <a:p>
            <a:pPr marL="914400" lvl="1" indent="-457200">
              <a:lnSpc>
                <a:spcPct val="150000"/>
              </a:lnSpc>
              <a:buFont typeface="Arial" panose="020B0604020202020204" pitchFamily="34" charset="0"/>
              <a:buChar char="•"/>
            </a:pPr>
            <a:r>
              <a:rPr lang="en-US" sz="2800" dirty="0">
                <a:latin typeface="Calibir"/>
              </a:rPr>
              <a:t>outliers </a:t>
            </a:r>
          </a:p>
          <a:p>
            <a:pPr marL="914400" lvl="1" indent="-457200">
              <a:lnSpc>
                <a:spcPct val="150000"/>
              </a:lnSpc>
              <a:buFont typeface="Arial" panose="020B0604020202020204" pitchFamily="34" charset="0"/>
              <a:buChar char="•"/>
            </a:pPr>
            <a:r>
              <a:rPr lang="en-US" sz="2800" dirty="0">
                <a:latin typeface="Calibir"/>
              </a:rPr>
              <a:t>class imbalance </a:t>
            </a:r>
          </a:p>
          <a:p>
            <a:pPr marL="914400" lvl="1" indent="-457200">
              <a:lnSpc>
                <a:spcPct val="150000"/>
              </a:lnSpc>
              <a:buFont typeface="Arial" panose="020B0604020202020204" pitchFamily="34" charset="0"/>
              <a:buChar char="•"/>
            </a:pPr>
            <a:r>
              <a:rPr lang="en-US" sz="2800" dirty="0">
                <a:latin typeface="Calibir"/>
              </a:rPr>
              <a:t>irrelevant features</a:t>
            </a:r>
          </a:p>
        </p:txBody>
      </p:sp>
      <p:sp>
        <p:nvSpPr>
          <p:cNvPr id="7" name="object 2">
            <a:extLst>
              <a:ext uri="{FF2B5EF4-FFF2-40B4-BE49-F238E27FC236}">
                <a16:creationId xmlns:a16="http://schemas.microsoft.com/office/drawing/2014/main" id="{EA0B742F-A988-0188-CED8-3F45A0E3AEAC}"/>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23152530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94CB5-6940-6063-3455-2393540713D2}"/>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4C1A72DC-DEE0-9EF4-0892-8BA7ED7B8E0D}"/>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21192FFB-4CBB-BA0B-2EC2-DD8D83F4AA39}"/>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0FFDC151-260B-AE4A-13C1-EB3C990AE51C}"/>
              </a:ext>
            </a:extLst>
          </p:cNvPr>
          <p:cNvSpPr txBox="1"/>
          <p:nvPr/>
        </p:nvSpPr>
        <p:spPr>
          <a:xfrm>
            <a:off x="0" y="583684"/>
            <a:ext cx="12191999" cy="5196166"/>
          </a:xfrm>
          <a:prstGeom prst="rect">
            <a:avLst/>
          </a:prstGeom>
          <a:noFill/>
        </p:spPr>
        <p:txBody>
          <a:bodyPr wrap="square">
            <a:spAutoFit/>
          </a:bodyPr>
          <a:lstStyle/>
          <a:p>
            <a:pPr>
              <a:lnSpc>
                <a:spcPct val="150000"/>
              </a:lnSpc>
            </a:pPr>
            <a:r>
              <a:rPr lang="en-US" sz="2800" b="1" dirty="0">
                <a:latin typeface="Calibir"/>
              </a:rPr>
              <a:t>What to do</a:t>
            </a:r>
          </a:p>
          <a:p>
            <a:pPr>
              <a:lnSpc>
                <a:spcPct val="150000"/>
              </a:lnSpc>
            </a:pPr>
            <a:r>
              <a:rPr lang="en-US" sz="2800" dirty="0">
                <a:latin typeface="Calibir"/>
              </a:rPr>
              <a:t>In Python, inspect the dataset using things like:</a:t>
            </a:r>
          </a:p>
          <a:p>
            <a:pPr marL="914400" lvl="1" indent="-457200">
              <a:lnSpc>
                <a:spcPct val="150000"/>
              </a:lnSpc>
              <a:buFont typeface="Arial" panose="020B0604020202020204" pitchFamily="34" charset="0"/>
              <a:buChar char="•"/>
            </a:pPr>
            <a:r>
              <a:rPr lang="en-US" sz="2800" dirty="0">
                <a:latin typeface="Calibir"/>
              </a:rPr>
              <a:t>.head() </a:t>
            </a:r>
          </a:p>
          <a:p>
            <a:pPr marL="914400" lvl="1" indent="-457200">
              <a:lnSpc>
                <a:spcPct val="150000"/>
              </a:lnSpc>
              <a:buFont typeface="Arial" panose="020B0604020202020204" pitchFamily="34" charset="0"/>
              <a:buChar char="•"/>
            </a:pPr>
            <a:r>
              <a:rPr lang="en-US" sz="2800" dirty="0">
                <a:latin typeface="Calibir"/>
              </a:rPr>
              <a:t>.info() </a:t>
            </a:r>
          </a:p>
          <a:p>
            <a:pPr marL="914400" lvl="1" indent="-457200">
              <a:lnSpc>
                <a:spcPct val="150000"/>
              </a:lnSpc>
              <a:buFont typeface="Arial" panose="020B0604020202020204" pitchFamily="34" charset="0"/>
              <a:buChar char="•"/>
            </a:pPr>
            <a:r>
              <a:rPr lang="en-US" sz="2800" dirty="0">
                <a:latin typeface="Calibir"/>
              </a:rPr>
              <a:t>.describe() </a:t>
            </a:r>
          </a:p>
          <a:p>
            <a:pPr marL="914400" lvl="1" indent="-457200">
              <a:lnSpc>
                <a:spcPct val="150000"/>
              </a:lnSpc>
              <a:buFont typeface="Arial" panose="020B0604020202020204" pitchFamily="34" charset="0"/>
              <a:buChar char="•"/>
            </a:pPr>
            <a:r>
              <a:rPr lang="en-US" sz="2800" dirty="0">
                <a:latin typeface="Calibir"/>
              </a:rPr>
              <a:t>missing value counts </a:t>
            </a:r>
          </a:p>
          <a:p>
            <a:pPr marL="914400" lvl="1" indent="-457200">
              <a:lnSpc>
                <a:spcPct val="150000"/>
              </a:lnSpc>
              <a:buFont typeface="Arial" panose="020B0604020202020204" pitchFamily="34" charset="0"/>
              <a:buChar char="•"/>
            </a:pPr>
            <a:r>
              <a:rPr lang="en-US" sz="2800" dirty="0">
                <a:latin typeface="Calibir"/>
              </a:rPr>
              <a:t>duplicate checks </a:t>
            </a:r>
          </a:p>
          <a:p>
            <a:pPr marL="914400" lvl="1" indent="-457200">
              <a:lnSpc>
                <a:spcPct val="150000"/>
              </a:lnSpc>
              <a:buFont typeface="Arial" panose="020B0604020202020204" pitchFamily="34" charset="0"/>
              <a:buChar char="•"/>
            </a:pPr>
            <a:r>
              <a:rPr lang="en-US" sz="2800" dirty="0">
                <a:latin typeface="Calibir"/>
              </a:rPr>
              <a:t>value counts for target variable</a:t>
            </a:r>
          </a:p>
        </p:txBody>
      </p:sp>
      <p:sp>
        <p:nvSpPr>
          <p:cNvPr id="7" name="object 2">
            <a:extLst>
              <a:ext uri="{FF2B5EF4-FFF2-40B4-BE49-F238E27FC236}">
                <a16:creationId xmlns:a16="http://schemas.microsoft.com/office/drawing/2014/main" id="{CA01BB13-DCC5-A52B-30EC-D32E253A4586}"/>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5938324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31C54-1287-6E51-0F7C-E81DEC3CC1D5}"/>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733D51A9-0425-8CDE-182B-79AF95253D2D}"/>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46627D18-659E-8B48-8C7D-30F5E5D35039}"/>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52360977-85CF-0C36-E63E-998B34CF11B7}"/>
              </a:ext>
            </a:extLst>
          </p:cNvPr>
          <p:cNvSpPr txBox="1"/>
          <p:nvPr/>
        </p:nvSpPr>
        <p:spPr>
          <a:xfrm>
            <a:off x="0" y="583684"/>
            <a:ext cx="12191999" cy="3257174"/>
          </a:xfrm>
          <a:prstGeom prst="rect">
            <a:avLst/>
          </a:prstGeom>
          <a:noFill/>
        </p:spPr>
        <p:txBody>
          <a:bodyPr wrap="square">
            <a:spAutoFit/>
          </a:bodyPr>
          <a:lstStyle/>
          <a:p>
            <a:pPr>
              <a:lnSpc>
                <a:spcPct val="150000"/>
              </a:lnSpc>
            </a:pPr>
            <a:r>
              <a:rPr lang="en-US" sz="2800" b="1" dirty="0">
                <a:latin typeface="Calibir"/>
              </a:rPr>
              <a:t>What to include in the report</a:t>
            </a:r>
          </a:p>
          <a:p>
            <a:pPr marL="914400" lvl="1" indent="-457200">
              <a:lnSpc>
                <a:spcPct val="150000"/>
              </a:lnSpc>
              <a:buFont typeface="Arial" panose="020B0604020202020204" pitchFamily="34" charset="0"/>
              <a:buChar char="•"/>
            </a:pPr>
            <a:r>
              <a:rPr lang="en-US" sz="2800" dirty="0">
                <a:latin typeface="Calibir"/>
              </a:rPr>
              <a:t>source of the dataset </a:t>
            </a:r>
          </a:p>
          <a:p>
            <a:pPr marL="914400" lvl="1" indent="-457200">
              <a:lnSpc>
                <a:spcPct val="150000"/>
              </a:lnSpc>
              <a:buFont typeface="Arial" panose="020B0604020202020204" pitchFamily="34" charset="0"/>
              <a:buChar char="•"/>
            </a:pPr>
            <a:r>
              <a:rPr lang="en-US" sz="2800" dirty="0">
                <a:latin typeface="Calibir"/>
              </a:rPr>
              <a:t>variable descriptions </a:t>
            </a:r>
          </a:p>
          <a:p>
            <a:pPr marL="914400" lvl="1" indent="-457200">
              <a:lnSpc>
                <a:spcPct val="150000"/>
              </a:lnSpc>
              <a:buFont typeface="Arial" panose="020B0604020202020204" pitchFamily="34" charset="0"/>
              <a:buChar char="•"/>
            </a:pPr>
            <a:r>
              <a:rPr lang="en-US" sz="2800" dirty="0">
                <a:latin typeface="Calibir"/>
              </a:rPr>
              <a:t>target variable </a:t>
            </a:r>
          </a:p>
          <a:p>
            <a:pPr marL="914400" lvl="1" indent="-457200">
              <a:lnSpc>
                <a:spcPct val="150000"/>
              </a:lnSpc>
              <a:buFont typeface="Arial" panose="020B0604020202020204" pitchFamily="34" charset="0"/>
              <a:buChar char="•"/>
            </a:pPr>
            <a:r>
              <a:rPr lang="en-US" sz="2800" dirty="0">
                <a:latin typeface="Calibir"/>
              </a:rPr>
              <a:t>initial problems found</a:t>
            </a:r>
          </a:p>
        </p:txBody>
      </p:sp>
      <p:sp>
        <p:nvSpPr>
          <p:cNvPr id="7" name="object 2">
            <a:extLst>
              <a:ext uri="{FF2B5EF4-FFF2-40B4-BE49-F238E27FC236}">
                <a16:creationId xmlns:a16="http://schemas.microsoft.com/office/drawing/2014/main" id="{179C271A-991F-EB40-A671-894C49E443AC}"/>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3139092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412BB-7E72-78C4-7EE6-1E55598BCA9C}"/>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D2AF4998-3F32-4C5D-BF7B-FCF4D3B0652D}"/>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776BBE85-72E9-B3C7-5854-7C38176643B4}"/>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699B59CF-B1DA-235E-FC19-7ACA3AA239AD}"/>
              </a:ext>
            </a:extLst>
          </p:cNvPr>
          <p:cNvSpPr txBox="1"/>
          <p:nvPr/>
        </p:nvSpPr>
        <p:spPr>
          <a:xfrm>
            <a:off x="0" y="583684"/>
            <a:ext cx="12191999" cy="4549835"/>
          </a:xfrm>
          <a:prstGeom prst="rect">
            <a:avLst/>
          </a:prstGeom>
          <a:noFill/>
        </p:spPr>
        <p:txBody>
          <a:bodyPr wrap="square">
            <a:spAutoFit/>
          </a:bodyPr>
          <a:lstStyle/>
          <a:p>
            <a:pPr>
              <a:lnSpc>
                <a:spcPct val="150000"/>
              </a:lnSpc>
            </a:pPr>
            <a:r>
              <a:rPr lang="en-US" sz="2800" b="1" dirty="0">
                <a:latin typeface="Calibir"/>
              </a:rPr>
              <a:t>Hint</a:t>
            </a:r>
          </a:p>
          <a:p>
            <a:pPr>
              <a:lnSpc>
                <a:spcPct val="150000"/>
              </a:lnSpc>
            </a:pPr>
            <a:r>
              <a:rPr lang="en-US" sz="2800" dirty="0">
                <a:latin typeface="Calibir"/>
              </a:rPr>
              <a:t>A simple table of variables is useful:</a:t>
            </a:r>
          </a:p>
          <a:p>
            <a:pPr marL="914400" lvl="1" indent="-457200">
              <a:lnSpc>
                <a:spcPct val="150000"/>
              </a:lnSpc>
              <a:buFont typeface="Arial" panose="020B0604020202020204" pitchFamily="34" charset="0"/>
              <a:buChar char="•"/>
            </a:pPr>
            <a:r>
              <a:rPr lang="en-US" sz="2800" dirty="0">
                <a:latin typeface="Calibir"/>
              </a:rPr>
              <a:t>variable name </a:t>
            </a:r>
          </a:p>
          <a:p>
            <a:pPr marL="914400" lvl="1" indent="-457200">
              <a:lnSpc>
                <a:spcPct val="150000"/>
              </a:lnSpc>
              <a:buFont typeface="Arial" panose="020B0604020202020204" pitchFamily="34" charset="0"/>
              <a:buChar char="•"/>
            </a:pPr>
            <a:r>
              <a:rPr lang="en-US" sz="2800" dirty="0">
                <a:latin typeface="Calibir"/>
              </a:rPr>
              <a:t>type </a:t>
            </a:r>
          </a:p>
          <a:p>
            <a:pPr marL="914400" lvl="1" indent="-457200">
              <a:lnSpc>
                <a:spcPct val="150000"/>
              </a:lnSpc>
              <a:buFont typeface="Arial" panose="020B0604020202020204" pitchFamily="34" charset="0"/>
              <a:buChar char="•"/>
            </a:pPr>
            <a:r>
              <a:rPr lang="en-US" sz="2800" dirty="0">
                <a:latin typeface="Calibir"/>
              </a:rPr>
              <a:t>role in modelling </a:t>
            </a:r>
          </a:p>
          <a:p>
            <a:pPr marL="914400" lvl="1" indent="-457200">
              <a:lnSpc>
                <a:spcPct val="150000"/>
              </a:lnSpc>
              <a:buFont typeface="Arial" panose="020B0604020202020204" pitchFamily="34" charset="0"/>
              <a:buChar char="•"/>
            </a:pPr>
            <a:r>
              <a:rPr lang="en-US" sz="2800" dirty="0">
                <a:latin typeface="Calibir"/>
              </a:rPr>
              <a:t>issue found </a:t>
            </a:r>
          </a:p>
          <a:p>
            <a:pPr marL="914400" lvl="1" indent="-457200">
              <a:lnSpc>
                <a:spcPct val="150000"/>
              </a:lnSpc>
              <a:buFont typeface="Arial" panose="020B0604020202020204" pitchFamily="34" charset="0"/>
              <a:buChar char="•"/>
            </a:pPr>
            <a:r>
              <a:rPr lang="en-US" sz="2800" dirty="0">
                <a:latin typeface="Calibir"/>
              </a:rPr>
              <a:t>action taken</a:t>
            </a:r>
          </a:p>
        </p:txBody>
      </p:sp>
      <p:sp>
        <p:nvSpPr>
          <p:cNvPr id="7" name="object 2">
            <a:extLst>
              <a:ext uri="{FF2B5EF4-FFF2-40B4-BE49-F238E27FC236}">
                <a16:creationId xmlns:a16="http://schemas.microsoft.com/office/drawing/2014/main" id="{40960AC7-48FD-F77F-4A00-04963034F8F1}"/>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7126683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49707-5138-BDD9-4B71-4CF3739560D9}"/>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49E9318B-9F12-7232-92C8-52EBAED9B8D6}"/>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39FD2CAB-3442-BA87-8E57-F06C1459D14D}"/>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648C7924-5D64-CECB-8583-9225B56C9AAA}"/>
              </a:ext>
            </a:extLst>
          </p:cNvPr>
          <p:cNvSpPr txBox="1"/>
          <p:nvPr/>
        </p:nvSpPr>
        <p:spPr>
          <a:xfrm>
            <a:off x="0" y="583684"/>
            <a:ext cx="12191999" cy="5842497"/>
          </a:xfrm>
          <a:prstGeom prst="rect">
            <a:avLst/>
          </a:prstGeom>
          <a:noFill/>
        </p:spPr>
        <p:txBody>
          <a:bodyPr wrap="square">
            <a:spAutoFit/>
          </a:bodyPr>
          <a:lstStyle/>
          <a:p>
            <a:pPr>
              <a:lnSpc>
                <a:spcPct val="150000"/>
              </a:lnSpc>
            </a:pPr>
            <a:r>
              <a:rPr lang="en-US" sz="2800" b="1" dirty="0">
                <a:latin typeface="Calibir"/>
              </a:rPr>
              <a:t>Step 4: Preprocess the dataset carefully and justify every step</a:t>
            </a:r>
          </a:p>
          <a:p>
            <a:pPr>
              <a:lnSpc>
                <a:spcPct val="150000"/>
              </a:lnSpc>
            </a:pPr>
            <a:r>
              <a:rPr lang="en-US" sz="2800" dirty="0">
                <a:latin typeface="Calibir"/>
              </a:rPr>
              <a:t>This section is worth a lot because the assignment specifically asks for critical preprocessing.</a:t>
            </a:r>
          </a:p>
          <a:p>
            <a:pPr>
              <a:lnSpc>
                <a:spcPct val="150000"/>
              </a:lnSpc>
            </a:pPr>
            <a:r>
              <a:rPr lang="en-US" sz="2800" dirty="0">
                <a:latin typeface="Calibir"/>
              </a:rPr>
              <a:t>You need to show:</a:t>
            </a:r>
          </a:p>
          <a:p>
            <a:pPr marL="914400" lvl="1" indent="-457200">
              <a:lnSpc>
                <a:spcPct val="150000"/>
              </a:lnSpc>
              <a:buFont typeface="Arial" panose="020B0604020202020204" pitchFamily="34" charset="0"/>
              <a:buChar char="•"/>
            </a:pPr>
            <a:r>
              <a:rPr lang="en-US" sz="2800" dirty="0">
                <a:latin typeface="Calibir"/>
              </a:rPr>
              <a:t>before vs after </a:t>
            </a:r>
          </a:p>
          <a:p>
            <a:pPr marL="914400" lvl="1" indent="-457200">
              <a:lnSpc>
                <a:spcPct val="150000"/>
              </a:lnSpc>
              <a:buFont typeface="Arial" panose="020B0604020202020204" pitchFamily="34" charset="0"/>
              <a:buChar char="•"/>
            </a:pPr>
            <a:r>
              <a:rPr lang="en-US" sz="2800" dirty="0">
                <a:latin typeface="Calibir"/>
              </a:rPr>
              <a:t>what issues existed </a:t>
            </a:r>
          </a:p>
          <a:p>
            <a:pPr marL="914400" lvl="1" indent="-457200">
              <a:lnSpc>
                <a:spcPct val="150000"/>
              </a:lnSpc>
              <a:buFont typeface="Arial" panose="020B0604020202020204" pitchFamily="34" charset="0"/>
              <a:buChar char="•"/>
            </a:pPr>
            <a:r>
              <a:rPr lang="en-US" sz="2800" dirty="0">
                <a:latin typeface="Calibir"/>
              </a:rPr>
              <a:t>what you changed </a:t>
            </a:r>
          </a:p>
          <a:p>
            <a:pPr marL="914400" lvl="1" indent="-457200">
              <a:lnSpc>
                <a:spcPct val="150000"/>
              </a:lnSpc>
              <a:buFont typeface="Arial" panose="020B0604020202020204" pitchFamily="34" charset="0"/>
              <a:buChar char="•"/>
            </a:pPr>
            <a:r>
              <a:rPr lang="en-US" sz="2800" dirty="0">
                <a:latin typeface="Calibir"/>
              </a:rPr>
              <a:t>why you changed it </a:t>
            </a:r>
          </a:p>
          <a:p>
            <a:pPr marL="914400" lvl="1" indent="-457200">
              <a:lnSpc>
                <a:spcPct val="150000"/>
              </a:lnSpc>
              <a:buFont typeface="Arial" panose="020B0604020202020204" pitchFamily="34" charset="0"/>
              <a:buChar char="•"/>
            </a:pPr>
            <a:r>
              <a:rPr lang="en-US" sz="2800" dirty="0">
                <a:latin typeface="Calibir"/>
              </a:rPr>
              <a:t>screenshots of the process</a:t>
            </a:r>
          </a:p>
        </p:txBody>
      </p:sp>
      <p:sp>
        <p:nvSpPr>
          <p:cNvPr id="7" name="object 2">
            <a:extLst>
              <a:ext uri="{FF2B5EF4-FFF2-40B4-BE49-F238E27FC236}">
                <a16:creationId xmlns:a16="http://schemas.microsoft.com/office/drawing/2014/main" id="{1356B2B7-8AC1-B4F8-BC06-5EABD9235AB1}"/>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5561573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FED99-1F86-9676-F1E9-10417A92EA7C}"/>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57FE7E06-1441-D72B-AC1B-C14BB42F64D7}"/>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68443B05-B2AB-F3BF-F68E-58AEE0459294}"/>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4821AD4E-E457-F0A1-BF9E-20B755020A2A}"/>
              </a:ext>
            </a:extLst>
          </p:cNvPr>
          <p:cNvSpPr txBox="1"/>
          <p:nvPr/>
        </p:nvSpPr>
        <p:spPr>
          <a:xfrm>
            <a:off x="0" y="583684"/>
            <a:ext cx="12191999" cy="5842497"/>
          </a:xfrm>
          <a:prstGeom prst="rect">
            <a:avLst/>
          </a:prstGeom>
          <a:noFill/>
        </p:spPr>
        <p:txBody>
          <a:bodyPr wrap="square">
            <a:spAutoFit/>
          </a:bodyPr>
          <a:lstStyle/>
          <a:p>
            <a:pPr>
              <a:lnSpc>
                <a:spcPct val="150000"/>
              </a:lnSpc>
            </a:pPr>
            <a:r>
              <a:rPr lang="en-US" sz="2800" b="1" dirty="0">
                <a:latin typeface="Calibir"/>
              </a:rPr>
              <a:t>Typical preprocessing steps</a:t>
            </a:r>
          </a:p>
          <a:p>
            <a:pPr>
              <a:lnSpc>
                <a:spcPct val="150000"/>
              </a:lnSpc>
            </a:pPr>
            <a:r>
              <a:rPr lang="en-US" sz="2800" dirty="0">
                <a:latin typeface="Calibir"/>
              </a:rPr>
              <a:t>Depending on the dataset, you may need to:</a:t>
            </a:r>
          </a:p>
          <a:p>
            <a:pPr marL="914400" lvl="1" indent="-457200">
              <a:lnSpc>
                <a:spcPct val="150000"/>
              </a:lnSpc>
              <a:buFont typeface="Arial" panose="020B0604020202020204" pitchFamily="34" charset="0"/>
              <a:buChar char="•"/>
            </a:pPr>
            <a:r>
              <a:rPr lang="en-US" sz="2800" dirty="0">
                <a:latin typeface="Calibir"/>
              </a:rPr>
              <a:t>remove duplicates </a:t>
            </a:r>
          </a:p>
          <a:p>
            <a:pPr marL="914400" lvl="1" indent="-457200">
              <a:lnSpc>
                <a:spcPct val="150000"/>
              </a:lnSpc>
              <a:buFont typeface="Arial" panose="020B0604020202020204" pitchFamily="34" charset="0"/>
              <a:buChar char="•"/>
            </a:pPr>
            <a:r>
              <a:rPr lang="en-US" sz="2800" dirty="0">
                <a:latin typeface="Calibir"/>
              </a:rPr>
              <a:t>handle missing values </a:t>
            </a:r>
          </a:p>
          <a:p>
            <a:pPr marL="914400" lvl="1" indent="-457200">
              <a:lnSpc>
                <a:spcPct val="150000"/>
              </a:lnSpc>
              <a:buFont typeface="Arial" panose="020B0604020202020204" pitchFamily="34" charset="0"/>
              <a:buChar char="•"/>
            </a:pPr>
            <a:r>
              <a:rPr lang="en-US" sz="2800" dirty="0">
                <a:latin typeface="Calibir"/>
              </a:rPr>
              <a:t>encode categorical variables </a:t>
            </a:r>
          </a:p>
          <a:p>
            <a:pPr marL="914400" lvl="1" indent="-457200">
              <a:lnSpc>
                <a:spcPct val="150000"/>
              </a:lnSpc>
              <a:buFont typeface="Arial" panose="020B0604020202020204" pitchFamily="34" charset="0"/>
              <a:buChar char="•"/>
            </a:pPr>
            <a:r>
              <a:rPr lang="en-US" sz="2800" dirty="0">
                <a:latin typeface="Calibir"/>
              </a:rPr>
              <a:t>scale numerical features </a:t>
            </a:r>
          </a:p>
          <a:p>
            <a:pPr marL="914400" lvl="1" indent="-457200">
              <a:lnSpc>
                <a:spcPct val="150000"/>
              </a:lnSpc>
              <a:buFont typeface="Arial" panose="020B0604020202020204" pitchFamily="34" charset="0"/>
              <a:buChar char="•"/>
            </a:pPr>
            <a:r>
              <a:rPr lang="en-US" sz="2800" dirty="0">
                <a:latin typeface="Calibir"/>
              </a:rPr>
              <a:t>remove irrelevant columns </a:t>
            </a:r>
          </a:p>
          <a:p>
            <a:pPr marL="914400" lvl="1" indent="-457200">
              <a:lnSpc>
                <a:spcPct val="150000"/>
              </a:lnSpc>
              <a:buFont typeface="Arial" panose="020B0604020202020204" pitchFamily="34" charset="0"/>
              <a:buChar char="•"/>
            </a:pPr>
            <a:r>
              <a:rPr lang="en-US" sz="2800" dirty="0">
                <a:latin typeface="Calibir"/>
              </a:rPr>
              <a:t>fix inconsistent values </a:t>
            </a:r>
          </a:p>
          <a:p>
            <a:pPr marL="914400" lvl="1" indent="-457200">
              <a:lnSpc>
                <a:spcPct val="150000"/>
              </a:lnSpc>
              <a:buFont typeface="Arial" panose="020B0604020202020204" pitchFamily="34" charset="0"/>
              <a:buChar char="•"/>
            </a:pPr>
            <a:r>
              <a:rPr lang="en-US" sz="2800" dirty="0">
                <a:latin typeface="Calibir"/>
              </a:rPr>
              <a:t>detect and treat outliers</a:t>
            </a:r>
          </a:p>
        </p:txBody>
      </p:sp>
      <p:sp>
        <p:nvSpPr>
          <p:cNvPr id="7" name="object 2">
            <a:extLst>
              <a:ext uri="{FF2B5EF4-FFF2-40B4-BE49-F238E27FC236}">
                <a16:creationId xmlns:a16="http://schemas.microsoft.com/office/drawing/2014/main" id="{39D12532-9A3A-DEFF-3B55-3C3077809D2E}"/>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416581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4905C-3432-93F2-EE99-212C043925EE}"/>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4A9723FD-CB00-DD7B-9594-FE9935322511}"/>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7369CEC2-CD3E-F138-CFF4-091EF1FB3E46}"/>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DA8B4459-B847-3B52-6B61-2624ACD7B514}"/>
              </a:ext>
            </a:extLst>
          </p:cNvPr>
          <p:cNvSpPr txBox="1"/>
          <p:nvPr/>
        </p:nvSpPr>
        <p:spPr>
          <a:xfrm>
            <a:off x="0" y="583684"/>
            <a:ext cx="12191999" cy="1964512"/>
          </a:xfrm>
          <a:prstGeom prst="rect">
            <a:avLst/>
          </a:prstGeom>
          <a:noFill/>
        </p:spPr>
        <p:txBody>
          <a:bodyPr wrap="square">
            <a:spAutoFit/>
          </a:bodyPr>
          <a:lstStyle/>
          <a:p>
            <a:pPr marL="914400" lvl="1" indent="-457200">
              <a:lnSpc>
                <a:spcPct val="150000"/>
              </a:lnSpc>
              <a:buFont typeface="Arial" panose="020B0604020202020204" pitchFamily="34" charset="0"/>
              <a:buChar char="•"/>
            </a:pPr>
            <a:r>
              <a:rPr lang="en-US" sz="2800" dirty="0">
                <a:latin typeface="Calibir"/>
              </a:rPr>
              <a:t>create/select useful features </a:t>
            </a:r>
          </a:p>
          <a:p>
            <a:pPr marL="914400" lvl="1" indent="-457200">
              <a:lnSpc>
                <a:spcPct val="150000"/>
              </a:lnSpc>
              <a:buFont typeface="Arial" panose="020B0604020202020204" pitchFamily="34" charset="0"/>
              <a:buChar char="•"/>
            </a:pPr>
            <a:r>
              <a:rPr lang="en-US" sz="2800" dirty="0">
                <a:latin typeface="Calibir"/>
              </a:rPr>
              <a:t>split features and target </a:t>
            </a:r>
          </a:p>
          <a:p>
            <a:pPr marL="914400" lvl="1" indent="-457200">
              <a:lnSpc>
                <a:spcPct val="150000"/>
              </a:lnSpc>
              <a:buFont typeface="Arial" panose="020B0604020202020204" pitchFamily="34" charset="0"/>
              <a:buChar char="•"/>
            </a:pPr>
            <a:r>
              <a:rPr lang="en-US" sz="2800" dirty="0">
                <a:latin typeface="Calibir"/>
              </a:rPr>
              <a:t>train/test split</a:t>
            </a:r>
          </a:p>
        </p:txBody>
      </p:sp>
      <p:sp>
        <p:nvSpPr>
          <p:cNvPr id="7" name="object 2">
            <a:extLst>
              <a:ext uri="{FF2B5EF4-FFF2-40B4-BE49-F238E27FC236}">
                <a16:creationId xmlns:a16="http://schemas.microsoft.com/office/drawing/2014/main" id="{61E8516F-FE81-5652-AB95-CECF2E20366B}"/>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11872524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B8B23-6184-3DD9-CAF7-1BC1DDAC6A1C}"/>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8203CA22-C999-1F27-20DB-B14365575438}"/>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6477D6C2-BC99-7ACA-BAC9-E10E7D5C2E55}"/>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60800443-FCD9-3A49-57D2-2DA417A45872}"/>
              </a:ext>
            </a:extLst>
          </p:cNvPr>
          <p:cNvSpPr txBox="1"/>
          <p:nvPr/>
        </p:nvSpPr>
        <p:spPr>
          <a:xfrm>
            <a:off x="1" y="583684"/>
            <a:ext cx="10913806" cy="5842497"/>
          </a:xfrm>
          <a:prstGeom prst="rect">
            <a:avLst/>
          </a:prstGeom>
          <a:noFill/>
        </p:spPr>
        <p:txBody>
          <a:bodyPr wrap="square">
            <a:spAutoFit/>
          </a:bodyPr>
          <a:lstStyle/>
          <a:p>
            <a:pPr>
              <a:lnSpc>
                <a:spcPct val="150000"/>
              </a:lnSpc>
            </a:pPr>
            <a:r>
              <a:rPr lang="en-US" sz="2800" b="1" dirty="0">
                <a:latin typeface="Calibir"/>
              </a:rPr>
              <a:t>Example justifications</a:t>
            </a:r>
          </a:p>
          <a:p>
            <a:pPr marL="914400" lvl="1" indent="-457200">
              <a:lnSpc>
                <a:spcPct val="150000"/>
              </a:lnSpc>
              <a:buFont typeface="Arial" panose="020B0604020202020204" pitchFamily="34" charset="0"/>
              <a:buChar char="•"/>
            </a:pPr>
            <a:r>
              <a:rPr lang="en-US" sz="2800" dirty="0">
                <a:latin typeface="Calibir"/>
              </a:rPr>
              <a:t>“Missing values in </a:t>
            </a:r>
            <a:r>
              <a:rPr lang="en-US" sz="2800" dirty="0" err="1">
                <a:latin typeface="Calibir"/>
              </a:rPr>
              <a:t>TotalCharges</a:t>
            </a:r>
            <a:r>
              <a:rPr lang="en-US" sz="2800" dirty="0">
                <a:latin typeface="Calibir"/>
              </a:rPr>
              <a:t> were removed because they were few and would not significantly reduce dataset quality.” </a:t>
            </a:r>
          </a:p>
          <a:p>
            <a:pPr marL="914400" lvl="1" indent="-457200">
              <a:lnSpc>
                <a:spcPct val="150000"/>
              </a:lnSpc>
              <a:buFont typeface="Arial" panose="020B0604020202020204" pitchFamily="34" charset="0"/>
              <a:buChar char="•"/>
            </a:pPr>
            <a:r>
              <a:rPr lang="en-US" sz="2800" dirty="0">
                <a:latin typeface="Calibir"/>
              </a:rPr>
              <a:t>“Categorical variables such as Gender and Contract were encoded numerically because most machine learning models require numeric input.” </a:t>
            </a:r>
          </a:p>
          <a:p>
            <a:pPr marL="914400" lvl="1" indent="-457200">
              <a:lnSpc>
                <a:spcPct val="150000"/>
              </a:lnSpc>
              <a:buFont typeface="Arial" panose="020B0604020202020204" pitchFamily="34" charset="0"/>
              <a:buChar char="•"/>
            </a:pPr>
            <a:r>
              <a:rPr lang="en-US" sz="2800" dirty="0">
                <a:latin typeface="Calibir"/>
              </a:rPr>
              <a:t>“Numerical features were </a:t>
            </a:r>
            <a:r>
              <a:rPr lang="en-US" sz="2800" dirty="0" err="1">
                <a:latin typeface="Calibir"/>
              </a:rPr>
              <a:t>standardised</a:t>
            </a:r>
            <a:r>
              <a:rPr lang="en-US" sz="2800" dirty="0">
                <a:latin typeface="Calibir"/>
              </a:rPr>
              <a:t> before logistic regression and KNN to ensure variables on different scales did not distort model performance.”</a:t>
            </a:r>
          </a:p>
        </p:txBody>
      </p:sp>
      <p:sp>
        <p:nvSpPr>
          <p:cNvPr id="7" name="object 2">
            <a:extLst>
              <a:ext uri="{FF2B5EF4-FFF2-40B4-BE49-F238E27FC236}">
                <a16:creationId xmlns:a16="http://schemas.microsoft.com/office/drawing/2014/main" id="{F733D085-28F1-1A53-594E-B7F3B9E34308}"/>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1404013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D450C-A382-73A8-502B-97B8A9E13033}"/>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14F86A74-F51B-8E6B-00C5-87ABB4C963D6}"/>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BA86B70E-F1BC-4663-B635-177A26BC2901}"/>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D037428D-2D56-C59A-5C40-1739ADDCE33C}"/>
              </a:ext>
            </a:extLst>
          </p:cNvPr>
          <p:cNvSpPr txBox="1"/>
          <p:nvPr/>
        </p:nvSpPr>
        <p:spPr>
          <a:xfrm>
            <a:off x="1" y="583684"/>
            <a:ext cx="10913806" cy="1318181"/>
          </a:xfrm>
          <a:prstGeom prst="rect">
            <a:avLst/>
          </a:prstGeom>
          <a:noFill/>
        </p:spPr>
        <p:txBody>
          <a:bodyPr wrap="square">
            <a:spAutoFit/>
          </a:bodyPr>
          <a:lstStyle/>
          <a:p>
            <a:pPr>
              <a:lnSpc>
                <a:spcPct val="150000"/>
              </a:lnSpc>
            </a:pPr>
            <a:r>
              <a:rPr lang="en-US" sz="2800" b="1" dirty="0">
                <a:latin typeface="Calibir"/>
              </a:rPr>
              <a:t>Before vs after comparison</a:t>
            </a:r>
          </a:p>
          <a:p>
            <a:pPr>
              <a:lnSpc>
                <a:spcPct val="150000"/>
              </a:lnSpc>
            </a:pPr>
            <a:r>
              <a:rPr lang="en-US" sz="2800" dirty="0">
                <a:latin typeface="Calibir"/>
              </a:rPr>
              <a:t>This can be a small comparison table:</a:t>
            </a:r>
          </a:p>
        </p:txBody>
      </p:sp>
      <p:sp>
        <p:nvSpPr>
          <p:cNvPr id="7" name="object 2">
            <a:extLst>
              <a:ext uri="{FF2B5EF4-FFF2-40B4-BE49-F238E27FC236}">
                <a16:creationId xmlns:a16="http://schemas.microsoft.com/office/drawing/2014/main" id="{B7FC33CD-2FE8-0097-22D2-2C1E0B895385}"/>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graphicFrame>
        <p:nvGraphicFramePr>
          <p:cNvPr id="2" name="Table 1">
            <a:extLst>
              <a:ext uri="{FF2B5EF4-FFF2-40B4-BE49-F238E27FC236}">
                <a16:creationId xmlns:a16="http://schemas.microsoft.com/office/drawing/2014/main" id="{6285D2C2-77EB-E649-6DDE-69A9D3C9D0F6}"/>
              </a:ext>
            </a:extLst>
          </p:cNvPr>
          <p:cNvGraphicFramePr>
            <a:graphicFrameLocks noGrp="1"/>
          </p:cNvGraphicFramePr>
          <p:nvPr>
            <p:extLst>
              <p:ext uri="{D42A27DB-BD31-4B8C-83A1-F6EECF244321}">
                <p14:modId xmlns:p14="http://schemas.microsoft.com/office/powerpoint/2010/main" val="1429085673"/>
              </p:ext>
            </p:extLst>
          </p:nvPr>
        </p:nvGraphicFramePr>
        <p:xfrm>
          <a:off x="838200" y="2561427"/>
          <a:ext cx="10515600" cy="3326765"/>
        </p:xfrm>
        <a:graphic>
          <a:graphicData uri="http://schemas.openxmlformats.org/drawingml/2006/table">
            <a:tbl>
              <a:tblPr>
                <a:tableStyleId>{BDBED569-4797-4DF1-A0F4-6AAB3CD982D8}</a:tableStyleId>
              </a:tblPr>
              <a:tblGrid>
                <a:gridCol w="3505200">
                  <a:extLst>
                    <a:ext uri="{9D8B030D-6E8A-4147-A177-3AD203B41FA5}">
                      <a16:colId xmlns:a16="http://schemas.microsoft.com/office/drawing/2014/main" val="2728860058"/>
                    </a:ext>
                  </a:extLst>
                </a:gridCol>
                <a:gridCol w="3505200">
                  <a:extLst>
                    <a:ext uri="{9D8B030D-6E8A-4147-A177-3AD203B41FA5}">
                      <a16:colId xmlns:a16="http://schemas.microsoft.com/office/drawing/2014/main" val="3152248041"/>
                    </a:ext>
                  </a:extLst>
                </a:gridCol>
                <a:gridCol w="3505200">
                  <a:extLst>
                    <a:ext uri="{9D8B030D-6E8A-4147-A177-3AD203B41FA5}">
                      <a16:colId xmlns:a16="http://schemas.microsoft.com/office/drawing/2014/main" val="3360677872"/>
                    </a:ext>
                  </a:extLst>
                </a:gridCol>
              </a:tblGrid>
              <a:tr h="0">
                <a:tc>
                  <a:txBody>
                    <a:bodyPr/>
                    <a:lstStyle/>
                    <a:p>
                      <a:pPr>
                        <a:lnSpc>
                          <a:spcPct val="150000"/>
                        </a:lnSpc>
                        <a:buNone/>
                      </a:pPr>
                      <a:r>
                        <a:rPr lang="en-US" sz="2800" dirty="0">
                          <a:latin typeface="Calibir"/>
                        </a:rPr>
                        <a:t>Aspect</a:t>
                      </a:r>
                    </a:p>
                  </a:txBody>
                  <a:tcPr anchor="ctr">
                    <a:solidFill>
                      <a:schemeClr val="accent5">
                        <a:lumMod val="20000"/>
                        <a:lumOff val="80000"/>
                      </a:schemeClr>
                    </a:solidFill>
                  </a:tcPr>
                </a:tc>
                <a:tc>
                  <a:txBody>
                    <a:bodyPr/>
                    <a:lstStyle/>
                    <a:p>
                      <a:pPr>
                        <a:lnSpc>
                          <a:spcPct val="150000"/>
                        </a:lnSpc>
                        <a:buNone/>
                      </a:pPr>
                      <a:r>
                        <a:rPr lang="en-US" sz="2800" dirty="0">
                          <a:latin typeface="Calibir"/>
                        </a:rPr>
                        <a:t>Before preprocessing</a:t>
                      </a:r>
                    </a:p>
                  </a:txBody>
                  <a:tcPr anchor="ctr">
                    <a:solidFill>
                      <a:schemeClr val="accent5">
                        <a:lumMod val="20000"/>
                        <a:lumOff val="80000"/>
                      </a:schemeClr>
                    </a:solidFill>
                  </a:tcPr>
                </a:tc>
                <a:tc>
                  <a:txBody>
                    <a:bodyPr/>
                    <a:lstStyle/>
                    <a:p>
                      <a:pPr>
                        <a:lnSpc>
                          <a:spcPct val="150000"/>
                        </a:lnSpc>
                        <a:buNone/>
                      </a:pPr>
                      <a:r>
                        <a:rPr lang="en-US" sz="2800" dirty="0">
                          <a:latin typeface="Calibir"/>
                        </a:rPr>
                        <a:t>After preprocessing</a:t>
                      </a:r>
                    </a:p>
                  </a:txBody>
                  <a:tcPr anchor="ctr">
                    <a:solidFill>
                      <a:schemeClr val="accent5">
                        <a:lumMod val="20000"/>
                        <a:lumOff val="80000"/>
                      </a:schemeClr>
                    </a:solidFill>
                  </a:tcPr>
                </a:tc>
                <a:extLst>
                  <a:ext uri="{0D108BD9-81ED-4DB2-BD59-A6C34878D82A}">
                    <a16:rowId xmlns:a16="http://schemas.microsoft.com/office/drawing/2014/main" val="201902676"/>
                  </a:ext>
                </a:extLst>
              </a:tr>
              <a:tr h="0">
                <a:tc>
                  <a:txBody>
                    <a:bodyPr/>
                    <a:lstStyle/>
                    <a:p>
                      <a:pPr>
                        <a:lnSpc>
                          <a:spcPct val="150000"/>
                        </a:lnSpc>
                        <a:buNone/>
                      </a:pPr>
                      <a:r>
                        <a:rPr lang="en-US" sz="2800">
                          <a:latin typeface="Calibir"/>
                        </a:rPr>
                        <a:t>Missing values</a:t>
                      </a:r>
                    </a:p>
                  </a:txBody>
                  <a:tcPr anchor="ctr"/>
                </a:tc>
                <a:tc>
                  <a:txBody>
                    <a:bodyPr/>
                    <a:lstStyle/>
                    <a:p>
                      <a:pPr>
                        <a:lnSpc>
                          <a:spcPct val="150000"/>
                        </a:lnSpc>
                        <a:buNone/>
                      </a:pPr>
                      <a:r>
                        <a:rPr lang="en-US" sz="2800">
                          <a:latin typeface="Calibir"/>
                        </a:rPr>
                        <a:t>11 in TotalCharges</a:t>
                      </a:r>
                    </a:p>
                  </a:txBody>
                  <a:tcPr anchor="ctr"/>
                </a:tc>
                <a:tc>
                  <a:txBody>
                    <a:bodyPr/>
                    <a:lstStyle/>
                    <a:p>
                      <a:pPr>
                        <a:lnSpc>
                          <a:spcPct val="150000"/>
                        </a:lnSpc>
                        <a:buNone/>
                      </a:pPr>
                      <a:r>
                        <a:rPr lang="en-US" sz="2800" dirty="0">
                          <a:latin typeface="Calibir"/>
                        </a:rPr>
                        <a:t>0</a:t>
                      </a:r>
                    </a:p>
                  </a:txBody>
                  <a:tcPr anchor="ctr"/>
                </a:tc>
                <a:extLst>
                  <a:ext uri="{0D108BD9-81ED-4DB2-BD59-A6C34878D82A}">
                    <a16:rowId xmlns:a16="http://schemas.microsoft.com/office/drawing/2014/main" val="2002183513"/>
                  </a:ext>
                </a:extLst>
              </a:tr>
              <a:tr h="0">
                <a:tc>
                  <a:txBody>
                    <a:bodyPr/>
                    <a:lstStyle/>
                    <a:p>
                      <a:pPr>
                        <a:lnSpc>
                          <a:spcPct val="150000"/>
                        </a:lnSpc>
                        <a:buNone/>
                      </a:pPr>
                      <a:r>
                        <a:rPr lang="en-US" sz="2800">
                          <a:latin typeface="Calibir"/>
                        </a:rPr>
                        <a:t>Categorical variables</a:t>
                      </a:r>
                    </a:p>
                  </a:txBody>
                  <a:tcPr anchor="ctr"/>
                </a:tc>
                <a:tc>
                  <a:txBody>
                    <a:bodyPr/>
                    <a:lstStyle/>
                    <a:p>
                      <a:pPr>
                        <a:lnSpc>
                          <a:spcPct val="150000"/>
                        </a:lnSpc>
                        <a:buNone/>
                      </a:pPr>
                      <a:r>
                        <a:rPr lang="en-US" sz="2800">
                          <a:latin typeface="Calibir"/>
                        </a:rPr>
                        <a:t>Yes</a:t>
                      </a:r>
                    </a:p>
                  </a:txBody>
                  <a:tcPr anchor="ctr"/>
                </a:tc>
                <a:tc>
                  <a:txBody>
                    <a:bodyPr/>
                    <a:lstStyle/>
                    <a:p>
                      <a:pPr>
                        <a:lnSpc>
                          <a:spcPct val="150000"/>
                        </a:lnSpc>
                        <a:buNone/>
                      </a:pPr>
                      <a:r>
                        <a:rPr lang="en-US" sz="2800">
                          <a:latin typeface="Calibir"/>
                        </a:rPr>
                        <a:t>Encoded</a:t>
                      </a:r>
                    </a:p>
                  </a:txBody>
                  <a:tcPr anchor="ctr"/>
                </a:tc>
                <a:extLst>
                  <a:ext uri="{0D108BD9-81ED-4DB2-BD59-A6C34878D82A}">
                    <a16:rowId xmlns:a16="http://schemas.microsoft.com/office/drawing/2014/main" val="2226568940"/>
                  </a:ext>
                </a:extLst>
              </a:tr>
              <a:tr h="0">
                <a:tc>
                  <a:txBody>
                    <a:bodyPr/>
                    <a:lstStyle/>
                    <a:p>
                      <a:pPr>
                        <a:lnSpc>
                          <a:spcPct val="150000"/>
                        </a:lnSpc>
                        <a:buNone/>
                      </a:pPr>
                      <a:r>
                        <a:rPr lang="en-US" sz="2800">
                          <a:latin typeface="Calibir"/>
                        </a:rPr>
                        <a:t>Scale differences</a:t>
                      </a:r>
                    </a:p>
                  </a:txBody>
                  <a:tcPr anchor="ctr"/>
                </a:tc>
                <a:tc>
                  <a:txBody>
                    <a:bodyPr/>
                    <a:lstStyle/>
                    <a:p>
                      <a:pPr>
                        <a:lnSpc>
                          <a:spcPct val="150000"/>
                        </a:lnSpc>
                        <a:buNone/>
                      </a:pPr>
                      <a:r>
                        <a:rPr lang="en-US" sz="2800">
                          <a:latin typeface="Calibir"/>
                        </a:rPr>
                        <a:t>Large</a:t>
                      </a:r>
                    </a:p>
                  </a:txBody>
                  <a:tcPr anchor="ctr"/>
                </a:tc>
                <a:tc>
                  <a:txBody>
                    <a:bodyPr/>
                    <a:lstStyle/>
                    <a:p>
                      <a:pPr>
                        <a:lnSpc>
                          <a:spcPct val="150000"/>
                        </a:lnSpc>
                        <a:buNone/>
                      </a:pPr>
                      <a:r>
                        <a:rPr lang="en-US" sz="2800">
                          <a:latin typeface="Calibir"/>
                        </a:rPr>
                        <a:t>Standardised</a:t>
                      </a:r>
                    </a:p>
                  </a:txBody>
                  <a:tcPr anchor="ctr"/>
                </a:tc>
                <a:extLst>
                  <a:ext uri="{0D108BD9-81ED-4DB2-BD59-A6C34878D82A}">
                    <a16:rowId xmlns:a16="http://schemas.microsoft.com/office/drawing/2014/main" val="2925389625"/>
                  </a:ext>
                </a:extLst>
              </a:tr>
              <a:tr h="0">
                <a:tc>
                  <a:txBody>
                    <a:bodyPr/>
                    <a:lstStyle/>
                    <a:p>
                      <a:pPr>
                        <a:lnSpc>
                          <a:spcPct val="150000"/>
                        </a:lnSpc>
                        <a:buNone/>
                      </a:pPr>
                      <a:r>
                        <a:rPr lang="en-US" sz="2800">
                          <a:latin typeface="Calibir"/>
                        </a:rPr>
                        <a:t>Duplicate rows</a:t>
                      </a:r>
                    </a:p>
                  </a:txBody>
                  <a:tcPr anchor="ctr"/>
                </a:tc>
                <a:tc>
                  <a:txBody>
                    <a:bodyPr/>
                    <a:lstStyle/>
                    <a:p>
                      <a:pPr>
                        <a:lnSpc>
                          <a:spcPct val="150000"/>
                        </a:lnSpc>
                        <a:buNone/>
                      </a:pPr>
                      <a:r>
                        <a:rPr lang="en-US" sz="2800">
                          <a:latin typeface="Calibir"/>
                        </a:rPr>
                        <a:t>5</a:t>
                      </a:r>
                    </a:p>
                  </a:txBody>
                  <a:tcPr anchor="ctr"/>
                </a:tc>
                <a:tc>
                  <a:txBody>
                    <a:bodyPr/>
                    <a:lstStyle/>
                    <a:p>
                      <a:pPr>
                        <a:lnSpc>
                          <a:spcPct val="150000"/>
                        </a:lnSpc>
                        <a:buNone/>
                      </a:pPr>
                      <a:r>
                        <a:rPr lang="en-US" sz="2800" dirty="0">
                          <a:latin typeface="Calibir"/>
                        </a:rPr>
                        <a:t>0</a:t>
                      </a:r>
                    </a:p>
                  </a:txBody>
                  <a:tcPr anchor="ctr"/>
                </a:tc>
                <a:extLst>
                  <a:ext uri="{0D108BD9-81ED-4DB2-BD59-A6C34878D82A}">
                    <a16:rowId xmlns:a16="http://schemas.microsoft.com/office/drawing/2014/main" val="2787770021"/>
                  </a:ext>
                </a:extLst>
              </a:tr>
            </a:tbl>
          </a:graphicData>
        </a:graphic>
      </p:graphicFrame>
    </p:spTree>
    <p:extLst>
      <p:ext uri="{BB962C8B-B14F-4D97-AF65-F5344CB8AC3E}">
        <p14:creationId xmlns:p14="http://schemas.microsoft.com/office/powerpoint/2010/main" val="41683961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0D897-0895-113F-500F-F4516728B772}"/>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A64ABCEC-F146-A776-D9C1-4F5DD1447896}"/>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4F03E094-1700-0FFF-F865-A797FFCAACA2}"/>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4695B209-6D5B-285E-2032-4B9ADC8F8C2D}"/>
              </a:ext>
            </a:extLst>
          </p:cNvPr>
          <p:cNvSpPr txBox="1"/>
          <p:nvPr/>
        </p:nvSpPr>
        <p:spPr>
          <a:xfrm>
            <a:off x="1" y="583684"/>
            <a:ext cx="10913806" cy="3903504"/>
          </a:xfrm>
          <a:prstGeom prst="rect">
            <a:avLst/>
          </a:prstGeom>
          <a:noFill/>
        </p:spPr>
        <p:txBody>
          <a:bodyPr wrap="square">
            <a:spAutoFit/>
          </a:bodyPr>
          <a:lstStyle/>
          <a:p>
            <a:pPr>
              <a:lnSpc>
                <a:spcPct val="150000"/>
              </a:lnSpc>
            </a:pPr>
            <a:r>
              <a:rPr lang="en-US" sz="2800" b="1" dirty="0">
                <a:latin typeface="Calibir"/>
              </a:rPr>
              <a:t>Common mistakes</a:t>
            </a:r>
          </a:p>
          <a:p>
            <a:pPr marL="914400" lvl="1" indent="-457200">
              <a:lnSpc>
                <a:spcPct val="150000"/>
              </a:lnSpc>
              <a:buFont typeface="Arial" panose="020B0604020202020204" pitchFamily="34" charset="0"/>
              <a:buChar char="•"/>
            </a:pPr>
            <a:r>
              <a:rPr lang="en-US" sz="2800" dirty="0">
                <a:latin typeface="Calibir"/>
              </a:rPr>
              <a:t>listing preprocessing steps without justification </a:t>
            </a:r>
          </a:p>
          <a:p>
            <a:pPr marL="914400" lvl="1" indent="-457200">
              <a:lnSpc>
                <a:spcPct val="150000"/>
              </a:lnSpc>
              <a:buFont typeface="Arial" panose="020B0604020202020204" pitchFamily="34" charset="0"/>
              <a:buChar char="•"/>
            </a:pPr>
            <a:r>
              <a:rPr lang="en-US" sz="2800" dirty="0">
                <a:latin typeface="Calibir"/>
              </a:rPr>
              <a:t>doing transformations but not explaining why </a:t>
            </a:r>
          </a:p>
          <a:p>
            <a:pPr marL="914400" lvl="1" indent="-457200">
              <a:lnSpc>
                <a:spcPct val="150000"/>
              </a:lnSpc>
              <a:buFont typeface="Arial" panose="020B0604020202020204" pitchFamily="34" charset="0"/>
              <a:buChar char="•"/>
            </a:pPr>
            <a:r>
              <a:rPr lang="en-US" sz="2800" dirty="0">
                <a:latin typeface="Calibir"/>
              </a:rPr>
              <a:t>using too many unnecessary preprocessing actions </a:t>
            </a:r>
          </a:p>
          <a:p>
            <a:pPr marL="914400" lvl="1" indent="-457200">
              <a:lnSpc>
                <a:spcPct val="150000"/>
              </a:lnSpc>
              <a:buFont typeface="Arial" panose="020B0604020202020204" pitchFamily="34" charset="0"/>
              <a:buChar char="•"/>
            </a:pPr>
            <a:r>
              <a:rPr lang="en-US" sz="2800" dirty="0">
                <a:latin typeface="Calibir"/>
              </a:rPr>
              <a:t>forgetting screenshots </a:t>
            </a:r>
          </a:p>
          <a:p>
            <a:pPr marL="914400" lvl="1" indent="-457200">
              <a:lnSpc>
                <a:spcPct val="150000"/>
              </a:lnSpc>
              <a:buFont typeface="Arial" panose="020B0604020202020204" pitchFamily="34" charset="0"/>
              <a:buChar char="•"/>
            </a:pPr>
            <a:r>
              <a:rPr lang="en-US" sz="2800" dirty="0">
                <a:latin typeface="Calibir"/>
              </a:rPr>
              <a:t>not showing the transformed dataset</a:t>
            </a:r>
          </a:p>
        </p:txBody>
      </p:sp>
      <p:sp>
        <p:nvSpPr>
          <p:cNvPr id="7" name="object 2">
            <a:extLst>
              <a:ext uri="{FF2B5EF4-FFF2-40B4-BE49-F238E27FC236}">
                <a16:creationId xmlns:a16="http://schemas.microsoft.com/office/drawing/2014/main" id="{E6302924-88A4-3C6B-602E-970184DDD893}"/>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784789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F7399-78D2-B7BE-31F0-371B9EF49ECB}"/>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A563E8E5-DBA8-775F-1324-92FBD8C927BE}"/>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1256DC7D-1B3E-AE87-2F4D-AAE8E6AEF6F3}"/>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930784F8-A9C9-0EAF-9E44-B893334F453B}"/>
              </a:ext>
            </a:extLst>
          </p:cNvPr>
          <p:cNvSpPr txBox="1"/>
          <p:nvPr/>
        </p:nvSpPr>
        <p:spPr>
          <a:xfrm>
            <a:off x="1" y="583684"/>
            <a:ext cx="10913806" cy="5842497"/>
          </a:xfrm>
          <a:prstGeom prst="rect">
            <a:avLst/>
          </a:prstGeom>
          <a:noFill/>
        </p:spPr>
        <p:txBody>
          <a:bodyPr wrap="square">
            <a:spAutoFit/>
          </a:bodyPr>
          <a:lstStyle/>
          <a:p>
            <a:pPr>
              <a:lnSpc>
                <a:spcPct val="150000"/>
              </a:lnSpc>
            </a:pPr>
            <a:r>
              <a:rPr lang="en-US" sz="2800" b="1" dirty="0">
                <a:latin typeface="Calibir"/>
              </a:rPr>
              <a:t>Step 5: Choose two predictive models</a:t>
            </a:r>
          </a:p>
          <a:p>
            <a:pPr>
              <a:lnSpc>
                <a:spcPct val="150000"/>
              </a:lnSpc>
            </a:pPr>
            <a:r>
              <a:rPr lang="en-US" sz="2800" dirty="0">
                <a:latin typeface="Calibir"/>
              </a:rPr>
              <a:t>You must build two models.</a:t>
            </a:r>
          </a:p>
          <a:p>
            <a:pPr>
              <a:lnSpc>
                <a:spcPct val="150000"/>
              </a:lnSpc>
            </a:pPr>
            <a:r>
              <a:rPr lang="en-US" sz="2800" dirty="0">
                <a:latin typeface="Calibir"/>
              </a:rPr>
              <a:t>At least one must be supervised.</a:t>
            </a:r>
          </a:p>
          <a:p>
            <a:pPr>
              <a:lnSpc>
                <a:spcPct val="150000"/>
              </a:lnSpc>
            </a:pPr>
            <a:r>
              <a:rPr lang="en-US" sz="2800" dirty="0">
                <a:latin typeface="Calibir"/>
              </a:rPr>
              <a:t>The second may be:</a:t>
            </a:r>
          </a:p>
          <a:p>
            <a:pPr marL="914400" lvl="1" indent="-457200">
              <a:lnSpc>
                <a:spcPct val="150000"/>
              </a:lnSpc>
              <a:buFont typeface="Arial" panose="020B0604020202020204" pitchFamily="34" charset="0"/>
              <a:buChar char="•"/>
            </a:pPr>
            <a:r>
              <a:rPr lang="en-US" sz="2800" dirty="0">
                <a:latin typeface="Calibir"/>
              </a:rPr>
              <a:t>another supervised model, or </a:t>
            </a:r>
          </a:p>
          <a:p>
            <a:pPr marL="914400" lvl="1" indent="-457200">
              <a:lnSpc>
                <a:spcPct val="150000"/>
              </a:lnSpc>
              <a:buFont typeface="Arial" panose="020B0604020202020204" pitchFamily="34" charset="0"/>
              <a:buChar char="•"/>
            </a:pPr>
            <a:r>
              <a:rPr lang="en-US" sz="2800" dirty="0">
                <a:latin typeface="Calibir"/>
              </a:rPr>
              <a:t>clustering, if clearly justified </a:t>
            </a:r>
          </a:p>
          <a:p>
            <a:pPr>
              <a:lnSpc>
                <a:spcPct val="150000"/>
              </a:lnSpc>
            </a:pPr>
            <a:r>
              <a:rPr lang="en-US" sz="2800" dirty="0">
                <a:latin typeface="Calibir"/>
              </a:rPr>
              <a:t>For most student groups, the safest choice is:</a:t>
            </a:r>
          </a:p>
          <a:p>
            <a:pPr marL="914400" lvl="1" indent="-457200">
              <a:lnSpc>
                <a:spcPct val="150000"/>
              </a:lnSpc>
              <a:buFont typeface="Arial" panose="020B0604020202020204" pitchFamily="34" charset="0"/>
              <a:buChar char="•"/>
            </a:pPr>
            <a:r>
              <a:rPr lang="en-US" sz="2800" dirty="0">
                <a:latin typeface="Calibir"/>
              </a:rPr>
              <a:t>two supervised models </a:t>
            </a:r>
          </a:p>
          <a:p>
            <a:pPr>
              <a:lnSpc>
                <a:spcPct val="150000"/>
              </a:lnSpc>
            </a:pPr>
            <a:r>
              <a:rPr lang="en-US" sz="2800" dirty="0">
                <a:latin typeface="Calibir"/>
              </a:rPr>
              <a:t>That makes comparison easier and usually fits the assignment better.</a:t>
            </a:r>
          </a:p>
        </p:txBody>
      </p:sp>
      <p:sp>
        <p:nvSpPr>
          <p:cNvPr id="7" name="object 2">
            <a:extLst>
              <a:ext uri="{FF2B5EF4-FFF2-40B4-BE49-F238E27FC236}">
                <a16:creationId xmlns:a16="http://schemas.microsoft.com/office/drawing/2014/main" id="{887E5B59-4A3D-97BB-6A3D-B6EA24F39570}"/>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0847666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55C59-8E82-EC50-4DCA-0868953CA1FD}"/>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5118D66C-2A4A-BFB2-0F1E-D107DF123274}"/>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E61B56CB-BEE9-1435-3BAC-BABBC2FE1998}"/>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8135DF34-F786-38AB-6B9D-C68E5CC775F1}"/>
              </a:ext>
            </a:extLst>
          </p:cNvPr>
          <p:cNvSpPr txBox="1"/>
          <p:nvPr/>
        </p:nvSpPr>
        <p:spPr>
          <a:xfrm>
            <a:off x="1" y="583684"/>
            <a:ext cx="10913806" cy="5196166"/>
          </a:xfrm>
          <a:prstGeom prst="rect">
            <a:avLst/>
          </a:prstGeom>
          <a:noFill/>
        </p:spPr>
        <p:txBody>
          <a:bodyPr wrap="square">
            <a:spAutoFit/>
          </a:bodyPr>
          <a:lstStyle/>
          <a:p>
            <a:pPr>
              <a:lnSpc>
                <a:spcPct val="150000"/>
              </a:lnSpc>
            </a:pPr>
            <a:r>
              <a:rPr lang="en-US" sz="2800" b="1" dirty="0">
                <a:latin typeface="Calibir"/>
              </a:rPr>
              <a:t>5. Good model combinations</a:t>
            </a:r>
          </a:p>
          <a:p>
            <a:pPr>
              <a:lnSpc>
                <a:spcPct val="150000"/>
              </a:lnSpc>
            </a:pPr>
            <a:r>
              <a:rPr lang="en-US" sz="2800" b="1" dirty="0">
                <a:latin typeface="Calibir"/>
              </a:rPr>
              <a:t>For classification datasets</a:t>
            </a:r>
          </a:p>
          <a:p>
            <a:pPr>
              <a:lnSpc>
                <a:spcPct val="150000"/>
              </a:lnSpc>
            </a:pPr>
            <a:r>
              <a:rPr lang="en-US" sz="2800" dirty="0">
                <a:latin typeface="Calibir"/>
              </a:rPr>
              <a:t>Good combinations include:</a:t>
            </a:r>
          </a:p>
          <a:p>
            <a:pPr marL="914400" lvl="1" indent="-457200">
              <a:lnSpc>
                <a:spcPct val="150000"/>
              </a:lnSpc>
              <a:buFont typeface="Arial" panose="020B0604020202020204" pitchFamily="34" charset="0"/>
              <a:buChar char="•"/>
            </a:pPr>
            <a:r>
              <a:rPr lang="en-US" sz="2800" dirty="0">
                <a:latin typeface="Calibir"/>
              </a:rPr>
              <a:t>Logistic Regression vs Decision Tree </a:t>
            </a:r>
          </a:p>
          <a:p>
            <a:pPr marL="914400" lvl="1" indent="-457200">
              <a:lnSpc>
                <a:spcPct val="150000"/>
              </a:lnSpc>
              <a:buFont typeface="Arial" panose="020B0604020202020204" pitchFamily="34" charset="0"/>
              <a:buChar char="•"/>
            </a:pPr>
            <a:r>
              <a:rPr lang="en-US" sz="2800" dirty="0">
                <a:latin typeface="Calibir"/>
              </a:rPr>
              <a:t>Logistic Regression vs Random Forest </a:t>
            </a:r>
          </a:p>
          <a:p>
            <a:pPr marL="914400" lvl="1" indent="-457200">
              <a:lnSpc>
                <a:spcPct val="150000"/>
              </a:lnSpc>
              <a:buFont typeface="Arial" panose="020B0604020202020204" pitchFamily="34" charset="0"/>
              <a:buChar char="•"/>
            </a:pPr>
            <a:r>
              <a:rPr lang="en-US" sz="2800" dirty="0">
                <a:latin typeface="Calibir"/>
              </a:rPr>
              <a:t>Decision Tree vs Random Forest </a:t>
            </a:r>
          </a:p>
          <a:p>
            <a:pPr marL="914400" lvl="1" indent="-457200">
              <a:lnSpc>
                <a:spcPct val="150000"/>
              </a:lnSpc>
              <a:buFont typeface="Arial" panose="020B0604020202020204" pitchFamily="34" charset="0"/>
              <a:buChar char="•"/>
            </a:pPr>
            <a:r>
              <a:rPr lang="en-US" sz="2800" dirty="0">
                <a:latin typeface="Calibir"/>
              </a:rPr>
              <a:t>Logistic Regression vs KNN </a:t>
            </a:r>
          </a:p>
          <a:p>
            <a:pPr marL="914400" lvl="1" indent="-457200">
              <a:lnSpc>
                <a:spcPct val="150000"/>
              </a:lnSpc>
              <a:buFont typeface="Arial" panose="020B0604020202020204" pitchFamily="34" charset="0"/>
              <a:buChar char="•"/>
            </a:pPr>
            <a:r>
              <a:rPr lang="en-US" sz="2800" dirty="0">
                <a:latin typeface="Calibir"/>
              </a:rPr>
              <a:t>Naive Bayes vs Random Forest</a:t>
            </a:r>
          </a:p>
        </p:txBody>
      </p:sp>
      <p:sp>
        <p:nvSpPr>
          <p:cNvPr id="7" name="object 2">
            <a:extLst>
              <a:ext uri="{FF2B5EF4-FFF2-40B4-BE49-F238E27FC236}">
                <a16:creationId xmlns:a16="http://schemas.microsoft.com/office/drawing/2014/main" id="{885B51B5-BFA4-8864-B9B6-4A031AD3F220}"/>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41644648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89A0CE-2668-D816-B801-18C198CF7F6C}"/>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BD013126-FB89-D227-3CDA-2959A397D03C}"/>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28EB8CCF-B417-9A93-7836-F0F17A0992DC}"/>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A34CBB3D-8E08-2704-FC4C-A6475B70C800}"/>
              </a:ext>
            </a:extLst>
          </p:cNvPr>
          <p:cNvSpPr txBox="1"/>
          <p:nvPr/>
        </p:nvSpPr>
        <p:spPr>
          <a:xfrm>
            <a:off x="1" y="583684"/>
            <a:ext cx="10913806" cy="3903504"/>
          </a:xfrm>
          <a:prstGeom prst="rect">
            <a:avLst/>
          </a:prstGeom>
          <a:noFill/>
        </p:spPr>
        <p:txBody>
          <a:bodyPr wrap="square">
            <a:spAutoFit/>
          </a:bodyPr>
          <a:lstStyle/>
          <a:p>
            <a:pPr>
              <a:lnSpc>
                <a:spcPct val="150000"/>
              </a:lnSpc>
            </a:pPr>
            <a:r>
              <a:rPr lang="en-US" sz="2800" b="1" dirty="0">
                <a:latin typeface="Calibir"/>
              </a:rPr>
              <a:t>For regression datasets</a:t>
            </a:r>
          </a:p>
          <a:p>
            <a:pPr>
              <a:lnSpc>
                <a:spcPct val="150000"/>
              </a:lnSpc>
            </a:pPr>
            <a:r>
              <a:rPr lang="en-US" sz="2800" dirty="0">
                <a:latin typeface="Calibir"/>
              </a:rPr>
              <a:t>Good combinations include:</a:t>
            </a:r>
          </a:p>
          <a:p>
            <a:pPr marL="914400" lvl="1" indent="-457200">
              <a:lnSpc>
                <a:spcPct val="150000"/>
              </a:lnSpc>
              <a:buFont typeface="Arial" panose="020B0604020202020204" pitchFamily="34" charset="0"/>
              <a:buChar char="•"/>
            </a:pPr>
            <a:r>
              <a:rPr lang="en-US" sz="2800" dirty="0">
                <a:latin typeface="Calibir"/>
              </a:rPr>
              <a:t>Linear Regression vs Decision Tree Regressor </a:t>
            </a:r>
          </a:p>
          <a:p>
            <a:pPr marL="914400" lvl="1" indent="-457200">
              <a:lnSpc>
                <a:spcPct val="150000"/>
              </a:lnSpc>
              <a:buFont typeface="Arial" panose="020B0604020202020204" pitchFamily="34" charset="0"/>
              <a:buChar char="•"/>
            </a:pPr>
            <a:r>
              <a:rPr lang="en-US" sz="2800" dirty="0">
                <a:latin typeface="Calibir"/>
              </a:rPr>
              <a:t>Linear Regression vs Random Forest Regressor </a:t>
            </a:r>
          </a:p>
          <a:p>
            <a:pPr marL="914400" lvl="1" indent="-457200">
              <a:lnSpc>
                <a:spcPct val="150000"/>
              </a:lnSpc>
              <a:buFont typeface="Arial" panose="020B0604020202020204" pitchFamily="34" charset="0"/>
              <a:buChar char="•"/>
            </a:pPr>
            <a:r>
              <a:rPr lang="en-US" sz="2800" dirty="0">
                <a:latin typeface="Calibir"/>
              </a:rPr>
              <a:t>Linear Regression vs </a:t>
            </a:r>
            <a:r>
              <a:rPr lang="en-US" sz="2800" dirty="0" err="1">
                <a:latin typeface="Calibir"/>
              </a:rPr>
              <a:t>XGBoost</a:t>
            </a:r>
            <a:r>
              <a:rPr lang="en-US" sz="2800" dirty="0">
                <a:latin typeface="Calibir"/>
              </a:rPr>
              <a:t> Regressor </a:t>
            </a:r>
          </a:p>
          <a:p>
            <a:pPr marL="914400" lvl="1" indent="-457200">
              <a:lnSpc>
                <a:spcPct val="150000"/>
              </a:lnSpc>
              <a:buFont typeface="Arial" panose="020B0604020202020204" pitchFamily="34" charset="0"/>
              <a:buChar char="•"/>
            </a:pPr>
            <a:r>
              <a:rPr lang="en-US" sz="2800" dirty="0">
                <a:latin typeface="Calibir"/>
              </a:rPr>
              <a:t>Decision Tree Regressor vs Random Forest Regressor</a:t>
            </a:r>
          </a:p>
        </p:txBody>
      </p:sp>
      <p:sp>
        <p:nvSpPr>
          <p:cNvPr id="7" name="object 2">
            <a:extLst>
              <a:ext uri="{FF2B5EF4-FFF2-40B4-BE49-F238E27FC236}">
                <a16:creationId xmlns:a16="http://schemas.microsoft.com/office/drawing/2014/main" id="{F4B780BE-800F-AC3C-56A8-E4F5E1EBCB92}"/>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14132598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6D800-B1B4-290F-14DF-283156EC01F0}"/>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BBA96EBB-A074-6C5E-5CEF-C5200ADACE63}"/>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3D065449-83CF-49B6-D576-091182825C94}"/>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E61382E6-4BDF-EA66-59F6-B316B3884ABA}"/>
              </a:ext>
            </a:extLst>
          </p:cNvPr>
          <p:cNvSpPr txBox="1"/>
          <p:nvPr/>
        </p:nvSpPr>
        <p:spPr>
          <a:xfrm>
            <a:off x="1" y="583684"/>
            <a:ext cx="10913806" cy="3903504"/>
          </a:xfrm>
          <a:prstGeom prst="rect">
            <a:avLst/>
          </a:prstGeom>
          <a:noFill/>
        </p:spPr>
        <p:txBody>
          <a:bodyPr wrap="square">
            <a:spAutoFit/>
          </a:bodyPr>
          <a:lstStyle/>
          <a:p>
            <a:pPr>
              <a:lnSpc>
                <a:spcPct val="150000"/>
              </a:lnSpc>
            </a:pPr>
            <a:r>
              <a:rPr lang="en-US" sz="2800" b="1" dirty="0">
                <a:latin typeface="Calibir"/>
              </a:rPr>
              <a:t>Hint</a:t>
            </a:r>
          </a:p>
          <a:p>
            <a:pPr>
              <a:lnSpc>
                <a:spcPct val="150000"/>
              </a:lnSpc>
            </a:pPr>
            <a:r>
              <a:rPr lang="en-US" sz="2800" dirty="0">
                <a:latin typeface="Calibir"/>
              </a:rPr>
              <a:t>Choose models that are meaningfully different.</a:t>
            </a:r>
          </a:p>
          <a:p>
            <a:pPr>
              <a:lnSpc>
                <a:spcPct val="150000"/>
              </a:lnSpc>
            </a:pPr>
            <a:r>
              <a:rPr lang="en-US" sz="2800" dirty="0">
                <a:latin typeface="Calibir"/>
              </a:rPr>
              <a:t>For example:</a:t>
            </a:r>
          </a:p>
          <a:p>
            <a:pPr marL="914400" lvl="1" indent="-457200">
              <a:lnSpc>
                <a:spcPct val="150000"/>
              </a:lnSpc>
              <a:buFont typeface="Arial" panose="020B0604020202020204" pitchFamily="34" charset="0"/>
              <a:buChar char="•"/>
            </a:pPr>
            <a:r>
              <a:rPr lang="en-US" sz="2800" dirty="0">
                <a:latin typeface="Calibir"/>
              </a:rPr>
              <a:t>one simpler/interpretable model </a:t>
            </a:r>
          </a:p>
          <a:p>
            <a:pPr marL="914400" lvl="1" indent="-457200">
              <a:lnSpc>
                <a:spcPct val="150000"/>
              </a:lnSpc>
              <a:buFont typeface="Arial" panose="020B0604020202020204" pitchFamily="34" charset="0"/>
              <a:buChar char="•"/>
            </a:pPr>
            <a:r>
              <a:rPr lang="en-US" sz="2800" dirty="0">
                <a:latin typeface="Calibir"/>
              </a:rPr>
              <a:t>one more complex/high-performance model </a:t>
            </a:r>
          </a:p>
          <a:p>
            <a:pPr>
              <a:lnSpc>
                <a:spcPct val="150000"/>
              </a:lnSpc>
            </a:pPr>
            <a:r>
              <a:rPr lang="en-US" sz="2800" dirty="0">
                <a:latin typeface="Calibir"/>
              </a:rPr>
              <a:t>That gives you better discussion points.</a:t>
            </a:r>
          </a:p>
        </p:txBody>
      </p:sp>
      <p:sp>
        <p:nvSpPr>
          <p:cNvPr id="7" name="object 2">
            <a:extLst>
              <a:ext uri="{FF2B5EF4-FFF2-40B4-BE49-F238E27FC236}">
                <a16:creationId xmlns:a16="http://schemas.microsoft.com/office/drawing/2014/main" id="{FE6FDD04-677E-EF65-9BA5-BC4BF12483E1}"/>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41085378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3198B-8972-FAD6-BD0B-3EAAEC57FF08}"/>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D7B8FD19-08B3-C604-7C5B-45D6DECB4B9E}"/>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20D922CE-7601-809C-8DB3-978C3044E4DE}"/>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B6D07080-D582-13B2-B4C1-D0B2830764D4}"/>
              </a:ext>
            </a:extLst>
          </p:cNvPr>
          <p:cNvSpPr txBox="1"/>
          <p:nvPr/>
        </p:nvSpPr>
        <p:spPr>
          <a:xfrm>
            <a:off x="1" y="583684"/>
            <a:ext cx="10913806" cy="3903504"/>
          </a:xfrm>
          <a:prstGeom prst="rect">
            <a:avLst/>
          </a:prstGeom>
          <a:noFill/>
        </p:spPr>
        <p:txBody>
          <a:bodyPr wrap="square">
            <a:spAutoFit/>
          </a:bodyPr>
          <a:lstStyle/>
          <a:p>
            <a:pPr>
              <a:lnSpc>
                <a:spcPct val="150000"/>
              </a:lnSpc>
            </a:pPr>
            <a:r>
              <a:rPr lang="en-US" sz="2800" b="1" dirty="0">
                <a:latin typeface="Calibir"/>
              </a:rPr>
              <a:t>Example</a:t>
            </a:r>
          </a:p>
          <a:p>
            <a:pPr>
              <a:lnSpc>
                <a:spcPct val="150000"/>
              </a:lnSpc>
            </a:pPr>
            <a:r>
              <a:rPr lang="en-US" sz="2800" dirty="0">
                <a:latin typeface="Calibir"/>
              </a:rPr>
              <a:t>For employee attrition:</a:t>
            </a:r>
          </a:p>
          <a:p>
            <a:pPr marL="914400" lvl="1" indent="-457200">
              <a:lnSpc>
                <a:spcPct val="150000"/>
              </a:lnSpc>
              <a:buFont typeface="Arial" panose="020B0604020202020204" pitchFamily="34" charset="0"/>
              <a:buChar char="•"/>
            </a:pPr>
            <a:r>
              <a:rPr lang="en-US" sz="2800" b="1" dirty="0">
                <a:latin typeface="Calibir"/>
              </a:rPr>
              <a:t>Model 1:</a:t>
            </a:r>
            <a:r>
              <a:rPr lang="en-US" sz="2800" dirty="0">
                <a:latin typeface="Calibir"/>
              </a:rPr>
              <a:t> Logistic Regression</a:t>
            </a:r>
            <a:br>
              <a:rPr lang="en-US" sz="2800" dirty="0">
                <a:latin typeface="Calibir"/>
              </a:rPr>
            </a:br>
            <a:r>
              <a:rPr lang="en-US" sz="2800" dirty="0">
                <a:latin typeface="Calibir"/>
              </a:rPr>
              <a:t>Easy to interpret, strong baseline </a:t>
            </a:r>
          </a:p>
          <a:p>
            <a:pPr marL="914400" lvl="1" indent="-457200">
              <a:lnSpc>
                <a:spcPct val="150000"/>
              </a:lnSpc>
              <a:buFont typeface="Arial" panose="020B0604020202020204" pitchFamily="34" charset="0"/>
              <a:buChar char="•"/>
            </a:pPr>
            <a:r>
              <a:rPr lang="en-US" sz="2800" b="1" dirty="0">
                <a:latin typeface="Calibir"/>
              </a:rPr>
              <a:t>Model 2:</a:t>
            </a:r>
            <a:r>
              <a:rPr lang="en-US" sz="2800" dirty="0">
                <a:latin typeface="Calibir"/>
              </a:rPr>
              <a:t> Random Forest</a:t>
            </a:r>
            <a:br>
              <a:rPr lang="en-US" sz="2800" dirty="0">
                <a:latin typeface="Calibir"/>
              </a:rPr>
            </a:br>
            <a:r>
              <a:rPr lang="en-US" sz="2800" dirty="0">
                <a:latin typeface="Calibir"/>
              </a:rPr>
              <a:t>Captures non-linear relationships, often higher predictive power</a:t>
            </a:r>
          </a:p>
        </p:txBody>
      </p:sp>
      <p:sp>
        <p:nvSpPr>
          <p:cNvPr id="7" name="object 2">
            <a:extLst>
              <a:ext uri="{FF2B5EF4-FFF2-40B4-BE49-F238E27FC236}">
                <a16:creationId xmlns:a16="http://schemas.microsoft.com/office/drawing/2014/main" id="{3F231D82-1F1D-0679-32F6-E1E6C1BD52DD}"/>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8874009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EC554-72D9-525E-7D5F-B8C6E8AC3BE6}"/>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E0701003-387F-9D09-FE51-09CB6DB5B9D1}"/>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328C8646-335A-D10F-DABD-0D000A3D9820}"/>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ABB765B5-F426-7675-4284-C91AC4EF9946}"/>
              </a:ext>
            </a:extLst>
          </p:cNvPr>
          <p:cNvSpPr txBox="1"/>
          <p:nvPr/>
        </p:nvSpPr>
        <p:spPr>
          <a:xfrm>
            <a:off x="1" y="583684"/>
            <a:ext cx="10913806" cy="4549835"/>
          </a:xfrm>
          <a:prstGeom prst="rect">
            <a:avLst/>
          </a:prstGeom>
          <a:noFill/>
        </p:spPr>
        <p:txBody>
          <a:bodyPr wrap="square">
            <a:spAutoFit/>
          </a:bodyPr>
          <a:lstStyle/>
          <a:p>
            <a:pPr>
              <a:lnSpc>
                <a:spcPct val="150000"/>
              </a:lnSpc>
            </a:pPr>
            <a:r>
              <a:rPr lang="en-US" sz="2800" b="1" dirty="0">
                <a:latin typeface="Calibir"/>
              </a:rPr>
              <a:t>Step 6: Explain statistical theory and model assumptions</a:t>
            </a:r>
          </a:p>
          <a:p>
            <a:pPr>
              <a:lnSpc>
                <a:spcPct val="150000"/>
              </a:lnSpc>
            </a:pPr>
            <a:r>
              <a:rPr lang="en-US" sz="2800" dirty="0">
                <a:latin typeface="Calibir"/>
              </a:rPr>
              <a:t>This section is often weak in student work.</a:t>
            </a:r>
          </a:p>
          <a:p>
            <a:pPr>
              <a:lnSpc>
                <a:spcPct val="150000"/>
              </a:lnSpc>
            </a:pPr>
            <a:r>
              <a:rPr lang="en-US" sz="2800" dirty="0">
                <a:latin typeface="Calibir"/>
              </a:rPr>
              <a:t>You are not only expected to run models. You must explain:</a:t>
            </a:r>
          </a:p>
          <a:p>
            <a:pPr marL="914400" lvl="1" indent="-457200">
              <a:lnSpc>
                <a:spcPct val="150000"/>
              </a:lnSpc>
              <a:buFont typeface="Arial" panose="020B0604020202020204" pitchFamily="34" charset="0"/>
              <a:buChar char="•"/>
            </a:pPr>
            <a:r>
              <a:rPr lang="en-US" sz="2800" dirty="0">
                <a:latin typeface="Calibir"/>
              </a:rPr>
              <a:t>how the model works conceptually </a:t>
            </a:r>
          </a:p>
          <a:p>
            <a:pPr marL="914400" lvl="1" indent="-457200">
              <a:lnSpc>
                <a:spcPct val="150000"/>
              </a:lnSpc>
              <a:buFont typeface="Arial" panose="020B0604020202020204" pitchFamily="34" charset="0"/>
              <a:buChar char="•"/>
            </a:pPr>
            <a:r>
              <a:rPr lang="en-US" sz="2800" dirty="0">
                <a:latin typeface="Calibir"/>
              </a:rPr>
              <a:t>what assumptions it relies on </a:t>
            </a:r>
          </a:p>
          <a:p>
            <a:pPr marL="914400" lvl="1" indent="-457200">
              <a:lnSpc>
                <a:spcPct val="150000"/>
              </a:lnSpc>
              <a:buFont typeface="Arial" panose="020B0604020202020204" pitchFamily="34" charset="0"/>
              <a:buChar char="•"/>
            </a:pPr>
            <a:r>
              <a:rPr lang="en-US" sz="2800" dirty="0">
                <a:latin typeface="Calibir"/>
              </a:rPr>
              <a:t>whether those assumptions are satisfied in your dataset </a:t>
            </a:r>
          </a:p>
          <a:p>
            <a:pPr marL="914400" lvl="1" indent="-457200">
              <a:lnSpc>
                <a:spcPct val="150000"/>
              </a:lnSpc>
              <a:buFont typeface="Arial" panose="020B0604020202020204" pitchFamily="34" charset="0"/>
              <a:buChar char="•"/>
            </a:pPr>
            <a:r>
              <a:rPr lang="en-US" sz="2800" dirty="0">
                <a:latin typeface="Calibir"/>
              </a:rPr>
              <a:t>what happens if assumptions are violated</a:t>
            </a:r>
          </a:p>
        </p:txBody>
      </p:sp>
      <p:sp>
        <p:nvSpPr>
          <p:cNvPr id="7" name="object 2">
            <a:extLst>
              <a:ext uri="{FF2B5EF4-FFF2-40B4-BE49-F238E27FC236}">
                <a16:creationId xmlns:a16="http://schemas.microsoft.com/office/drawing/2014/main" id="{D4202F22-5268-6CED-BD28-985FB40D63C6}"/>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40118776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D37C9-D7F2-B3AA-A2D4-BAE9688B3D5C}"/>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33107EFA-1668-3D45-4936-5F8B64118E42}"/>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9C5FCA8D-AF81-614E-2FF4-4DDF2159C830}"/>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A33538A9-A386-FF83-0BEF-EBAD34E1E16D}"/>
              </a:ext>
            </a:extLst>
          </p:cNvPr>
          <p:cNvSpPr txBox="1"/>
          <p:nvPr/>
        </p:nvSpPr>
        <p:spPr>
          <a:xfrm>
            <a:off x="1" y="583684"/>
            <a:ext cx="10913806" cy="6488828"/>
          </a:xfrm>
          <a:prstGeom prst="rect">
            <a:avLst/>
          </a:prstGeom>
          <a:noFill/>
        </p:spPr>
        <p:txBody>
          <a:bodyPr wrap="square">
            <a:spAutoFit/>
          </a:bodyPr>
          <a:lstStyle/>
          <a:p>
            <a:pPr>
              <a:lnSpc>
                <a:spcPct val="150000"/>
              </a:lnSpc>
            </a:pPr>
            <a:r>
              <a:rPr lang="en-US" sz="2800" b="1" dirty="0">
                <a:latin typeface="Calibir"/>
              </a:rPr>
              <a:t>Example: Logistic Regression</a:t>
            </a:r>
          </a:p>
          <a:p>
            <a:pPr>
              <a:lnSpc>
                <a:spcPct val="150000"/>
              </a:lnSpc>
            </a:pPr>
            <a:r>
              <a:rPr lang="en-US" sz="2800" dirty="0">
                <a:latin typeface="Calibir"/>
              </a:rPr>
              <a:t>Theory:</a:t>
            </a:r>
          </a:p>
          <a:p>
            <a:pPr marL="914400" lvl="1" indent="-457200">
              <a:lnSpc>
                <a:spcPct val="150000"/>
              </a:lnSpc>
              <a:buFont typeface="Arial" panose="020B0604020202020204" pitchFamily="34" charset="0"/>
              <a:buChar char="•"/>
            </a:pPr>
            <a:r>
              <a:rPr lang="en-US" sz="2800" dirty="0">
                <a:latin typeface="Calibir"/>
              </a:rPr>
              <a:t>predicts probability of class membership </a:t>
            </a:r>
          </a:p>
          <a:p>
            <a:pPr marL="914400" lvl="1" indent="-457200">
              <a:lnSpc>
                <a:spcPct val="150000"/>
              </a:lnSpc>
              <a:buFont typeface="Arial" panose="020B0604020202020204" pitchFamily="34" charset="0"/>
              <a:buChar char="•"/>
            </a:pPr>
            <a:r>
              <a:rPr lang="en-US" sz="2800" dirty="0">
                <a:latin typeface="Calibir"/>
              </a:rPr>
              <a:t>suitable for binary classification </a:t>
            </a:r>
          </a:p>
          <a:p>
            <a:pPr>
              <a:lnSpc>
                <a:spcPct val="150000"/>
              </a:lnSpc>
            </a:pPr>
            <a:r>
              <a:rPr lang="en-US" sz="2800" dirty="0">
                <a:latin typeface="Calibir"/>
              </a:rPr>
              <a:t>Assumptions:</a:t>
            </a:r>
          </a:p>
          <a:p>
            <a:pPr marL="914400" lvl="1" indent="-457200">
              <a:lnSpc>
                <a:spcPct val="150000"/>
              </a:lnSpc>
              <a:buFont typeface="Arial" panose="020B0604020202020204" pitchFamily="34" charset="0"/>
              <a:buChar char="•"/>
            </a:pPr>
            <a:r>
              <a:rPr lang="en-US" sz="2800" dirty="0">
                <a:latin typeface="Calibir"/>
              </a:rPr>
              <a:t>dependent variable is binary </a:t>
            </a:r>
          </a:p>
          <a:p>
            <a:pPr marL="914400" lvl="1" indent="-457200">
              <a:lnSpc>
                <a:spcPct val="150000"/>
              </a:lnSpc>
              <a:buFont typeface="Arial" panose="020B0604020202020204" pitchFamily="34" charset="0"/>
              <a:buChar char="•"/>
            </a:pPr>
            <a:r>
              <a:rPr lang="en-US" sz="2800" dirty="0">
                <a:latin typeface="Calibir"/>
              </a:rPr>
              <a:t>observations are independent </a:t>
            </a:r>
          </a:p>
          <a:p>
            <a:pPr marL="914400" lvl="1" indent="-457200">
              <a:lnSpc>
                <a:spcPct val="150000"/>
              </a:lnSpc>
              <a:buFont typeface="Arial" panose="020B0604020202020204" pitchFamily="34" charset="0"/>
              <a:buChar char="•"/>
            </a:pPr>
            <a:r>
              <a:rPr lang="en-US" sz="2800" dirty="0">
                <a:latin typeface="Calibir"/>
              </a:rPr>
              <a:t>limited multicollinearity </a:t>
            </a:r>
          </a:p>
          <a:p>
            <a:pPr marL="914400" lvl="1" indent="-457200">
              <a:lnSpc>
                <a:spcPct val="150000"/>
              </a:lnSpc>
              <a:buFont typeface="Arial" panose="020B0604020202020204" pitchFamily="34" charset="0"/>
              <a:buChar char="•"/>
            </a:pPr>
            <a:r>
              <a:rPr lang="en-US" sz="2800" dirty="0">
                <a:latin typeface="Calibir"/>
              </a:rPr>
              <a:t>linear relationship between predictors and log-odds </a:t>
            </a:r>
          </a:p>
          <a:p>
            <a:pPr marL="914400" lvl="1" indent="-457200">
              <a:lnSpc>
                <a:spcPct val="150000"/>
              </a:lnSpc>
              <a:buFont typeface="Arial" panose="020B0604020202020204" pitchFamily="34" charset="0"/>
              <a:buChar char="•"/>
            </a:pPr>
            <a:r>
              <a:rPr lang="en-US" sz="2800" dirty="0">
                <a:latin typeface="Calibir"/>
              </a:rPr>
              <a:t>sufficiently large sample size</a:t>
            </a:r>
          </a:p>
        </p:txBody>
      </p:sp>
      <p:sp>
        <p:nvSpPr>
          <p:cNvPr id="7" name="object 2">
            <a:extLst>
              <a:ext uri="{FF2B5EF4-FFF2-40B4-BE49-F238E27FC236}">
                <a16:creationId xmlns:a16="http://schemas.microsoft.com/office/drawing/2014/main" id="{6A18C480-7FB9-01B1-3948-AF078F5A3806}"/>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6629454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7DE98-D635-A707-CEC2-B1204DB933CB}"/>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E13A443D-4782-4397-211E-7C68090F297E}"/>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4F97A3A1-5E18-9B73-E7A8-E59264AEDEB6}"/>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231211BC-D57A-7C83-C8ED-4DCF63FA7B7D}"/>
              </a:ext>
            </a:extLst>
          </p:cNvPr>
          <p:cNvSpPr txBox="1"/>
          <p:nvPr/>
        </p:nvSpPr>
        <p:spPr>
          <a:xfrm>
            <a:off x="1" y="583684"/>
            <a:ext cx="10913806" cy="4549835"/>
          </a:xfrm>
          <a:prstGeom prst="rect">
            <a:avLst/>
          </a:prstGeom>
          <a:noFill/>
        </p:spPr>
        <p:txBody>
          <a:bodyPr wrap="square">
            <a:spAutoFit/>
          </a:bodyPr>
          <a:lstStyle/>
          <a:p>
            <a:pPr>
              <a:lnSpc>
                <a:spcPct val="150000"/>
              </a:lnSpc>
            </a:pPr>
            <a:r>
              <a:rPr lang="en-US" sz="2800" b="1" dirty="0">
                <a:latin typeface="Calibir"/>
              </a:rPr>
              <a:t>Example: Linear Regression</a:t>
            </a:r>
          </a:p>
          <a:p>
            <a:pPr>
              <a:lnSpc>
                <a:spcPct val="150000"/>
              </a:lnSpc>
            </a:pPr>
            <a:r>
              <a:rPr lang="en-US" sz="2800" dirty="0">
                <a:latin typeface="Calibir"/>
              </a:rPr>
              <a:t>Assumptions:</a:t>
            </a:r>
          </a:p>
          <a:p>
            <a:pPr marL="914400" lvl="1" indent="-457200">
              <a:lnSpc>
                <a:spcPct val="150000"/>
              </a:lnSpc>
              <a:buFont typeface="Arial" panose="020B0604020202020204" pitchFamily="34" charset="0"/>
              <a:buChar char="•"/>
            </a:pPr>
            <a:r>
              <a:rPr lang="en-US" sz="2800" dirty="0">
                <a:latin typeface="Calibir"/>
              </a:rPr>
              <a:t>linearity </a:t>
            </a:r>
          </a:p>
          <a:p>
            <a:pPr marL="914400" lvl="1" indent="-457200">
              <a:lnSpc>
                <a:spcPct val="150000"/>
              </a:lnSpc>
              <a:buFont typeface="Arial" panose="020B0604020202020204" pitchFamily="34" charset="0"/>
              <a:buChar char="•"/>
            </a:pPr>
            <a:r>
              <a:rPr lang="en-US" sz="2800" dirty="0">
                <a:latin typeface="Calibir"/>
              </a:rPr>
              <a:t>independence </a:t>
            </a:r>
          </a:p>
          <a:p>
            <a:pPr marL="914400" lvl="1" indent="-457200">
              <a:lnSpc>
                <a:spcPct val="150000"/>
              </a:lnSpc>
              <a:buFont typeface="Arial" panose="020B0604020202020204" pitchFamily="34" charset="0"/>
              <a:buChar char="•"/>
            </a:pPr>
            <a:r>
              <a:rPr lang="en-US" sz="2800" dirty="0">
                <a:latin typeface="Calibir"/>
              </a:rPr>
              <a:t>homoscedasticity </a:t>
            </a:r>
          </a:p>
          <a:p>
            <a:pPr marL="914400" lvl="1" indent="-457200">
              <a:lnSpc>
                <a:spcPct val="150000"/>
              </a:lnSpc>
              <a:buFont typeface="Arial" panose="020B0604020202020204" pitchFamily="34" charset="0"/>
              <a:buChar char="•"/>
            </a:pPr>
            <a:r>
              <a:rPr lang="en-US" sz="2800" dirty="0">
                <a:latin typeface="Calibir"/>
              </a:rPr>
              <a:t>normality of residuals </a:t>
            </a:r>
          </a:p>
          <a:p>
            <a:pPr marL="914400" lvl="1" indent="-457200">
              <a:lnSpc>
                <a:spcPct val="150000"/>
              </a:lnSpc>
              <a:buFont typeface="Arial" panose="020B0604020202020204" pitchFamily="34" charset="0"/>
              <a:buChar char="•"/>
            </a:pPr>
            <a:r>
              <a:rPr lang="en-US" sz="2800" dirty="0">
                <a:latin typeface="Calibir"/>
              </a:rPr>
              <a:t>no severe multicollinearity</a:t>
            </a:r>
          </a:p>
        </p:txBody>
      </p:sp>
      <p:sp>
        <p:nvSpPr>
          <p:cNvPr id="7" name="object 2">
            <a:extLst>
              <a:ext uri="{FF2B5EF4-FFF2-40B4-BE49-F238E27FC236}">
                <a16:creationId xmlns:a16="http://schemas.microsoft.com/office/drawing/2014/main" id="{772AC333-2FD4-AA61-05BC-1022D6EB412E}"/>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25635161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79C27-2A64-19FC-78DF-C80DD301F313}"/>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4001BF7B-A378-5C3E-1062-548AAC01F62B}"/>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E77D8E5C-06E9-37A8-D936-3CDD427BD8AE}"/>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C392345D-B521-6A5C-D82B-079C8F0A5412}"/>
              </a:ext>
            </a:extLst>
          </p:cNvPr>
          <p:cNvSpPr txBox="1"/>
          <p:nvPr/>
        </p:nvSpPr>
        <p:spPr>
          <a:xfrm>
            <a:off x="1" y="583684"/>
            <a:ext cx="10913806" cy="4549835"/>
          </a:xfrm>
          <a:prstGeom prst="rect">
            <a:avLst/>
          </a:prstGeom>
          <a:noFill/>
        </p:spPr>
        <p:txBody>
          <a:bodyPr wrap="square">
            <a:spAutoFit/>
          </a:bodyPr>
          <a:lstStyle/>
          <a:p>
            <a:pPr>
              <a:lnSpc>
                <a:spcPct val="150000"/>
              </a:lnSpc>
            </a:pPr>
            <a:r>
              <a:rPr lang="en-US" sz="2800" b="1" dirty="0">
                <a:latin typeface="Calibir"/>
              </a:rPr>
              <a:t>Example: Decision Tree / Random Forest</a:t>
            </a:r>
          </a:p>
          <a:p>
            <a:pPr>
              <a:lnSpc>
                <a:spcPct val="150000"/>
              </a:lnSpc>
            </a:pPr>
            <a:r>
              <a:rPr lang="en-US" sz="2800" dirty="0">
                <a:latin typeface="Calibir"/>
              </a:rPr>
              <a:t>These have fewer strict statistical assumptions than linear or logistic regression, but you should still discuss:</a:t>
            </a:r>
          </a:p>
          <a:p>
            <a:pPr marL="914400" lvl="1" indent="-457200">
              <a:lnSpc>
                <a:spcPct val="150000"/>
              </a:lnSpc>
              <a:buFont typeface="Arial" panose="020B0604020202020204" pitchFamily="34" charset="0"/>
              <a:buChar char="•"/>
            </a:pPr>
            <a:r>
              <a:rPr lang="en-US" sz="2800" dirty="0">
                <a:latin typeface="Calibir"/>
              </a:rPr>
              <a:t>sensitivity to overfitting </a:t>
            </a:r>
          </a:p>
          <a:p>
            <a:pPr marL="914400" lvl="1" indent="-457200">
              <a:lnSpc>
                <a:spcPct val="150000"/>
              </a:lnSpc>
              <a:buFont typeface="Arial" panose="020B0604020202020204" pitchFamily="34" charset="0"/>
              <a:buChar char="•"/>
            </a:pPr>
            <a:r>
              <a:rPr lang="en-US" sz="2800" dirty="0">
                <a:latin typeface="Calibir"/>
              </a:rPr>
              <a:t>effect of noisy features </a:t>
            </a:r>
          </a:p>
          <a:p>
            <a:pPr marL="914400" lvl="1" indent="-457200">
              <a:lnSpc>
                <a:spcPct val="150000"/>
              </a:lnSpc>
              <a:buFont typeface="Arial" panose="020B0604020202020204" pitchFamily="34" charset="0"/>
              <a:buChar char="•"/>
            </a:pPr>
            <a:r>
              <a:rPr lang="en-US" sz="2800" dirty="0">
                <a:latin typeface="Calibir"/>
              </a:rPr>
              <a:t>importance of parameter tuning </a:t>
            </a:r>
          </a:p>
          <a:p>
            <a:pPr marL="914400" lvl="1" indent="-457200">
              <a:lnSpc>
                <a:spcPct val="150000"/>
              </a:lnSpc>
              <a:buFont typeface="Arial" panose="020B0604020202020204" pitchFamily="34" charset="0"/>
              <a:buChar char="•"/>
            </a:pPr>
            <a:r>
              <a:rPr lang="en-US" sz="2800" dirty="0">
                <a:latin typeface="Calibir"/>
              </a:rPr>
              <a:t>effect of class imbalance</a:t>
            </a:r>
          </a:p>
        </p:txBody>
      </p:sp>
      <p:sp>
        <p:nvSpPr>
          <p:cNvPr id="7" name="object 2">
            <a:extLst>
              <a:ext uri="{FF2B5EF4-FFF2-40B4-BE49-F238E27FC236}">
                <a16:creationId xmlns:a16="http://schemas.microsoft.com/office/drawing/2014/main" id="{F4A2AECE-909F-62BC-1C21-5FB508EDDB0A}"/>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9041927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FF35C-681D-ECB7-837B-BB2A5C71C88B}"/>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D3326A29-3F92-9135-AB2C-4C461F15E002}"/>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45A140F5-7D72-EC16-249B-DD25063F35EB}"/>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5D97E83E-897A-6066-4256-7C1260B2F924}"/>
              </a:ext>
            </a:extLst>
          </p:cNvPr>
          <p:cNvSpPr txBox="1"/>
          <p:nvPr/>
        </p:nvSpPr>
        <p:spPr>
          <a:xfrm>
            <a:off x="1" y="583684"/>
            <a:ext cx="10913806" cy="5842497"/>
          </a:xfrm>
          <a:prstGeom prst="rect">
            <a:avLst/>
          </a:prstGeom>
          <a:noFill/>
        </p:spPr>
        <p:txBody>
          <a:bodyPr wrap="square">
            <a:spAutoFit/>
          </a:bodyPr>
          <a:lstStyle/>
          <a:p>
            <a:pPr>
              <a:lnSpc>
                <a:spcPct val="150000"/>
              </a:lnSpc>
            </a:pPr>
            <a:r>
              <a:rPr lang="en-US" sz="2800" b="1" dirty="0">
                <a:latin typeface="Calibir"/>
              </a:rPr>
              <a:t>What lecturers want here</a:t>
            </a:r>
          </a:p>
          <a:p>
            <a:pPr>
              <a:lnSpc>
                <a:spcPct val="150000"/>
              </a:lnSpc>
            </a:pPr>
            <a:r>
              <a:rPr lang="en-US" sz="2800" dirty="0">
                <a:latin typeface="Calibir"/>
              </a:rPr>
              <a:t>Not just “the assumptions are met.”</a:t>
            </a:r>
            <a:br>
              <a:rPr lang="en-US" sz="2800" dirty="0">
                <a:latin typeface="Calibir"/>
              </a:rPr>
            </a:br>
            <a:r>
              <a:rPr lang="en-US" sz="2800" dirty="0">
                <a:latin typeface="Calibir"/>
              </a:rPr>
              <a:t>They want evidence.</a:t>
            </a:r>
          </a:p>
          <a:p>
            <a:pPr>
              <a:lnSpc>
                <a:spcPct val="150000"/>
              </a:lnSpc>
            </a:pPr>
            <a:r>
              <a:rPr lang="en-US" sz="2800" b="1" dirty="0">
                <a:latin typeface="Calibir"/>
              </a:rPr>
              <a:t>Evidence examples</a:t>
            </a:r>
          </a:p>
          <a:p>
            <a:pPr marL="914400" lvl="1" indent="-457200">
              <a:lnSpc>
                <a:spcPct val="150000"/>
              </a:lnSpc>
              <a:buFont typeface="Arial" panose="020B0604020202020204" pitchFamily="34" charset="0"/>
              <a:buChar char="•"/>
            </a:pPr>
            <a:r>
              <a:rPr lang="en-US" sz="2800" dirty="0">
                <a:latin typeface="Calibir"/>
              </a:rPr>
              <a:t>correlation heatmap for multicollinearity </a:t>
            </a:r>
          </a:p>
          <a:p>
            <a:pPr marL="914400" lvl="1" indent="-457200">
              <a:lnSpc>
                <a:spcPct val="150000"/>
              </a:lnSpc>
              <a:buFont typeface="Arial" panose="020B0604020202020204" pitchFamily="34" charset="0"/>
              <a:buChar char="•"/>
            </a:pPr>
            <a:r>
              <a:rPr lang="en-US" sz="2800" dirty="0">
                <a:latin typeface="Calibir"/>
              </a:rPr>
              <a:t>class distribution chart </a:t>
            </a:r>
          </a:p>
          <a:p>
            <a:pPr marL="914400" lvl="1" indent="-457200">
              <a:lnSpc>
                <a:spcPct val="150000"/>
              </a:lnSpc>
              <a:buFont typeface="Arial" panose="020B0604020202020204" pitchFamily="34" charset="0"/>
              <a:buChar char="•"/>
            </a:pPr>
            <a:r>
              <a:rPr lang="en-US" sz="2800" dirty="0">
                <a:latin typeface="Calibir"/>
              </a:rPr>
              <a:t>residual plot for regression </a:t>
            </a:r>
          </a:p>
          <a:p>
            <a:pPr marL="914400" lvl="1" indent="-457200">
              <a:lnSpc>
                <a:spcPct val="150000"/>
              </a:lnSpc>
              <a:buFont typeface="Arial" panose="020B0604020202020204" pitchFamily="34" charset="0"/>
              <a:buChar char="•"/>
            </a:pPr>
            <a:r>
              <a:rPr lang="en-US" sz="2800" dirty="0">
                <a:latin typeface="Calibir"/>
              </a:rPr>
              <a:t>feature distribution checks </a:t>
            </a:r>
          </a:p>
          <a:p>
            <a:pPr marL="914400" lvl="1" indent="-457200">
              <a:lnSpc>
                <a:spcPct val="150000"/>
              </a:lnSpc>
              <a:buFont typeface="Arial" panose="020B0604020202020204" pitchFamily="34" charset="0"/>
              <a:buChar char="•"/>
            </a:pPr>
            <a:r>
              <a:rPr lang="en-US" sz="2800" dirty="0">
                <a:latin typeface="Calibir"/>
              </a:rPr>
              <a:t>train/test performance differences for overfitting</a:t>
            </a:r>
          </a:p>
        </p:txBody>
      </p:sp>
      <p:sp>
        <p:nvSpPr>
          <p:cNvPr id="7" name="object 2">
            <a:extLst>
              <a:ext uri="{FF2B5EF4-FFF2-40B4-BE49-F238E27FC236}">
                <a16:creationId xmlns:a16="http://schemas.microsoft.com/office/drawing/2014/main" id="{43E256DF-C035-E6C4-4E68-479E198AFBE7}"/>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9403854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2E940-47E0-E97B-72D9-2600AE169F41}"/>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A6061484-AECB-1071-387D-5419F5568442}"/>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504A360E-ABA6-3A3A-BCE5-C737872EB025}"/>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77960443-B02E-51E4-5C16-6601C8E89B05}"/>
              </a:ext>
            </a:extLst>
          </p:cNvPr>
          <p:cNvSpPr txBox="1"/>
          <p:nvPr/>
        </p:nvSpPr>
        <p:spPr>
          <a:xfrm>
            <a:off x="1" y="583684"/>
            <a:ext cx="10913806" cy="1964512"/>
          </a:xfrm>
          <a:prstGeom prst="rect">
            <a:avLst/>
          </a:prstGeom>
          <a:noFill/>
        </p:spPr>
        <p:txBody>
          <a:bodyPr wrap="square">
            <a:spAutoFit/>
          </a:bodyPr>
          <a:lstStyle/>
          <a:p>
            <a:pPr>
              <a:lnSpc>
                <a:spcPct val="150000"/>
              </a:lnSpc>
            </a:pPr>
            <a:r>
              <a:rPr lang="en-US" sz="2800" b="1" dirty="0">
                <a:latin typeface="Calibir"/>
              </a:rPr>
              <a:t>Common mistake</a:t>
            </a:r>
          </a:p>
          <a:p>
            <a:pPr>
              <a:lnSpc>
                <a:spcPct val="150000"/>
              </a:lnSpc>
            </a:pPr>
            <a:r>
              <a:rPr lang="en-US" sz="2800" dirty="0">
                <a:latin typeface="Calibir"/>
              </a:rPr>
              <a:t>Students describe assumptions from theory but never test or discuss them using their own dataset.</a:t>
            </a:r>
          </a:p>
        </p:txBody>
      </p:sp>
      <p:sp>
        <p:nvSpPr>
          <p:cNvPr id="7" name="object 2">
            <a:extLst>
              <a:ext uri="{FF2B5EF4-FFF2-40B4-BE49-F238E27FC236}">
                <a16:creationId xmlns:a16="http://schemas.microsoft.com/office/drawing/2014/main" id="{3B6ABDDE-76EF-7380-287D-43772EBA82DA}"/>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42824205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1583B-49BE-5732-2D51-B4B0D98B4138}"/>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E3CD6F51-3C2B-D4B3-AC7C-EA463CAD1093}"/>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FC8BE811-A679-674E-965C-FFDF81A98795}"/>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A1F52D0B-568D-273C-9149-256C6791F102}"/>
              </a:ext>
            </a:extLst>
          </p:cNvPr>
          <p:cNvSpPr txBox="1"/>
          <p:nvPr/>
        </p:nvSpPr>
        <p:spPr>
          <a:xfrm>
            <a:off x="1" y="583684"/>
            <a:ext cx="10913806" cy="5842497"/>
          </a:xfrm>
          <a:prstGeom prst="rect">
            <a:avLst/>
          </a:prstGeom>
          <a:noFill/>
        </p:spPr>
        <p:txBody>
          <a:bodyPr wrap="square">
            <a:spAutoFit/>
          </a:bodyPr>
          <a:lstStyle/>
          <a:p>
            <a:pPr>
              <a:lnSpc>
                <a:spcPct val="150000"/>
              </a:lnSpc>
            </a:pPr>
            <a:r>
              <a:rPr lang="en-US" sz="2800" b="1" dirty="0">
                <a:latin typeface="Calibir"/>
              </a:rPr>
              <a:t>Step 7: Train both models and document the process</a:t>
            </a:r>
          </a:p>
          <a:p>
            <a:pPr>
              <a:lnSpc>
                <a:spcPct val="150000"/>
              </a:lnSpc>
            </a:pPr>
            <a:r>
              <a:rPr lang="en-US" sz="2800" dirty="0">
                <a:latin typeface="Calibir"/>
              </a:rPr>
              <a:t>You must show model development clearly.</a:t>
            </a:r>
          </a:p>
          <a:p>
            <a:pPr>
              <a:lnSpc>
                <a:spcPct val="150000"/>
              </a:lnSpc>
            </a:pPr>
            <a:r>
              <a:rPr lang="en-US" sz="2800" b="1" dirty="0">
                <a:latin typeface="Calibir"/>
              </a:rPr>
              <a:t>Include:</a:t>
            </a:r>
          </a:p>
          <a:p>
            <a:pPr marL="914400" lvl="1" indent="-457200">
              <a:lnSpc>
                <a:spcPct val="150000"/>
              </a:lnSpc>
              <a:buFont typeface="Arial" panose="020B0604020202020204" pitchFamily="34" charset="0"/>
              <a:buChar char="•"/>
            </a:pPr>
            <a:r>
              <a:rPr lang="en-US" sz="2800" dirty="0">
                <a:latin typeface="Calibir"/>
              </a:rPr>
              <a:t>train-test split </a:t>
            </a:r>
          </a:p>
          <a:p>
            <a:pPr marL="914400" lvl="1" indent="-457200">
              <a:lnSpc>
                <a:spcPct val="150000"/>
              </a:lnSpc>
              <a:buFont typeface="Arial" panose="020B0604020202020204" pitchFamily="34" charset="0"/>
              <a:buChar char="•"/>
            </a:pPr>
            <a:r>
              <a:rPr lang="en-US" sz="2800" dirty="0">
                <a:latin typeface="Calibir"/>
              </a:rPr>
              <a:t>chosen features </a:t>
            </a:r>
          </a:p>
          <a:p>
            <a:pPr marL="914400" lvl="1" indent="-457200">
              <a:lnSpc>
                <a:spcPct val="150000"/>
              </a:lnSpc>
              <a:buFont typeface="Arial" panose="020B0604020202020204" pitchFamily="34" charset="0"/>
              <a:buChar char="•"/>
            </a:pPr>
            <a:r>
              <a:rPr lang="en-US" sz="2800" dirty="0">
                <a:latin typeface="Calibir"/>
              </a:rPr>
              <a:t>parameter settings </a:t>
            </a:r>
          </a:p>
          <a:p>
            <a:pPr marL="914400" lvl="1" indent="-457200">
              <a:lnSpc>
                <a:spcPct val="150000"/>
              </a:lnSpc>
              <a:buFont typeface="Arial" panose="020B0604020202020204" pitchFamily="34" charset="0"/>
              <a:buChar char="•"/>
            </a:pPr>
            <a:r>
              <a:rPr lang="en-US" sz="2800" dirty="0">
                <a:latin typeface="Calibir"/>
              </a:rPr>
              <a:t>training workflow </a:t>
            </a:r>
          </a:p>
          <a:p>
            <a:pPr marL="914400" lvl="1" indent="-457200">
              <a:lnSpc>
                <a:spcPct val="150000"/>
              </a:lnSpc>
              <a:buFont typeface="Arial" panose="020B0604020202020204" pitchFamily="34" charset="0"/>
              <a:buChar char="•"/>
            </a:pPr>
            <a:r>
              <a:rPr lang="en-US" sz="2800" dirty="0">
                <a:latin typeface="Calibir"/>
              </a:rPr>
              <a:t>screenshots of training code/output </a:t>
            </a:r>
          </a:p>
          <a:p>
            <a:pPr marL="914400" lvl="1" indent="-457200">
              <a:lnSpc>
                <a:spcPct val="150000"/>
              </a:lnSpc>
              <a:buFont typeface="Arial" panose="020B0604020202020204" pitchFamily="34" charset="0"/>
              <a:buChar char="•"/>
            </a:pPr>
            <a:r>
              <a:rPr lang="en-US" sz="2800" dirty="0">
                <a:latin typeface="Calibir"/>
              </a:rPr>
              <a:t>implementation decisions</a:t>
            </a:r>
          </a:p>
        </p:txBody>
      </p:sp>
      <p:sp>
        <p:nvSpPr>
          <p:cNvPr id="7" name="object 2">
            <a:extLst>
              <a:ext uri="{FF2B5EF4-FFF2-40B4-BE49-F238E27FC236}">
                <a16:creationId xmlns:a16="http://schemas.microsoft.com/office/drawing/2014/main" id="{89A95735-ADEC-01BC-08F5-08F8276651E7}"/>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7015780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7DA3E-A7EE-A3B6-06C3-9D07996FB3FA}"/>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6DB3FFAB-C744-2F4F-73A7-168BF15587CC}"/>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877E73B9-6503-30BA-A36B-10989CF8945E}"/>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A4F54B5C-F151-B4A7-CF20-C34DBEF85368}"/>
              </a:ext>
            </a:extLst>
          </p:cNvPr>
          <p:cNvSpPr txBox="1"/>
          <p:nvPr/>
        </p:nvSpPr>
        <p:spPr>
          <a:xfrm>
            <a:off x="1" y="583684"/>
            <a:ext cx="10913806" cy="5196166"/>
          </a:xfrm>
          <a:prstGeom prst="rect">
            <a:avLst/>
          </a:prstGeom>
          <a:noFill/>
        </p:spPr>
        <p:txBody>
          <a:bodyPr wrap="square">
            <a:spAutoFit/>
          </a:bodyPr>
          <a:lstStyle/>
          <a:p>
            <a:pPr>
              <a:lnSpc>
                <a:spcPct val="150000"/>
              </a:lnSpc>
            </a:pPr>
            <a:r>
              <a:rPr lang="en-US" sz="2800" b="1" dirty="0">
                <a:latin typeface="Calibir"/>
              </a:rPr>
              <a:t>Example things to explain</a:t>
            </a:r>
          </a:p>
          <a:p>
            <a:pPr marL="914400" lvl="1" indent="-457200">
              <a:lnSpc>
                <a:spcPct val="150000"/>
              </a:lnSpc>
              <a:buFont typeface="Arial" panose="020B0604020202020204" pitchFamily="34" charset="0"/>
              <a:buChar char="•"/>
            </a:pPr>
            <a:r>
              <a:rPr lang="en-US" sz="2800" dirty="0">
                <a:latin typeface="Calibir"/>
              </a:rPr>
              <a:t>Why use 80/20 split? </a:t>
            </a:r>
          </a:p>
          <a:p>
            <a:pPr marL="914400" lvl="1" indent="-457200">
              <a:lnSpc>
                <a:spcPct val="150000"/>
              </a:lnSpc>
              <a:buFont typeface="Arial" panose="020B0604020202020204" pitchFamily="34" charset="0"/>
              <a:buChar char="•"/>
            </a:pPr>
            <a:r>
              <a:rPr lang="en-US" sz="2800" dirty="0">
                <a:latin typeface="Calibir"/>
              </a:rPr>
              <a:t>Why choose </a:t>
            </a:r>
            <a:r>
              <a:rPr lang="en-US" sz="2800" dirty="0" err="1">
                <a:latin typeface="Calibir"/>
              </a:rPr>
              <a:t>max_depth</a:t>
            </a:r>
            <a:r>
              <a:rPr lang="en-US" sz="2800" dirty="0">
                <a:latin typeface="Calibir"/>
              </a:rPr>
              <a:t>=5 in Decision Tree? </a:t>
            </a:r>
          </a:p>
          <a:p>
            <a:pPr marL="914400" lvl="1" indent="-457200">
              <a:lnSpc>
                <a:spcPct val="150000"/>
              </a:lnSpc>
              <a:buFont typeface="Arial" panose="020B0604020202020204" pitchFamily="34" charset="0"/>
              <a:buChar char="•"/>
            </a:pPr>
            <a:r>
              <a:rPr lang="en-US" sz="2800" dirty="0">
                <a:latin typeface="Calibir"/>
              </a:rPr>
              <a:t>Why use </a:t>
            </a:r>
            <a:r>
              <a:rPr lang="en-US" sz="2800" dirty="0" err="1">
                <a:latin typeface="Calibir"/>
              </a:rPr>
              <a:t>standardisation</a:t>
            </a:r>
            <a:r>
              <a:rPr lang="en-US" sz="2800" dirty="0">
                <a:latin typeface="Calibir"/>
              </a:rPr>
              <a:t> before Logistic Regression? </a:t>
            </a:r>
          </a:p>
          <a:p>
            <a:pPr marL="914400" lvl="1" indent="-457200">
              <a:lnSpc>
                <a:spcPct val="150000"/>
              </a:lnSpc>
              <a:buFont typeface="Arial" panose="020B0604020202020204" pitchFamily="34" charset="0"/>
              <a:buChar char="•"/>
            </a:pPr>
            <a:r>
              <a:rPr lang="en-US" sz="2800" dirty="0">
                <a:latin typeface="Calibir"/>
              </a:rPr>
              <a:t>Why use random state for reproducibility? </a:t>
            </a:r>
          </a:p>
          <a:p>
            <a:pPr>
              <a:lnSpc>
                <a:spcPct val="150000"/>
              </a:lnSpc>
            </a:pPr>
            <a:r>
              <a:rPr lang="en-US" sz="2800" b="1" dirty="0">
                <a:latin typeface="Calibir"/>
              </a:rPr>
              <a:t>Hint</a:t>
            </a:r>
          </a:p>
          <a:p>
            <a:pPr>
              <a:lnSpc>
                <a:spcPct val="150000"/>
              </a:lnSpc>
            </a:pPr>
            <a:r>
              <a:rPr lang="en-US" sz="2800" dirty="0">
                <a:latin typeface="Calibir"/>
              </a:rPr>
              <a:t>Take screenshots while working, not at the end.</a:t>
            </a:r>
            <a:br>
              <a:rPr lang="en-US" sz="2800" dirty="0">
                <a:latin typeface="Calibir"/>
              </a:rPr>
            </a:br>
            <a:r>
              <a:rPr lang="en-US" sz="2800" dirty="0">
                <a:latin typeface="Calibir"/>
              </a:rPr>
              <a:t>Students often forget and then have weak evidence later.</a:t>
            </a:r>
          </a:p>
        </p:txBody>
      </p:sp>
      <p:sp>
        <p:nvSpPr>
          <p:cNvPr id="7" name="object 2">
            <a:extLst>
              <a:ext uri="{FF2B5EF4-FFF2-40B4-BE49-F238E27FC236}">
                <a16:creationId xmlns:a16="http://schemas.microsoft.com/office/drawing/2014/main" id="{870892A4-DD71-8D69-9116-16CBDAF5EECA}"/>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6900640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EC094-2F1D-6EC9-16E9-50F7E5A7BCB8}"/>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80AFAFB3-EABE-2D1A-A485-34331C81D83E}"/>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4E889588-C7FF-01A7-30F5-C63E7B81E376}"/>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1118C462-DB90-8104-3558-0B939D4C2D32}"/>
              </a:ext>
            </a:extLst>
          </p:cNvPr>
          <p:cNvSpPr txBox="1"/>
          <p:nvPr/>
        </p:nvSpPr>
        <p:spPr>
          <a:xfrm>
            <a:off x="1" y="509944"/>
            <a:ext cx="10913806" cy="6488828"/>
          </a:xfrm>
          <a:prstGeom prst="rect">
            <a:avLst/>
          </a:prstGeom>
          <a:noFill/>
        </p:spPr>
        <p:txBody>
          <a:bodyPr wrap="square">
            <a:spAutoFit/>
          </a:bodyPr>
          <a:lstStyle/>
          <a:p>
            <a:pPr>
              <a:lnSpc>
                <a:spcPct val="150000"/>
              </a:lnSpc>
            </a:pPr>
            <a:r>
              <a:rPr lang="en-US" sz="2800" b="1" dirty="0">
                <a:latin typeface="Calibir"/>
              </a:rPr>
              <a:t>Step 8: Evaluate both models properly</a:t>
            </a:r>
          </a:p>
          <a:p>
            <a:pPr>
              <a:lnSpc>
                <a:spcPct val="150000"/>
              </a:lnSpc>
            </a:pPr>
            <a:r>
              <a:rPr lang="en-US" sz="2800" dirty="0">
                <a:latin typeface="Calibir"/>
              </a:rPr>
              <a:t>Use the right metrics for your problem type.</a:t>
            </a:r>
          </a:p>
          <a:p>
            <a:pPr>
              <a:lnSpc>
                <a:spcPct val="150000"/>
              </a:lnSpc>
            </a:pPr>
            <a:r>
              <a:rPr lang="en-US" sz="2800" b="1" dirty="0">
                <a:latin typeface="Calibir"/>
              </a:rPr>
              <a:t>For classification</a:t>
            </a:r>
          </a:p>
          <a:p>
            <a:pPr>
              <a:lnSpc>
                <a:spcPct val="150000"/>
              </a:lnSpc>
            </a:pPr>
            <a:r>
              <a:rPr lang="en-US" sz="2800" dirty="0">
                <a:latin typeface="Calibir"/>
              </a:rPr>
              <a:t>Use:</a:t>
            </a:r>
          </a:p>
          <a:p>
            <a:pPr marL="914400" lvl="1" indent="-457200">
              <a:lnSpc>
                <a:spcPct val="150000"/>
              </a:lnSpc>
              <a:buFont typeface="Arial" panose="020B0604020202020204" pitchFamily="34" charset="0"/>
              <a:buChar char="•"/>
            </a:pPr>
            <a:r>
              <a:rPr lang="en-US" sz="2800" dirty="0">
                <a:latin typeface="Calibir"/>
              </a:rPr>
              <a:t>accuracy </a:t>
            </a:r>
          </a:p>
          <a:p>
            <a:pPr marL="914400" lvl="1" indent="-457200">
              <a:lnSpc>
                <a:spcPct val="150000"/>
              </a:lnSpc>
              <a:buFont typeface="Arial" panose="020B0604020202020204" pitchFamily="34" charset="0"/>
              <a:buChar char="•"/>
            </a:pPr>
            <a:r>
              <a:rPr lang="en-US" sz="2800" dirty="0">
                <a:latin typeface="Calibir"/>
              </a:rPr>
              <a:t>precision </a:t>
            </a:r>
          </a:p>
          <a:p>
            <a:pPr marL="914400" lvl="1" indent="-457200">
              <a:lnSpc>
                <a:spcPct val="150000"/>
              </a:lnSpc>
              <a:buFont typeface="Arial" panose="020B0604020202020204" pitchFamily="34" charset="0"/>
              <a:buChar char="•"/>
            </a:pPr>
            <a:r>
              <a:rPr lang="en-US" sz="2800" dirty="0">
                <a:latin typeface="Calibir"/>
              </a:rPr>
              <a:t>recall </a:t>
            </a:r>
          </a:p>
          <a:p>
            <a:pPr marL="914400" lvl="1" indent="-457200">
              <a:lnSpc>
                <a:spcPct val="150000"/>
              </a:lnSpc>
              <a:buFont typeface="Arial" panose="020B0604020202020204" pitchFamily="34" charset="0"/>
              <a:buChar char="•"/>
            </a:pPr>
            <a:r>
              <a:rPr lang="en-US" sz="2800" dirty="0">
                <a:latin typeface="Calibir"/>
              </a:rPr>
              <a:t>F1-score </a:t>
            </a:r>
          </a:p>
          <a:p>
            <a:pPr marL="914400" lvl="1" indent="-457200">
              <a:lnSpc>
                <a:spcPct val="150000"/>
              </a:lnSpc>
              <a:buFont typeface="Arial" panose="020B0604020202020204" pitchFamily="34" charset="0"/>
              <a:buChar char="•"/>
            </a:pPr>
            <a:r>
              <a:rPr lang="en-US" sz="2800" dirty="0">
                <a:latin typeface="Calibir"/>
              </a:rPr>
              <a:t>confusion matrix </a:t>
            </a:r>
          </a:p>
          <a:p>
            <a:pPr marL="914400" lvl="1" indent="-457200">
              <a:lnSpc>
                <a:spcPct val="150000"/>
              </a:lnSpc>
              <a:buFont typeface="Arial" panose="020B0604020202020204" pitchFamily="34" charset="0"/>
              <a:buChar char="•"/>
            </a:pPr>
            <a:r>
              <a:rPr lang="en-US" sz="2800" dirty="0">
                <a:latin typeface="Calibir"/>
              </a:rPr>
              <a:t>ROC-AUC if appropriate</a:t>
            </a:r>
          </a:p>
        </p:txBody>
      </p:sp>
      <p:sp>
        <p:nvSpPr>
          <p:cNvPr id="7" name="object 2">
            <a:extLst>
              <a:ext uri="{FF2B5EF4-FFF2-40B4-BE49-F238E27FC236}">
                <a16:creationId xmlns:a16="http://schemas.microsoft.com/office/drawing/2014/main" id="{5BF2ECA3-F874-36EB-F14D-24D4EA6822C7}"/>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29950697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DB2AB-20AE-AE19-897D-AA178F82A58B}"/>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9953B367-E580-BFF2-9B04-AE129A162DB1}"/>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3224C0C1-3B59-D243-403C-A10E2F0E3EFF}"/>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4D38BA04-438B-8B9D-3218-316247AE316F}"/>
              </a:ext>
            </a:extLst>
          </p:cNvPr>
          <p:cNvSpPr txBox="1"/>
          <p:nvPr/>
        </p:nvSpPr>
        <p:spPr>
          <a:xfrm>
            <a:off x="1" y="509944"/>
            <a:ext cx="10913806" cy="6488828"/>
          </a:xfrm>
          <a:prstGeom prst="rect">
            <a:avLst/>
          </a:prstGeom>
          <a:noFill/>
        </p:spPr>
        <p:txBody>
          <a:bodyPr wrap="square">
            <a:spAutoFit/>
          </a:bodyPr>
          <a:lstStyle/>
          <a:p>
            <a:pPr>
              <a:lnSpc>
                <a:spcPct val="150000"/>
              </a:lnSpc>
            </a:pPr>
            <a:r>
              <a:rPr lang="en-US" sz="2800" b="1" dirty="0">
                <a:latin typeface="Calibir"/>
              </a:rPr>
              <a:t>For regression</a:t>
            </a:r>
          </a:p>
          <a:p>
            <a:pPr>
              <a:lnSpc>
                <a:spcPct val="150000"/>
              </a:lnSpc>
            </a:pPr>
            <a:r>
              <a:rPr lang="en-US" sz="2800" dirty="0">
                <a:latin typeface="Calibir"/>
              </a:rPr>
              <a:t>Use:</a:t>
            </a:r>
          </a:p>
          <a:p>
            <a:pPr marL="914400" lvl="1" indent="-457200">
              <a:lnSpc>
                <a:spcPct val="150000"/>
              </a:lnSpc>
              <a:buFont typeface="Arial" panose="020B0604020202020204" pitchFamily="34" charset="0"/>
              <a:buChar char="•"/>
            </a:pPr>
            <a:r>
              <a:rPr lang="en-US" sz="2800" dirty="0">
                <a:latin typeface="Calibir"/>
              </a:rPr>
              <a:t>R² </a:t>
            </a:r>
          </a:p>
          <a:p>
            <a:pPr marL="914400" lvl="1" indent="-457200">
              <a:lnSpc>
                <a:spcPct val="150000"/>
              </a:lnSpc>
              <a:buFont typeface="Arial" panose="020B0604020202020204" pitchFamily="34" charset="0"/>
              <a:buChar char="•"/>
            </a:pPr>
            <a:r>
              <a:rPr lang="en-US" sz="2800" dirty="0">
                <a:latin typeface="Calibir"/>
              </a:rPr>
              <a:t>RMSE </a:t>
            </a:r>
          </a:p>
          <a:p>
            <a:pPr marL="914400" lvl="1" indent="-457200">
              <a:lnSpc>
                <a:spcPct val="150000"/>
              </a:lnSpc>
              <a:buFont typeface="Arial" panose="020B0604020202020204" pitchFamily="34" charset="0"/>
              <a:buChar char="•"/>
            </a:pPr>
            <a:r>
              <a:rPr lang="en-US" sz="2800" dirty="0">
                <a:latin typeface="Calibir"/>
              </a:rPr>
              <a:t>MAE </a:t>
            </a:r>
          </a:p>
          <a:p>
            <a:pPr marL="914400" lvl="1" indent="-457200">
              <a:lnSpc>
                <a:spcPct val="150000"/>
              </a:lnSpc>
              <a:buFont typeface="Arial" panose="020B0604020202020204" pitchFamily="34" charset="0"/>
              <a:buChar char="•"/>
            </a:pPr>
            <a:r>
              <a:rPr lang="en-US" sz="2800" dirty="0">
                <a:latin typeface="Calibir"/>
              </a:rPr>
              <a:t>MSE </a:t>
            </a:r>
          </a:p>
          <a:p>
            <a:pPr>
              <a:lnSpc>
                <a:spcPct val="150000"/>
              </a:lnSpc>
            </a:pPr>
            <a:r>
              <a:rPr lang="en-US" sz="2800" dirty="0">
                <a:latin typeface="Calibir"/>
              </a:rPr>
              <a:t>Important</a:t>
            </a:r>
          </a:p>
          <a:p>
            <a:pPr>
              <a:lnSpc>
                <a:spcPct val="150000"/>
              </a:lnSpc>
            </a:pPr>
            <a:r>
              <a:rPr lang="en-US" sz="2800" dirty="0">
                <a:latin typeface="Calibir"/>
              </a:rPr>
              <a:t>Do not rely on only one metric.</a:t>
            </a:r>
          </a:p>
          <a:p>
            <a:pPr>
              <a:lnSpc>
                <a:spcPct val="150000"/>
              </a:lnSpc>
            </a:pPr>
            <a:r>
              <a:rPr lang="en-US" sz="2800" dirty="0">
                <a:latin typeface="Calibir"/>
              </a:rPr>
              <a:t>For example, in churn or disease prediction, accuracy alone is not enough, especially if the classes are imbalanced.</a:t>
            </a:r>
          </a:p>
        </p:txBody>
      </p:sp>
      <p:sp>
        <p:nvSpPr>
          <p:cNvPr id="7" name="object 2">
            <a:extLst>
              <a:ext uri="{FF2B5EF4-FFF2-40B4-BE49-F238E27FC236}">
                <a16:creationId xmlns:a16="http://schemas.microsoft.com/office/drawing/2014/main" id="{FB94EA9A-B96E-D93D-272D-37690590EF23}"/>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10016466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0E586-5A25-1AA5-4299-A9FABEC38DF6}"/>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6AA0EC05-BC21-B833-2E36-C878ECC9F694}"/>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FFAFEF66-3D1C-A816-FCBE-C54BA2BEE5E1}"/>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1BAEE051-8193-F29E-15E6-8335930819EC}"/>
              </a:ext>
            </a:extLst>
          </p:cNvPr>
          <p:cNvSpPr txBox="1"/>
          <p:nvPr/>
        </p:nvSpPr>
        <p:spPr>
          <a:xfrm>
            <a:off x="1" y="509944"/>
            <a:ext cx="10913806" cy="3257174"/>
          </a:xfrm>
          <a:prstGeom prst="rect">
            <a:avLst/>
          </a:prstGeom>
          <a:noFill/>
        </p:spPr>
        <p:txBody>
          <a:bodyPr wrap="square">
            <a:spAutoFit/>
          </a:bodyPr>
          <a:lstStyle/>
          <a:p>
            <a:pPr>
              <a:lnSpc>
                <a:spcPct val="150000"/>
              </a:lnSpc>
            </a:pPr>
            <a:r>
              <a:rPr lang="en-US" sz="2800" b="1" dirty="0">
                <a:latin typeface="Calibir"/>
              </a:rPr>
              <a:t>Example discussion</a:t>
            </a:r>
          </a:p>
          <a:p>
            <a:pPr>
              <a:lnSpc>
                <a:spcPct val="150000"/>
              </a:lnSpc>
            </a:pPr>
            <a:r>
              <a:rPr lang="en-US" sz="2800" dirty="0">
                <a:latin typeface="Calibir"/>
              </a:rPr>
              <a:t>“Although Model B achieved slightly higher accuracy, Model A had better recall. Since missing a high-risk employee is more costly for HR decision-making, recall was considered more important.”</a:t>
            </a:r>
          </a:p>
          <a:p>
            <a:pPr>
              <a:lnSpc>
                <a:spcPct val="150000"/>
              </a:lnSpc>
            </a:pPr>
            <a:r>
              <a:rPr lang="en-US" sz="2800" dirty="0">
                <a:latin typeface="Calibir"/>
              </a:rPr>
              <a:t>That kind of reasoning is strong.</a:t>
            </a:r>
          </a:p>
        </p:txBody>
      </p:sp>
      <p:sp>
        <p:nvSpPr>
          <p:cNvPr id="7" name="object 2">
            <a:extLst>
              <a:ext uri="{FF2B5EF4-FFF2-40B4-BE49-F238E27FC236}">
                <a16:creationId xmlns:a16="http://schemas.microsoft.com/office/drawing/2014/main" id="{C23F408E-38C1-E830-3624-E9606A72F3C3}"/>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2131105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A30E0-3559-5B15-1ABE-110477B5EC7B}"/>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8BCBDF95-7D60-0CFD-E1AD-4A750AA84734}"/>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7680F288-CC23-AF41-8230-EFB7A3EADA85}"/>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3C5296B8-0E4E-1C64-3808-9533EEAA8A53}"/>
              </a:ext>
            </a:extLst>
          </p:cNvPr>
          <p:cNvSpPr txBox="1"/>
          <p:nvPr/>
        </p:nvSpPr>
        <p:spPr>
          <a:xfrm>
            <a:off x="1" y="509944"/>
            <a:ext cx="10913806" cy="1964512"/>
          </a:xfrm>
          <a:prstGeom prst="rect">
            <a:avLst/>
          </a:prstGeom>
          <a:noFill/>
        </p:spPr>
        <p:txBody>
          <a:bodyPr wrap="square">
            <a:spAutoFit/>
          </a:bodyPr>
          <a:lstStyle/>
          <a:p>
            <a:pPr>
              <a:lnSpc>
                <a:spcPct val="150000"/>
              </a:lnSpc>
            </a:pPr>
            <a:r>
              <a:rPr lang="en-US" sz="2800" b="1" dirty="0">
                <a:latin typeface="Calibir"/>
              </a:rPr>
              <a:t>Step 9: Create a clear comparison table</a:t>
            </a:r>
          </a:p>
          <a:p>
            <a:pPr>
              <a:lnSpc>
                <a:spcPct val="150000"/>
              </a:lnSpc>
            </a:pPr>
            <a:r>
              <a:rPr lang="en-US" sz="2800" dirty="0">
                <a:latin typeface="Calibir"/>
              </a:rPr>
              <a:t>This is required.</a:t>
            </a:r>
          </a:p>
          <a:p>
            <a:pPr>
              <a:lnSpc>
                <a:spcPct val="150000"/>
              </a:lnSpc>
            </a:pPr>
            <a:r>
              <a:rPr lang="en-US" sz="2800" b="1" dirty="0">
                <a:latin typeface="Calibir"/>
              </a:rPr>
              <a:t>Example classification comparison table</a:t>
            </a:r>
          </a:p>
        </p:txBody>
      </p:sp>
      <p:sp>
        <p:nvSpPr>
          <p:cNvPr id="7" name="object 2">
            <a:extLst>
              <a:ext uri="{FF2B5EF4-FFF2-40B4-BE49-F238E27FC236}">
                <a16:creationId xmlns:a16="http://schemas.microsoft.com/office/drawing/2014/main" id="{CA2273EB-97D1-8FA3-3834-7E7AD6F46918}"/>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graphicFrame>
        <p:nvGraphicFramePr>
          <p:cNvPr id="2" name="Table 1">
            <a:extLst>
              <a:ext uri="{FF2B5EF4-FFF2-40B4-BE49-F238E27FC236}">
                <a16:creationId xmlns:a16="http://schemas.microsoft.com/office/drawing/2014/main" id="{5D230CBD-341C-4EF2-72B9-8CCCEA630B59}"/>
              </a:ext>
            </a:extLst>
          </p:cNvPr>
          <p:cNvGraphicFramePr>
            <a:graphicFrameLocks noGrp="1"/>
          </p:cNvGraphicFramePr>
          <p:nvPr>
            <p:extLst>
              <p:ext uri="{D42A27DB-BD31-4B8C-83A1-F6EECF244321}">
                <p14:modId xmlns:p14="http://schemas.microsoft.com/office/powerpoint/2010/main" val="2331508118"/>
              </p:ext>
            </p:extLst>
          </p:nvPr>
        </p:nvGraphicFramePr>
        <p:xfrm>
          <a:off x="838200" y="3103385"/>
          <a:ext cx="10515600" cy="3627120"/>
        </p:xfrm>
        <a:graphic>
          <a:graphicData uri="http://schemas.openxmlformats.org/drawingml/2006/table">
            <a:tbl>
              <a:tblPr>
                <a:tableStyleId>{BDBED569-4797-4DF1-A0F4-6AAB3CD982D8}</a:tableStyleId>
              </a:tblPr>
              <a:tblGrid>
                <a:gridCol w="3505200">
                  <a:extLst>
                    <a:ext uri="{9D8B030D-6E8A-4147-A177-3AD203B41FA5}">
                      <a16:colId xmlns:a16="http://schemas.microsoft.com/office/drawing/2014/main" val="2638395743"/>
                    </a:ext>
                  </a:extLst>
                </a:gridCol>
                <a:gridCol w="3505200">
                  <a:extLst>
                    <a:ext uri="{9D8B030D-6E8A-4147-A177-3AD203B41FA5}">
                      <a16:colId xmlns:a16="http://schemas.microsoft.com/office/drawing/2014/main" val="1340192771"/>
                    </a:ext>
                  </a:extLst>
                </a:gridCol>
                <a:gridCol w="3505200">
                  <a:extLst>
                    <a:ext uri="{9D8B030D-6E8A-4147-A177-3AD203B41FA5}">
                      <a16:colId xmlns:a16="http://schemas.microsoft.com/office/drawing/2014/main" val="3668840156"/>
                    </a:ext>
                  </a:extLst>
                </a:gridCol>
              </a:tblGrid>
              <a:tr h="0">
                <a:tc>
                  <a:txBody>
                    <a:bodyPr/>
                    <a:lstStyle/>
                    <a:p>
                      <a:pPr>
                        <a:buNone/>
                      </a:pPr>
                      <a:r>
                        <a:rPr lang="en-US" sz="2800" dirty="0">
                          <a:latin typeface="Calibir"/>
                        </a:rPr>
                        <a:t>Metric</a:t>
                      </a:r>
                    </a:p>
                  </a:txBody>
                  <a:tcPr anchor="ctr">
                    <a:solidFill>
                      <a:schemeClr val="accent5">
                        <a:lumMod val="20000"/>
                        <a:lumOff val="80000"/>
                      </a:schemeClr>
                    </a:solidFill>
                  </a:tcPr>
                </a:tc>
                <a:tc>
                  <a:txBody>
                    <a:bodyPr/>
                    <a:lstStyle/>
                    <a:p>
                      <a:pPr>
                        <a:buNone/>
                      </a:pPr>
                      <a:r>
                        <a:rPr lang="en-US" sz="2800" dirty="0">
                          <a:latin typeface="Calibir"/>
                        </a:rPr>
                        <a:t>Logistic Regression</a:t>
                      </a:r>
                    </a:p>
                  </a:txBody>
                  <a:tcPr anchor="ctr">
                    <a:solidFill>
                      <a:schemeClr val="accent5">
                        <a:lumMod val="20000"/>
                        <a:lumOff val="80000"/>
                      </a:schemeClr>
                    </a:solidFill>
                  </a:tcPr>
                </a:tc>
                <a:tc>
                  <a:txBody>
                    <a:bodyPr/>
                    <a:lstStyle/>
                    <a:p>
                      <a:pPr>
                        <a:buNone/>
                      </a:pPr>
                      <a:r>
                        <a:rPr lang="en-US" sz="2800" dirty="0">
                          <a:latin typeface="Calibir"/>
                        </a:rPr>
                        <a:t>Random Forest</a:t>
                      </a:r>
                    </a:p>
                  </a:txBody>
                  <a:tcPr anchor="ctr">
                    <a:solidFill>
                      <a:schemeClr val="accent5">
                        <a:lumMod val="20000"/>
                        <a:lumOff val="80000"/>
                      </a:schemeClr>
                    </a:solidFill>
                  </a:tcPr>
                </a:tc>
                <a:extLst>
                  <a:ext uri="{0D108BD9-81ED-4DB2-BD59-A6C34878D82A}">
                    <a16:rowId xmlns:a16="http://schemas.microsoft.com/office/drawing/2014/main" val="2651177502"/>
                  </a:ext>
                </a:extLst>
              </a:tr>
              <a:tr h="0">
                <a:tc>
                  <a:txBody>
                    <a:bodyPr/>
                    <a:lstStyle/>
                    <a:p>
                      <a:pPr>
                        <a:buNone/>
                      </a:pPr>
                      <a:r>
                        <a:rPr lang="en-US" sz="2800">
                          <a:latin typeface="Calibir"/>
                        </a:rPr>
                        <a:t>Accuracy</a:t>
                      </a:r>
                    </a:p>
                  </a:txBody>
                  <a:tcPr anchor="ctr"/>
                </a:tc>
                <a:tc>
                  <a:txBody>
                    <a:bodyPr/>
                    <a:lstStyle/>
                    <a:p>
                      <a:pPr>
                        <a:buNone/>
                      </a:pPr>
                      <a:r>
                        <a:rPr lang="en-US" sz="2800">
                          <a:latin typeface="Calibir"/>
                        </a:rPr>
                        <a:t>0.81</a:t>
                      </a:r>
                    </a:p>
                  </a:txBody>
                  <a:tcPr anchor="ctr"/>
                </a:tc>
                <a:tc>
                  <a:txBody>
                    <a:bodyPr/>
                    <a:lstStyle/>
                    <a:p>
                      <a:pPr>
                        <a:buNone/>
                      </a:pPr>
                      <a:r>
                        <a:rPr lang="en-US" sz="2800">
                          <a:latin typeface="Calibir"/>
                        </a:rPr>
                        <a:t>0.85</a:t>
                      </a:r>
                    </a:p>
                  </a:txBody>
                  <a:tcPr anchor="ctr"/>
                </a:tc>
                <a:extLst>
                  <a:ext uri="{0D108BD9-81ED-4DB2-BD59-A6C34878D82A}">
                    <a16:rowId xmlns:a16="http://schemas.microsoft.com/office/drawing/2014/main" val="3616513876"/>
                  </a:ext>
                </a:extLst>
              </a:tr>
              <a:tr h="0">
                <a:tc>
                  <a:txBody>
                    <a:bodyPr/>
                    <a:lstStyle/>
                    <a:p>
                      <a:pPr>
                        <a:buNone/>
                      </a:pPr>
                      <a:r>
                        <a:rPr lang="en-US" sz="2800">
                          <a:latin typeface="Calibir"/>
                        </a:rPr>
                        <a:t>Precision</a:t>
                      </a:r>
                    </a:p>
                  </a:txBody>
                  <a:tcPr anchor="ctr"/>
                </a:tc>
                <a:tc>
                  <a:txBody>
                    <a:bodyPr/>
                    <a:lstStyle/>
                    <a:p>
                      <a:pPr>
                        <a:buNone/>
                      </a:pPr>
                      <a:r>
                        <a:rPr lang="en-US" sz="2800">
                          <a:latin typeface="Calibir"/>
                        </a:rPr>
                        <a:t>0.73</a:t>
                      </a:r>
                    </a:p>
                  </a:txBody>
                  <a:tcPr anchor="ctr"/>
                </a:tc>
                <a:tc>
                  <a:txBody>
                    <a:bodyPr/>
                    <a:lstStyle/>
                    <a:p>
                      <a:pPr>
                        <a:buNone/>
                      </a:pPr>
                      <a:r>
                        <a:rPr lang="en-US" sz="2800">
                          <a:latin typeface="Calibir"/>
                        </a:rPr>
                        <a:t>0.79</a:t>
                      </a:r>
                    </a:p>
                  </a:txBody>
                  <a:tcPr anchor="ctr"/>
                </a:tc>
                <a:extLst>
                  <a:ext uri="{0D108BD9-81ED-4DB2-BD59-A6C34878D82A}">
                    <a16:rowId xmlns:a16="http://schemas.microsoft.com/office/drawing/2014/main" val="2717697581"/>
                  </a:ext>
                </a:extLst>
              </a:tr>
              <a:tr h="0">
                <a:tc>
                  <a:txBody>
                    <a:bodyPr/>
                    <a:lstStyle/>
                    <a:p>
                      <a:pPr>
                        <a:buNone/>
                      </a:pPr>
                      <a:r>
                        <a:rPr lang="en-US" sz="2800">
                          <a:latin typeface="Calibir"/>
                        </a:rPr>
                        <a:t>Recall</a:t>
                      </a:r>
                    </a:p>
                  </a:txBody>
                  <a:tcPr anchor="ctr"/>
                </a:tc>
                <a:tc>
                  <a:txBody>
                    <a:bodyPr/>
                    <a:lstStyle/>
                    <a:p>
                      <a:pPr>
                        <a:buNone/>
                      </a:pPr>
                      <a:r>
                        <a:rPr lang="en-US" sz="2800">
                          <a:latin typeface="Calibir"/>
                        </a:rPr>
                        <a:t>0.68</a:t>
                      </a:r>
                    </a:p>
                  </a:txBody>
                  <a:tcPr anchor="ctr"/>
                </a:tc>
                <a:tc>
                  <a:txBody>
                    <a:bodyPr/>
                    <a:lstStyle/>
                    <a:p>
                      <a:pPr>
                        <a:buNone/>
                      </a:pPr>
                      <a:r>
                        <a:rPr lang="en-US" sz="2800">
                          <a:latin typeface="Calibir"/>
                        </a:rPr>
                        <a:t>0.74</a:t>
                      </a:r>
                    </a:p>
                  </a:txBody>
                  <a:tcPr anchor="ctr"/>
                </a:tc>
                <a:extLst>
                  <a:ext uri="{0D108BD9-81ED-4DB2-BD59-A6C34878D82A}">
                    <a16:rowId xmlns:a16="http://schemas.microsoft.com/office/drawing/2014/main" val="2135976409"/>
                  </a:ext>
                </a:extLst>
              </a:tr>
              <a:tr h="0">
                <a:tc>
                  <a:txBody>
                    <a:bodyPr/>
                    <a:lstStyle/>
                    <a:p>
                      <a:pPr>
                        <a:buNone/>
                      </a:pPr>
                      <a:r>
                        <a:rPr lang="en-US" sz="2800">
                          <a:latin typeface="Calibir"/>
                        </a:rPr>
                        <a:t>F1-score</a:t>
                      </a:r>
                    </a:p>
                  </a:txBody>
                  <a:tcPr anchor="ctr"/>
                </a:tc>
                <a:tc>
                  <a:txBody>
                    <a:bodyPr/>
                    <a:lstStyle/>
                    <a:p>
                      <a:pPr>
                        <a:buNone/>
                      </a:pPr>
                      <a:r>
                        <a:rPr lang="en-US" sz="2800">
                          <a:latin typeface="Calibir"/>
                        </a:rPr>
                        <a:t>0.70</a:t>
                      </a:r>
                    </a:p>
                  </a:txBody>
                  <a:tcPr anchor="ctr"/>
                </a:tc>
                <a:tc>
                  <a:txBody>
                    <a:bodyPr/>
                    <a:lstStyle/>
                    <a:p>
                      <a:pPr>
                        <a:buNone/>
                      </a:pPr>
                      <a:r>
                        <a:rPr lang="en-US" sz="2800">
                          <a:latin typeface="Calibir"/>
                        </a:rPr>
                        <a:t>0.76</a:t>
                      </a:r>
                    </a:p>
                  </a:txBody>
                  <a:tcPr anchor="ctr"/>
                </a:tc>
                <a:extLst>
                  <a:ext uri="{0D108BD9-81ED-4DB2-BD59-A6C34878D82A}">
                    <a16:rowId xmlns:a16="http://schemas.microsoft.com/office/drawing/2014/main" val="2614180860"/>
                  </a:ext>
                </a:extLst>
              </a:tr>
              <a:tr h="0">
                <a:tc>
                  <a:txBody>
                    <a:bodyPr/>
                    <a:lstStyle/>
                    <a:p>
                      <a:pPr>
                        <a:buNone/>
                      </a:pPr>
                      <a:r>
                        <a:rPr lang="en-US" sz="2800">
                          <a:latin typeface="Calibir"/>
                        </a:rPr>
                        <a:t>Overfitting risk</a:t>
                      </a:r>
                    </a:p>
                  </a:txBody>
                  <a:tcPr anchor="ctr"/>
                </a:tc>
                <a:tc>
                  <a:txBody>
                    <a:bodyPr/>
                    <a:lstStyle/>
                    <a:p>
                      <a:pPr>
                        <a:buNone/>
                      </a:pPr>
                      <a:r>
                        <a:rPr lang="en-US" sz="2800">
                          <a:latin typeface="Calibir"/>
                        </a:rPr>
                        <a:t>Low</a:t>
                      </a:r>
                    </a:p>
                  </a:txBody>
                  <a:tcPr anchor="ctr"/>
                </a:tc>
                <a:tc>
                  <a:txBody>
                    <a:bodyPr/>
                    <a:lstStyle/>
                    <a:p>
                      <a:pPr>
                        <a:buNone/>
                      </a:pPr>
                      <a:r>
                        <a:rPr lang="en-US" sz="2800">
                          <a:latin typeface="Calibir"/>
                        </a:rPr>
                        <a:t>Medium</a:t>
                      </a:r>
                    </a:p>
                  </a:txBody>
                  <a:tcPr anchor="ctr"/>
                </a:tc>
                <a:extLst>
                  <a:ext uri="{0D108BD9-81ED-4DB2-BD59-A6C34878D82A}">
                    <a16:rowId xmlns:a16="http://schemas.microsoft.com/office/drawing/2014/main" val="2353430466"/>
                  </a:ext>
                </a:extLst>
              </a:tr>
              <a:tr h="0">
                <a:tc>
                  <a:txBody>
                    <a:bodyPr/>
                    <a:lstStyle/>
                    <a:p>
                      <a:pPr>
                        <a:buNone/>
                      </a:pPr>
                      <a:r>
                        <a:rPr lang="en-US" sz="2800">
                          <a:latin typeface="Calibir"/>
                        </a:rPr>
                        <a:t>Interpretability</a:t>
                      </a:r>
                    </a:p>
                  </a:txBody>
                  <a:tcPr anchor="ctr"/>
                </a:tc>
                <a:tc>
                  <a:txBody>
                    <a:bodyPr/>
                    <a:lstStyle/>
                    <a:p>
                      <a:pPr>
                        <a:buNone/>
                      </a:pPr>
                      <a:r>
                        <a:rPr lang="en-US" sz="2800">
                          <a:latin typeface="Calibir"/>
                        </a:rPr>
                        <a:t>High</a:t>
                      </a:r>
                    </a:p>
                  </a:txBody>
                  <a:tcPr anchor="ctr"/>
                </a:tc>
                <a:tc>
                  <a:txBody>
                    <a:bodyPr/>
                    <a:lstStyle/>
                    <a:p>
                      <a:pPr>
                        <a:buNone/>
                      </a:pPr>
                      <a:r>
                        <a:rPr lang="en-US" sz="2800" dirty="0">
                          <a:latin typeface="Calibir"/>
                        </a:rPr>
                        <a:t>Medium</a:t>
                      </a:r>
                    </a:p>
                  </a:txBody>
                  <a:tcPr anchor="ctr"/>
                </a:tc>
                <a:extLst>
                  <a:ext uri="{0D108BD9-81ED-4DB2-BD59-A6C34878D82A}">
                    <a16:rowId xmlns:a16="http://schemas.microsoft.com/office/drawing/2014/main" val="2456794033"/>
                  </a:ext>
                </a:extLst>
              </a:tr>
            </a:tbl>
          </a:graphicData>
        </a:graphic>
      </p:graphicFrame>
    </p:spTree>
    <p:extLst>
      <p:ext uri="{BB962C8B-B14F-4D97-AF65-F5344CB8AC3E}">
        <p14:creationId xmlns:p14="http://schemas.microsoft.com/office/powerpoint/2010/main" val="17852464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61AA30-2309-C06A-9AF1-94583F33D6F5}"/>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652AB328-411F-F2A1-C736-A2FB768B00E4}"/>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C2CF0D0F-656A-0093-65F8-863D1BA08ED1}"/>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76F95225-C25C-7A40-8E9C-C6A501633DAF}"/>
              </a:ext>
            </a:extLst>
          </p:cNvPr>
          <p:cNvSpPr txBox="1"/>
          <p:nvPr/>
        </p:nvSpPr>
        <p:spPr>
          <a:xfrm>
            <a:off x="1" y="509944"/>
            <a:ext cx="10913806" cy="675441"/>
          </a:xfrm>
          <a:prstGeom prst="rect">
            <a:avLst/>
          </a:prstGeom>
          <a:noFill/>
        </p:spPr>
        <p:txBody>
          <a:bodyPr wrap="square">
            <a:spAutoFit/>
          </a:bodyPr>
          <a:lstStyle/>
          <a:p>
            <a:pPr>
              <a:lnSpc>
                <a:spcPct val="150000"/>
              </a:lnSpc>
            </a:pPr>
            <a:r>
              <a:rPr lang="en-US" sz="2800" dirty="0">
                <a:latin typeface="Calibir"/>
              </a:rPr>
              <a:t>Example regression comparison table</a:t>
            </a:r>
            <a:endParaRPr lang="en-US" sz="2800" b="1" dirty="0">
              <a:latin typeface="Calibir"/>
            </a:endParaRPr>
          </a:p>
        </p:txBody>
      </p:sp>
      <p:sp>
        <p:nvSpPr>
          <p:cNvPr id="7" name="object 2">
            <a:extLst>
              <a:ext uri="{FF2B5EF4-FFF2-40B4-BE49-F238E27FC236}">
                <a16:creationId xmlns:a16="http://schemas.microsoft.com/office/drawing/2014/main" id="{A4B82C72-6ADA-8FFE-4399-74D521975235}"/>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graphicFrame>
        <p:nvGraphicFramePr>
          <p:cNvPr id="3" name="Table 2">
            <a:extLst>
              <a:ext uri="{FF2B5EF4-FFF2-40B4-BE49-F238E27FC236}">
                <a16:creationId xmlns:a16="http://schemas.microsoft.com/office/drawing/2014/main" id="{E1EB2D61-5862-B2BB-7A8C-67EF019AC56E}"/>
              </a:ext>
            </a:extLst>
          </p:cNvPr>
          <p:cNvGraphicFramePr>
            <a:graphicFrameLocks noGrp="1"/>
          </p:cNvGraphicFramePr>
          <p:nvPr>
            <p:extLst>
              <p:ext uri="{D42A27DB-BD31-4B8C-83A1-F6EECF244321}">
                <p14:modId xmlns:p14="http://schemas.microsoft.com/office/powerpoint/2010/main" val="3843642393"/>
              </p:ext>
            </p:extLst>
          </p:nvPr>
        </p:nvGraphicFramePr>
        <p:xfrm>
          <a:off x="838200" y="2018105"/>
          <a:ext cx="10515600" cy="3535680"/>
        </p:xfrm>
        <a:graphic>
          <a:graphicData uri="http://schemas.openxmlformats.org/drawingml/2006/table">
            <a:tbl>
              <a:tblPr>
                <a:tableStyleId>{BDBED569-4797-4DF1-A0F4-6AAB3CD982D8}</a:tableStyleId>
              </a:tblPr>
              <a:tblGrid>
                <a:gridCol w="3505200">
                  <a:extLst>
                    <a:ext uri="{9D8B030D-6E8A-4147-A177-3AD203B41FA5}">
                      <a16:colId xmlns:a16="http://schemas.microsoft.com/office/drawing/2014/main" val="689764068"/>
                    </a:ext>
                  </a:extLst>
                </a:gridCol>
                <a:gridCol w="3505200">
                  <a:extLst>
                    <a:ext uri="{9D8B030D-6E8A-4147-A177-3AD203B41FA5}">
                      <a16:colId xmlns:a16="http://schemas.microsoft.com/office/drawing/2014/main" val="2221105562"/>
                    </a:ext>
                  </a:extLst>
                </a:gridCol>
                <a:gridCol w="3505200">
                  <a:extLst>
                    <a:ext uri="{9D8B030D-6E8A-4147-A177-3AD203B41FA5}">
                      <a16:colId xmlns:a16="http://schemas.microsoft.com/office/drawing/2014/main" val="1610361430"/>
                    </a:ext>
                  </a:extLst>
                </a:gridCol>
              </a:tblGrid>
              <a:tr h="0">
                <a:tc>
                  <a:txBody>
                    <a:bodyPr/>
                    <a:lstStyle/>
                    <a:p>
                      <a:pPr>
                        <a:buNone/>
                      </a:pPr>
                      <a:r>
                        <a:rPr lang="en-US" sz="2800" dirty="0">
                          <a:latin typeface="Calibir"/>
                        </a:rPr>
                        <a:t>Metric</a:t>
                      </a:r>
                    </a:p>
                  </a:txBody>
                  <a:tcPr anchor="ctr">
                    <a:solidFill>
                      <a:schemeClr val="accent5">
                        <a:lumMod val="20000"/>
                        <a:lumOff val="80000"/>
                      </a:schemeClr>
                    </a:solidFill>
                  </a:tcPr>
                </a:tc>
                <a:tc>
                  <a:txBody>
                    <a:bodyPr/>
                    <a:lstStyle/>
                    <a:p>
                      <a:pPr>
                        <a:buNone/>
                      </a:pPr>
                      <a:r>
                        <a:rPr lang="en-US" sz="2800" dirty="0">
                          <a:latin typeface="Calibir"/>
                        </a:rPr>
                        <a:t>Linear Regression</a:t>
                      </a:r>
                    </a:p>
                  </a:txBody>
                  <a:tcPr anchor="ctr">
                    <a:solidFill>
                      <a:schemeClr val="accent5">
                        <a:lumMod val="20000"/>
                        <a:lumOff val="80000"/>
                      </a:schemeClr>
                    </a:solidFill>
                  </a:tcPr>
                </a:tc>
                <a:tc>
                  <a:txBody>
                    <a:bodyPr/>
                    <a:lstStyle/>
                    <a:p>
                      <a:pPr>
                        <a:buNone/>
                      </a:pPr>
                      <a:r>
                        <a:rPr lang="en-US" sz="2800" dirty="0">
                          <a:latin typeface="Calibir"/>
                        </a:rPr>
                        <a:t>Random Forest Regressor</a:t>
                      </a:r>
                    </a:p>
                  </a:txBody>
                  <a:tcPr anchor="ctr">
                    <a:solidFill>
                      <a:schemeClr val="accent5">
                        <a:lumMod val="20000"/>
                        <a:lumOff val="80000"/>
                      </a:schemeClr>
                    </a:solidFill>
                  </a:tcPr>
                </a:tc>
                <a:extLst>
                  <a:ext uri="{0D108BD9-81ED-4DB2-BD59-A6C34878D82A}">
                    <a16:rowId xmlns:a16="http://schemas.microsoft.com/office/drawing/2014/main" val="3932130701"/>
                  </a:ext>
                </a:extLst>
              </a:tr>
              <a:tr h="0">
                <a:tc>
                  <a:txBody>
                    <a:bodyPr/>
                    <a:lstStyle/>
                    <a:p>
                      <a:pPr>
                        <a:buNone/>
                      </a:pPr>
                      <a:r>
                        <a:rPr lang="en-US" sz="2800">
                          <a:latin typeface="Calibir"/>
                        </a:rPr>
                        <a:t>R²</a:t>
                      </a:r>
                    </a:p>
                  </a:txBody>
                  <a:tcPr anchor="ctr"/>
                </a:tc>
                <a:tc>
                  <a:txBody>
                    <a:bodyPr/>
                    <a:lstStyle/>
                    <a:p>
                      <a:pPr>
                        <a:buNone/>
                      </a:pPr>
                      <a:r>
                        <a:rPr lang="en-US" sz="2800">
                          <a:latin typeface="Calibir"/>
                        </a:rPr>
                        <a:t>0.71</a:t>
                      </a:r>
                    </a:p>
                  </a:txBody>
                  <a:tcPr anchor="ctr"/>
                </a:tc>
                <a:tc>
                  <a:txBody>
                    <a:bodyPr/>
                    <a:lstStyle/>
                    <a:p>
                      <a:pPr>
                        <a:buNone/>
                      </a:pPr>
                      <a:r>
                        <a:rPr lang="en-US" sz="2800">
                          <a:latin typeface="Calibir"/>
                        </a:rPr>
                        <a:t>0.84</a:t>
                      </a:r>
                    </a:p>
                  </a:txBody>
                  <a:tcPr anchor="ctr"/>
                </a:tc>
                <a:extLst>
                  <a:ext uri="{0D108BD9-81ED-4DB2-BD59-A6C34878D82A}">
                    <a16:rowId xmlns:a16="http://schemas.microsoft.com/office/drawing/2014/main" val="2296084139"/>
                  </a:ext>
                </a:extLst>
              </a:tr>
              <a:tr h="0">
                <a:tc>
                  <a:txBody>
                    <a:bodyPr/>
                    <a:lstStyle/>
                    <a:p>
                      <a:pPr>
                        <a:buNone/>
                      </a:pPr>
                      <a:r>
                        <a:rPr lang="en-US" sz="2800">
                          <a:latin typeface="Calibir"/>
                        </a:rPr>
                        <a:t>RMSE</a:t>
                      </a:r>
                    </a:p>
                  </a:txBody>
                  <a:tcPr anchor="ctr"/>
                </a:tc>
                <a:tc>
                  <a:txBody>
                    <a:bodyPr/>
                    <a:lstStyle/>
                    <a:p>
                      <a:pPr>
                        <a:buNone/>
                      </a:pPr>
                      <a:r>
                        <a:rPr lang="en-US" sz="2800">
                          <a:latin typeface="Calibir"/>
                        </a:rPr>
                        <a:t>4200</a:t>
                      </a:r>
                    </a:p>
                  </a:txBody>
                  <a:tcPr anchor="ctr"/>
                </a:tc>
                <a:tc>
                  <a:txBody>
                    <a:bodyPr/>
                    <a:lstStyle/>
                    <a:p>
                      <a:pPr>
                        <a:buNone/>
                      </a:pPr>
                      <a:r>
                        <a:rPr lang="en-US" sz="2800">
                          <a:latin typeface="Calibir"/>
                        </a:rPr>
                        <a:t>2800</a:t>
                      </a:r>
                    </a:p>
                  </a:txBody>
                  <a:tcPr anchor="ctr"/>
                </a:tc>
                <a:extLst>
                  <a:ext uri="{0D108BD9-81ED-4DB2-BD59-A6C34878D82A}">
                    <a16:rowId xmlns:a16="http://schemas.microsoft.com/office/drawing/2014/main" val="2000032796"/>
                  </a:ext>
                </a:extLst>
              </a:tr>
              <a:tr h="0">
                <a:tc>
                  <a:txBody>
                    <a:bodyPr/>
                    <a:lstStyle/>
                    <a:p>
                      <a:pPr>
                        <a:buNone/>
                      </a:pPr>
                      <a:r>
                        <a:rPr lang="en-US" sz="2800">
                          <a:latin typeface="Calibir"/>
                        </a:rPr>
                        <a:t>MAE</a:t>
                      </a:r>
                    </a:p>
                  </a:txBody>
                  <a:tcPr anchor="ctr"/>
                </a:tc>
                <a:tc>
                  <a:txBody>
                    <a:bodyPr/>
                    <a:lstStyle/>
                    <a:p>
                      <a:pPr>
                        <a:buNone/>
                      </a:pPr>
                      <a:r>
                        <a:rPr lang="en-US" sz="2800">
                          <a:latin typeface="Calibir"/>
                        </a:rPr>
                        <a:t>3100</a:t>
                      </a:r>
                    </a:p>
                  </a:txBody>
                  <a:tcPr anchor="ctr"/>
                </a:tc>
                <a:tc>
                  <a:txBody>
                    <a:bodyPr/>
                    <a:lstStyle/>
                    <a:p>
                      <a:pPr>
                        <a:buNone/>
                      </a:pPr>
                      <a:r>
                        <a:rPr lang="en-US" sz="2800">
                          <a:latin typeface="Calibir"/>
                        </a:rPr>
                        <a:t>1900</a:t>
                      </a:r>
                    </a:p>
                  </a:txBody>
                  <a:tcPr anchor="ctr"/>
                </a:tc>
                <a:extLst>
                  <a:ext uri="{0D108BD9-81ED-4DB2-BD59-A6C34878D82A}">
                    <a16:rowId xmlns:a16="http://schemas.microsoft.com/office/drawing/2014/main" val="4041530426"/>
                  </a:ext>
                </a:extLst>
              </a:tr>
              <a:tr h="0">
                <a:tc>
                  <a:txBody>
                    <a:bodyPr/>
                    <a:lstStyle/>
                    <a:p>
                      <a:pPr>
                        <a:buNone/>
                      </a:pPr>
                      <a:r>
                        <a:rPr lang="en-US" sz="2800">
                          <a:latin typeface="Calibir"/>
                        </a:rPr>
                        <a:t>Overfitting risk</a:t>
                      </a:r>
                    </a:p>
                  </a:txBody>
                  <a:tcPr anchor="ctr"/>
                </a:tc>
                <a:tc>
                  <a:txBody>
                    <a:bodyPr/>
                    <a:lstStyle/>
                    <a:p>
                      <a:pPr>
                        <a:buNone/>
                      </a:pPr>
                      <a:r>
                        <a:rPr lang="en-US" sz="2800">
                          <a:latin typeface="Calibir"/>
                        </a:rPr>
                        <a:t>Low</a:t>
                      </a:r>
                    </a:p>
                  </a:txBody>
                  <a:tcPr anchor="ctr"/>
                </a:tc>
                <a:tc>
                  <a:txBody>
                    <a:bodyPr/>
                    <a:lstStyle/>
                    <a:p>
                      <a:pPr>
                        <a:buNone/>
                      </a:pPr>
                      <a:r>
                        <a:rPr lang="en-US" sz="2800">
                          <a:latin typeface="Calibir"/>
                        </a:rPr>
                        <a:t>Medium</a:t>
                      </a:r>
                    </a:p>
                  </a:txBody>
                  <a:tcPr anchor="ctr"/>
                </a:tc>
                <a:extLst>
                  <a:ext uri="{0D108BD9-81ED-4DB2-BD59-A6C34878D82A}">
                    <a16:rowId xmlns:a16="http://schemas.microsoft.com/office/drawing/2014/main" val="2008680214"/>
                  </a:ext>
                </a:extLst>
              </a:tr>
              <a:tr h="0">
                <a:tc>
                  <a:txBody>
                    <a:bodyPr/>
                    <a:lstStyle/>
                    <a:p>
                      <a:pPr>
                        <a:buNone/>
                      </a:pPr>
                      <a:r>
                        <a:rPr lang="en-US" sz="2800">
                          <a:latin typeface="Calibir"/>
                        </a:rPr>
                        <a:t>Interpretability</a:t>
                      </a:r>
                    </a:p>
                  </a:txBody>
                  <a:tcPr anchor="ctr"/>
                </a:tc>
                <a:tc>
                  <a:txBody>
                    <a:bodyPr/>
                    <a:lstStyle/>
                    <a:p>
                      <a:pPr>
                        <a:buNone/>
                      </a:pPr>
                      <a:r>
                        <a:rPr lang="en-US" sz="2800">
                          <a:latin typeface="Calibir"/>
                        </a:rPr>
                        <a:t>High</a:t>
                      </a:r>
                    </a:p>
                  </a:txBody>
                  <a:tcPr anchor="ctr"/>
                </a:tc>
                <a:tc>
                  <a:txBody>
                    <a:bodyPr/>
                    <a:lstStyle/>
                    <a:p>
                      <a:pPr>
                        <a:buNone/>
                      </a:pPr>
                      <a:r>
                        <a:rPr lang="en-US" sz="2800" dirty="0">
                          <a:latin typeface="Calibir"/>
                        </a:rPr>
                        <a:t>Lower</a:t>
                      </a:r>
                    </a:p>
                  </a:txBody>
                  <a:tcPr anchor="ctr"/>
                </a:tc>
                <a:extLst>
                  <a:ext uri="{0D108BD9-81ED-4DB2-BD59-A6C34878D82A}">
                    <a16:rowId xmlns:a16="http://schemas.microsoft.com/office/drawing/2014/main" val="3205364667"/>
                  </a:ext>
                </a:extLst>
              </a:tr>
            </a:tbl>
          </a:graphicData>
        </a:graphic>
      </p:graphicFrame>
    </p:spTree>
    <p:extLst>
      <p:ext uri="{BB962C8B-B14F-4D97-AF65-F5344CB8AC3E}">
        <p14:creationId xmlns:p14="http://schemas.microsoft.com/office/powerpoint/2010/main" val="33016273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557DD-65A6-6650-A5A6-82D0BB7A4110}"/>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F1A21499-6EF6-EB50-8AF0-39389019AB99}"/>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04387F31-22E6-AE12-25FF-D049181B447B}"/>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8A13BFE3-EB8A-DFDB-63A5-55EB521DF010}"/>
              </a:ext>
            </a:extLst>
          </p:cNvPr>
          <p:cNvSpPr txBox="1"/>
          <p:nvPr/>
        </p:nvSpPr>
        <p:spPr>
          <a:xfrm>
            <a:off x="1" y="509944"/>
            <a:ext cx="10913806" cy="3257174"/>
          </a:xfrm>
          <a:prstGeom prst="rect">
            <a:avLst/>
          </a:prstGeom>
          <a:noFill/>
        </p:spPr>
        <p:txBody>
          <a:bodyPr wrap="square">
            <a:spAutoFit/>
          </a:bodyPr>
          <a:lstStyle/>
          <a:p>
            <a:pPr>
              <a:lnSpc>
                <a:spcPct val="150000"/>
              </a:lnSpc>
            </a:pPr>
            <a:r>
              <a:rPr lang="en-US" sz="2800" b="1" dirty="0">
                <a:latin typeface="Calibir"/>
              </a:rPr>
              <a:t>What to discuss</a:t>
            </a:r>
          </a:p>
          <a:p>
            <a:pPr marL="914400" lvl="1" indent="-457200">
              <a:lnSpc>
                <a:spcPct val="150000"/>
              </a:lnSpc>
              <a:buFont typeface="Arial" panose="020B0604020202020204" pitchFamily="34" charset="0"/>
              <a:buChar char="•"/>
            </a:pPr>
            <a:r>
              <a:rPr lang="en-US" sz="2800" dirty="0">
                <a:latin typeface="Calibir"/>
              </a:rPr>
              <a:t>which model performed better </a:t>
            </a:r>
          </a:p>
          <a:p>
            <a:pPr marL="914400" lvl="1" indent="-457200">
              <a:lnSpc>
                <a:spcPct val="150000"/>
              </a:lnSpc>
              <a:buFont typeface="Arial" panose="020B0604020202020204" pitchFamily="34" charset="0"/>
              <a:buChar char="•"/>
            </a:pPr>
            <a:r>
              <a:rPr lang="en-US" sz="2800" dirty="0">
                <a:latin typeface="Calibir"/>
              </a:rPr>
              <a:t>where each model was strong/weak </a:t>
            </a:r>
          </a:p>
          <a:p>
            <a:pPr marL="914400" lvl="1" indent="-457200">
              <a:lnSpc>
                <a:spcPct val="150000"/>
              </a:lnSpc>
              <a:buFont typeface="Arial" panose="020B0604020202020204" pitchFamily="34" charset="0"/>
              <a:buChar char="•"/>
            </a:pPr>
            <a:r>
              <a:rPr lang="en-US" sz="2800" dirty="0">
                <a:latin typeface="Calibir"/>
              </a:rPr>
              <a:t>overfitting or underfitting </a:t>
            </a:r>
          </a:p>
          <a:p>
            <a:pPr marL="914400" lvl="1" indent="-457200">
              <a:lnSpc>
                <a:spcPct val="150000"/>
              </a:lnSpc>
              <a:buFont typeface="Arial" panose="020B0604020202020204" pitchFamily="34" charset="0"/>
              <a:buChar char="•"/>
            </a:pPr>
            <a:r>
              <a:rPr lang="en-US" sz="2800" dirty="0">
                <a:latin typeface="Calibir"/>
              </a:rPr>
              <a:t>why one model is finally chosen</a:t>
            </a:r>
          </a:p>
        </p:txBody>
      </p:sp>
      <p:sp>
        <p:nvSpPr>
          <p:cNvPr id="7" name="object 2">
            <a:extLst>
              <a:ext uri="{FF2B5EF4-FFF2-40B4-BE49-F238E27FC236}">
                <a16:creationId xmlns:a16="http://schemas.microsoft.com/office/drawing/2014/main" id="{BABCD863-2FAC-7856-8661-EDBF72132EB9}"/>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9253468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D1E4B-B996-1079-F59A-CA605AC30786}"/>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B2FCBDEF-DC0F-E181-9DDD-299037915C94}"/>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A30C1251-D1F7-7A3D-E92D-7CA4FAB1C2CB}"/>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06B59399-F2F0-2356-595D-AF8DB04CE4CB}"/>
              </a:ext>
            </a:extLst>
          </p:cNvPr>
          <p:cNvSpPr txBox="1"/>
          <p:nvPr/>
        </p:nvSpPr>
        <p:spPr>
          <a:xfrm>
            <a:off x="1" y="509944"/>
            <a:ext cx="10913806" cy="5196166"/>
          </a:xfrm>
          <a:prstGeom prst="rect">
            <a:avLst/>
          </a:prstGeom>
          <a:noFill/>
        </p:spPr>
        <p:txBody>
          <a:bodyPr wrap="square">
            <a:spAutoFit/>
          </a:bodyPr>
          <a:lstStyle/>
          <a:p>
            <a:pPr>
              <a:lnSpc>
                <a:spcPct val="150000"/>
              </a:lnSpc>
            </a:pPr>
            <a:r>
              <a:rPr lang="en-US" sz="2800" b="1" dirty="0">
                <a:latin typeface="Calibir"/>
              </a:rPr>
              <a:t>Common mistake</a:t>
            </a:r>
          </a:p>
          <a:p>
            <a:pPr>
              <a:lnSpc>
                <a:spcPct val="150000"/>
              </a:lnSpc>
            </a:pPr>
            <a:r>
              <a:rPr lang="en-US" sz="2800" dirty="0">
                <a:latin typeface="Calibir"/>
              </a:rPr>
              <a:t>Students choose the best model only because it has the highest accuracy, without discussing:</a:t>
            </a:r>
          </a:p>
          <a:p>
            <a:pPr marL="914400" lvl="1" indent="-457200">
              <a:lnSpc>
                <a:spcPct val="150000"/>
              </a:lnSpc>
              <a:buFont typeface="Arial" panose="020B0604020202020204" pitchFamily="34" charset="0"/>
              <a:buChar char="•"/>
            </a:pPr>
            <a:r>
              <a:rPr lang="en-US" sz="2800" dirty="0">
                <a:latin typeface="Calibir"/>
              </a:rPr>
              <a:t>business context </a:t>
            </a:r>
          </a:p>
          <a:p>
            <a:pPr marL="914400" lvl="1" indent="-457200">
              <a:lnSpc>
                <a:spcPct val="150000"/>
              </a:lnSpc>
              <a:buFont typeface="Arial" panose="020B0604020202020204" pitchFamily="34" charset="0"/>
              <a:buChar char="•"/>
            </a:pPr>
            <a:r>
              <a:rPr lang="en-US" sz="2800" dirty="0">
                <a:latin typeface="Calibir"/>
              </a:rPr>
              <a:t>interpretability </a:t>
            </a:r>
          </a:p>
          <a:p>
            <a:pPr marL="914400" lvl="1" indent="-457200">
              <a:lnSpc>
                <a:spcPct val="150000"/>
              </a:lnSpc>
              <a:buFont typeface="Arial" panose="020B0604020202020204" pitchFamily="34" charset="0"/>
              <a:buChar char="•"/>
            </a:pPr>
            <a:r>
              <a:rPr lang="en-US" sz="2800" dirty="0">
                <a:latin typeface="Calibir"/>
              </a:rPr>
              <a:t>overfitting </a:t>
            </a:r>
          </a:p>
          <a:p>
            <a:pPr marL="914400" lvl="1" indent="-457200">
              <a:lnSpc>
                <a:spcPct val="150000"/>
              </a:lnSpc>
              <a:buFont typeface="Arial" panose="020B0604020202020204" pitchFamily="34" charset="0"/>
              <a:buChar char="•"/>
            </a:pPr>
            <a:r>
              <a:rPr lang="en-US" sz="2800" dirty="0">
                <a:latin typeface="Calibir"/>
              </a:rPr>
              <a:t>fairness </a:t>
            </a:r>
          </a:p>
          <a:p>
            <a:pPr marL="914400" lvl="1" indent="-457200">
              <a:lnSpc>
                <a:spcPct val="150000"/>
              </a:lnSpc>
              <a:buFont typeface="Arial" panose="020B0604020202020204" pitchFamily="34" charset="0"/>
              <a:buChar char="•"/>
            </a:pPr>
            <a:r>
              <a:rPr lang="en-US" sz="2800" dirty="0">
                <a:latin typeface="Calibir"/>
              </a:rPr>
              <a:t>recall/precision trade-off</a:t>
            </a:r>
          </a:p>
        </p:txBody>
      </p:sp>
      <p:sp>
        <p:nvSpPr>
          <p:cNvPr id="7" name="object 2">
            <a:extLst>
              <a:ext uri="{FF2B5EF4-FFF2-40B4-BE49-F238E27FC236}">
                <a16:creationId xmlns:a16="http://schemas.microsoft.com/office/drawing/2014/main" id="{26396D8A-0274-40F9-227A-9122E7D0AA91}"/>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13713652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EB075-C25C-A172-50E6-893C2815CB54}"/>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38C47FB4-E537-3D31-D8FA-B97D2A448460}"/>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AEDAFFAF-3612-63CC-59AB-5E43832CFEAA}"/>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833408A7-81A8-D465-8813-41AF3BFB902A}"/>
              </a:ext>
            </a:extLst>
          </p:cNvPr>
          <p:cNvSpPr txBox="1"/>
          <p:nvPr/>
        </p:nvSpPr>
        <p:spPr>
          <a:xfrm>
            <a:off x="1" y="509944"/>
            <a:ext cx="10913806" cy="5842497"/>
          </a:xfrm>
          <a:prstGeom prst="rect">
            <a:avLst/>
          </a:prstGeom>
          <a:noFill/>
        </p:spPr>
        <p:txBody>
          <a:bodyPr wrap="square">
            <a:spAutoFit/>
          </a:bodyPr>
          <a:lstStyle/>
          <a:p>
            <a:pPr>
              <a:lnSpc>
                <a:spcPct val="150000"/>
              </a:lnSpc>
            </a:pPr>
            <a:r>
              <a:rPr lang="en-US" sz="2800" b="1" dirty="0">
                <a:latin typeface="Calibir"/>
              </a:rPr>
              <a:t>Step 10: Generate business insights</a:t>
            </a:r>
          </a:p>
          <a:p>
            <a:pPr>
              <a:lnSpc>
                <a:spcPct val="150000"/>
              </a:lnSpc>
            </a:pPr>
            <a:r>
              <a:rPr lang="en-US" sz="2800" dirty="0">
                <a:latin typeface="Calibir"/>
              </a:rPr>
              <a:t>This section asks: “So what?”</a:t>
            </a:r>
          </a:p>
          <a:p>
            <a:pPr>
              <a:lnSpc>
                <a:spcPct val="150000"/>
              </a:lnSpc>
            </a:pPr>
            <a:r>
              <a:rPr lang="en-US" sz="2800" dirty="0">
                <a:latin typeface="Calibir"/>
              </a:rPr>
              <a:t>Model results must lead to useful conclusions.</a:t>
            </a:r>
          </a:p>
          <a:p>
            <a:pPr>
              <a:lnSpc>
                <a:spcPct val="150000"/>
              </a:lnSpc>
            </a:pPr>
            <a:r>
              <a:rPr lang="en-US" sz="2800" dirty="0">
                <a:latin typeface="Calibir"/>
              </a:rPr>
              <a:t>You need 3–5 actionable insights.</a:t>
            </a:r>
          </a:p>
          <a:p>
            <a:pPr>
              <a:lnSpc>
                <a:spcPct val="150000"/>
              </a:lnSpc>
            </a:pPr>
            <a:r>
              <a:rPr lang="en-US" sz="2800" dirty="0">
                <a:latin typeface="Calibir"/>
              </a:rPr>
              <a:t>Examples</a:t>
            </a:r>
          </a:p>
          <a:p>
            <a:pPr>
              <a:lnSpc>
                <a:spcPct val="150000"/>
              </a:lnSpc>
            </a:pPr>
            <a:r>
              <a:rPr lang="en-US" sz="2800" dirty="0">
                <a:latin typeface="Calibir"/>
              </a:rPr>
              <a:t>For churn:</a:t>
            </a:r>
          </a:p>
          <a:p>
            <a:pPr marL="914400" lvl="1" indent="-457200">
              <a:lnSpc>
                <a:spcPct val="150000"/>
              </a:lnSpc>
              <a:buFont typeface="Arial" panose="020B0604020202020204" pitchFamily="34" charset="0"/>
              <a:buChar char="•"/>
            </a:pPr>
            <a:r>
              <a:rPr lang="en-US" sz="2800" dirty="0">
                <a:latin typeface="Calibir"/>
              </a:rPr>
              <a:t>customers with month-to-month contracts are more likely to leave </a:t>
            </a:r>
          </a:p>
          <a:p>
            <a:pPr marL="914400" lvl="1" indent="-457200">
              <a:lnSpc>
                <a:spcPct val="150000"/>
              </a:lnSpc>
              <a:buFont typeface="Arial" panose="020B0604020202020204" pitchFamily="34" charset="0"/>
              <a:buChar char="•"/>
            </a:pPr>
            <a:r>
              <a:rPr lang="en-US" sz="2800" dirty="0">
                <a:latin typeface="Calibir"/>
              </a:rPr>
              <a:t>higher monthly charges are associated with churn </a:t>
            </a:r>
          </a:p>
          <a:p>
            <a:pPr marL="914400" lvl="1" indent="-457200">
              <a:lnSpc>
                <a:spcPct val="150000"/>
              </a:lnSpc>
              <a:buFont typeface="Arial" panose="020B0604020202020204" pitchFamily="34" charset="0"/>
              <a:buChar char="•"/>
            </a:pPr>
            <a:r>
              <a:rPr lang="en-US" sz="2800" dirty="0">
                <a:latin typeface="Calibir"/>
              </a:rPr>
              <a:t>long-term contracts reduce churn risk</a:t>
            </a:r>
          </a:p>
        </p:txBody>
      </p:sp>
      <p:sp>
        <p:nvSpPr>
          <p:cNvPr id="7" name="object 2">
            <a:extLst>
              <a:ext uri="{FF2B5EF4-FFF2-40B4-BE49-F238E27FC236}">
                <a16:creationId xmlns:a16="http://schemas.microsoft.com/office/drawing/2014/main" id="{DFC16845-C5D3-D5BB-9264-F6F12C94030B}"/>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156665780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88695-5056-AF34-AA89-142BFD0EA8B8}"/>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C6E10629-AA3C-3CE3-B111-0020930DE89D}"/>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AADF156F-304E-6AE1-61C2-312938F5E608}"/>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736C974E-1F53-A11C-9307-4B9292E0A9BE}"/>
              </a:ext>
            </a:extLst>
          </p:cNvPr>
          <p:cNvSpPr txBox="1"/>
          <p:nvPr/>
        </p:nvSpPr>
        <p:spPr>
          <a:xfrm>
            <a:off x="1" y="509944"/>
            <a:ext cx="10913806" cy="4549835"/>
          </a:xfrm>
          <a:prstGeom prst="rect">
            <a:avLst/>
          </a:prstGeom>
          <a:noFill/>
        </p:spPr>
        <p:txBody>
          <a:bodyPr wrap="square">
            <a:spAutoFit/>
          </a:bodyPr>
          <a:lstStyle/>
          <a:p>
            <a:pPr>
              <a:lnSpc>
                <a:spcPct val="150000"/>
              </a:lnSpc>
            </a:pPr>
            <a:r>
              <a:rPr lang="en-US" sz="2800" dirty="0">
                <a:latin typeface="Calibir"/>
              </a:rPr>
              <a:t>For HR attrition:</a:t>
            </a:r>
          </a:p>
          <a:p>
            <a:pPr marL="914400" lvl="1" indent="-457200">
              <a:lnSpc>
                <a:spcPct val="150000"/>
              </a:lnSpc>
              <a:buFont typeface="Arial" panose="020B0604020202020204" pitchFamily="34" charset="0"/>
              <a:buChar char="•"/>
            </a:pPr>
            <a:r>
              <a:rPr lang="en-US" sz="2800" dirty="0">
                <a:latin typeface="Calibir"/>
              </a:rPr>
              <a:t>overtime strongly increases attrition likelihood </a:t>
            </a:r>
          </a:p>
          <a:p>
            <a:pPr marL="914400" lvl="1" indent="-457200">
              <a:lnSpc>
                <a:spcPct val="150000"/>
              </a:lnSpc>
              <a:buFont typeface="Arial" panose="020B0604020202020204" pitchFamily="34" charset="0"/>
              <a:buChar char="•"/>
            </a:pPr>
            <a:r>
              <a:rPr lang="en-US" sz="2800" dirty="0">
                <a:latin typeface="Calibir"/>
              </a:rPr>
              <a:t>low job satisfaction relates to employee departure </a:t>
            </a:r>
          </a:p>
          <a:p>
            <a:pPr marL="914400" lvl="1" indent="-457200">
              <a:lnSpc>
                <a:spcPct val="150000"/>
              </a:lnSpc>
              <a:buFont typeface="Arial" panose="020B0604020202020204" pitchFamily="34" charset="0"/>
              <a:buChar char="•"/>
            </a:pPr>
            <a:r>
              <a:rPr lang="en-US" sz="2800" dirty="0">
                <a:latin typeface="Calibir"/>
              </a:rPr>
              <a:t>certain job roles show higher turnover rates </a:t>
            </a:r>
          </a:p>
          <a:p>
            <a:pPr>
              <a:lnSpc>
                <a:spcPct val="150000"/>
              </a:lnSpc>
            </a:pPr>
            <a:r>
              <a:rPr lang="en-US" sz="2800" dirty="0">
                <a:latin typeface="Calibir"/>
              </a:rPr>
              <a:t>For heart disease:</a:t>
            </a:r>
          </a:p>
          <a:p>
            <a:pPr marL="914400" lvl="1" indent="-457200">
              <a:lnSpc>
                <a:spcPct val="150000"/>
              </a:lnSpc>
              <a:buFont typeface="Arial" panose="020B0604020202020204" pitchFamily="34" charset="0"/>
              <a:buChar char="•"/>
            </a:pPr>
            <a:r>
              <a:rPr lang="en-US" sz="2800" dirty="0">
                <a:latin typeface="Calibir"/>
              </a:rPr>
              <a:t>chest pain type and cholesterol may influence prediction </a:t>
            </a:r>
          </a:p>
          <a:p>
            <a:pPr marL="914400" lvl="1" indent="-457200">
              <a:lnSpc>
                <a:spcPct val="150000"/>
              </a:lnSpc>
              <a:buFont typeface="Arial" panose="020B0604020202020204" pitchFamily="34" charset="0"/>
              <a:buChar char="•"/>
            </a:pPr>
            <a:r>
              <a:rPr lang="en-US" sz="2800" dirty="0">
                <a:latin typeface="Calibir"/>
              </a:rPr>
              <a:t>age and max heart rate may be important predictors</a:t>
            </a:r>
          </a:p>
        </p:txBody>
      </p:sp>
      <p:sp>
        <p:nvSpPr>
          <p:cNvPr id="7" name="object 2">
            <a:extLst>
              <a:ext uri="{FF2B5EF4-FFF2-40B4-BE49-F238E27FC236}">
                <a16:creationId xmlns:a16="http://schemas.microsoft.com/office/drawing/2014/main" id="{A0BB5BA4-856B-F806-94CA-A0B01A58C844}"/>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8994144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4B554-C89A-8ACA-5556-F031EEA92489}"/>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77DF4A23-0334-91DB-38E0-636C4D23ECF2}"/>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0511AE17-DB3E-471F-1ADF-2AB0DD2F22EE}"/>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155F4ACE-E571-C16F-7EFC-800EBF20D015}"/>
              </a:ext>
            </a:extLst>
          </p:cNvPr>
          <p:cNvSpPr txBox="1"/>
          <p:nvPr/>
        </p:nvSpPr>
        <p:spPr>
          <a:xfrm>
            <a:off x="1" y="509944"/>
            <a:ext cx="10913806" cy="5196166"/>
          </a:xfrm>
          <a:prstGeom prst="rect">
            <a:avLst/>
          </a:prstGeom>
          <a:noFill/>
        </p:spPr>
        <p:txBody>
          <a:bodyPr wrap="square">
            <a:spAutoFit/>
          </a:bodyPr>
          <a:lstStyle/>
          <a:p>
            <a:pPr>
              <a:lnSpc>
                <a:spcPct val="150000"/>
              </a:lnSpc>
            </a:pPr>
            <a:r>
              <a:rPr lang="en-US" sz="2800" b="1" dirty="0">
                <a:latin typeface="Calibir"/>
              </a:rPr>
              <a:t>Make them actionable</a:t>
            </a:r>
          </a:p>
          <a:p>
            <a:pPr>
              <a:lnSpc>
                <a:spcPct val="150000"/>
              </a:lnSpc>
            </a:pPr>
            <a:r>
              <a:rPr lang="en-US" sz="2800" dirty="0">
                <a:latin typeface="Calibir"/>
              </a:rPr>
              <a:t>Not just:</a:t>
            </a:r>
            <a:br>
              <a:rPr lang="en-US" sz="2800" dirty="0">
                <a:latin typeface="Calibir"/>
              </a:rPr>
            </a:br>
            <a:r>
              <a:rPr lang="en-US" sz="2800" dirty="0">
                <a:latin typeface="Calibir"/>
              </a:rPr>
              <a:t>“Overtime is important.”</a:t>
            </a:r>
          </a:p>
          <a:p>
            <a:pPr>
              <a:lnSpc>
                <a:spcPct val="150000"/>
              </a:lnSpc>
            </a:pPr>
            <a:r>
              <a:rPr lang="en-US" sz="2800" dirty="0">
                <a:latin typeface="Calibir"/>
              </a:rPr>
              <a:t>Better:</a:t>
            </a:r>
            <a:br>
              <a:rPr lang="en-US" sz="2800" dirty="0">
                <a:latin typeface="Calibir"/>
              </a:rPr>
            </a:br>
            <a:r>
              <a:rPr lang="en-US" sz="2800" dirty="0">
                <a:latin typeface="Calibir"/>
              </a:rPr>
              <a:t>“Employees working overtime were predicted to have higher attrition risk. HR can reduce attrition by monitoring workloads and implementing workload balancing in high-risk departments.”</a:t>
            </a:r>
          </a:p>
          <a:p>
            <a:pPr>
              <a:lnSpc>
                <a:spcPct val="150000"/>
              </a:lnSpc>
            </a:pPr>
            <a:r>
              <a:rPr lang="en-US" sz="2800" dirty="0">
                <a:latin typeface="Calibir"/>
              </a:rPr>
              <a:t>That is business value.</a:t>
            </a:r>
          </a:p>
        </p:txBody>
      </p:sp>
      <p:sp>
        <p:nvSpPr>
          <p:cNvPr id="7" name="object 2">
            <a:extLst>
              <a:ext uri="{FF2B5EF4-FFF2-40B4-BE49-F238E27FC236}">
                <a16:creationId xmlns:a16="http://schemas.microsoft.com/office/drawing/2014/main" id="{8F2A6D14-EE6F-B88D-18CE-F7075CC592A4}"/>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26584899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7B142-A319-F8B7-276F-0FB7E966833E}"/>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E4A8E7A2-2415-166B-5456-DEF5EECB18E5}"/>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A572E6BA-BBC9-5E2A-3857-8098C2DB60A1}"/>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8FD384D4-959D-0703-D6C0-2651048F1E35}"/>
              </a:ext>
            </a:extLst>
          </p:cNvPr>
          <p:cNvSpPr txBox="1"/>
          <p:nvPr/>
        </p:nvSpPr>
        <p:spPr>
          <a:xfrm>
            <a:off x="1" y="509944"/>
            <a:ext cx="10913806" cy="6133859"/>
          </a:xfrm>
          <a:prstGeom prst="rect">
            <a:avLst/>
          </a:prstGeom>
          <a:noFill/>
        </p:spPr>
        <p:txBody>
          <a:bodyPr wrap="square">
            <a:spAutoFit/>
          </a:bodyPr>
          <a:lstStyle/>
          <a:p>
            <a:pPr>
              <a:lnSpc>
                <a:spcPct val="150000"/>
              </a:lnSpc>
            </a:pPr>
            <a:r>
              <a:rPr lang="en-US" sz="2200" b="1" dirty="0">
                <a:latin typeface="Calibir"/>
              </a:rPr>
              <a:t>Step 11: </a:t>
            </a:r>
            <a:r>
              <a:rPr lang="en-US" sz="2200" b="1" dirty="0" err="1">
                <a:latin typeface="Calibir"/>
              </a:rPr>
              <a:t>Analyse</a:t>
            </a:r>
            <a:r>
              <a:rPr lang="en-US" sz="2200" b="1" dirty="0">
                <a:latin typeface="Calibir"/>
              </a:rPr>
              <a:t> ethics and bias</a:t>
            </a:r>
          </a:p>
          <a:p>
            <a:pPr>
              <a:lnSpc>
                <a:spcPct val="150000"/>
              </a:lnSpc>
            </a:pPr>
            <a:r>
              <a:rPr lang="en-US" sz="2200" dirty="0">
                <a:latin typeface="Calibir"/>
              </a:rPr>
              <a:t>This section is short in marks but often important during Q&amp;A.</a:t>
            </a:r>
          </a:p>
          <a:p>
            <a:pPr>
              <a:lnSpc>
                <a:spcPct val="150000"/>
              </a:lnSpc>
            </a:pPr>
            <a:r>
              <a:rPr lang="en-US" sz="2200" dirty="0">
                <a:latin typeface="Calibir"/>
              </a:rPr>
              <a:t>You must identify dataset-specific risks.</a:t>
            </a:r>
          </a:p>
          <a:p>
            <a:pPr>
              <a:lnSpc>
                <a:spcPct val="150000"/>
              </a:lnSpc>
            </a:pPr>
            <a:r>
              <a:rPr lang="en-US" sz="2200" dirty="0">
                <a:latin typeface="Calibir"/>
              </a:rPr>
              <a:t>Examples:</a:t>
            </a:r>
          </a:p>
          <a:p>
            <a:pPr marL="800100" lvl="1" indent="-342900">
              <a:lnSpc>
                <a:spcPct val="150000"/>
              </a:lnSpc>
              <a:buFont typeface="Arial" panose="020B0604020202020204" pitchFamily="34" charset="0"/>
              <a:buChar char="•"/>
            </a:pPr>
            <a:r>
              <a:rPr lang="en-US" sz="2200" dirty="0">
                <a:latin typeface="Calibir"/>
              </a:rPr>
              <a:t>gender bias </a:t>
            </a:r>
          </a:p>
          <a:p>
            <a:pPr marL="800100" lvl="1" indent="-342900">
              <a:lnSpc>
                <a:spcPct val="150000"/>
              </a:lnSpc>
              <a:buFont typeface="Arial" panose="020B0604020202020204" pitchFamily="34" charset="0"/>
              <a:buChar char="•"/>
            </a:pPr>
            <a:r>
              <a:rPr lang="en-US" sz="2200" dirty="0">
                <a:latin typeface="Calibir"/>
              </a:rPr>
              <a:t>age bias </a:t>
            </a:r>
          </a:p>
          <a:p>
            <a:pPr marL="800100" lvl="1" indent="-342900">
              <a:lnSpc>
                <a:spcPct val="150000"/>
              </a:lnSpc>
              <a:buFont typeface="Arial" panose="020B0604020202020204" pitchFamily="34" charset="0"/>
              <a:buChar char="•"/>
            </a:pPr>
            <a:r>
              <a:rPr lang="en-US" sz="2200" dirty="0">
                <a:latin typeface="Calibir"/>
              </a:rPr>
              <a:t>income bias </a:t>
            </a:r>
          </a:p>
          <a:p>
            <a:pPr marL="800100" lvl="1" indent="-342900">
              <a:lnSpc>
                <a:spcPct val="150000"/>
              </a:lnSpc>
              <a:buFont typeface="Arial" panose="020B0604020202020204" pitchFamily="34" charset="0"/>
              <a:buChar char="•"/>
            </a:pPr>
            <a:r>
              <a:rPr lang="en-US" sz="2200" dirty="0">
                <a:latin typeface="Calibir"/>
              </a:rPr>
              <a:t>employment bias </a:t>
            </a:r>
          </a:p>
          <a:p>
            <a:pPr marL="800100" lvl="1" indent="-342900">
              <a:lnSpc>
                <a:spcPct val="150000"/>
              </a:lnSpc>
              <a:buFont typeface="Arial" panose="020B0604020202020204" pitchFamily="34" charset="0"/>
              <a:buChar char="•"/>
            </a:pPr>
            <a:r>
              <a:rPr lang="en-US" sz="2200" dirty="0">
                <a:latin typeface="Calibir"/>
              </a:rPr>
              <a:t>health bias </a:t>
            </a:r>
          </a:p>
          <a:p>
            <a:pPr marL="800100" lvl="1" indent="-342900">
              <a:lnSpc>
                <a:spcPct val="150000"/>
              </a:lnSpc>
              <a:buFont typeface="Arial" panose="020B0604020202020204" pitchFamily="34" charset="0"/>
              <a:buChar char="•"/>
            </a:pPr>
            <a:r>
              <a:rPr lang="en-US" sz="2200" dirty="0">
                <a:latin typeface="Calibir"/>
              </a:rPr>
              <a:t>sampling bias </a:t>
            </a:r>
          </a:p>
          <a:p>
            <a:pPr marL="800100" lvl="1" indent="-342900">
              <a:lnSpc>
                <a:spcPct val="150000"/>
              </a:lnSpc>
              <a:buFont typeface="Arial" panose="020B0604020202020204" pitchFamily="34" charset="0"/>
              <a:buChar char="•"/>
            </a:pPr>
            <a:r>
              <a:rPr lang="en-US" sz="2200" dirty="0">
                <a:latin typeface="Calibir"/>
              </a:rPr>
              <a:t>historical bias </a:t>
            </a:r>
          </a:p>
          <a:p>
            <a:pPr marL="800100" lvl="1" indent="-342900">
              <a:lnSpc>
                <a:spcPct val="150000"/>
              </a:lnSpc>
              <a:buFont typeface="Arial" panose="020B0604020202020204" pitchFamily="34" charset="0"/>
              <a:buChar char="•"/>
            </a:pPr>
            <a:r>
              <a:rPr lang="en-US" sz="2200" dirty="0">
                <a:latin typeface="Calibir"/>
              </a:rPr>
              <a:t>class imbalance bias</a:t>
            </a:r>
          </a:p>
        </p:txBody>
      </p:sp>
      <p:sp>
        <p:nvSpPr>
          <p:cNvPr id="7" name="object 2">
            <a:extLst>
              <a:ext uri="{FF2B5EF4-FFF2-40B4-BE49-F238E27FC236}">
                <a16:creationId xmlns:a16="http://schemas.microsoft.com/office/drawing/2014/main" id="{A45D96C8-4599-8D6E-6C11-181B12493FDE}"/>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9030665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E3762-1D20-17F3-DE44-3EBA144B11C0}"/>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58A217E0-6EE1-B0B1-920F-5213656F5BC9}"/>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32A20A69-0D34-437B-AC1E-74DEA956EAB7}"/>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04BA516C-BE96-5B84-2B62-9F90FFFD540C}"/>
              </a:ext>
            </a:extLst>
          </p:cNvPr>
          <p:cNvSpPr txBox="1"/>
          <p:nvPr/>
        </p:nvSpPr>
        <p:spPr>
          <a:xfrm>
            <a:off x="1" y="509944"/>
            <a:ext cx="10913806" cy="6031908"/>
          </a:xfrm>
          <a:prstGeom prst="rect">
            <a:avLst/>
          </a:prstGeom>
          <a:noFill/>
        </p:spPr>
        <p:txBody>
          <a:bodyPr wrap="square">
            <a:spAutoFit/>
          </a:bodyPr>
          <a:lstStyle/>
          <a:p>
            <a:pPr>
              <a:lnSpc>
                <a:spcPct val="150000"/>
              </a:lnSpc>
            </a:pPr>
            <a:r>
              <a:rPr lang="en-US" sz="2600" b="1" dirty="0">
                <a:latin typeface="Calibir"/>
              </a:rPr>
              <a:t>Example</a:t>
            </a:r>
          </a:p>
          <a:p>
            <a:pPr>
              <a:lnSpc>
                <a:spcPct val="150000"/>
              </a:lnSpc>
            </a:pPr>
            <a:r>
              <a:rPr lang="en-US" sz="2600" dirty="0">
                <a:latin typeface="Calibir"/>
              </a:rPr>
              <a:t>In HR attrition:</a:t>
            </a:r>
          </a:p>
          <a:p>
            <a:pPr marL="914400" lvl="1" indent="-457200">
              <a:lnSpc>
                <a:spcPct val="150000"/>
              </a:lnSpc>
              <a:buFont typeface="Arial" panose="020B0604020202020204" pitchFamily="34" charset="0"/>
              <a:buChar char="•"/>
            </a:pPr>
            <a:r>
              <a:rPr lang="en-US" sz="2600" dirty="0">
                <a:latin typeface="Calibir"/>
              </a:rPr>
              <a:t>age may disadvantage younger or older workers </a:t>
            </a:r>
          </a:p>
          <a:p>
            <a:pPr marL="914400" lvl="1" indent="-457200">
              <a:lnSpc>
                <a:spcPct val="150000"/>
              </a:lnSpc>
              <a:buFont typeface="Arial" panose="020B0604020202020204" pitchFamily="34" charset="0"/>
              <a:buChar char="•"/>
            </a:pPr>
            <a:r>
              <a:rPr lang="en-US" sz="2600" dirty="0">
                <a:latin typeface="Calibir"/>
              </a:rPr>
              <a:t>gender may indirectly influence predictions </a:t>
            </a:r>
          </a:p>
          <a:p>
            <a:pPr marL="914400" lvl="1" indent="-457200">
              <a:lnSpc>
                <a:spcPct val="150000"/>
              </a:lnSpc>
              <a:buFont typeface="Arial" panose="020B0604020202020204" pitchFamily="34" charset="0"/>
              <a:buChar char="•"/>
            </a:pPr>
            <a:r>
              <a:rPr lang="en-US" sz="2600" dirty="0">
                <a:latin typeface="Calibir"/>
              </a:rPr>
              <a:t>income and job role may reflect structural inequities </a:t>
            </a:r>
          </a:p>
          <a:p>
            <a:pPr>
              <a:lnSpc>
                <a:spcPct val="150000"/>
              </a:lnSpc>
            </a:pPr>
            <a:r>
              <a:rPr lang="en-US" sz="2600" b="1" dirty="0">
                <a:latin typeface="Calibir"/>
              </a:rPr>
              <a:t>What to include</a:t>
            </a:r>
          </a:p>
          <a:p>
            <a:pPr marL="914400" lvl="1" indent="-457200">
              <a:lnSpc>
                <a:spcPct val="150000"/>
              </a:lnSpc>
              <a:buFont typeface="Arial" panose="020B0604020202020204" pitchFamily="34" charset="0"/>
              <a:buChar char="•"/>
            </a:pPr>
            <a:r>
              <a:rPr lang="en-US" sz="2600" dirty="0">
                <a:latin typeface="Calibir"/>
              </a:rPr>
              <a:t>which variables may create bias </a:t>
            </a:r>
          </a:p>
          <a:p>
            <a:pPr marL="914400" lvl="1" indent="-457200">
              <a:lnSpc>
                <a:spcPct val="150000"/>
              </a:lnSpc>
              <a:buFont typeface="Arial" panose="020B0604020202020204" pitchFamily="34" charset="0"/>
              <a:buChar char="•"/>
            </a:pPr>
            <a:r>
              <a:rPr lang="en-US" sz="2600" dirty="0">
                <a:latin typeface="Calibir"/>
              </a:rPr>
              <a:t>how bias affects outcomes </a:t>
            </a:r>
          </a:p>
          <a:p>
            <a:pPr marL="914400" lvl="1" indent="-457200">
              <a:lnSpc>
                <a:spcPct val="150000"/>
              </a:lnSpc>
              <a:buFont typeface="Arial" panose="020B0604020202020204" pitchFamily="34" charset="0"/>
              <a:buChar char="•"/>
            </a:pPr>
            <a:r>
              <a:rPr lang="en-US" sz="2600" dirty="0">
                <a:latin typeface="Calibir"/>
              </a:rPr>
              <a:t>real examples from the dataset </a:t>
            </a:r>
          </a:p>
          <a:p>
            <a:pPr marL="914400" lvl="1" indent="-457200">
              <a:lnSpc>
                <a:spcPct val="150000"/>
              </a:lnSpc>
              <a:buFont typeface="Arial" panose="020B0604020202020204" pitchFamily="34" charset="0"/>
              <a:buChar char="•"/>
            </a:pPr>
            <a:r>
              <a:rPr lang="en-US" sz="2600" dirty="0">
                <a:latin typeface="Calibir"/>
              </a:rPr>
              <a:t>mitigation strategies</a:t>
            </a:r>
          </a:p>
        </p:txBody>
      </p:sp>
      <p:sp>
        <p:nvSpPr>
          <p:cNvPr id="7" name="object 2">
            <a:extLst>
              <a:ext uri="{FF2B5EF4-FFF2-40B4-BE49-F238E27FC236}">
                <a16:creationId xmlns:a16="http://schemas.microsoft.com/office/drawing/2014/main" id="{3E3F26BD-773B-1916-78F8-6424FC88D4E4}"/>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867656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A59AF-C659-0975-81BB-87B5059FD433}"/>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4C1B4920-9250-C839-CBFB-EED6FFD5E6BF}"/>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8C137F52-C8AB-390D-EDE3-0E31977B0807}"/>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97385DF6-DE99-64D2-C26F-2D3778CFD3B7}"/>
              </a:ext>
            </a:extLst>
          </p:cNvPr>
          <p:cNvSpPr txBox="1"/>
          <p:nvPr/>
        </p:nvSpPr>
        <p:spPr>
          <a:xfrm>
            <a:off x="1" y="509944"/>
            <a:ext cx="10913806" cy="6488828"/>
          </a:xfrm>
          <a:prstGeom prst="rect">
            <a:avLst/>
          </a:prstGeom>
          <a:noFill/>
        </p:spPr>
        <p:txBody>
          <a:bodyPr wrap="square">
            <a:spAutoFit/>
          </a:bodyPr>
          <a:lstStyle/>
          <a:p>
            <a:pPr>
              <a:lnSpc>
                <a:spcPct val="150000"/>
              </a:lnSpc>
            </a:pPr>
            <a:r>
              <a:rPr lang="en-US" sz="2800" b="1" dirty="0">
                <a:latin typeface="Calibir"/>
              </a:rPr>
              <a:t>Good mitigation ideas</a:t>
            </a:r>
          </a:p>
          <a:p>
            <a:pPr marL="914400" lvl="1" indent="-457200">
              <a:lnSpc>
                <a:spcPct val="150000"/>
              </a:lnSpc>
              <a:buFont typeface="Arial" panose="020B0604020202020204" pitchFamily="34" charset="0"/>
              <a:buChar char="•"/>
            </a:pPr>
            <a:r>
              <a:rPr lang="en-US" sz="2800" dirty="0">
                <a:latin typeface="Calibir"/>
              </a:rPr>
              <a:t>remove sensitive or proxy variables if justified </a:t>
            </a:r>
          </a:p>
          <a:p>
            <a:pPr marL="914400" lvl="1" indent="-457200">
              <a:lnSpc>
                <a:spcPct val="150000"/>
              </a:lnSpc>
              <a:buFont typeface="Arial" panose="020B0604020202020204" pitchFamily="34" charset="0"/>
              <a:buChar char="•"/>
            </a:pPr>
            <a:r>
              <a:rPr lang="en-US" sz="2800" dirty="0">
                <a:latin typeface="Calibir"/>
              </a:rPr>
              <a:t>compare model performance across groups </a:t>
            </a:r>
          </a:p>
          <a:p>
            <a:pPr marL="914400" lvl="1" indent="-457200">
              <a:lnSpc>
                <a:spcPct val="150000"/>
              </a:lnSpc>
              <a:buFont typeface="Arial" panose="020B0604020202020204" pitchFamily="34" charset="0"/>
              <a:buChar char="•"/>
            </a:pPr>
            <a:r>
              <a:rPr lang="en-US" sz="2800" dirty="0">
                <a:latin typeface="Calibir"/>
              </a:rPr>
              <a:t>rebalance the classes </a:t>
            </a:r>
          </a:p>
          <a:p>
            <a:pPr marL="914400" lvl="1" indent="-457200">
              <a:lnSpc>
                <a:spcPct val="150000"/>
              </a:lnSpc>
              <a:buFont typeface="Arial" panose="020B0604020202020204" pitchFamily="34" charset="0"/>
              <a:buChar char="•"/>
            </a:pPr>
            <a:r>
              <a:rPr lang="en-US" sz="2800" dirty="0">
                <a:latin typeface="Calibir"/>
              </a:rPr>
              <a:t>use fairness-aware evaluation </a:t>
            </a:r>
          </a:p>
          <a:p>
            <a:pPr marL="914400" lvl="1" indent="-457200">
              <a:lnSpc>
                <a:spcPct val="150000"/>
              </a:lnSpc>
              <a:buFont typeface="Arial" panose="020B0604020202020204" pitchFamily="34" charset="0"/>
              <a:buChar char="•"/>
            </a:pPr>
            <a:r>
              <a:rPr lang="en-US" sz="2800" dirty="0">
                <a:latin typeface="Calibir"/>
              </a:rPr>
              <a:t>human review for final decisions </a:t>
            </a:r>
          </a:p>
          <a:p>
            <a:pPr marL="914400" lvl="1" indent="-457200">
              <a:lnSpc>
                <a:spcPct val="150000"/>
              </a:lnSpc>
              <a:buFont typeface="Arial" panose="020B0604020202020204" pitchFamily="34" charset="0"/>
              <a:buChar char="•"/>
            </a:pPr>
            <a:r>
              <a:rPr lang="en-US" sz="2800" dirty="0">
                <a:latin typeface="Calibir"/>
              </a:rPr>
              <a:t>transparent reporting of model limitations </a:t>
            </a:r>
          </a:p>
          <a:p>
            <a:pPr>
              <a:lnSpc>
                <a:spcPct val="150000"/>
              </a:lnSpc>
            </a:pPr>
            <a:r>
              <a:rPr lang="en-US" sz="2800" b="1" dirty="0">
                <a:latin typeface="Calibir"/>
              </a:rPr>
              <a:t>Common mistake</a:t>
            </a:r>
          </a:p>
          <a:p>
            <a:pPr>
              <a:lnSpc>
                <a:spcPct val="150000"/>
              </a:lnSpc>
            </a:pPr>
            <a:r>
              <a:rPr lang="en-US" sz="2800" dirty="0">
                <a:latin typeface="Calibir"/>
              </a:rPr>
              <a:t>Students write generic ethics statements such as “AI can be biased” without linking them to their actual variables</a:t>
            </a:r>
          </a:p>
        </p:txBody>
      </p:sp>
      <p:sp>
        <p:nvSpPr>
          <p:cNvPr id="7" name="object 2">
            <a:extLst>
              <a:ext uri="{FF2B5EF4-FFF2-40B4-BE49-F238E27FC236}">
                <a16:creationId xmlns:a16="http://schemas.microsoft.com/office/drawing/2014/main" id="{5620D521-E1A4-A575-161C-E282F527EFDA}"/>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163033770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851B9-F619-FDD9-E179-A004913BD96D}"/>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0303FBC6-216F-FDB3-8244-7F4C36791E9A}"/>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CCADB166-DE7A-6036-07F3-5E36259C164D}"/>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9CA72EE6-4E4E-D582-3257-C808F6F984D5}"/>
              </a:ext>
            </a:extLst>
          </p:cNvPr>
          <p:cNvSpPr txBox="1"/>
          <p:nvPr/>
        </p:nvSpPr>
        <p:spPr>
          <a:xfrm>
            <a:off x="1" y="509944"/>
            <a:ext cx="10913806" cy="6380593"/>
          </a:xfrm>
          <a:prstGeom prst="rect">
            <a:avLst/>
          </a:prstGeom>
          <a:noFill/>
        </p:spPr>
        <p:txBody>
          <a:bodyPr wrap="square">
            <a:spAutoFit/>
          </a:bodyPr>
          <a:lstStyle/>
          <a:p>
            <a:pPr>
              <a:lnSpc>
                <a:spcPct val="150000"/>
              </a:lnSpc>
            </a:pPr>
            <a:r>
              <a:rPr lang="en-US" sz="2500" b="1" dirty="0">
                <a:latin typeface="Calibir"/>
              </a:rPr>
              <a:t>Step 12: Write reflection and learning</a:t>
            </a:r>
          </a:p>
          <a:p>
            <a:pPr>
              <a:lnSpc>
                <a:spcPct val="150000"/>
              </a:lnSpc>
            </a:pPr>
            <a:r>
              <a:rPr lang="en-US" sz="2500" dirty="0">
                <a:latin typeface="Calibir"/>
              </a:rPr>
              <a:t>This is where you show maturity and critical thinking.</a:t>
            </a:r>
          </a:p>
          <a:p>
            <a:pPr>
              <a:lnSpc>
                <a:spcPct val="150000"/>
              </a:lnSpc>
            </a:pPr>
            <a:r>
              <a:rPr lang="en-US" sz="2500" b="1" dirty="0">
                <a:latin typeface="Calibir"/>
              </a:rPr>
              <a:t>Discuss:</a:t>
            </a:r>
          </a:p>
          <a:p>
            <a:pPr marL="800100" lvl="1" indent="-342900">
              <a:lnSpc>
                <a:spcPct val="150000"/>
              </a:lnSpc>
              <a:buFont typeface="Arial" panose="020B0604020202020204" pitchFamily="34" charset="0"/>
              <a:buChar char="•"/>
            </a:pPr>
            <a:r>
              <a:rPr lang="en-US" sz="2500" dirty="0">
                <a:latin typeface="Calibir"/>
              </a:rPr>
              <a:t>challenges faced </a:t>
            </a:r>
          </a:p>
          <a:p>
            <a:pPr marL="800100" lvl="1" indent="-342900">
              <a:lnSpc>
                <a:spcPct val="150000"/>
              </a:lnSpc>
              <a:buFont typeface="Arial" panose="020B0604020202020204" pitchFamily="34" charset="0"/>
              <a:buChar char="•"/>
            </a:pPr>
            <a:r>
              <a:rPr lang="en-US" sz="2500" dirty="0">
                <a:latin typeface="Calibir"/>
              </a:rPr>
              <a:t>what worked well </a:t>
            </a:r>
          </a:p>
          <a:p>
            <a:pPr marL="800100" lvl="1" indent="-342900">
              <a:lnSpc>
                <a:spcPct val="150000"/>
              </a:lnSpc>
              <a:buFont typeface="Arial" panose="020B0604020202020204" pitchFamily="34" charset="0"/>
              <a:buChar char="•"/>
            </a:pPr>
            <a:r>
              <a:rPr lang="en-US" sz="2500" dirty="0">
                <a:latin typeface="Calibir"/>
              </a:rPr>
              <a:t>what did not work well </a:t>
            </a:r>
          </a:p>
          <a:p>
            <a:pPr marL="800100" lvl="1" indent="-342900">
              <a:lnSpc>
                <a:spcPct val="150000"/>
              </a:lnSpc>
              <a:buFont typeface="Arial" panose="020B0604020202020204" pitchFamily="34" charset="0"/>
              <a:buChar char="•"/>
            </a:pPr>
            <a:r>
              <a:rPr lang="en-US" sz="2500" dirty="0">
                <a:latin typeface="Calibir"/>
              </a:rPr>
              <a:t>dataset limitations </a:t>
            </a:r>
          </a:p>
          <a:p>
            <a:pPr marL="800100" lvl="1" indent="-342900">
              <a:lnSpc>
                <a:spcPct val="150000"/>
              </a:lnSpc>
              <a:buFont typeface="Arial" panose="020B0604020202020204" pitchFamily="34" charset="0"/>
              <a:buChar char="•"/>
            </a:pPr>
            <a:r>
              <a:rPr lang="en-US" sz="2500" dirty="0">
                <a:latin typeface="Calibir"/>
              </a:rPr>
              <a:t>model limitations </a:t>
            </a:r>
          </a:p>
          <a:p>
            <a:pPr marL="800100" lvl="1" indent="-342900">
              <a:lnSpc>
                <a:spcPct val="150000"/>
              </a:lnSpc>
              <a:buFont typeface="Arial" panose="020B0604020202020204" pitchFamily="34" charset="0"/>
              <a:buChar char="•"/>
            </a:pPr>
            <a:r>
              <a:rPr lang="en-US" sz="2500" dirty="0">
                <a:latin typeface="Calibir"/>
              </a:rPr>
              <a:t>lessons about tool usage </a:t>
            </a:r>
          </a:p>
          <a:p>
            <a:pPr marL="800100" lvl="1" indent="-342900">
              <a:lnSpc>
                <a:spcPct val="150000"/>
              </a:lnSpc>
              <a:buFont typeface="Arial" panose="020B0604020202020204" pitchFamily="34" charset="0"/>
              <a:buChar char="•"/>
            </a:pPr>
            <a:r>
              <a:rPr lang="en-US" sz="2500" dirty="0">
                <a:latin typeface="Calibir"/>
              </a:rPr>
              <a:t>lessons about model selection </a:t>
            </a:r>
          </a:p>
          <a:p>
            <a:pPr marL="800100" lvl="1" indent="-342900">
              <a:lnSpc>
                <a:spcPct val="150000"/>
              </a:lnSpc>
              <a:buFont typeface="Arial" panose="020B0604020202020204" pitchFamily="34" charset="0"/>
              <a:buChar char="•"/>
            </a:pPr>
            <a:r>
              <a:rPr lang="en-US" sz="2500" dirty="0">
                <a:latin typeface="Calibir"/>
              </a:rPr>
              <a:t>future improvements</a:t>
            </a:r>
          </a:p>
        </p:txBody>
      </p:sp>
      <p:sp>
        <p:nvSpPr>
          <p:cNvPr id="7" name="object 2">
            <a:extLst>
              <a:ext uri="{FF2B5EF4-FFF2-40B4-BE49-F238E27FC236}">
                <a16:creationId xmlns:a16="http://schemas.microsoft.com/office/drawing/2014/main" id="{924B445E-ED51-B660-341D-063D55D3E3F1}"/>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9887569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204DB-4ED2-05B9-7618-38332ED72E9E}"/>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A89B1405-50CB-7B9A-3A01-3F14311D84B5}"/>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46CF18BF-DAD8-FB0D-1C57-2A271DDBBF6D}"/>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3436A937-7011-A910-288F-637836551E39}"/>
              </a:ext>
            </a:extLst>
          </p:cNvPr>
          <p:cNvSpPr txBox="1"/>
          <p:nvPr/>
        </p:nvSpPr>
        <p:spPr>
          <a:xfrm>
            <a:off x="1" y="509944"/>
            <a:ext cx="10913806" cy="6488828"/>
          </a:xfrm>
          <a:prstGeom prst="rect">
            <a:avLst/>
          </a:prstGeom>
          <a:noFill/>
        </p:spPr>
        <p:txBody>
          <a:bodyPr wrap="square">
            <a:spAutoFit/>
          </a:bodyPr>
          <a:lstStyle/>
          <a:p>
            <a:pPr>
              <a:lnSpc>
                <a:spcPct val="150000"/>
              </a:lnSpc>
            </a:pPr>
            <a:r>
              <a:rPr lang="en-US" sz="2800" b="1" dirty="0">
                <a:latin typeface="Calibir"/>
              </a:rPr>
              <a:t>Example points</a:t>
            </a:r>
          </a:p>
          <a:p>
            <a:pPr marL="914400" lvl="1" indent="-457200">
              <a:lnSpc>
                <a:spcPct val="150000"/>
              </a:lnSpc>
              <a:buFont typeface="Arial" panose="020B0604020202020204" pitchFamily="34" charset="0"/>
              <a:buChar char="•"/>
            </a:pPr>
            <a:r>
              <a:rPr lang="en-US" sz="2800" dirty="0">
                <a:latin typeface="Calibir"/>
              </a:rPr>
              <a:t>missing values reduced usable data </a:t>
            </a:r>
          </a:p>
          <a:p>
            <a:pPr marL="914400" lvl="1" indent="-457200">
              <a:lnSpc>
                <a:spcPct val="150000"/>
              </a:lnSpc>
              <a:buFont typeface="Arial" panose="020B0604020202020204" pitchFamily="34" charset="0"/>
              <a:buChar char="•"/>
            </a:pPr>
            <a:r>
              <a:rPr lang="en-US" sz="2800" dirty="0">
                <a:latin typeface="Calibir"/>
              </a:rPr>
              <a:t>class imbalance affected recall </a:t>
            </a:r>
          </a:p>
          <a:p>
            <a:pPr marL="914400" lvl="1" indent="-457200">
              <a:lnSpc>
                <a:spcPct val="150000"/>
              </a:lnSpc>
              <a:buFont typeface="Arial" panose="020B0604020202020204" pitchFamily="34" charset="0"/>
              <a:buChar char="•"/>
            </a:pPr>
            <a:r>
              <a:rPr lang="en-US" sz="2800" dirty="0">
                <a:latin typeface="Calibir"/>
              </a:rPr>
              <a:t>one model was easy to interpret but less accurate </a:t>
            </a:r>
          </a:p>
          <a:p>
            <a:pPr marL="914400" lvl="1" indent="-457200">
              <a:lnSpc>
                <a:spcPct val="150000"/>
              </a:lnSpc>
              <a:buFont typeface="Arial" panose="020B0604020202020204" pitchFamily="34" charset="0"/>
              <a:buChar char="•"/>
            </a:pPr>
            <a:r>
              <a:rPr lang="en-US" sz="2800" dirty="0">
                <a:latin typeface="Calibir"/>
              </a:rPr>
              <a:t>preprocessing quality strongly affected results </a:t>
            </a:r>
          </a:p>
          <a:p>
            <a:pPr marL="914400" lvl="1" indent="-457200">
              <a:lnSpc>
                <a:spcPct val="150000"/>
              </a:lnSpc>
              <a:buFont typeface="Arial" panose="020B0604020202020204" pitchFamily="34" charset="0"/>
              <a:buChar char="•"/>
            </a:pPr>
            <a:r>
              <a:rPr lang="en-US" sz="2800" dirty="0">
                <a:latin typeface="Calibir"/>
              </a:rPr>
              <a:t>better hyperparameter tuning could improve performance </a:t>
            </a:r>
          </a:p>
          <a:p>
            <a:pPr marL="914400" lvl="1" indent="-457200">
              <a:lnSpc>
                <a:spcPct val="150000"/>
              </a:lnSpc>
              <a:buFont typeface="Arial" panose="020B0604020202020204" pitchFamily="34" charset="0"/>
              <a:buChar char="•"/>
            </a:pPr>
            <a:r>
              <a:rPr lang="en-US" sz="2800" dirty="0">
                <a:latin typeface="Calibir"/>
              </a:rPr>
              <a:t>more data or feature engineering may improve results </a:t>
            </a:r>
          </a:p>
          <a:p>
            <a:pPr>
              <a:lnSpc>
                <a:spcPct val="150000"/>
              </a:lnSpc>
            </a:pPr>
            <a:r>
              <a:rPr lang="en-US" sz="2800" dirty="0">
                <a:latin typeface="Calibir"/>
              </a:rPr>
              <a:t>Common mistake</a:t>
            </a:r>
          </a:p>
          <a:p>
            <a:pPr>
              <a:lnSpc>
                <a:spcPct val="150000"/>
              </a:lnSpc>
            </a:pPr>
            <a:r>
              <a:rPr lang="en-US" sz="2800" dirty="0">
                <a:latin typeface="Calibir"/>
              </a:rPr>
              <a:t>Students write reflection as a summary. Reflection should be critical, not just descriptive.</a:t>
            </a:r>
          </a:p>
        </p:txBody>
      </p:sp>
      <p:sp>
        <p:nvSpPr>
          <p:cNvPr id="7" name="object 2">
            <a:extLst>
              <a:ext uri="{FF2B5EF4-FFF2-40B4-BE49-F238E27FC236}">
                <a16:creationId xmlns:a16="http://schemas.microsoft.com/office/drawing/2014/main" id="{7D15AC6A-8810-89B8-D3F0-C939096FE71F}"/>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40611754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A84B3-5735-1C1E-23B1-CB3DCBCF33E7}"/>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520EA27F-5022-4D80-AA9B-E8583A9E4161}"/>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1F97DCAD-78AC-D560-BD5D-C867B744D2E5}"/>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7D9A2A95-EE2A-954A-551F-0DAC0C0BD58B}"/>
              </a:ext>
            </a:extLst>
          </p:cNvPr>
          <p:cNvSpPr txBox="1"/>
          <p:nvPr/>
        </p:nvSpPr>
        <p:spPr>
          <a:xfrm>
            <a:off x="1" y="509944"/>
            <a:ext cx="10913806" cy="5196166"/>
          </a:xfrm>
          <a:prstGeom prst="rect">
            <a:avLst/>
          </a:prstGeom>
          <a:noFill/>
        </p:spPr>
        <p:txBody>
          <a:bodyPr wrap="square">
            <a:spAutoFit/>
          </a:bodyPr>
          <a:lstStyle/>
          <a:p>
            <a:pPr>
              <a:lnSpc>
                <a:spcPct val="150000"/>
              </a:lnSpc>
            </a:pPr>
            <a:r>
              <a:rPr lang="en-US" sz="2800" b="1" dirty="0">
                <a:latin typeface="Calibir"/>
              </a:rPr>
              <a:t>6. Suggested report structure</a:t>
            </a:r>
          </a:p>
          <a:p>
            <a:pPr>
              <a:lnSpc>
                <a:spcPct val="150000"/>
              </a:lnSpc>
            </a:pPr>
            <a:r>
              <a:rPr lang="en-US" sz="2800" dirty="0">
                <a:latin typeface="Calibir"/>
              </a:rPr>
              <a:t>You can use this structure for the written report:</a:t>
            </a:r>
          </a:p>
          <a:p>
            <a:pPr>
              <a:lnSpc>
                <a:spcPct val="150000"/>
              </a:lnSpc>
            </a:pPr>
            <a:r>
              <a:rPr lang="en-US" sz="2800" b="1" dirty="0">
                <a:latin typeface="Calibir"/>
              </a:rPr>
              <a:t>Title page</a:t>
            </a:r>
          </a:p>
          <a:p>
            <a:pPr marL="914400" lvl="1" indent="-457200">
              <a:lnSpc>
                <a:spcPct val="150000"/>
              </a:lnSpc>
              <a:buFont typeface="Arial" panose="020B0604020202020204" pitchFamily="34" charset="0"/>
              <a:buChar char="•"/>
            </a:pPr>
            <a:r>
              <a:rPr lang="en-US" sz="2800" dirty="0">
                <a:latin typeface="Calibir"/>
              </a:rPr>
              <a:t>unit code and title </a:t>
            </a:r>
          </a:p>
          <a:p>
            <a:pPr marL="914400" lvl="1" indent="-457200">
              <a:lnSpc>
                <a:spcPct val="150000"/>
              </a:lnSpc>
              <a:buFont typeface="Arial" panose="020B0604020202020204" pitchFamily="34" charset="0"/>
              <a:buChar char="•"/>
            </a:pPr>
            <a:r>
              <a:rPr lang="en-US" sz="2800" dirty="0">
                <a:latin typeface="Calibir"/>
              </a:rPr>
              <a:t>assignment title </a:t>
            </a:r>
          </a:p>
          <a:p>
            <a:pPr marL="914400" lvl="1" indent="-457200">
              <a:lnSpc>
                <a:spcPct val="150000"/>
              </a:lnSpc>
              <a:buFont typeface="Arial" panose="020B0604020202020204" pitchFamily="34" charset="0"/>
              <a:buChar char="•"/>
            </a:pPr>
            <a:r>
              <a:rPr lang="en-US" sz="2800" dirty="0">
                <a:latin typeface="Calibir"/>
              </a:rPr>
              <a:t>group number </a:t>
            </a:r>
          </a:p>
          <a:p>
            <a:pPr marL="914400" lvl="1" indent="-457200">
              <a:lnSpc>
                <a:spcPct val="150000"/>
              </a:lnSpc>
              <a:buFont typeface="Arial" panose="020B0604020202020204" pitchFamily="34" charset="0"/>
              <a:buChar char="•"/>
            </a:pPr>
            <a:r>
              <a:rPr lang="en-US" sz="2800" dirty="0">
                <a:latin typeface="Calibir"/>
              </a:rPr>
              <a:t>student names and IDs </a:t>
            </a:r>
          </a:p>
          <a:p>
            <a:pPr marL="914400" lvl="1" indent="-457200">
              <a:lnSpc>
                <a:spcPct val="150000"/>
              </a:lnSpc>
              <a:buFont typeface="Arial" panose="020B0604020202020204" pitchFamily="34" charset="0"/>
              <a:buChar char="•"/>
            </a:pPr>
            <a:r>
              <a:rPr lang="en-US" sz="2800" dirty="0">
                <a:latin typeface="Calibir"/>
              </a:rPr>
              <a:t>submission date</a:t>
            </a:r>
          </a:p>
        </p:txBody>
      </p:sp>
      <p:sp>
        <p:nvSpPr>
          <p:cNvPr id="7" name="object 2">
            <a:extLst>
              <a:ext uri="{FF2B5EF4-FFF2-40B4-BE49-F238E27FC236}">
                <a16:creationId xmlns:a16="http://schemas.microsoft.com/office/drawing/2014/main" id="{D4843450-99AE-765F-D4A5-DBE4B226715A}"/>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404528781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CABF3-FC6C-8A5E-05A6-F0DDF11AC349}"/>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C38C5A92-C9EB-5472-B416-0BEF825800FF}"/>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3BC33FE5-F88B-CF48-46B2-315E22F634B5}"/>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1259EEBD-4B25-D5A6-8939-6009BB7C107A}"/>
              </a:ext>
            </a:extLst>
          </p:cNvPr>
          <p:cNvSpPr txBox="1"/>
          <p:nvPr/>
        </p:nvSpPr>
        <p:spPr>
          <a:xfrm>
            <a:off x="0" y="818157"/>
            <a:ext cx="10913806" cy="2610843"/>
          </a:xfrm>
          <a:prstGeom prst="rect">
            <a:avLst/>
          </a:prstGeom>
          <a:noFill/>
        </p:spPr>
        <p:txBody>
          <a:bodyPr wrap="square">
            <a:spAutoFit/>
          </a:bodyPr>
          <a:lstStyle/>
          <a:p>
            <a:pPr>
              <a:lnSpc>
                <a:spcPct val="150000"/>
              </a:lnSpc>
            </a:pPr>
            <a:r>
              <a:rPr lang="en-US" sz="2800" b="1" dirty="0">
                <a:latin typeface="Calibir"/>
              </a:rPr>
              <a:t>1. Introduction</a:t>
            </a:r>
          </a:p>
          <a:p>
            <a:pPr marL="914400" lvl="1" indent="-457200">
              <a:lnSpc>
                <a:spcPct val="150000"/>
              </a:lnSpc>
              <a:buFont typeface="Arial" panose="020B0604020202020204" pitchFamily="34" charset="0"/>
              <a:buChar char="•"/>
            </a:pPr>
            <a:r>
              <a:rPr lang="en-US" sz="2800" dirty="0">
                <a:latin typeface="Calibir"/>
              </a:rPr>
              <a:t>background of the problem </a:t>
            </a:r>
          </a:p>
          <a:p>
            <a:pPr marL="914400" lvl="1" indent="-457200">
              <a:lnSpc>
                <a:spcPct val="150000"/>
              </a:lnSpc>
              <a:buFont typeface="Arial" panose="020B0604020202020204" pitchFamily="34" charset="0"/>
              <a:buChar char="•"/>
            </a:pPr>
            <a:r>
              <a:rPr lang="en-US" sz="2800" dirty="0">
                <a:latin typeface="Calibir"/>
              </a:rPr>
              <a:t>dataset selected </a:t>
            </a:r>
          </a:p>
          <a:p>
            <a:pPr marL="914400" lvl="1" indent="-457200">
              <a:lnSpc>
                <a:spcPct val="150000"/>
              </a:lnSpc>
              <a:buFont typeface="Arial" panose="020B0604020202020204" pitchFamily="34" charset="0"/>
              <a:buChar char="•"/>
            </a:pPr>
            <a:r>
              <a:rPr lang="en-US" sz="2800" dirty="0">
                <a:latin typeface="Calibir"/>
              </a:rPr>
              <a:t>predictive objective</a:t>
            </a:r>
          </a:p>
        </p:txBody>
      </p:sp>
      <p:sp>
        <p:nvSpPr>
          <p:cNvPr id="7" name="object 2">
            <a:extLst>
              <a:ext uri="{FF2B5EF4-FFF2-40B4-BE49-F238E27FC236}">
                <a16:creationId xmlns:a16="http://schemas.microsoft.com/office/drawing/2014/main" id="{0AE513EA-61BB-E3DD-FA41-5B4F6AFA16F2}"/>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234160950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F651A-8542-27C3-4F9D-4C6944FBBF4C}"/>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2B3F5F0B-3A97-4EDF-4337-D3E82008E82F}"/>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3CBBE802-8EA8-3A26-5F17-C7A97AFC8F51}"/>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84F395CA-FB34-8AAC-82AF-65173BAC7D9B}"/>
              </a:ext>
            </a:extLst>
          </p:cNvPr>
          <p:cNvSpPr txBox="1"/>
          <p:nvPr/>
        </p:nvSpPr>
        <p:spPr>
          <a:xfrm>
            <a:off x="0" y="818157"/>
            <a:ext cx="10913806" cy="3257174"/>
          </a:xfrm>
          <a:prstGeom prst="rect">
            <a:avLst/>
          </a:prstGeom>
          <a:noFill/>
        </p:spPr>
        <p:txBody>
          <a:bodyPr wrap="square">
            <a:spAutoFit/>
          </a:bodyPr>
          <a:lstStyle/>
          <a:p>
            <a:pPr>
              <a:lnSpc>
                <a:spcPct val="150000"/>
              </a:lnSpc>
            </a:pPr>
            <a:r>
              <a:rPr lang="en-US" sz="2800" b="1" dirty="0">
                <a:latin typeface="Calibir"/>
              </a:rPr>
              <a:t>2. Problem Framing and Technique Justification</a:t>
            </a:r>
          </a:p>
          <a:p>
            <a:pPr marL="914400" lvl="1" indent="-457200">
              <a:lnSpc>
                <a:spcPct val="150000"/>
              </a:lnSpc>
              <a:buFont typeface="Arial" panose="020B0604020202020204" pitchFamily="34" charset="0"/>
              <a:buChar char="•"/>
            </a:pPr>
            <a:r>
              <a:rPr lang="en-US" sz="2800" dirty="0">
                <a:latin typeface="Calibir"/>
              </a:rPr>
              <a:t>real-world problem </a:t>
            </a:r>
          </a:p>
          <a:p>
            <a:pPr marL="914400" lvl="1" indent="-457200">
              <a:lnSpc>
                <a:spcPct val="150000"/>
              </a:lnSpc>
              <a:buFont typeface="Arial" panose="020B0604020202020204" pitchFamily="34" charset="0"/>
              <a:buChar char="•"/>
            </a:pPr>
            <a:r>
              <a:rPr lang="en-US" sz="2800" dirty="0">
                <a:latin typeface="Calibir"/>
              </a:rPr>
              <a:t>why predictive analytics is useful </a:t>
            </a:r>
          </a:p>
          <a:p>
            <a:pPr marL="914400" lvl="1" indent="-457200">
              <a:lnSpc>
                <a:spcPct val="150000"/>
              </a:lnSpc>
              <a:buFont typeface="Arial" panose="020B0604020202020204" pitchFamily="34" charset="0"/>
              <a:buChar char="•"/>
            </a:pPr>
            <a:r>
              <a:rPr lang="en-US" sz="2800" dirty="0">
                <a:latin typeface="Calibir"/>
              </a:rPr>
              <a:t>comparison of two techniques </a:t>
            </a:r>
          </a:p>
          <a:p>
            <a:pPr marL="914400" lvl="1" indent="-457200">
              <a:lnSpc>
                <a:spcPct val="150000"/>
              </a:lnSpc>
              <a:buFont typeface="Arial" panose="020B0604020202020204" pitchFamily="34" charset="0"/>
              <a:buChar char="•"/>
            </a:pPr>
            <a:r>
              <a:rPr lang="en-US" sz="2800" dirty="0">
                <a:latin typeface="Calibir"/>
              </a:rPr>
              <a:t>final modelling plan</a:t>
            </a:r>
          </a:p>
        </p:txBody>
      </p:sp>
      <p:sp>
        <p:nvSpPr>
          <p:cNvPr id="7" name="object 2">
            <a:extLst>
              <a:ext uri="{FF2B5EF4-FFF2-40B4-BE49-F238E27FC236}">
                <a16:creationId xmlns:a16="http://schemas.microsoft.com/office/drawing/2014/main" id="{BD212996-FD7A-BBCB-3626-D260EC481A5E}"/>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44435810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77067-3C90-5D87-51F1-3FCBFFC9734A}"/>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37765C3F-EFC7-8361-58FE-A3E33B4825DF}"/>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9BCD96D8-9833-A4DF-FF69-6A73A929AC54}"/>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14BBA20B-D38F-8B5D-D4AA-CE94A780A153}"/>
              </a:ext>
            </a:extLst>
          </p:cNvPr>
          <p:cNvSpPr txBox="1"/>
          <p:nvPr/>
        </p:nvSpPr>
        <p:spPr>
          <a:xfrm>
            <a:off x="0" y="818157"/>
            <a:ext cx="10913806" cy="3257174"/>
          </a:xfrm>
          <a:prstGeom prst="rect">
            <a:avLst/>
          </a:prstGeom>
          <a:noFill/>
        </p:spPr>
        <p:txBody>
          <a:bodyPr wrap="square">
            <a:spAutoFit/>
          </a:bodyPr>
          <a:lstStyle/>
          <a:p>
            <a:pPr>
              <a:lnSpc>
                <a:spcPct val="150000"/>
              </a:lnSpc>
            </a:pPr>
            <a:r>
              <a:rPr lang="en-US" sz="2800" b="1" dirty="0">
                <a:latin typeface="Calibir"/>
              </a:rPr>
              <a:t>3. Dataset Understanding</a:t>
            </a:r>
          </a:p>
          <a:p>
            <a:pPr marL="914400" lvl="1" indent="-457200">
              <a:lnSpc>
                <a:spcPct val="150000"/>
              </a:lnSpc>
              <a:buFont typeface="Arial" panose="020B0604020202020204" pitchFamily="34" charset="0"/>
              <a:buChar char="•"/>
            </a:pPr>
            <a:r>
              <a:rPr lang="en-US" sz="2800" dirty="0">
                <a:latin typeface="Calibir"/>
              </a:rPr>
              <a:t>source and dataset link </a:t>
            </a:r>
          </a:p>
          <a:p>
            <a:pPr marL="914400" lvl="1" indent="-457200">
              <a:lnSpc>
                <a:spcPct val="150000"/>
              </a:lnSpc>
              <a:buFont typeface="Arial" panose="020B0604020202020204" pitchFamily="34" charset="0"/>
              <a:buChar char="•"/>
            </a:pPr>
            <a:r>
              <a:rPr lang="en-US" sz="2800" dirty="0">
                <a:latin typeface="Calibir"/>
              </a:rPr>
              <a:t>features and target </a:t>
            </a:r>
          </a:p>
          <a:p>
            <a:pPr marL="914400" lvl="1" indent="-457200">
              <a:lnSpc>
                <a:spcPct val="150000"/>
              </a:lnSpc>
              <a:buFont typeface="Arial" panose="020B0604020202020204" pitchFamily="34" charset="0"/>
              <a:buChar char="•"/>
            </a:pPr>
            <a:r>
              <a:rPr lang="en-US" sz="2800" dirty="0">
                <a:latin typeface="Calibir"/>
              </a:rPr>
              <a:t>data types and summary </a:t>
            </a:r>
          </a:p>
          <a:p>
            <a:pPr marL="914400" lvl="1" indent="-457200">
              <a:lnSpc>
                <a:spcPct val="150000"/>
              </a:lnSpc>
              <a:buFont typeface="Arial" panose="020B0604020202020204" pitchFamily="34" charset="0"/>
              <a:buChar char="•"/>
            </a:pPr>
            <a:r>
              <a:rPr lang="en-US" sz="2800" dirty="0">
                <a:latin typeface="Calibir"/>
              </a:rPr>
              <a:t>issues identified</a:t>
            </a:r>
          </a:p>
        </p:txBody>
      </p:sp>
      <p:sp>
        <p:nvSpPr>
          <p:cNvPr id="7" name="object 2">
            <a:extLst>
              <a:ext uri="{FF2B5EF4-FFF2-40B4-BE49-F238E27FC236}">
                <a16:creationId xmlns:a16="http://schemas.microsoft.com/office/drawing/2014/main" id="{F8B12DC4-2639-F74B-AE50-FAA7AFE904DA}"/>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15737583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57E5C-EF03-CF6D-DBCD-05B60BB27D37}"/>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9F74F695-84B8-E766-9807-98CE4A3241C4}"/>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E8EA842E-78E3-7519-EFE1-BE09FDDC87ED}"/>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4C23438B-0BD2-363E-F813-08B61430D85B}"/>
              </a:ext>
            </a:extLst>
          </p:cNvPr>
          <p:cNvSpPr txBox="1"/>
          <p:nvPr/>
        </p:nvSpPr>
        <p:spPr>
          <a:xfrm>
            <a:off x="0" y="818157"/>
            <a:ext cx="10913806" cy="5196166"/>
          </a:xfrm>
          <a:prstGeom prst="rect">
            <a:avLst/>
          </a:prstGeom>
          <a:noFill/>
        </p:spPr>
        <p:txBody>
          <a:bodyPr wrap="square">
            <a:spAutoFit/>
          </a:bodyPr>
          <a:lstStyle/>
          <a:p>
            <a:pPr>
              <a:lnSpc>
                <a:spcPct val="150000"/>
              </a:lnSpc>
            </a:pPr>
            <a:r>
              <a:rPr lang="en-US" sz="2800" b="1" dirty="0">
                <a:latin typeface="Calibir"/>
              </a:rPr>
              <a:t>4. Data Preprocessing</a:t>
            </a:r>
          </a:p>
          <a:p>
            <a:pPr marL="914400" lvl="1" indent="-457200">
              <a:lnSpc>
                <a:spcPct val="150000"/>
              </a:lnSpc>
              <a:buFont typeface="Arial" panose="020B0604020202020204" pitchFamily="34" charset="0"/>
              <a:buChar char="•"/>
            </a:pPr>
            <a:r>
              <a:rPr lang="en-US" sz="2800" dirty="0">
                <a:latin typeface="Calibir"/>
              </a:rPr>
              <a:t>missing values </a:t>
            </a:r>
          </a:p>
          <a:p>
            <a:pPr marL="914400" lvl="1" indent="-457200">
              <a:lnSpc>
                <a:spcPct val="150000"/>
              </a:lnSpc>
              <a:buFont typeface="Arial" panose="020B0604020202020204" pitchFamily="34" charset="0"/>
              <a:buChar char="•"/>
            </a:pPr>
            <a:r>
              <a:rPr lang="en-US" sz="2800" dirty="0">
                <a:latin typeface="Calibir"/>
              </a:rPr>
              <a:t>duplicates </a:t>
            </a:r>
          </a:p>
          <a:p>
            <a:pPr marL="914400" lvl="1" indent="-457200">
              <a:lnSpc>
                <a:spcPct val="150000"/>
              </a:lnSpc>
              <a:buFont typeface="Arial" panose="020B0604020202020204" pitchFamily="34" charset="0"/>
              <a:buChar char="•"/>
            </a:pPr>
            <a:r>
              <a:rPr lang="en-US" sz="2800" dirty="0">
                <a:latin typeface="Calibir"/>
              </a:rPr>
              <a:t>encoding </a:t>
            </a:r>
          </a:p>
          <a:p>
            <a:pPr marL="914400" lvl="1" indent="-457200">
              <a:lnSpc>
                <a:spcPct val="150000"/>
              </a:lnSpc>
              <a:buFont typeface="Arial" panose="020B0604020202020204" pitchFamily="34" charset="0"/>
              <a:buChar char="•"/>
            </a:pPr>
            <a:r>
              <a:rPr lang="en-US" sz="2800" dirty="0">
                <a:latin typeface="Calibir"/>
              </a:rPr>
              <a:t>scaling </a:t>
            </a:r>
          </a:p>
          <a:p>
            <a:pPr marL="914400" lvl="1" indent="-457200">
              <a:lnSpc>
                <a:spcPct val="150000"/>
              </a:lnSpc>
              <a:buFont typeface="Arial" panose="020B0604020202020204" pitchFamily="34" charset="0"/>
              <a:buChar char="•"/>
            </a:pPr>
            <a:r>
              <a:rPr lang="en-US" sz="2800" dirty="0">
                <a:latin typeface="Calibir"/>
              </a:rPr>
              <a:t>feature selection </a:t>
            </a:r>
          </a:p>
          <a:p>
            <a:pPr marL="914400" lvl="1" indent="-457200">
              <a:lnSpc>
                <a:spcPct val="150000"/>
              </a:lnSpc>
              <a:buFont typeface="Arial" panose="020B0604020202020204" pitchFamily="34" charset="0"/>
              <a:buChar char="•"/>
            </a:pPr>
            <a:r>
              <a:rPr lang="en-US" sz="2800" dirty="0">
                <a:latin typeface="Calibir"/>
              </a:rPr>
              <a:t>before vs after comparison </a:t>
            </a:r>
          </a:p>
          <a:p>
            <a:pPr marL="914400" lvl="1" indent="-457200">
              <a:lnSpc>
                <a:spcPct val="150000"/>
              </a:lnSpc>
              <a:buFont typeface="Arial" panose="020B0604020202020204" pitchFamily="34" charset="0"/>
              <a:buChar char="•"/>
            </a:pPr>
            <a:r>
              <a:rPr lang="en-US" sz="2800" dirty="0">
                <a:latin typeface="Calibir"/>
              </a:rPr>
              <a:t>screenshots</a:t>
            </a:r>
          </a:p>
        </p:txBody>
      </p:sp>
      <p:sp>
        <p:nvSpPr>
          <p:cNvPr id="7" name="object 2">
            <a:extLst>
              <a:ext uri="{FF2B5EF4-FFF2-40B4-BE49-F238E27FC236}">
                <a16:creationId xmlns:a16="http://schemas.microsoft.com/office/drawing/2014/main" id="{5345C0D7-11DF-B711-F203-1D1D6B05EF5F}"/>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205768022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A6EFB-72D1-7CCE-CCB8-E5ED0F6481DE}"/>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3896A53F-F5F3-B2BA-199A-4C294B78C415}"/>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15E04129-2229-70EC-A509-B56AA3228800}"/>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539FF7EF-B56A-BA8A-AF3B-05650B44D794}"/>
              </a:ext>
            </a:extLst>
          </p:cNvPr>
          <p:cNvSpPr txBox="1"/>
          <p:nvPr/>
        </p:nvSpPr>
        <p:spPr>
          <a:xfrm>
            <a:off x="0" y="818157"/>
            <a:ext cx="10913806" cy="3257174"/>
          </a:xfrm>
          <a:prstGeom prst="rect">
            <a:avLst/>
          </a:prstGeom>
          <a:noFill/>
        </p:spPr>
        <p:txBody>
          <a:bodyPr wrap="square">
            <a:spAutoFit/>
          </a:bodyPr>
          <a:lstStyle/>
          <a:p>
            <a:pPr>
              <a:lnSpc>
                <a:spcPct val="150000"/>
              </a:lnSpc>
            </a:pPr>
            <a:r>
              <a:rPr lang="en-US" sz="2800" b="1" dirty="0">
                <a:latin typeface="Calibir"/>
              </a:rPr>
              <a:t>5. Statistical Theory and Assumption Validation</a:t>
            </a:r>
          </a:p>
          <a:p>
            <a:pPr marL="914400" lvl="1" indent="-457200">
              <a:lnSpc>
                <a:spcPct val="150000"/>
              </a:lnSpc>
              <a:buFont typeface="Arial" panose="020B0604020202020204" pitchFamily="34" charset="0"/>
              <a:buChar char="•"/>
            </a:pPr>
            <a:r>
              <a:rPr lang="en-US" sz="2800" dirty="0">
                <a:latin typeface="Calibir"/>
              </a:rPr>
              <a:t>theory behind each model </a:t>
            </a:r>
          </a:p>
          <a:p>
            <a:pPr marL="914400" lvl="1" indent="-457200">
              <a:lnSpc>
                <a:spcPct val="150000"/>
              </a:lnSpc>
              <a:buFont typeface="Arial" panose="020B0604020202020204" pitchFamily="34" charset="0"/>
              <a:buChar char="•"/>
            </a:pPr>
            <a:r>
              <a:rPr lang="en-US" sz="2800" dirty="0">
                <a:latin typeface="Calibir"/>
              </a:rPr>
              <a:t>assumptions </a:t>
            </a:r>
          </a:p>
          <a:p>
            <a:pPr marL="914400" lvl="1" indent="-457200">
              <a:lnSpc>
                <a:spcPct val="150000"/>
              </a:lnSpc>
              <a:buFont typeface="Arial" panose="020B0604020202020204" pitchFamily="34" charset="0"/>
              <a:buChar char="•"/>
            </a:pPr>
            <a:r>
              <a:rPr lang="en-US" sz="2800" dirty="0">
                <a:latin typeface="Calibir"/>
              </a:rPr>
              <a:t>evidence of whether assumptions hold </a:t>
            </a:r>
          </a:p>
          <a:p>
            <a:pPr marL="914400" lvl="1" indent="-457200">
              <a:lnSpc>
                <a:spcPct val="150000"/>
              </a:lnSpc>
              <a:buFont typeface="Arial" panose="020B0604020202020204" pitchFamily="34" charset="0"/>
              <a:buChar char="•"/>
            </a:pPr>
            <a:r>
              <a:rPr lang="en-US" sz="2800" dirty="0">
                <a:latin typeface="Calibir"/>
              </a:rPr>
              <a:t>implications</a:t>
            </a:r>
          </a:p>
        </p:txBody>
      </p:sp>
      <p:sp>
        <p:nvSpPr>
          <p:cNvPr id="7" name="object 2">
            <a:extLst>
              <a:ext uri="{FF2B5EF4-FFF2-40B4-BE49-F238E27FC236}">
                <a16:creationId xmlns:a16="http://schemas.microsoft.com/office/drawing/2014/main" id="{3F3786B6-5882-0FFC-D22A-F4A4FC80B7B4}"/>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59036565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590BF-D7EB-1430-2772-4D5F5C81E662}"/>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CD40C2B6-881A-9611-0009-8B3E9411AEE0}"/>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AF93F68C-833F-5411-648A-DB38A05EEEAE}"/>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B9BC765B-FB76-7099-8F70-6A169FC0738C}"/>
              </a:ext>
            </a:extLst>
          </p:cNvPr>
          <p:cNvSpPr txBox="1"/>
          <p:nvPr/>
        </p:nvSpPr>
        <p:spPr>
          <a:xfrm>
            <a:off x="0" y="818157"/>
            <a:ext cx="10913806" cy="4549835"/>
          </a:xfrm>
          <a:prstGeom prst="rect">
            <a:avLst/>
          </a:prstGeom>
          <a:noFill/>
        </p:spPr>
        <p:txBody>
          <a:bodyPr wrap="square">
            <a:spAutoFit/>
          </a:bodyPr>
          <a:lstStyle/>
          <a:p>
            <a:pPr>
              <a:lnSpc>
                <a:spcPct val="150000"/>
              </a:lnSpc>
            </a:pPr>
            <a:r>
              <a:rPr lang="en-US" sz="2800" b="1" dirty="0">
                <a:latin typeface="Calibir"/>
              </a:rPr>
              <a:t>6. Model Development</a:t>
            </a:r>
          </a:p>
          <a:p>
            <a:pPr marL="914400" lvl="1" indent="-457200">
              <a:lnSpc>
                <a:spcPct val="150000"/>
              </a:lnSpc>
              <a:buFont typeface="Arial" panose="020B0604020202020204" pitchFamily="34" charset="0"/>
              <a:buChar char="•"/>
            </a:pPr>
            <a:r>
              <a:rPr lang="en-US" sz="2800" dirty="0">
                <a:latin typeface="Calibir"/>
              </a:rPr>
              <a:t>workflow </a:t>
            </a:r>
          </a:p>
          <a:p>
            <a:pPr marL="914400" lvl="1" indent="-457200">
              <a:lnSpc>
                <a:spcPct val="150000"/>
              </a:lnSpc>
              <a:buFont typeface="Arial" panose="020B0604020202020204" pitchFamily="34" charset="0"/>
              <a:buChar char="•"/>
            </a:pPr>
            <a:r>
              <a:rPr lang="en-US" sz="2800" dirty="0">
                <a:latin typeface="Calibir"/>
              </a:rPr>
              <a:t>train/test split </a:t>
            </a:r>
          </a:p>
          <a:p>
            <a:pPr marL="914400" lvl="1" indent="-457200">
              <a:lnSpc>
                <a:spcPct val="150000"/>
              </a:lnSpc>
              <a:buFont typeface="Arial" panose="020B0604020202020204" pitchFamily="34" charset="0"/>
              <a:buChar char="•"/>
            </a:pPr>
            <a:r>
              <a:rPr lang="en-US" sz="2800" dirty="0">
                <a:latin typeface="Calibir"/>
              </a:rPr>
              <a:t>training process </a:t>
            </a:r>
          </a:p>
          <a:p>
            <a:pPr marL="914400" lvl="1" indent="-457200">
              <a:lnSpc>
                <a:spcPct val="150000"/>
              </a:lnSpc>
              <a:buFont typeface="Arial" panose="020B0604020202020204" pitchFamily="34" charset="0"/>
              <a:buChar char="•"/>
            </a:pPr>
            <a:r>
              <a:rPr lang="en-US" sz="2800" dirty="0">
                <a:latin typeface="Calibir"/>
              </a:rPr>
              <a:t>parameter settings </a:t>
            </a:r>
          </a:p>
          <a:p>
            <a:pPr marL="914400" lvl="1" indent="-457200">
              <a:lnSpc>
                <a:spcPct val="150000"/>
              </a:lnSpc>
              <a:buFont typeface="Arial" panose="020B0604020202020204" pitchFamily="34" charset="0"/>
              <a:buChar char="•"/>
            </a:pPr>
            <a:r>
              <a:rPr lang="en-US" sz="2800" dirty="0">
                <a:latin typeface="Calibir"/>
              </a:rPr>
              <a:t>tools used </a:t>
            </a:r>
          </a:p>
          <a:p>
            <a:pPr marL="914400" lvl="1" indent="-457200">
              <a:lnSpc>
                <a:spcPct val="150000"/>
              </a:lnSpc>
              <a:buFont typeface="Arial" panose="020B0604020202020204" pitchFamily="34" charset="0"/>
              <a:buChar char="•"/>
            </a:pPr>
            <a:r>
              <a:rPr lang="en-US" sz="2800" dirty="0">
                <a:latin typeface="Calibir"/>
              </a:rPr>
              <a:t>screenshots</a:t>
            </a:r>
          </a:p>
        </p:txBody>
      </p:sp>
      <p:sp>
        <p:nvSpPr>
          <p:cNvPr id="7" name="object 2">
            <a:extLst>
              <a:ext uri="{FF2B5EF4-FFF2-40B4-BE49-F238E27FC236}">
                <a16:creationId xmlns:a16="http://schemas.microsoft.com/office/drawing/2014/main" id="{4A489C9D-4C95-A943-0EA2-D36B1022E891}"/>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114182965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57D54-693A-CE36-0DEA-DA7A5EECEEEF}"/>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CBA53F2E-DA0A-EA63-3A8A-8B777188E972}"/>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F1162408-D987-0F63-07AE-A7B7AED9D470}"/>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BE54A13C-1737-7CED-19E3-7BC16F8D9CA0}"/>
              </a:ext>
            </a:extLst>
          </p:cNvPr>
          <p:cNvSpPr txBox="1"/>
          <p:nvPr/>
        </p:nvSpPr>
        <p:spPr>
          <a:xfrm>
            <a:off x="0" y="818157"/>
            <a:ext cx="10913806" cy="3903504"/>
          </a:xfrm>
          <a:prstGeom prst="rect">
            <a:avLst/>
          </a:prstGeom>
          <a:noFill/>
        </p:spPr>
        <p:txBody>
          <a:bodyPr wrap="square">
            <a:spAutoFit/>
          </a:bodyPr>
          <a:lstStyle/>
          <a:p>
            <a:pPr>
              <a:lnSpc>
                <a:spcPct val="150000"/>
              </a:lnSpc>
            </a:pPr>
            <a:r>
              <a:rPr lang="en-US" sz="2800" b="1" dirty="0">
                <a:latin typeface="Calibir"/>
              </a:rPr>
              <a:t>7. Model Evaluation and Comparison</a:t>
            </a:r>
          </a:p>
          <a:p>
            <a:pPr marL="914400" lvl="1" indent="-457200">
              <a:lnSpc>
                <a:spcPct val="150000"/>
              </a:lnSpc>
              <a:buFont typeface="Arial" panose="020B0604020202020204" pitchFamily="34" charset="0"/>
              <a:buChar char="•"/>
            </a:pPr>
            <a:r>
              <a:rPr lang="en-US" sz="2800" dirty="0">
                <a:latin typeface="Calibir"/>
              </a:rPr>
              <a:t>metrics for both models </a:t>
            </a:r>
          </a:p>
          <a:p>
            <a:pPr marL="914400" lvl="1" indent="-457200">
              <a:lnSpc>
                <a:spcPct val="150000"/>
              </a:lnSpc>
              <a:buFont typeface="Arial" panose="020B0604020202020204" pitchFamily="34" charset="0"/>
              <a:buChar char="•"/>
            </a:pPr>
            <a:r>
              <a:rPr lang="en-US" sz="2800" dirty="0">
                <a:latin typeface="Calibir"/>
              </a:rPr>
              <a:t>tables/figures </a:t>
            </a:r>
          </a:p>
          <a:p>
            <a:pPr marL="914400" lvl="1" indent="-457200">
              <a:lnSpc>
                <a:spcPct val="150000"/>
              </a:lnSpc>
              <a:buFont typeface="Arial" panose="020B0604020202020204" pitchFamily="34" charset="0"/>
              <a:buChar char="•"/>
            </a:pPr>
            <a:r>
              <a:rPr lang="en-US" sz="2800" dirty="0">
                <a:latin typeface="Calibir"/>
              </a:rPr>
              <a:t>confusion matrix or regression metrics </a:t>
            </a:r>
          </a:p>
          <a:p>
            <a:pPr marL="914400" lvl="1" indent="-457200">
              <a:lnSpc>
                <a:spcPct val="150000"/>
              </a:lnSpc>
              <a:buFont typeface="Arial" panose="020B0604020202020204" pitchFamily="34" charset="0"/>
              <a:buChar char="•"/>
            </a:pPr>
            <a:r>
              <a:rPr lang="en-US" sz="2800" dirty="0">
                <a:latin typeface="Calibir"/>
              </a:rPr>
              <a:t>overfitting/underfitting discussion </a:t>
            </a:r>
          </a:p>
          <a:p>
            <a:pPr marL="914400" lvl="1" indent="-457200">
              <a:lnSpc>
                <a:spcPct val="150000"/>
              </a:lnSpc>
              <a:buFont typeface="Arial" panose="020B0604020202020204" pitchFamily="34" charset="0"/>
              <a:buChar char="•"/>
            </a:pPr>
            <a:r>
              <a:rPr lang="en-US" sz="2800" dirty="0">
                <a:latin typeface="Calibir"/>
              </a:rPr>
              <a:t>final model selection</a:t>
            </a:r>
          </a:p>
        </p:txBody>
      </p:sp>
      <p:sp>
        <p:nvSpPr>
          <p:cNvPr id="7" name="object 2">
            <a:extLst>
              <a:ext uri="{FF2B5EF4-FFF2-40B4-BE49-F238E27FC236}">
                <a16:creationId xmlns:a16="http://schemas.microsoft.com/office/drawing/2014/main" id="{06583A67-DC99-83E8-4103-2DCC67CF4EBE}"/>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177619076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4DB79-61B2-35AA-EE45-7BF4766E903B}"/>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F60B2DDB-39F7-2034-61BA-A19CD778E4C6}"/>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06F9CEC3-7FCF-0503-EC88-9081CBB346A2}"/>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D5F7FD4A-1079-AB04-D5DB-C7C28BAEA6DC}"/>
              </a:ext>
            </a:extLst>
          </p:cNvPr>
          <p:cNvSpPr txBox="1"/>
          <p:nvPr/>
        </p:nvSpPr>
        <p:spPr>
          <a:xfrm>
            <a:off x="0" y="818157"/>
            <a:ext cx="10913806" cy="4549835"/>
          </a:xfrm>
          <a:prstGeom prst="rect">
            <a:avLst/>
          </a:prstGeom>
          <a:noFill/>
        </p:spPr>
        <p:txBody>
          <a:bodyPr wrap="square">
            <a:spAutoFit/>
          </a:bodyPr>
          <a:lstStyle/>
          <a:p>
            <a:pPr>
              <a:lnSpc>
                <a:spcPct val="150000"/>
              </a:lnSpc>
            </a:pPr>
            <a:r>
              <a:rPr lang="en-US" sz="2800" b="1" dirty="0">
                <a:latin typeface="Calibir"/>
              </a:rPr>
              <a:t>8. Insights and Business Value</a:t>
            </a:r>
          </a:p>
          <a:p>
            <a:pPr marL="914400" lvl="1" indent="-457200">
              <a:lnSpc>
                <a:spcPct val="150000"/>
              </a:lnSpc>
              <a:buFont typeface="Arial" panose="020B0604020202020204" pitchFamily="34" charset="0"/>
              <a:buChar char="•"/>
            </a:pPr>
            <a:r>
              <a:rPr lang="en-US" sz="2800" dirty="0">
                <a:latin typeface="Calibir"/>
              </a:rPr>
              <a:t>3–5 actionable insights </a:t>
            </a:r>
          </a:p>
          <a:p>
            <a:pPr marL="914400" lvl="1" indent="-457200">
              <a:lnSpc>
                <a:spcPct val="150000"/>
              </a:lnSpc>
              <a:buFont typeface="Arial" panose="020B0604020202020204" pitchFamily="34" charset="0"/>
              <a:buChar char="•"/>
            </a:pPr>
            <a:r>
              <a:rPr lang="en-US" sz="2800" dirty="0">
                <a:latin typeface="Calibir"/>
              </a:rPr>
              <a:t>business relevance </a:t>
            </a:r>
          </a:p>
          <a:p>
            <a:pPr>
              <a:lnSpc>
                <a:spcPct val="150000"/>
              </a:lnSpc>
            </a:pPr>
            <a:r>
              <a:rPr lang="en-US" sz="2800" b="1" dirty="0">
                <a:latin typeface="Calibir"/>
              </a:rPr>
              <a:t>9. Ethical and Bias Analysis</a:t>
            </a:r>
          </a:p>
          <a:p>
            <a:pPr marL="914400" lvl="1" indent="-457200">
              <a:lnSpc>
                <a:spcPct val="150000"/>
              </a:lnSpc>
              <a:buFont typeface="Arial" panose="020B0604020202020204" pitchFamily="34" charset="0"/>
              <a:buChar char="•"/>
            </a:pPr>
            <a:r>
              <a:rPr lang="en-US" sz="2800" dirty="0">
                <a:latin typeface="Calibir"/>
              </a:rPr>
              <a:t>dataset-specific ethical risks </a:t>
            </a:r>
          </a:p>
          <a:p>
            <a:pPr marL="914400" lvl="1" indent="-457200">
              <a:lnSpc>
                <a:spcPct val="150000"/>
              </a:lnSpc>
              <a:buFont typeface="Arial" panose="020B0604020202020204" pitchFamily="34" charset="0"/>
              <a:buChar char="•"/>
            </a:pPr>
            <a:r>
              <a:rPr lang="en-US" sz="2800" dirty="0">
                <a:latin typeface="Calibir"/>
              </a:rPr>
              <a:t>examples </a:t>
            </a:r>
          </a:p>
          <a:p>
            <a:pPr marL="914400" lvl="1" indent="-457200">
              <a:lnSpc>
                <a:spcPct val="150000"/>
              </a:lnSpc>
              <a:buFont typeface="Arial" panose="020B0604020202020204" pitchFamily="34" charset="0"/>
              <a:buChar char="•"/>
            </a:pPr>
            <a:r>
              <a:rPr lang="en-US" sz="2800" dirty="0">
                <a:latin typeface="Calibir"/>
              </a:rPr>
              <a:t>mitigation strategies</a:t>
            </a:r>
          </a:p>
        </p:txBody>
      </p:sp>
      <p:sp>
        <p:nvSpPr>
          <p:cNvPr id="7" name="object 2">
            <a:extLst>
              <a:ext uri="{FF2B5EF4-FFF2-40B4-BE49-F238E27FC236}">
                <a16:creationId xmlns:a16="http://schemas.microsoft.com/office/drawing/2014/main" id="{86FC99F8-893A-B4C6-93B2-1F8E038F1B73}"/>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7299502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29306-F389-0ECE-D75A-941A444113C2}"/>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E5189AD5-3673-4328-DEDF-7E09E2071F92}"/>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4E0E0C61-B763-01CC-9A0D-FAC464CE2418}"/>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02B6417D-5AED-1636-3BAE-6A667C556552}"/>
              </a:ext>
            </a:extLst>
          </p:cNvPr>
          <p:cNvSpPr txBox="1"/>
          <p:nvPr/>
        </p:nvSpPr>
        <p:spPr>
          <a:xfrm>
            <a:off x="0" y="818157"/>
            <a:ext cx="10913806" cy="5196166"/>
          </a:xfrm>
          <a:prstGeom prst="rect">
            <a:avLst/>
          </a:prstGeom>
          <a:noFill/>
        </p:spPr>
        <p:txBody>
          <a:bodyPr wrap="square">
            <a:spAutoFit/>
          </a:bodyPr>
          <a:lstStyle/>
          <a:p>
            <a:pPr>
              <a:lnSpc>
                <a:spcPct val="150000"/>
              </a:lnSpc>
            </a:pPr>
            <a:r>
              <a:rPr lang="en-US" sz="2800" b="1" dirty="0">
                <a:latin typeface="Calibir"/>
              </a:rPr>
              <a:t>10. Reflection and Learning</a:t>
            </a:r>
          </a:p>
          <a:p>
            <a:pPr marL="914400" lvl="1" indent="-457200">
              <a:lnSpc>
                <a:spcPct val="150000"/>
              </a:lnSpc>
              <a:buFont typeface="Arial" panose="020B0604020202020204" pitchFamily="34" charset="0"/>
              <a:buChar char="•"/>
            </a:pPr>
            <a:r>
              <a:rPr lang="en-US" sz="2800" dirty="0">
                <a:latin typeface="Calibir"/>
              </a:rPr>
              <a:t>challenges </a:t>
            </a:r>
          </a:p>
          <a:p>
            <a:pPr marL="914400" lvl="1" indent="-457200">
              <a:lnSpc>
                <a:spcPct val="150000"/>
              </a:lnSpc>
              <a:buFont typeface="Arial" panose="020B0604020202020204" pitchFamily="34" charset="0"/>
              <a:buChar char="•"/>
            </a:pPr>
            <a:r>
              <a:rPr lang="en-US" sz="2800" dirty="0">
                <a:latin typeface="Calibir"/>
              </a:rPr>
              <a:t>limitations </a:t>
            </a:r>
          </a:p>
          <a:p>
            <a:pPr marL="914400" lvl="1" indent="-457200">
              <a:lnSpc>
                <a:spcPct val="150000"/>
              </a:lnSpc>
              <a:buFont typeface="Arial" panose="020B0604020202020204" pitchFamily="34" charset="0"/>
              <a:buChar char="•"/>
            </a:pPr>
            <a:r>
              <a:rPr lang="en-US" sz="2800" dirty="0">
                <a:latin typeface="Calibir"/>
              </a:rPr>
              <a:t>lessons learned </a:t>
            </a:r>
          </a:p>
          <a:p>
            <a:pPr marL="914400" lvl="1" indent="-457200">
              <a:lnSpc>
                <a:spcPct val="150000"/>
              </a:lnSpc>
              <a:buFont typeface="Arial" panose="020B0604020202020204" pitchFamily="34" charset="0"/>
              <a:buChar char="•"/>
            </a:pPr>
            <a:r>
              <a:rPr lang="en-US" sz="2800" dirty="0">
                <a:latin typeface="Calibir"/>
              </a:rPr>
              <a:t>future improvements </a:t>
            </a:r>
          </a:p>
          <a:p>
            <a:pPr>
              <a:lnSpc>
                <a:spcPct val="150000"/>
              </a:lnSpc>
            </a:pPr>
            <a:r>
              <a:rPr lang="en-US" sz="2800" b="1" dirty="0">
                <a:latin typeface="Calibir"/>
              </a:rPr>
              <a:t>References</a:t>
            </a:r>
          </a:p>
          <a:p>
            <a:pPr marL="914400" lvl="1" indent="-457200">
              <a:lnSpc>
                <a:spcPct val="150000"/>
              </a:lnSpc>
              <a:buFont typeface="Arial" panose="020B0604020202020204" pitchFamily="34" charset="0"/>
              <a:buChar char="•"/>
            </a:pPr>
            <a:r>
              <a:rPr lang="en-US" sz="2800" dirty="0">
                <a:latin typeface="Calibir"/>
              </a:rPr>
              <a:t>Holmes Adapted Harvard </a:t>
            </a:r>
          </a:p>
          <a:p>
            <a:pPr marL="914400" lvl="1" indent="-457200">
              <a:lnSpc>
                <a:spcPct val="150000"/>
              </a:lnSpc>
              <a:buFont typeface="Arial" panose="020B0604020202020204" pitchFamily="34" charset="0"/>
              <a:buChar char="•"/>
            </a:pPr>
            <a:r>
              <a:rPr lang="en-US" sz="2800" dirty="0">
                <a:latin typeface="Calibir"/>
              </a:rPr>
              <a:t>on a separate page titled References</a:t>
            </a:r>
          </a:p>
        </p:txBody>
      </p:sp>
      <p:sp>
        <p:nvSpPr>
          <p:cNvPr id="7" name="object 2">
            <a:extLst>
              <a:ext uri="{FF2B5EF4-FFF2-40B4-BE49-F238E27FC236}">
                <a16:creationId xmlns:a16="http://schemas.microsoft.com/office/drawing/2014/main" id="{FBB88D23-0E58-15E6-8F59-BEEB9259EBF9}"/>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69496731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DA8BD-2F8B-4E5B-1855-9801C1F0F835}"/>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7980CE47-51AE-5315-7A36-346048F7E635}"/>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EB609C16-289C-713B-FE71-33D951AB29E4}"/>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7854B700-3F33-7F7E-CB70-32F68EEF31FB}"/>
              </a:ext>
            </a:extLst>
          </p:cNvPr>
          <p:cNvSpPr txBox="1"/>
          <p:nvPr/>
        </p:nvSpPr>
        <p:spPr>
          <a:xfrm>
            <a:off x="0" y="818157"/>
            <a:ext cx="10913806" cy="3257174"/>
          </a:xfrm>
          <a:prstGeom prst="rect">
            <a:avLst/>
          </a:prstGeom>
          <a:noFill/>
        </p:spPr>
        <p:txBody>
          <a:bodyPr wrap="square">
            <a:spAutoFit/>
          </a:bodyPr>
          <a:lstStyle/>
          <a:p>
            <a:pPr>
              <a:lnSpc>
                <a:spcPct val="150000"/>
              </a:lnSpc>
            </a:pPr>
            <a:r>
              <a:rPr lang="en-US" sz="2800" b="1" dirty="0">
                <a:latin typeface="Calibir"/>
              </a:rPr>
              <a:t>Appendices</a:t>
            </a:r>
          </a:p>
          <a:p>
            <a:pPr marL="914400" lvl="1" indent="-457200">
              <a:lnSpc>
                <a:spcPct val="150000"/>
              </a:lnSpc>
              <a:buFont typeface="Arial" panose="020B0604020202020204" pitchFamily="34" charset="0"/>
              <a:buChar char="•"/>
            </a:pPr>
            <a:r>
              <a:rPr lang="en-US" sz="2800" dirty="0">
                <a:latin typeface="Calibir"/>
              </a:rPr>
              <a:t>screenshots </a:t>
            </a:r>
          </a:p>
          <a:p>
            <a:pPr marL="914400" lvl="1" indent="-457200">
              <a:lnSpc>
                <a:spcPct val="150000"/>
              </a:lnSpc>
              <a:buFont typeface="Arial" panose="020B0604020202020204" pitchFamily="34" charset="0"/>
              <a:buChar char="•"/>
            </a:pPr>
            <a:r>
              <a:rPr lang="en-US" sz="2800" dirty="0">
                <a:latin typeface="Calibir"/>
              </a:rPr>
              <a:t>extra outputs </a:t>
            </a:r>
          </a:p>
          <a:p>
            <a:pPr marL="914400" lvl="1" indent="-457200">
              <a:lnSpc>
                <a:spcPct val="150000"/>
              </a:lnSpc>
              <a:buFont typeface="Arial" panose="020B0604020202020204" pitchFamily="34" charset="0"/>
              <a:buChar char="•"/>
            </a:pPr>
            <a:r>
              <a:rPr lang="en-US" sz="2800" dirty="0">
                <a:latin typeface="Calibir"/>
              </a:rPr>
              <a:t>code snippets if needed </a:t>
            </a:r>
          </a:p>
          <a:p>
            <a:pPr marL="914400" lvl="1" indent="-457200">
              <a:lnSpc>
                <a:spcPct val="150000"/>
              </a:lnSpc>
              <a:buFont typeface="Arial" panose="020B0604020202020204" pitchFamily="34" charset="0"/>
              <a:buChar char="•"/>
            </a:pPr>
            <a:r>
              <a:rPr lang="en-US" sz="2800" dirty="0">
                <a:latin typeface="Calibir"/>
              </a:rPr>
              <a:t>contribution summary if not separate</a:t>
            </a:r>
          </a:p>
        </p:txBody>
      </p:sp>
      <p:sp>
        <p:nvSpPr>
          <p:cNvPr id="7" name="object 2">
            <a:extLst>
              <a:ext uri="{FF2B5EF4-FFF2-40B4-BE49-F238E27FC236}">
                <a16:creationId xmlns:a16="http://schemas.microsoft.com/office/drawing/2014/main" id="{D84BA7EB-8F9C-B175-A6AF-4B0A1E0166A8}"/>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219686057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76A23-C198-EBAC-6C05-ED2D216388FE}"/>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FE1D3146-E691-FED5-6CEA-D13FE713CD1B}"/>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3114B21A-7490-1687-4381-7435E5AE8A47}"/>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3B19826F-CFF3-C1B5-1F56-79AFE7B6FAF6}"/>
              </a:ext>
            </a:extLst>
          </p:cNvPr>
          <p:cNvSpPr txBox="1"/>
          <p:nvPr/>
        </p:nvSpPr>
        <p:spPr>
          <a:xfrm>
            <a:off x="0" y="369172"/>
            <a:ext cx="10913806" cy="6488828"/>
          </a:xfrm>
          <a:prstGeom prst="rect">
            <a:avLst/>
          </a:prstGeom>
          <a:noFill/>
        </p:spPr>
        <p:txBody>
          <a:bodyPr wrap="square">
            <a:spAutoFit/>
          </a:bodyPr>
          <a:lstStyle/>
          <a:p>
            <a:pPr>
              <a:lnSpc>
                <a:spcPct val="150000"/>
              </a:lnSpc>
            </a:pPr>
            <a:r>
              <a:rPr lang="en-US" sz="2800" b="1" dirty="0">
                <a:latin typeface="Calibir"/>
              </a:rPr>
              <a:t>7. Suggested presentation structure</a:t>
            </a:r>
          </a:p>
          <a:p>
            <a:pPr>
              <a:lnSpc>
                <a:spcPct val="150000"/>
              </a:lnSpc>
            </a:pPr>
            <a:r>
              <a:rPr lang="en-US" sz="2800" dirty="0">
                <a:latin typeface="Calibir"/>
              </a:rPr>
              <a:t>For a 30–35 minute presentation:</a:t>
            </a:r>
          </a:p>
          <a:p>
            <a:pPr>
              <a:lnSpc>
                <a:spcPct val="150000"/>
              </a:lnSpc>
            </a:pPr>
            <a:r>
              <a:rPr lang="en-US" sz="2800" b="1" dirty="0">
                <a:latin typeface="Calibir"/>
              </a:rPr>
              <a:t>Slide 1: Title slide</a:t>
            </a:r>
          </a:p>
          <a:p>
            <a:pPr marL="914400" lvl="1" indent="-457200">
              <a:lnSpc>
                <a:spcPct val="150000"/>
              </a:lnSpc>
              <a:buFont typeface="Arial" panose="020B0604020202020204" pitchFamily="34" charset="0"/>
              <a:buChar char="•"/>
            </a:pPr>
            <a:r>
              <a:rPr lang="en-US" sz="2800" dirty="0">
                <a:latin typeface="Calibir"/>
              </a:rPr>
              <a:t>group members </a:t>
            </a:r>
          </a:p>
          <a:p>
            <a:pPr marL="914400" lvl="1" indent="-457200">
              <a:lnSpc>
                <a:spcPct val="150000"/>
              </a:lnSpc>
              <a:buFont typeface="Arial" panose="020B0604020202020204" pitchFamily="34" charset="0"/>
              <a:buChar char="•"/>
            </a:pPr>
            <a:r>
              <a:rPr lang="en-US" sz="2800" dirty="0">
                <a:latin typeface="Calibir"/>
              </a:rPr>
              <a:t>dataset </a:t>
            </a:r>
          </a:p>
          <a:p>
            <a:pPr marL="914400" lvl="1" indent="-457200">
              <a:lnSpc>
                <a:spcPct val="150000"/>
              </a:lnSpc>
              <a:buFont typeface="Arial" panose="020B0604020202020204" pitchFamily="34" charset="0"/>
              <a:buChar char="•"/>
            </a:pPr>
            <a:r>
              <a:rPr lang="en-US" sz="2800" dirty="0">
                <a:latin typeface="Calibir"/>
              </a:rPr>
              <a:t>topic </a:t>
            </a:r>
          </a:p>
          <a:p>
            <a:pPr>
              <a:lnSpc>
                <a:spcPct val="150000"/>
              </a:lnSpc>
            </a:pPr>
            <a:r>
              <a:rPr lang="en-US" sz="2800" b="1" dirty="0">
                <a:latin typeface="Calibir"/>
              </a:rPr>
              <a:t>Slide 2: Project overview</a:t>
            </a:r>
          </a:p>
          <a:p>
            <a:pPr marL="914400" lvl="1" indent="-457200">
              <a:lnSpc>
                <a:spcPct val="150000"/>
              </a:lnSpc>
              <a:buFont typeface="Arial" panose="020B0604020202020204" pitchFamily="34" charset="0"/>
              <a:buChar char="•"/>
            </a:pPr>
            <a:r>
              <a:rPr lang="en-US" sz="2800" dirty="0">
                <a:latin typeface="Calibir"/>
              </a:rPr>
              <a:t>objective </a:t>
            </a:r>
          </a:p>
          <a:p>
            <a:pPr marL="914400" lvl="1" indent="-457200">
              <a:lnSpc>
                <a:spcPct val="150000"/>
              </a:lnSpc>
              <a:buFont typeface="Arial" panose="020B0604020202020204" pitchFamily="34" charset="0"/>
              <a:buChar char="•"/>
            </a:pPr>
            <a:r>
              <a:rPr lang="en-US" sz="2800" dirty="0">
                <a:latin typeface="Calibir"/>
              </a:rPr>
              <a:t>predictive problem </a:t>
            </a:r>
          </a:p>
          <a:p>
            <a:pPr marL="914400" lvl="1" indent="-457200">
              <a:lnSpc>
                <a:spcPct val="150000"/>
              </a:lnSpc>
              <a:buFont typeface="Arial" panose="020B0604020202020204" pitchFamily="34" charset="0"/>
              <a:buChar char="•"/>
            </a:pPr>
            <a:r>
              <a:rPr lang="en-US" sz="2800" dirty="0">
                <a:latin typeface="Calibir"/>
              </a:rPr>
              <a:t>models used</a:t>
            </a:r>
          </a:p>
        </p:txBody>
      </p:sp>
      <p:sp>
        <p:nvSpPr>
          <p:cNvPr id="7" name="object 2">
            <a:extLst>
              <a:ext uri="{FF2B5EF4-FFF2-40B4-BE49-F238E27FC236}">
                <a16:creationId xmlns:a16="http://schemas.microsoft.com/office/drawing/2014/main" id="{B495F334-886E-79FD-5C94-98E7542AE9BD}"/>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145376790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5430A-65C5-19B8-0404-849B0339A7D8}"/>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188CC300-EE84-AE74-1FD0-6F5E5F2852E1}"/>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6AB31123-1E8A-D735-D23D-50A3486F10A0}"/>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F3533A1E-FFC9-75C0-09BA-CA020DC34D49}"/>
              </a:ext>
            </a:extLst>
          </p:cNvPr>
          <p:cNvSpPr txBox="1"/>
          <p:nvPr/>
        </p:nvSpPr>
        <p:spPr>
          <a:xfrm>
            <a:off x="0" y="752630"/>
            <a:ext cx="10913806" cy="5842497"/>
          </a:xfrm>
          <a:prstGeom prst="rect">
            <a:avLst/>
          </a:prstGeom>
          <a:noFill/>
        </p:spPr>
        <p:txBody>
          <a:bodyPr wrap="square">
            <a:spAutoFit/>
          </a:bodyPr>
          <a:lstStyle/>
          <a:p>
            <a:pPr>
              <a:lnSpc>
                <a:spcPct val="150000"/>
              </a:lnSpc>
            </a:pPr>
            <a:r>
              <a:rPr lang="en-US" sz="2800" b="1" dirty="0">
                <a:latin typeface="Calibir"/>
              </a:rPr>
              <a:t>Slide 3: Dataset overview</a:t>
            </a:r>
          </a:p>
          <a:p>
            <a:pPr marL="914400" lvl="1" indent="-457200">
              <a:lnSpc>
                <a:spcPct val="150000"/>
              </a:lnSpc>
              <a:buFont typeface="Arial" panose="020B0604020202020204" pitchFamily="34" charset="0"/>
              <a:buChar char="•"/>
            </a:pPr>
            <a:r>
              <a:rPr lang="en-US" sz="2800" dirty="0">
                <a:latin typeface="Calibir"/>
              </a:rPr>
              <a:t>source </a:t>
            </a:r>
          </a:p>
          <a:p>
            <a:pPr marL="914400" lvl="1" indent="-457200">
              <a:lnSpc>
                <a:spcPct val="150000"/>
              </a:lnSpc>
              <a:buFont typeface="Arial" panose="020B0604020202020204" pitchFamily="34" charset="0"/>
              <a:buChar char="•"/>
            </a:pPr>
            <a:r>
              <a:rPr lang="en-US" sz="2800" dirty="0">
                <a:latin typeface="Calibir"/>
              </a:rPr>
              <a:t>variables </a:t>
            </a:r>
          </a:p>
          <a:p>
            <a:pPr marL="914400" lvl="1" indent="-457200">
              <a:lnSpc>
                <a:spcPct val="150000"/>
              </a:lnSpc>
              <a:buFont typeface="Arial" panose="020B0604020202020204" pitchFamily="34" charset="0"/>
              <a:buChar char="•"/>
            </a:pPr>
            <a:r>
              <a:rPr lang="en-US" sz="2800" dirty="0">
                <a:latin typeface="Calibir"/>
              </a:rPr>
              <a:t>target variable </a:t>
            </a:r>
          </a:p>
          <a:p>
            <a:pPr>
              <a:lnSpc>
                <a:spcPct val="150000"/>
              </a:lnSpc>
            </a:pPr>
            <a:r>
              <a:rPr lang="en-US" sz="2800" b="1" dirty="0">
                <a:latin typeface="Calibir"/>
              </a:rPr>
              <a:t>Slide 4: Data issues found</a:t>
            </a:r>
          </a:p>
          <a:p>
            <a:pPr marL="914400" lvl="1" indent="-457200">
              <a:lnSpc>
                <a:spcPct val="150000"/>
              </a:lnSpc>
              <a:buFont typeface="Arial" panose="020B0604020202020204" pitchFamily="34" charset="0"/>
              <a:buChar char="•"/>
            </a:pPr>
            <a:r>
              <a:rPr lang="en-US" sz="2800" dirty="0">
                <a:latin typeface="Calibir"/>
              </a:rPr>
              <a:t>missing values </a:t>
            </a:r>
          </a:p>
          <a:p>
            <a:pPr marL="914400" lvl="1" indent="-457200">
              <a:lnSpc>
                <a:spcPct val="150000"/>
              </a:lnSpc>
              <a:buFont typeface="Arial" panose="020B0604020202020204" pitchFamily="34" charset="0"/>
              <a:buChar char="•"/>
            </a:pPr>
            <a:r>
              <a:rPr lang="en-US" sz="2800" dirty="0">
                <a:latin typeface="Calibir"/>
              </a:rPr>
              <a:t>duplicates </a:t>
            </a:r>
          </a:p>
          <a:p>
            <a:pPr marL="914400" lvl="1" indent="-457200">
              <a:lnSpc>
                <a:spcPct val="150000"/>
              </a:lnSpc>
              <a:buFont typeface="Arial" panose="020B0604020202020204" pitchFamily="34" charset="0"/>
              <a:buChar char="•"/>
            </a:pPr>
            <a:r>
              <a:rPr lang="en-US" sz="2800" dirty="0">
                <a:latin typeface="Calibir"/>
              </a:rPr>
              <a:t>imbalance </a:t>
            </a:r>
          </a:p>
          <a:p>
            <a:pPr marL="914400" lvl="1" indent="-457200">
              <a:lnSpc>
                <a:spcPct val="150000"/>
              </a:lnSpc>
              <a:buFont typeface="Arial" panose="020B0604020202020204" pitchFamily="34" charset="0"/>
              <a:buChar char="•"/>
            </a:pPr>
            <a:r>
              <a:rPr lang="en-US" sz="2800" dirty="0">
                <a:latin typeface="Calibir"/>
              </a:rPr>
              <a:t>irrelevant columns</a:t>
            </a:r>
          </a:p>
        </p:txBody>
      </p:sp>
      <p:sp>
        <p:nvSpPr>
          <p:cNvPr id="7" name="object 2">
            <a:extLst>
              <a:ext uri="{FF2B5EF4-FFF2-40B4-BE49-F238E27FC236}">
                <a16:creationId xmlns:a16="http://schemas.microsoft.com/office/drawing/2014/main" id="{927410C0-6015-6069-43F2-7C3C20667CEC}"/>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107985479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B31E8-0966-5081-E266-24AFBBF395CA}"/>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44A8C7D9-D236-C078-B079-CD4A3C9AA9D5}"/>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D2BD6A16-C765-39B3-64D3-A247AE33EA38}"/>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D14A6FC9-37A0-4376-9B06-9F6BEAB44089}"/>
              </a:ext>
            </a:extLst>
          </p:cNvPr>
          <p:cNvSpPr txBox="1"/>
          <p:nvPr/>
        </p:nvSpPr>
        <p:spPr>
          <a:xfrm>
            <a:off x="0" y="752630"/>
            <a:ext cx="10913806" cy="4549835"/>
          </a:xfrm>
          <a:prstGeom prst="rect">
            <a:avLst/>
          </a:prstGeom>
          <a:noFill/>
        </p:spPr>
        <p:txBody>
          <a:bodyPr wrap="square">
            <a:spAutoFit/>
          </a:bodyPr>
          <a:lstStyle/>
          <a:p>
            <a:pPr>
              <a:lnSpc>
                <a:spcPct val="150000"/>
              </a:lnSpc>
            </a:pPr>
            <a:r>
              <a:rPr lang="en-US" sz="2800" b="1" dirty="0">
                <a:latin typeface="Calibir"/>
              </a:rPr>
              <a:t>Slide 5: Preprocessing steps</a:t>
            </a:r>
          </a:p>
          <a:p>
            <a:pPr marL="914400" lvl="1" indent="-457200">
              <a:lnSpc>
                <a:spcPct val="150000"/>
              </a:lnSpc>
              <a:buFont typeface="Arial" panose="020B0604020202020204" pitchFamily="34" charset="0"/>
              <a:buChar char="•"/>
            </a:pPr>
            <a:r>
              <a:rPr lang="en-US" sz="2800" dirty="0">
                <a:latin typeface="Calibir"/>
              </a:rPr>
              <a:t>before vs after </a:t>
            </a:r>
          </a:p>
          <a:p>
            <a:pPr marL="914400" lvl="1" indent="-457200">
              <a:lnSpc>
                <a:spcPct val="150000"/>
              </a:lnSpc>
              <a:buFont typeface="Arial" panose="020B0604020202020204" pitchFamily="34" charset="0"/>
              <a:buChar char="•"/>
            </a:pPr>
            <a:r>
              <a:rPr lang="en-US" sz="2800" dirty="0">
                <a:latin typeface="Calibir"/>
              </a:rPr>
              <a:t>screenshots </a:t>
            </a:r>
          </a:p>
          <a:p>
            <a:pPr>
              <a:lnSpc>
                <a:spcPct val="150000"/>
              </a:lnSpc>
            </a:pPr>
            <a:r>
              <a:rPr lang="en-US" sz="2800" b="1" dirty="0">
                <a:latin typeface="Calibir"/>
              </a:rPr>
              <a:t>Slide 6: Model 1</a:t>
            </a:r>
          </a:p>
          <a:p>
            <a:pPr marL="914400" lvl="1" indent="-457200">
              <a:lnSpc>
                <a:spcPct val="150000"/>
              </a:lnSpc>
              <a:buFont typeface="Arial" panose="020B0604020202020204" pitchFamily="34" charset="0"/>
              <a:buChar char="•"/>
            </a:pPr>
            <a:r>
              <a:rPr lang="en-US" sz="2800" dirty="0">
                <a:latin typeface="Calibir"/>
              </a:rPr>
              <a:t>model explanation </a:t>
            </a:r>
          </a:p>
          <a:p>
            <a:pPr marL="914400" lvl="1" indent="-457200">
              <a:lnSpc>
                <a:spcPct val="150000"/>
              </a:lnSpc>
              <a:buFont typeface="Arial" panose="020B0604020202020204" pitchFamily="34" charset="0"/>
              <a:buChar char="•"/>
            </a:pPr>
            <a:r>
              <a:rPr lang="en-US" sz="2800" dirty="0">
                <a:latin typeface="Calibir"/>
              </a:rPr>
              <a:t>why chosen </a:t>
            </a:r>
          </a:p>
          <a:p>
            <a:pPr marL="914400" lvl="1" indent="-457200">
              <a:lnSpc>
                <a:spcPct val="150000"/>
              </a:lnSpc>
              <a:buFont typeface="Arial" panose="020B0604020202020204" pitchFamily="34" charset="0"/>
              <a:buChar char="•"/>
            </a:pPr>
            <a:r>
              <a:rPr lang="en-US" sz="2800" dirty="0">
                <a:latin typeface="Calibir"/>
              </a:rPr>
              <a:t>assumptions</a:t>
            </a:r>
          </a:p>
        </p:txBody>
      </p:sp>
      <p:sp>
        <p:nvSpPr>
          <p:cNvPr id="7" name="object 2">
            <a:extLst>
              <a:ext uri="{FF2B5EF4-FFF2-40B4-BE49-F238E27FC236}">
                <a16:creationId xmlns:a16="http://schemas.microsoft.com/office/drawing/2014/main" id="{7FD0BE20-CEA4-C48C-9DA5-D91AD8CB6F70}"/>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49410334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FD325-C67C-51E4-428D-4993A00F274F}"/>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54A6A860-95EF-345C-B530-138B6EEB175C}"/>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BD6FB108-8390-AF2C-D451-C8C28DF0C6F9}"/>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8089E418-4231-0582-D921-D2483C549A2F}"/>
              </a:ext>
            </a:extLst>
          </p:cNvPr>
          <p:cNvSpPr txBox="1"/>
          <p:nvPr/>
        </p:nvSpPr>
        <p:spPr>
          <a:xfrm>
            <a:off x="0" y="752630"/>
            <a:ext cx="10913806" cy="5842497"/>
          </a:xfrm>
          <a:prstGeom prst="rect">
            <a:avLst/>
          </a:prstGeom>
          <a:noFill/>
        </p:spPr>
        <p:txBody>
          <a:bodyPr wrap="square">
            <a:spAutoFit/>
          </a:bodyPr>
          <a:lstStyle/>
          <a:p>
            <a:pPr>
              <a:lnSpc>
                <a:spcPct val="150000"/>
              </a:lnSpc>
            </a:pPr>
            <a:r>
              <a:rPr lang="en-US" sz="2800" b="1" dirty="0">
                <a:latin typeface="Calibir"/>
              </a:rPr>
              <a:t>Slide 7: Model 2</a:t>
            </a:r>
          </a:p>
          <a:p>
            <a:pPr marL="914400" lvl="1" indent="-457200">
              <a:lnSpc>
                <a:spcPct val="150000"/>
              </a:lnSpc>
              <a:buFont typeface="Arial" panose="020B0604020202020204" pitchFamily="34" charset="0"/>
              <a:buChar char="•"/>
            </a:pPr>
            <a:r>
              <a:rPr lang="en-US" sz="2800" dirty="0">
                <a:latin typeface="Calibir"/>
              </a:rPr>
              <a:t>model explanation </a:t>
            </a:r>
          </a:p>
          <a:p>
            <a:pPr marL="914400" lvl="1" indent="-457200">
              <a:lnSpc>
                <a:spcPct val="150000"/>
              </a:lnSpc>
              <a:buFont typeface="Arial" panose="020B0604020202020204" pitchFamily="34" charset="0"/>
              <a:buChar char="•"/>
            </a:pPr>
            <a:r>
              <a:rPr lang="en-US" sz="2800" dirty="0">
                <a:latin typeface="Calibir"/>
              </a:rPr>
              <a:t>why chosen </a:t>
            </a:r>
          </a:p>
          <a:p>
            <a:pPr marL="914400" lvl="1" indent="-457200">
              <a:lnSpc>
                <a:spcPct val="150000"/>
              </a:lnSpc>
              <a:buFont typeface="Arial" panose="020B0604020202020204" pitchFamily="34" charset="0"/>
              <a:buChar char="•"/>
            </a:pPr>
            <a:r>
              <a:rPr lang="en-US" sz="2800" dirty="0">
                <a:latin typeface="Calibir"/>
              </a:rPr>
              <a:t>assumptions </a:t>
            </a:r>
          </a:p>
          <a:p>
            <a:pPr>
              <a:lnSpc>
                <a:spcPct val="150000"/>
              </a:lnSpc>
            </a:pPr>
            <a:r>
              <a:rPr lang="en-US" sz="2800" b="1" dirty="0">
                <a:latin typeface="Calibir"/>
              </a:rPr>
              <a:t>Slide 8: Training workflow</a:t>
            </a:r>
          </a:p>
          <a:p>
            <a:pPr marL="914400" lvl="1" indent="-457200">
              <a:lnSpc>
                <a:spcPct val="150000"/>
              </a:lnSpc>
              <a:buFont typeface="Arial" panose="020B0604020202020204" pitchFamily="34" charset="0"/>
              <a:buChar char="•"/>
            </a:pPr>
            <a:r>
              <a:rPr lang="en-US" sz="2800" dirty="0">
                <a:latin typeface="Calibir"/>
              </a:rPr>
              <a:t>tools </a:t>
            </a:r>
          </a:p>
          <a:p>
            <a:pPr marL="914400" lvl="1" indent="-457200">
              <a:lnSpc>
                <a:spcPct val="150000"/>
              </a:lnSpc>
              <a:buFont typeface="Arial" panose="020B0604020202020204" pitchFamily="34" charset="0"/>
              <a:buChar char="•"/>
            </a:pPr>
            <a:r>
              <a:rPr lang="en-US" sz="2800" dirty="0">
                <a:latin typeface="Calibir"/>
              </a:rPr>
              <a:t>train/test split </a:t>
            </a:r>
          </a:p>
          <a:p>
            <a:pPr marL="914400" lvl="1" indent="-457200">
              <a:lnSpc>
                <a:spcPct val="150000"/>
              </a:lnSpc>
              <a:buFont typeface="Arial" panose="020B0604020202020204" pitchFamily="34" charset="0"/>
              <a:buChar char="•"/>
            </a:pPr>
            <a:r>
              <a:rPr lang="en-US" sz="2800" dirty="0">
                <a:latin typeface="Calibir"/>
              </a:rPr>
              <a:t>parameter settings </a:t>
            </a:r>
          </a:p>
          <a:p>
            <a:pPr marL="914400" lvl="1" indent="-457200">
              <a:lnSpc>
                <a:spcPct val="150000"/>
              </a:lnSpc>
              <a:buFont typeface="Arial" panose="020B0604020202020204" pitchFamily="34" charset="0"/>
              <a:buChar char="•"/>
            </a:pPr>
            <a:r>
              <a:rPr lang="en-US" sz="2800" dirty="0">
                <a:latin typeface="Calibir"/>
              </a:rPr>
              <a:t>screenshots</a:t>
            </a:r>
          </a:p>
        </p:txBody>
      </p:sp>
      <p:sp>
        <p:nvSpPr>
          <p:cNvPr id="7" name="object 2">
            <a:extLst>
              <a:ext uri="{FF2B5EF4-FFF2-40B4-BE49-F238E27FC236}">
                <a16:creationId xmlns:a16="http://schemas.microsoft.com/office/drawing/2014/main" id="{C1252782-C4D5-AE4A-DDC2-01A7A6F1324A}"/>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39046889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D4A1B-86B0-7391-1CA3-F5F55B7CC6AE}"/>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8539A63B-7B42-7A36-690A-5C54F903901F}"/>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14D95EF5-FEE1-3043-2F1C-E6B8FC8938E7}"/>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5141BE81-0A47-5602-FAA6-C55ED528007D}"/>
              </a:ext>
            </a:extLst>
          </p:cNvPr>
          <p:cNvSpPr txBox="1"/>
          <p:nvPr/>
        </p:nvSpPr>
        <p:spPr>
          <a:xfrm>
            <a:off x="0" y="752630"/>
            <a:ext cx="10913806" cy="3903504"/>
          </a:xfrm>
          <a:prstGeom prst="rect">
            <a:avLst/>
          </a:prstGeom>
          <a:noFill/>
        </p:spPr>
        <p:txBody>
          <a:bodyPr wrap="square">
            <a:spAutoFit/>
          </a:bodyPr>
          <a:lstStyle/>
          <a:p>
            <a:pPr>
              <a:lnSpc>
                <a:spcPct val="150000"/>
              </a:lnSpc>
            </a:pPr>
            <a:r>
              <a:rPr lang="en-US" sz="2800" b="1" dirty="0">
                <a:latin typeface="Calibir"/>
              </a:rPr>
              <a:t>Slide 9: Evaluation results</a:t>
            </a:r>
          </a:p>
          <a:p>
            <a:pPr marL="914400" lvl="1" indent="-457200">
              <a:lnSpc>
                <a:spcPct val="150000"/>
              </a:lnSpc>
              <a:buFont typeface="Arial" panose="020B0604020202020204" pitchFamily="34" charset="0"/>
              <a:buChar char="•"/>
            </a:pPr>
            <a:r>
              <a:rPr lang="en-US" sz="2800" dirty="0">
                <a:latin typeface="Calibir"/>
              </a:rPr>
              <a:t>metrics </a:t>
            </a:r>
          </a:p>
          <a:p>
            <a:pPr marL="914400" lvl="1" indent="-457200">
              <a:lnSpc>
                <a:spcPct val="150000"/>
              </a:lnSpc>
              <a:buFont typeface="Arial" panose="020B0604020202020204" pitchFamily="34" charset="0"/>
              <a:buChar char="•"/>
            </a:pPr>
            <a:r>
              <a:rPr lang="en-US" sz="2800" dirty="0">
                <a:latin typeface="Calibir"/>
              </a:rPr>
              <a:t>charts/tables </a:t>
            </a:r>
          </a:p>
          <a:p>
            <a:pPr marL="914400" lvl="1" indent="-457200">
              <a:lnSpc>
                <a:spcPct val="150000"/>
              </a:lnSpc>
              <a:buFont typeface="Arial" panose="020B0604020202020204" pitchFamily="34" charset="0"/>
              <a:buChar char="•"/>
            </a:pPr>
            <a:r>
              <a:rPr lang="en-US" sz="2800" dirty="0">
                <a:latin typeface="Calibir"/>
              </a:rPr>
              <a:t>confusion matrix if classification </a:t>
            </a:r>
          </a:p>
          <a:p>
            <a:pPr>
              <a:lnSpc>
                <a:spcPct val="150000"/>
              </a:lnSpc>
            </a:pPr>
            <a:r>
              <a:rPr lang="en-US" sz="2800" b="1" dirty="0">
                <a:latin typeface="Calibir"/>
              </a:rPr>
              <a:t>Slide 10: Comparison table</a:t>
            </a:r>
          </a:p>
          <a:p>
            <a:pPr marL="914400" lvl="1" indent="-457200">
              <a:lnSpc>
                <a:spcPct val="150000"/>
              </a:lnSpc>
              <a:buFont typeface="Arial" panose="020B0604020202020204" pitchFamily="34" charset="0"/>
              <a:buChar char="•"/>
            </a:pPr>
            <a:r>
              <a:rPr lang="en-US" sz="2800" dirty="0">
                <a:latin typeface="Calibir"/>
              </a:rPr>
              <a:t>direct side-by-side comparison</a:t>
            </a:r>
          </a:p>
        </p:txBody>
      </p:sp>
      <p:sp>
        <p:nvSpPr>
          <p:cNvPr id="7" name="object 2">
            <a:extLst>
              <a:ext uri="{FF2B5EF4-FFF2-40B4-BE49-F238E27FC236}">
                <a16:creationId xmlns:a16="http://schemas.microsoft.com/office/drawing/2014/main" id="{86172EE7-631F-D569-275B-4787A9C44123}"/>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278394001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8A732-3687-22A4-18C3-FB8ADDEB75F8}"/>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F41DF9F7-B2A8-46BC-71C9-7BEEF515042C}"/>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1ADB8752-6796-D2F3-1DDA-680CD2F6A20F}"/>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0DE895A8-B121-C483-7D2C-9180AC22A154}"/>
              </a:ext>
            </a:extLst>
          </p:cNvPr>
          <p:cNvSpPr txBox="1"/>
          <p:nvPr/>
        </p:nvSpPr>
        <p:spPr>
          <a:xfrm>
            <a:off x="0" y="752630"/>
            <a:ext cx="10913806" cy="3257174"/>
          </a:xfrm>
          <a:prstGeom prst="rect">
            <a:avLst/>
          </a:prstGeom>
          <a:noFill/>
        </p:spPr>
        <p:txBody>
          <a:bodyPr wrap="square">
            <a:spAutoFit/>
          </a:bodyPr>
          <a:lstStyle/>
          <a:p>
            <a:pPr>
              <a:lnSpc>
                <a:spcPct val="150000"/>
              </a:lnSpc>
            </a:pPr>
            <a:r>
              <a:rPr lang="en-US" sz="2800" b="1" dirty="0">
                <a:latin typeface="Calibir"/>
              </a:rPr>
              <a:t>Slide 11: Final model choice</a:t>
            </a:r>
          </a:p>
          <a:p>
            <a:pPr marL="914400" lvl="1" indent="-457200">
              <a:lnSpc>
                <a:spcPct val="150000"/>
              </a:lnSpc>
              <a:buFont typeface="Arial" panose="020B0604020202020204" pitchFamily="34" charset="0"/>
              <a:buChar char="•"/>
            </a:pPr>
            <a:r>
              <a:rPr lang="en-US" sz="2800" dirty="0">
                <a:latin typeface="Calibir"/>
              </a:rPr>
              <a:t>why selected </a:t>
            </a:r>
          </a:p>
          <a:p>
            <a:pPr marL="914400" lvl="1" indent="-457200">
              <a:lnSpc>
                <a:spcPct val="150000"/>
              </a:lnSpc>
              <a:buFont typeface="Arial" panose="020B0604020202020204" pitchFamily="34" charset="0"/>
              <a:buChar char="•"/>
            </a:pPr>
            <a:r>
              <a:rPr lang="en-US" sz="2800" dirty="0">
                <a:latin typeface="Calibir"/>
              </a:rPr>
              <a:t>trade-offs </a:t>
            </a:r>
          </a:p>
          <a:p>
            <a:pPr>
              <a:lnSpc>
                <a:spcPct val="150000"/>
              </a:lnSpc>
            </a:pPr>
            <a:r>
              <a:rPr lang="en-US" sz="2800" b="1" dirty="0">
                <a:latin typeface="Calibir"/>
              </a:rPr>
              <a:t>Slide 12: Business insights</a:t>
            </a:r>
          </a:p>
          <a:p>
            <a:pPr marL="914400" lvl="1" indent="-457200">
              <a:lnSpc>
                <a:spcPct val="150000"/>
              </a:lnSpc>
              <a:buFont typeface="Arial" panose="020B0604020202020204" pitchFamily="34" charset="0"/>
              <a:buChar char="•"/>
            </a:pPr>
            <a:r>
              <a:rPr lang="en-US" sz="2800" dirty="0">
                <a:latin typeface="Calibir"/>
              </a:rPr>
              <a:t>3–5 insights</a:t>
            </a:r>
          </a:p>
        </p:txBody>
      </p:sp>
      <p:sp>
        <p:nvSpPr>
          <p:cNvPr id="7" name="object 2">
            <a:extLst>
              <a:ext uri="{FF2B5EF4-FFF2-40B4-BE49-F238E27FC236}">
                <a16:creationId xmlns:a16="http://schemas.microsoft.com/office/drawing/2014/main" id="{73D8DE30-2A26-31F7-26A1-9B733CB511E7}"/>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95956662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3DEA7-8544-9662-2862-1A8175B08F0E}"/>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A4747C73-EB10-A69F-C6C1-103AE139CDB2}"/>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B1E52677-FDB3-5A21-DAA6-D943DF599E74}"/>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21BA0824-58BC-A246-94B8-878F4CBEA9F9}"/>
              </a:ext>
            </a:extLst>
          </p:cNvPr>
          <p:cNvSpPr txBox="1"/>
          <p:nvPr/>
        </p:nvSpPr>
        <p:spPr>
          <a:xfrm>
            <a:off x="0" y="752630"/>
            <a:ext cx="10913806" cy="4549835"/>
          </a:xfrm>
          <a:prstGeom prst="rect">
            <a:avLst/>
          </a:prstGeom>
          <a:noFill/>
        </p:spPr>
        <p:txBody>
          <a:bodyPr wrap="square">
            <a:spAutoFit/>
          </a:bodyPr>
          <a:lstStyle/>
          <a:p>
            <a:pPr>
              <a:lnSpc>
                <a:spcPct val="150000"/>
              </a:lnSpc>
            </a:pPr>
            <a:r>
              <a:rPr lang="en-US" sz="2800" b="1" dirty="0">
                <a:latin typeface="Calibir"/>
              </a:rPr>
              <a:t>Slide 13: Ethics and bias</a:t>
            </a:r>
          </a:p>
          <a:p>
            <a:pPr marL="914400" lvl="1" indent="-457200">
              <a:lnSpc>
                <a:spcPct val="150000"/>
              </a:lnSpc>
              <a:buFont typeface="Arial" panose="020B0604020202020204" pitchFamily="34" charset="0"/>
              <a:buChar char="•"/>
            </a:pPr>
            <a:r>
              <a:rPr lang="en-US" sz="2800" dirty="0">
                <a:latin typeface="Calibir"/>
              </a:rPr>
              <a:t>real examples from variables </a:t>
            </a:r>
          </a:p>
          <a:p>
            <a:pPr marL="914400" lvl="1" indent="-457200">
              <a:lnSpc>
                <a:spcPct val="150000"/>
              </a:lnSpc>
              <a:buFont typeface="Arial" panose="020B0604020202020204" pitchFamily="34" charset="0"/>
              <a:buChar char="•"/>
            </a:pPr>
            <a:r>
              <a:rPr lang="en-US" sz="2800" dirty="0">
                <a:latin typeface="Calibir"/>
              </a:rPr>
              <a:t>mitigation </a:t>
            </a:r>
          </a:p>
          <a:p>
            <a:pPr>
              <a:lnSpc>
                <a:spcPct val="150000"/>
              </a:lnSpc>
            </a:pPr>
            <a:r>
              <a:rPr lang="en-US" sz="2800" b="1" dirty="0">
                <a:latin typeface="Calibir"/>
              </a:rPr>
              <a:t>Slide 14: Reflection</a:t>
            </a:r>
          </a:p>
          <a:p>
            <a:pPr marL="914400" lvl="1" indent="-457200">
              <a:lnSpc>
                <a:spcPct val="150000"/>
              </a:lnSpc>
              <a:buFont typeface="Arial" panose="020B0604020202020204" pitchFamily="34" charset="0"/>
              <a:buChar char="•"/>
            </a:pPr>
            <a:r>
              <a:rPr lang="en-US" sz="2800" dirty="0">
                <a:latin typeface="Calibir"/>
              </a:rPr>
              <a:t>challenges </a:t>
            </a:r>
          </a:p>
          <a:p>
            <a:pPr marL="914400" lvl="1" indent="-457200">
              <a:lnSpc>
                <a:spcPct val="150000"/>
              </a:lnSpc>
              <a:buFont typeface="Arial" panose="020B0604020202020204" pitchFamily="34" charset="0"/>
              <a:buChar char="•"/>
            </a:pPr>
            <a:r>
              <a:rPr lang="en-US" sz="2800" dirty="0">
                <a:latin typeface="Calibir"/>
              </a:rPr>
              <a:t>lessons learned </a:t>
            </a:r>
          </a:p>
          <a:p>
            <a:pPr marL="914400" lvl="1" indent="-457200">
              <a:lnSpc>
                <a:spcPct val="150000"/>
              </a:lnSpc>
              <a:buFont typeface="Arial" panose="020B0604020202020204" pitchFamily="34" charset="0"/>
              <a:buChar char="•"/>
            </a:pPr>
            <a:r>
              <a:rPr lang="en-US" sz="2800" dirty="0">
                <a:latin typeface="Calibir"/>
              </a:rPr>
              <a:t>future improvements</a:t>
            </a:r>
          </a:p>
        </p:txBody>
      </p:sp>
      <p:sp>
        <p:nvSpPr>
          <p:cNvPr id="7" name="object 2">
            <a:extLst>
              <a:ext uri="{FF2B5EF4-FFF2-40B4-BE49-F238E27FC236}">
                <a16:creationId xmlns:a16="http://schemas.microsoft.com/office/drawing/2014/main" id="{82C748A0-33AB-91FF-846B-1DC6C79C7060}"/>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247755843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DAA9C-8577-E2EF-F562-17224E104D8C}"/>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AB28448B-C39E-F041-7B7F-F00834AA0056}"/>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AF1905FD-979B-228D-DBC8-11664B39482A}"/>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935A3052-8A78-107F-752B-8DEF62570656}"/>
              </a:ext>
            </a:extLst>
          </p:cNvPr>
          <p:cNvSpPr txBox="1"/>
          <p:nvPr/>
        </p:nvSpPr>
        <p:spPr>
          <a:xfrm>
            <a:off x="0" y="752630"/>
            <a:ext cx="10913806" cy="2610843"/>
          </a:xfrm>
          <a:prstGeom prst="rect">
            <a:avLst/>
          </a:prstGeom>
          <a:noFill/>
        </p:spPr>
        <p:txBody>
          <a:bodyPr wrap="square">
            <a:spAutoFit/>
          </a:bodyPr>
          <a:lstStyle/>
          <a:p>
            <a:pPr>
              <a:lnSpc>
                <a:spcPct val="150000"/>
              </a:lnSpc>
            </a:pPr>
            <a:r>
              <a:rPr lang="en-US" sz="2800" b="1" dirty="0">
                <a:latin typeface="Calibir"/>
              </a:rPr>
              <a:t>Slide 15: Conclusion and Q&amp;A</a:t>
            </a:r>
          </a:p>
          <a:p>
            <a:pPr>
              <a:lnSpc>
                <a:spcPct val="150000"/>
              </a:lnSpc>
            </a:pPr>
            <a:r>
              <a:rPr lang="en-US" sz="2800" b="1" dirty="0">
                <a:latin typeface="Calibir"/>
              </a:rPr>
              <a:t>Presentation tip</a:t>
            </a:r>
          </a:p>
          <a:p>
            <a:pPr>
              <a:lnSpc>
                <a:spcPct val="150000"/>
              </a:lnSpc>
            </a:pPr>
            <a:r>
              <a:rPr lang="en-US" sz="2800" dirty="0">
                <a:latin typeface="Calibir"/>
              </a:rPr>
              <a:t>Do not put too much text on slides.</a:t>
            </a:r>
            <a:br>
              <a:rPr lang="en-US" sz="2800" dirty="0">
                <a:latin typeface="Calibir"/>
              </a:rPr>
            </a:br>
            <a:r>
              <a:rPr lang="en-US" sz="2800" dirty="0">
                <a:latin typeface="Calibir"/>
              </a:rPr>
              <a:t>Slides should support speaking, not replace it.</a:t>
            </a:r>
          </a:p>
        </p:txBody>
      </p:sp>
      <p:sp>
        <p:nvSpPr>
          <p:cNvPr id="7" name="object 2">
            <a:extLst>
              <a:ext uri="{FF2B5EF4-FFF2-40B4-BE49-F238E27FC236}">
                <a16:creationId xmlns:a16="http://schemas.microsoft.com/office/drawing/2014/main" id="{93A2FB98-61B2-DB70-13DF-810E87E82782}"/>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222956981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CB587-9C6B-F73D-9380-D73975D9D630}"/>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CD6ADCCC-81D3-80A9-C887-5463A3978536}"/>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91D97372-4DD6-AEB1-FC10-7CAC11CC932A}"/>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170E6EA7-C67E-3AAB-40AC-5EEF45F8DCC1}"/>
              </a:ext>
            </a:extLst>
          </p:cNvPr>
          <p:cNvSpPr txBox="1"/>
          <p:nvPr/>
        </p:nvSpPr>
        <p:spPr>
          <a:xfrm>
            <a:off x="0" y="752630"/>
            <a:ext cx="10913806" cy="3903504"/>
          </a:xfrm>
          <a:prstGeom prst="rect">
            <a:avLst/>
          </a:prstGeom>
          <a:noFill/>
        </p:spPr>
        <p:txBody>
          <a:bodyPr wrap="square">
            <a:spAutoFit/>
          </a:bodyPr>
          <a:lstStyle/>
          <a:p>
            <a:pPr>
              <a:lnSpc>
                <a:spcPct val="150000"/>
              </a:lnSpc>
            </a:pPr>
            <a:r>
              <a:rPr lang="en-US" sz="2800" b="1" dirty="0">
                <a:latin typeface="Calibir"/>
              </a:rPr>
              <a:t>8. Example project idea</a:t>
            </a:r>
          </a:p>
          <a:p>
            <a:pPr>
              <a:lnSpc>
                <a:spcPct val="150000"/>
              </a:lnSpc>
            </a:pPr>
            <a:r>
              <a:rPr lang="en-US" sz="2800" dirty="0">
                <a:latin typeface="Calibir"/>
              </a:rPr>
              <a:t>Here is one full example.</a:t>
            </a:r>
          </a:p>
          <a:p>
            <a:pPr>
              <a:lnSpc>
                <a:spcPct val="150000"/>
              </a:lnSpc>
            </a:pPr>
            <a:r>
              <a:rPr lang="en-US" sz="2800" b="1" dirty="0">
                <a:latin typeface="Calibir"/>
              </a:rPr>
              <a:t>Example dataset</a:t>
            </a:r>
          </a:p>
          <a:p>
            <a:pPr>
              <a:lnSpc>
                <a:spcPct val="150000"/>
              </a:lnSpc>
            </a:pPr>
            <a:r>
              <a:rPr lang="en-US" sz="2800" b="1" dirty="0">
                <a:latin typeface="Calibir"/>
              </a:rPr>
              <a:t>IBM HR Attrition Dataset</a:t>
            </a:r>
            <a:endParaRPr lang="en-US" sz="2800" dirty="0">
              <a:latin typeface="Calibir"/>
            </a:endParaRPr>
          </a:p>
          <a:p>
            <a:pPr>
              <a:lnSpc>
                <a:spcPct val="150000"/>
              </a:lnSpc>
            </a:pPr>
            <a:r>
              <a:rPr lang="en-US" sz="2800" b="1" dirty="0">
                <a:latin typeface="Calibir"/>
              </a:rPr>
              <a:t>Predictive problem</a:t>
            </a:r>
          </a:p>
          <a:p>
            <a:pPr>
              <a:lnSpc>
                <a:spcPct val="150000"/>
              </a:lnSpc>
            </a:pPr>
            <a:r>
              <a:rPr lang="en-US" sz="2800" dirty="0">
                <a:latin typeface="Calibir"/>
              </a:rPr>
              <a:t>Predict whether an employee will leave the company.</a:t>
            </a:r>
          </a:p>
        </p:txBody>
      </p:sp>
      <p:sp>
        <p:nvSpPr>
          <p:cNvPr id="7" name="object 2">
            <a:extLst>
              <a:ext uri="{FF2B5EF4-FFF2-40B4-BE49-F238E27FC236}">
                <a16:creationId xmlns:a16="http://schemas.microsoft.com/office/drawing/2014/main" id="{81DB8E86-F09F-0CF2-60FE-4182D0B66E18}"/>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62105533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63101-A28E-1663-98AF-D0A1FFF1F805}"/>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3C790A80-A413-9E16-BF8B-5356B4C01DF5}"/>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960F7F3A-6ED5-CDB9-BFC1-17BB3E7C9421}"/>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E812F24F-B8F6-DC56-CB60-41068EF8DF10}"/>
              </a:ext>
            </a:extLst>
          </p:cNvPr>
          <p:cNvSpPr txBox="1"/>
          <p:nvPr/>
        </p:nvSpPr>
        <p:spPr>
          <a:xfrm>
            <a:off x="0" y="752630"/>
            <a:ext cx="10913806" cy="3903504"/>
          </a:xfrm>
          <a:prstGeom prst="rect">
            <a:avLst/>
          </a:prstGeom>
          <a:noFill/>
        </p:spPr>
        <p:txBody>
          <a:bodyPr wrap="square">
            <a:spAutoFit/>
          </a:bodyPr>
          <a:lstStyle/>
          <a:p>
            <a:pPr>
              <a:lnSpc>
                <a:spcPct val="150000"/>
              </a:lnSpc>
            </a:pPr>
            <a:r>
              <a:rPr lang="en-US" sz="2800" b="1" dirty="0">
                <a:latin typeface="Calibir"/>
              </a:rPr>
              <a:t>Model 1</a:t>
            </a:r>
          </a:p>
          <a:p>
            <a:pPr>
              <a:lnSpc>
                <a:spcPct val="150000"/>
              </a:lnSpc>
            </a:pPr>
            <a:r>
              <a:rPr lang="en-US" sz="2800" b="1" dirty="0">
                <a:latin typeface="Calibir"/>
              </a:rPr>
              <a:t>Logistic Regression</a:t>
            </a:r>
          </a:p>
          <a:p>
            <a:pPr>
              <a:lnSpc>
                <a:spcPct val="150000"/>
              </a:lnSpc>
            </a:pPr>
            <a:r>
              <a:rPr lang="en-US" sz="2800" dirty="0">
                <a:latin typeface="Calibir"/>
              </a:rPr>
              <a:t>Why:</a:t>
            </a:r>
          </a:p>
          <a:p>
            <a:pPr marL="914400" lvl="1" indent="-457200">
              <a:lnSpc>
                <a:spcPct val="150000"/>
              </a:lnSpc>
              <a:buFont typeface="Arial" panose="020B0604020202020204" pitchFamily="34" charset="0"/>
              <a:buChar char="•"/>
            </a:pPr>
            <a:r>
              <a:rPr lang="en-US" sz="2800" dirty="0">
                <a:latin typeface="Calibir"/>
              </a:rPr>
              <a:t>good baseline model </a:t>
            </a:r>
          </a:p>
          <a:p>
            <a:pPr marL="914400" lvl="1" indent="-457200">
              <a:lnSpc>
                <a:spcPct val="150000"/>
              </a:lnSpc>
              <a:buFont typeface="Arial" panose="020B0604020202020204" pitchFamily="34" charset="0"/>
              <a:buChar char="•"/>
            </a:pPr>
            <a:r>
              <a:rPr lang="en-US" sz="2800" dirty="0">
                <a:latin typeface="Calibir"/>
              </a:rPr>
              <a:t>interpretable </a:t>
            </a:r>
          </a:p>
          <a:p>
            <a:pPr marL="914400" lvl="1" indent="-457200">
              <a:lnSpc>
                <a:spcPct val="150000"/>
              </a:lnSpc>
              <a:buFont typeface="Arial" panose="020B0604020202020204" pitchFamily="34" charset="0"/>
              <a:buChar char="•"/>
            </a:pPr>
            <a:r>
              <a:rPr lang="en-US" sz="2800" dirty="0">
                <a:latin typeface="Calibir"/>
              </a:rPr>
              <a:t>suitable for binary classification</a:t>
            </a:r>
          </a:p>
        </p:txBody>
      </p:sp>
      <p:sp>
        <p:nvSpPr>
          <p:cNvPr id="7" name="object 2">
            <a:extLst>
              <a:ext uri="{FF2B5EF4-FFF2-40B4-BE49-F238E27FC236}">
                <a16:creationId xmlns:a16="http://schemas.microsoft.com/office/drawing/2014/main" id="{4AA7B134-35CB-5977-B165-94ACDF9BAFDF}"/>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142722078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E09F4-2B79-89A3-F916-3AD55372F574}"/>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7CB5B263-7752-2EDF-172D-073BE632CAB4}"/>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BC0CA9F0-D00B-B854-B6AD-1797D08C1D22}"/>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9F544ED1-31D3-D7A1-DA32-F012EEB35C6F}"/>
              </a:ext>
            </a:extLst>
          </p:cNvPr>
          <p:cNvSpPr txBox="1"/>
          <p:nvPr/>
        </p:nvSpPr>
        <p:spPr>
          <a:xfrm>
            <a:off x="0" y="752630"/>
            <a:ext cx="10913806" cy="3903504"/>
          </a:xfrm>
          <a:prstGeom prst="rect">
            <a:avLst/>
          </a:prstGeom>
          <a:noFill/>
        </p:spPr>
        <p:txBody>
          <a:bodyPr wrap="square">
            <a:spAutoFit/>
          </a:bodyPr>
          <a:lstStyle/>
          <a:p>
            <a:pPr>
              <a:lnSpc>
                <a:spcPct val="150000"/>
              </a:lnSpc>
            </a:pPr>
            <a:r>
              <a:rPr lang="en-US" sz="2800" b="1" dirty="0">
                <a:latin typeface="Calibir"/>
              </a:rPr>
              <a:t>Model 2</a:t>
            </a:r>
          </a:p>
          <a:p>
            <a:pPr>
              <a:lnSpc>
                <a:spcPct val="150000"/>
              </a:lnSpc>
            </a:pPr>
            <a:r>
              <a:rPr lang="en-US" sz="2800" b="1" dirty="0">
                <a:latin typeface="Calibir"/>
              </a:rPr>
              <a:t>Random Forest Classifier</a:t>
            </a:r>
            <a:endParaRPr lang="en-US" sz="2800" dirty="0">
              <a:latin typeface="Calibir"/>
            </a:endParaRPr>
          </a:p>
          <a:p>
            <a:pPr>
              <a:lnSpc>
                <a:spcPct val="150000"/>
              </a:lnSpc>
            </a:pPr>
            <a:r>
              <a:rPr lang="en-US" sz="2800" dirty="0">
                <a:latin typeface="Calibir"/>
              </a:rPr>
              <a:t>Why:</a:t>
            </a:r>
          </a:p>
          <a:p>
            <a:pPr marL="914400" lvl="1" indent="-457200">
              <a:lnSpc>
                <a:spcPct val="150000"/>
              </a:lnSpc>
              <a:buFont typeface="Arial" panose="020B0604020202020204" pitchFamily="34" charset="0"/>
              <a:buChar char="•"/>
            </a:pPr>
            <a:r>
              <a:rPr lang="en-US" sz="2800" dirty="0">
                <a:latin typeface="Calibir"/>
              </a:rPr>
              <a:t>handles non-linear patterns </a:t>
            </a:r>
          </a:p>
          <a:p>
            <a:pPr marL="914400" lvl="1" indent="-457200">
              <a:lnSpc>
                <a:spcPct val="150000"/>
              </a:lnSpc>
              <a:buFont typeface="Arial" panose="020B0604020202020204" pitchFamily="34" charset="0"/>
              <a:buChar char="•"/>
            </a:pPr>
            <a:r>
              <a:rPr lang="en-US" sz="2800" dirty="0">
                <a:latin typeface="Calibir"/>
              </a:rPr>
              <a:t>often gives stronger prediction performance </a:t>
            </a:r>
          </a:p>
          <a:p>
            <a:pPr marL="914400" lvl="1" indent="-457200">
              <a:lnSpc>
                <a:spcPct val="150000"/>
              </a:lnSpc>
              <a:buFont typeface="Arial" panose="020B0604020202020204" pitchFamily="34" charset="0"/>
              <a:buChar char="•"/>
            </a:pPr>
            <a:r>
              <a:rPr lang="en-US" sz="2800" dirty="0">
                <a:latin typeface="Calibir"/>
              </a:rPr>
              <a:t>useful for feature importance</a:t>
            </a:r>
          </a:p>
        </p:txBody>
      </p:sp>
      <p:sp>
        <p:nvSpPr>
          <p:cNvPr id="7" name="object 2">
            <a:extLst>
              <a:ext uri="{FF2B5EF4-FFF2-40B4-BE49-F238E27FC236}">
                <a16:creationId xmlns:a16="http://schemas.microsoft.com/office/drawing/2014/main" id="{04BCB384-3315-28AA-3ED7-476F992411E1}"/>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412607816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23AE2-322E-BFD3-D7B3-74C2D241F1E2}"/>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E92BE702-7FD5-8579-5AE1-A58685C04A8B}"/>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AE211168-937F-32D1-99D7-9B55D8F81AC7}"/>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0AF4F857-AF3D-7D84-C147-847E218D54C9}"/>
              </a:ext>
            </a:extLst>
          </p:cNvPr>
          <p:cNvSpPr txBox="1"/>
          <p:nvPr/>
        </p:nvSpPr>
        <p:spPr>
          <a:xfrm>
            <a:off x="0" y="752630"/>
            <a:ext cx="10913806" cy="3903504"/>
          </a:xfrm>
          <a:prstGeom prst="rect">
            <a:avLst/>
          </a:prstGeom>
          <a:noFill/>
        </p:spPr>
        <p:txBody>
          <a:bodyPr wrap="square">
            <a:spAutoFit/>
          </a:bodyPr>
          <a:lstStyle/>
          <a:p>
            <a:pPr>
              <a:lnSpc>
                <a:spcPct val="150000"/>
              </a:lnSpc>
            </a:pPr>
            <a:r>
              <a:rPr lang="en-US" sz="2800" b="1" dirty="0">
                <a:latin typeface="Calibir"/>
              </a:rPr>
              <a:t>Preprocessing example</a:t>
            </a:r>
          </a:p>
          <a:p>
            <a:pPr marL="914400" lvl="1" indent="-457200">
              <a:lnSpc>
                <a:spcPct val="150000"/>
              </a:lnSpc>
              <a:buFont typeface="Arial" panose="020B0604020202020204" pitchFamily="34" charset="0"/>
              <a:buChar char="•"/>
            </a:pPr>
            <a:r>
              <a:rPr lang="en-US" sz="2800" dirty="0">
                <a:latin typeface="Calibir"/>
              </a:rPr>
              <a:t>remove unnecessary employee ID field </a:t>
            </a:r>
          </a:p>
          <a:p>
            <a:pPr marL="914400" lvl="1" indent="-457200">
              <a:lnSpc>
                <a:spcPct val="150000"/>
              </a:lnSpc>
              <a:buFont typeface="Arial" panose="020B0604020202020204" pitchFamily="34" charset="0"/>
              <a:buChar char="•"/>
            </a:pPr>
            <a:r>
              <a:rPr lang="en-US" sz="2800" dirty="0">
                <a:latin typeface="Calibir"/>
              </a:rPr>
              <a:t>encode categorical variables </a:t>
            </a:r>
          </a:p>
          <a:p>
            <a:pPr marL="914400" lvl="1" indent="-457200">
              <a:lnSpc>
                <a:spcPct val="150000"/>
              </a:lnSpc>
              <a:buFont typeface="Arial" panose="020B0604020202020204" pitchFamily="34" charset="0"/>
              <a:buChar char="•"/>
            </a:pPr>
            <a:r>
              <a:rPr lang="en-US" sz="2800" dirty="0" err="1">
                <a:latin typeface="Calibir"/>
              </a:rPr>
              <a:t>standardise</a:t>
            </a:r>
            <a:r>
              <a:rPr lang="en-US" sz="2800" dirty="0">
                <a:latin typeface="Calibir"/>
              </a:rPr>
              <a:t> numeric features for logistic regression </a:t>
            </a:r>
          </a:p>
          <a:p>
            <a:pPr marL="914400" lvl="1" indent="-457200">
              <a:lnSpc>
                <a:spcPct val="150000"/>
              </a:lnSpc>
              <a:buFont typeface="Arial" panose="020B0604020202020204" pitchFamily="34" charset="0"/>
              <a:buChar char="•"/>
            </a:pPr>
            <a:r>
              <a:rPr lang="en-US" sz="2800" dirty="0">
                <a:latin typeface="Calibir"/>
              </a:rPr>
              <a:t>split data into train and test sets </a:t>
            </a:r>
          </a:p>
          <a:p>
            <a:pPr marL="914400" lvl="1" indent="-457200">
              <a:lnSpc>
                <a:spcPct val="150000"/>
              </a:lnSpc>
              <a:buFont typeface="Arial" panose="020B0604020202020204" pitchFamily="34" charset="0"/>
              <a:buChar char="•"/>
            </a:pPr>
            <a:r>
              <a:rPr lang="en-US" sz="2800" dirty="0">
                <a:latin typeface="Calibir"/>
              </a:rPr>
              <a:t>examine imbalance in attrition class</a:t>
            </a:r>
          </a:p>
        </p:txBody>
      </p:sp>
      <p:sp>
        <p:nvSpPr>
          <p:cNvPr id="7" name="object 2">
            <a:extLst>
              <a:ext uri="{FF2B5EF4-FFF2-40B4-BE49-F238E27FC236}">
                <a16:creationId xmlns:a16="http://schemas.microsoft.com/office/drawing/2014/main" id="{192C0A1D-64F0-49AA-95FC-F009554A3A72}"/>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29903186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D53DE-D17B-7A16-97C5-BB405A9272D9}"/>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24C66092-D7AC-8E6E-DA14-56A18A664107}"/>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1593DEDC-AAEC-B5FC-F016-197719C1913D}"/>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E0140686-D1E9-B70B-22F0-A62A991A986F}"/>
              </a:ext>
            </a:extLst>
          </p:cNvPr>
          <p:cNvSpPr txBox="1"/>
          <p:nvPr/>
        </p:nvSpPr>
        <p:spPr>
          <a:xfrm>
            <a:off x="0" y="752630"/>
            <a:ext cx="10913806" cy="3903504"/>
          </a:xfrm>
          <a:prstGeom prst="rect">
            <a:avLst/>
          </a:prstGeom>
          <a:noFill/>
        </p:spPr>
        <p:txBody>
          <a:bodyPr wrap="square">
            <a:spAutoFit/>
          </a:bodyPr>
          <a:lstStyle/>
          <a:p>
            <a:pPr>
              <a:lnSpc>
                <a:spcPct val="150000"/>
              </a:lnSpc>
            </a:pPr>
            <a:r>
              <a:rPr lang="en-US" sz="2800" b="1" dirty="0">
                <a:latin typeface="Calibir"/>
              </a:rPr>
              <a:t>Evaluation metrics</a:t>
            </a:r>
          </a:p>
          <a:p>
            <a:pPr marL="914400" lvl="1" indent="-457200">
              <a:lnSpc>
                <a:spcPct val="150000"/>
              </a:lnSpc>
              <a:buFont typeface="Arial" panose="020B0604020202020204" pitchFamily="34" charset="0"/>
              <a:buChar char="•"/>
            </a:pPr>
            <a:r>
              <a:rPr lang="en-US" sz="2800" dirty="0">
                <a:latin typeface="Calibir"/>
              </a:rPr>
              <a:t>accuracy </a:t>
            </a:r>
          </a:p>
          <a:p>
            <a:pPr marL="914400" lvl="1" indent="-457200">
              <a:lnSpc>
                <a:spcPct val="150000"/>
              </a:lnSpc>
              <a:buFont typeface="Arial" panose="020B0604020202020204" pitchFamily="34" charset="0"/>
              <a:buChar char="•"/>
            </a:pPr>
            <a:r>
              <a:rPr lang="en-US" sz="2800" dirty="0">
                <a:latin typeface="Calibir"/>
              </a:rPr>
              <a:t>precision </a:t>
            </a:r>
          </a:p>
          <a:p>
            <a:pPr marL="914400" lvl="1" indent="-457200">
              <a:lnSpc>
                <a:spcPct val="150000"/>
              </a:lnSpc>
              <a:buFont typeface="Arial" panose="020B0604020202020204" pitchFamily="34" charset="0"/>
              <a:buChar char="•"/>
            </a:pPr>
            <a:r>
              <a:rPr lang="en-US" sz="2800" dirty="0">
                <a:latin typeface="Calibir"/>
              </a:rPr>
              <a:t>recall </a:t>
            </a:r>
          </a:p>
          <a:p>
            <a:pPr marL="914400" lvl="1" indent="-457200">
              <a:lnSpc>
                <a:spcPct val="150000"/>
              </a:lnSpc>
              <a:buFont typeface="Arial" panose="020B0604020202020204" pitchFamily="34" charset="0"/>
              <a:buChar char="•"/>
            </a:pPr>
            <a:r>
              <a:rPr lang="en-US" sz="2800" dirty="0">
                <a:latin typeface="Calibir"/>
              </a:rPr>
              <a:t>F1-score </a:t>
            </a:r>
          </a:p>
          <a:p>
            <a:pPr marL="914400" lvl="1" indent="-457200">
              <a:lnSpc>
                <a:spcPct val="150000"/>
              </a:lnSpc>
              <a:buFont typeface="Arial" panose="020B0604020202020204" pitchFamily="34" charset="0"/>
              <a:buChar char="•"/>
            </a:pPr>
            <a:r>
              <a:rPr lang="en-US" sz="2800" dirty="0">
                <a:latin typeface="Calibir"/>
              </a:rPr>
              <a:t>confusion matrix</a:t>
            </a:r>
          </a:p>
        </p:txBody>
      </p:sp>
      <p:sp>
        <p:nvSpPr>
          <p:cNvPr id="7" name="object 2">
            <a:extLst>
              <a:ext uri="{FF2B5EF4-FFF2-40B4-BE49-F238E27FC236}">
                <a16:creationId xmlns:a16="http://schemas.microsoft.com/office/drawing/2014/main" id="{F0AFAF3D-5CA2-827A-5B24-AA6DC5245807}"/>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83537123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A2CF4-5405-56B9-D8CC-7A3F03A4B9EE}"/>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0A129C6E-897D-15F4-FC97-D2EFB59665EC}"/>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1D0F20FA-2EF5-E00E-6DA6-13E844B12F56}"/>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27A6E9C4-6A40-BA96-E46E-A8E6B7327DC0}"/>
              </a:ext>
            </a:extLst>
          </p:cNvPr>
          <p:cNvSpPr txBox="1"/>
          <p:nvPr/>
        </p:nvSpPr>
        <p:spPr>
          <a:xfrm>
            <a:off x="0" y="752630"/>
            <a:ext cx="10913806" cy="3257174"/>
          </a:xfrm>
          <a:prstGeom prst="rect">
            <a:avLst/>
          </a:prstGeom>
          <a:noFill/>
        </p:spPr>
        <p:txBody>
          <a:bodyPr wrap="square">
            <a:spAutoFit/>
          </a:bodyPr>
          <a:lstStyle/>
          <a:p>
            <a:pPr>
              <a:lnSpc>
                <a:spcPct val="150000"/>
              </a:lnSpc>
            </a:pPr>
            <a:r>
              <a:rPr lang="en-US" sz="2800" b="1" dirty="0">
                <a:latin typeface="Calibir"/>
              </a:rPr>
              <a:t>Possible insights</a:t>
            </a:r>
          </a:p>
          <a:p>
            <a:pPr marL="914400" lvl="1" indent="-457200">
              <a:lnSpc>
                <a:spcPct val="150000"/>
              </a:lnSpc>
              <a:buFont typeface="Arial" panose="020B0604020202020204" pitchFamily="34" charset="0"/>
              <a:buChar char="•"/>
            </a:pPr>
            <a:r>
              <a:rPr lang="en-US" sz="2800" dirty="0">
                <a:latin typeface="Calibir"/>
              </a:rPr>
              <a:t>overtime strongly predicts attrition </a:t>
            </a:r>
          </a:p>
          <a:p>
            <a:pPr marL="914400" lvl="1" indent="-457200">
              <a:lnSpc>
                <a:spcPct val="150000"/>
              </a:lnSpc>
              <a:buFont typeface="Arial" panose="020B0604020202020204" pitchFamily="34" charset="0"/>
              <a:buChar char="•"/>
            </a:pPr>
            <a:r>
              <a:rPr lang="en-US" sz="2800" dirty="0">
                <a:latin typeface="Calibir"/>
              </a:rPr>
              <a:t>lower job satisfaction increases attrition risk </a:t>
            </a:r>
          </a:p>
          <a:p>
            <a:pPr marL="914400" lvl="1" indent="-457200">
              <a:lnSpc>
                <a:spcPct val="150000"/>
              </a:lnSpc>
              <a:buFont typeface="Arial" panose="020B0604020202020204" pitchFamily="34" charset="0"/>
              <a:buChar char="•"/>
            </a:pPr>
            <a:r>
              <a:rPr lang="en-US" sz="2800" dirty="0">
                <a:latin typeface="Calibir"/>
              </a:rPr>
              <a:t>income and years at company matter </a:t>
            </a:r>
          </a:p>
          <a:p>
            <a:pPr marL="914400" lvl="1" indent="-457200">
              <a:lnSpc>
                <a:spcPct val="150000"/>
              </a:lnSpc>
              <a:buFont typeface="Arial" panose="020B0604020202020204" pitchFamily="34" charset="0"/>
              <a:buChar char="•"/>
            </a:pPr>
            <a:r>
              <a:rPr lang="en-US" sz="2800" dirty="0">
                <a:latin typeface="Calibir"/>
              </a:rPr>
              <a:t>certain job roles have higher turnover risk</a:t>
            </a:r>
          </a:p>
        </p:txBody>
      </p:sp>
      <p:sp>
        <p:nvSpPr>
          <p:cNvPr id="7" name="object 2">
            <a:extLst>
              <a:ext uri="{FF2B5EF4-FFF2-40B4-BE49-F238E27FC236}">
                <a16:creationId xmlns:a16="http://schemas.microsoft.com/office/drawing/2014/main" id="{21C5A67B-2083-F2C6-2F58-67B166CFE117}"/>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427292899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AB36B-452F-41B1-376D-58C15E35469A}"/>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F562C74C-C4DE-740C-1E99-9BED7FF36031}"/>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4CCD3C07-06F9-879F-2CCA-0F640BD2902E}"/>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7168FEB1-8128-4C25-6FF8-D877BF824D3D}"/>
              </a:ext>
            </a:extLst>
          </p:cNvPr>
          <p:cNvSpPr txBox="1"/>
          <p:nvPr/>
        </p:nvSpPr>
        <p:spPr>
          <a:xfrm>
            <a:off x="0" y="752630"/>
            <a:ext cx="10913806" cy="2610843"/>
          </a:xfrm>
          <a:prstGeom prst="rect">
            <a:avLst/>
          </a:prstGeom>
          <a:noFill/>
        </p:spPr>
        <p:txBody>
          <a:bodyPr wrap="square">
            <a:spAutoFit/>
          </a:bodyPr>
          <a:lstStyle/>
          <a:p>
            <a:pPr>
              <a:lnSpc>
                <a:spcPct val="150000"/>
              </a:lnSpc>
            </a:pPr>
            <a:r>
              <a:rPr lang="en-US" sz="2800" b="1" dirty="0">
                <a:latin typeface="Calibir"/>
              </a:rPr>
              <a:t>Ethics issues</a:t>
            </a:r>
          </a:p>
          <a:p>
            <a:pPr marL="914400" lvl="1" indent="-457200">
              <a:lnSpc>
                <a:spcPct val="150000"/>
              </a:lnSpc>
              <a:buFont typeface="Arial" panose="020B0604020202020204" pitchFamily="34" charset="0"/>
              <a:buChar char="•"/>
            </a:pPr>
            <a:r>
              <a:rPr lang="en-US" sz="2800" dirty="0">
                <a:latin typeface="Calibir"/>
              </a:rPr>
              <a:t>age and gender may create bias </a:t>
            </a:r>
          </a:p>
          <a:p>
            <a:pPr marL="914400" lvl="1" indent="-457200">
              <a:lnSpc>
                <a:spcPct val="150000"/>
              </a:lnSpc>
              <a:buFont typeface="Arial" panose="020B0604020202020204" pitchFamily="34" charset="0"/>
              <a:buChar char="•"/>
            </a:pPr>
            <a:r>
              <a:rPr lang="en-US" sz="2800" dirty="0">
                <a:latin typeface="Calibir"/>
              </a:rPr>
              <a:t>historical HR decisions may already contain bias </a:t>
            </a:r>
          </a:p>
          <a:p>
            <a:pPr marL="914400" lvl="1" indent="-457200">
              <a:lnSpc>
                <a:spcPct val="150000"/>
              </a:lnSpc>
              <a:buFont typeface="Arial" panose="020B0604020202020204" pitchFamily="34" charset="0"/>
              <a:buChar char="•"/>
            </a:pPr>
            <a:r>
              <a:rPr lang="en-US" sz="2800" dirty="0">
                <a:latin typeface="Calibir"/>
              </a:rPr>
              <a:t>model should support HR decision-making, not fully automate it</a:t>
            </a:r>
          </a:p>
        </p:txBody>
      </p:sp>
      <p:sp>
        <p:nvSpPr>
          <p:cNvPr id="7" name="object 2">
            <a:extLst>
              <a:ext uri="{FF2B5EF4-FFF2-40B4-BE49-F238E27FC236}">
                <a16:creationId xmlns:a16="http://schemas.microsoft.com/office/drawing/2014/main" id="{4913EC07-CFD1-6D8F-2CB7-D53A0BF23248}"/>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237781100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C9A15-DC4F-94A7-2CE6-072DBB57A228}"/>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EAEEAC4B-3F46-1D87-DA74-982B2852D246}"/>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C3FEB774-81E4-0476-F8B4-7EB47A80CDA6}"/>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69E5D079-0F92-55DD-8DE6-44E8FBBDC229}"/>
              </a:ext>
            </a:extLst>
          </p:cNvPr>
          <p:cNvSpPr txBox="1"/>
          <p:nvPr/>
        </p:nvSpPr>
        <p:spPr>
          <a:xfrm>
            <a:off x="0" y="752630"/>
            <a:ext cx="10913806" cy="2610843"/>
          </a:xfrm>
          <a:prstGeom prst="rect">
            <a:avLst/>
          </a:prstGeom>
          <a:noFill/>
        </p:spPr>
        <p:txBody>
          <a:bodyPr wrap="square">
            <a:spAutoFit/>
          </a:bodyPr>
          <a:lstStyle/>
          <a:p>
            <a:pPr>
              <a:lnSpc>
                <a:spcPct val="150000"/>
              </a:lnSpc>
            </a:pPr>
            <a:r>
              <a:rPr lang="en-US" sz="2800" b="1" dirty="0">
                <a:latin typeface="Calibir"/>
              </a:rPr>
              <a:t>Reflection</a:t>
            </a:r>
          </a:p>
          <a:p>
            <a:pPr marL="914400" lvl="1" indent="-457200">
              <a:lnSpc>
                <a:spcPct val="150000"/>
              </a:lnSpc>
              <a:buFont typeface="Arial" panose="020B0604020202020204" pitchFamily="34" charset="0"/>
              <a:buChar char="•"/>
            </a:pPr>
            <a:r>
              <a:rPr lang="en-US" sz="2800" dirty="0">
                <a:latin typeface="Calibir"/>
              </a:rPr>
              <a:t>Random Forest performed better but was less interpretable </a:t>
            </a:r>
          </a:p>
          <a:p>
            <a:pPr marL="914400" lvl="1" indent="-457200">
              <a:lnSpc>
                <a:spcPct val="150000"/>
              </a:lnSpc>
              <a:buFont typeface="Arial" panose="020B0604020202020204" pitchFamily="34" charset="0"/>
              <a:buChar char="•"/>
            </a:pPr>
            <a:r>
              <a:rPr lang="en-US" sz="2800" dirty="0">
                <a:latin typeface="Calibir"/>
              </a:rPr>
              <a:t>Logistic Regression was easier to explain </a:t>
            </a:r>
          </a:p>
          <a:p>
            <a:pPr marL="914400" lvl="1" indent="-457200">
              <a:lnSpc>
                <a:spcPct val="150000"/>
              </a:lnSpc>
              <a:buFont typeface="Arial" panose="020B0604020202020204" pitchFamily="34" charset="0"/>
              <a:buChar char="•"/>
            </a:pPr>
            <a:r>
              <a:rPr lang="en-US" sz="2800" dirty="0">
                <a:latin typeface="Calibir"/>
              </a:rPr>
              <a:t>More tuning and class-balancing could improve results</a:t>
            </a:r>
          </a:p>
        </p:txBody>
      </p:sp>
      <p:sp>
        <p:nvSpPr>
          <p:cNvPr id="7" name="object 2">
            <a:extLst>
              <a:ext uri="{FF2B5EF4-FFF2-40B4-BE49-F238E27FC236}">
                <a16:creationId xmlns:a16="http://schemas.microsoft.com/office/drawing/2014/main" id="{08FFBA43-331F-B077-6D7C-470D2A10FBBC}"/>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278512257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A7D3C-2EAC-1CBD-E75C-AC1FD4770309}"/>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8943FF72-B4DE-4A83-081C-FF4F3A628375}"/>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E3F0A79E-9D77-8622-CA03-46C143D0B694}"/>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FBD10AFD-8D5E-07AB-ECF6-0DC09459C758}"/>
              </a:ext>
            </a:extLst>
          </p:cNvPr>
          <p:cNvSpPr txBox="1"/>
          <p:nvPr/>
        </p:nvSpPr>
        <p:spPr>
          <a:xfrm>
            <a:off x="0" y="752630"/>
            <a:ext cx="10913806" cy="6133859"/>
          </a:xfrm>
          <a:prstGeom prst="rect">
            <a:avLst/>
          </a:prstGeom>
          <a:noFill/>
        </p:spPr>
        <p:txBody>
          <a:bodyPr wrap="square">
            <a:spAutoFit/>
          </a:bodyPr>
          <a:lstStyle/>
          <a:p>
            <a:pPr>
              <a:lnSpc>
                <a:spcPct val="150000"/>
              </a:lnSpc>
            </a:pPr>
            <a:r>
              <a:rPr lang="en-US" sz="2200" b="1" dirty="0">
                <a:latin typeface="Calibir"/>
              </a:rPr>
              <a:t>9. What to do</a:t>
            </a:r>
          </a:p>
          <a:p>
            <a:pPr>
              <a:lnSpc>
                <a:spcPct val="150000"/>
              </a:lnSpc>
            </a:pPr>
            <a:r>
              <a:rPr lang="en-US" sz="2200" b="1" dirty="0">
                <a:latin typeface="Calibir"/>
              </a:rPr>
              <a:t>Do this</a:t>
            </a:r>
          </a:p>
          <a:p>
            <a:pPr marL="800100" lvl="1" indent="-342900">
              <a:lnSpc>
                <a:spcPct val="150000"/>
              </a:lnSpc>
              <a:buFont typeface="Arial" panose="020B0604020202020204" pitchFamily="34" charset="0"/>
              <a:buChar char="•"/>
            </a:pPr>
            <a:r>
              <a:rPr lang="en-US" sz="2200" dirty="0">
                <a:latin typeface="Calibir"/>
              </a:rPr>
              <a:t>define one clear predictive problem </a:t>
            </a:r>
          </a:p>
          <a:p>
            <a:pPr marL="800100" lvl="1" indent="-342900">
              <a:lnSpc>
                <a:spcPct val="150000"/>
              </a:lnSpc>
              <a:buFont typeface="Arial" panose="020B0604020202020204" pitchFamily="34" charset="0"/>
              <a:buChar char="•"/>
            </a:pPr>
            <a:r>
              <a:rPr lang="en-US" sz="2200" dirty="0">
                <a:latin typeface="Calibir"/>
              </a:rPr>
              <a:t>choose two suitable models </a:t>
            </a:r>
          </a:p>
          <a:p>
            <a:pPr marL="800100" lvl="1" indent="-342900">
              <a:lnSpc>
                <a:spcPct val="150000"/>
              </a:lnSpc>
              <a:buFont typeface="Arial" panose="020B0604020202020204" pitchFamily="34" charset="0"/>
              <a:buChar char="•"/>
            </a:pPr>
            <a:r>
              <a:rPr lang="en-US" sz="2200" dirty="0">
                <a:latin typeface="Calibir"/>
              </a:rPr>
              <a:t>justify every preprocessing step </a:t>
            </a:r>
          </a:p>
          <a:p>
            <a:pPr marL="800100" lvl="1" indent="-342900">
              <a:lnSpc>
                <a:spcPct val="150000"/>
              </a:lnSpc>
              <a:buFont typeface="Arial" panose="020B0604020202020204" pitchFamily="34" charset="0"/>
              <a:buChar char="•"/>
            </a:pPr>
            <a:r>
              <a:rPr lang="en-US" sz="2200" dirty="0">
                <a:latin typeface="Calibir"/>
              </a:rPr>
              <a:t>explain assumptions with evidence </a:t>
            </a:r>
          </a:p>
          <a:p>
            <a:pPr marL="800100" lvl="1" indent="-342900">
              <a:lnSpc>
                <a:spcPct val="150000"/>
              </a:lnSpc>
              <a:buFont typeface="Arial" panose="020B0604020202020204" pitchFamily="34" charset="0"/>
              <a:buChar char="•"/>
            </a:pPr>
            <a:r>
              <a:rPr lang="en-US" sz="2200" dirty="0">
                <a:latin typeface="Calibir"/>
              </a:rPr>
              <a:t>compare models using proper metrics </a:t>
            </a:r>
          </a:p>
          <a:p>
            <a:pPr marL="800100" lvl="1" indent="-342900">
              <a:lnSpc>
                <a:spcPct val="150000"/>
              </a:lnSpc>
              <a:buFont typeface="Arial" panose="020B0604020202020204" pitchFamily="34" charset="0"/>
              <a:buChar char="•"/>
            </a:pPr>
            <a:r>
              <a:rPr lang="en-US" sz="2200" dirty="0">
                <a:latin typeface="Calibir"/>
              </a:rPr>
              <a:t>connect technical results to business value </a:t>
            </a:r>
          </a:p>
          <a:p>
            <a:pPr marL="800100" lvl="1" indent="-342900">
              <a:lnSpc>
                <a:spcPct val="150000"/>
              </a:lnSpc>
              <a:buFont typeface="Arial" panose="020B0604020202020204" pitchFamily="34" charset="0"/>
              <a:buChar char="•"/>
            </a:pPr>
            <a:r>
              <a:rPr lang="en-US" sz="2200" dirty="0">
                <a:latin typeface="Calibir"/>
              </a:rPr>
              <a:t>discuss ethics using real variables from your dataset </a:t>
            </a:r>
          </a:p>
          <a:p>
            <a:pPr marL="800100" lvl="1" indent="-342900">
              <a:lnSpc>
                <a:spcPct val="150000"/>
              </a:lnSpc>
              <a:buFont typeface="Arial" panose="020B0604020202020204" pitchFamily="34" charset="0"/>
              <a:buChar char="•"/>
            </a:pPr>
            <a:r>
              <a:rPr lang="en-US" sz="2200" dirty="0">
                <a:latin typeface="Calibir"/>
              </a:rPr>
              <a:t>keep screenshots as proof </a:t>
            </a:r>
          </a:p>
          <a:p>
            <a:pPr marL="800100" lvl="1" indent="-342900">
              <a:lnSpc>
                <a:spcPct val="150000"/>
              </a:lnSpc>
              <a:buFont typeface="Arial" panose="020B0604020202020204" pitchFamily="34" charset="0"/>
              <a:buChar char="•"/>
            </a:pPr>
            <a:r>
              <a:rPr lang="en-US" sz="2200" dirty="0">
                <a:latin typeface="Calibir"/>
              </a:rPr>
              <a:t>prepare all members for Q&amp;A </a:t>
            </a:r>
          </a:p>
          <a:p>
            <a:pPr marL="800100" lvl="1" indent="-342900">
              <a:lnSpc>
                <a:spcPct val="150000"/>
              </a:lnSpc>
              <a:buFont typeface="Arial" panose="020B0604020202020204" pitchFamily="34" charset="0"/>
              <a:buChar char="•"/>
            </a:pPr>
            <a:r>
              <a:rPr lang="en-US" sz="2200" dirty="0">
                <a:latin typeface="Calibir"/>
              </a:rPr>
              <a:t>follow Holmes Adapted Harvard carefully</a:t>
            </a:r>
          </a:p>
        </p:txBody>
      </p:sp>
      <p:sp>
        <p:nvSpPr>
          <p:cNvPr id="7" name="object 2">
            <a:extLst>
              <a:ext uri="{FF2B5EF4-FFF2-40B4-BE49-F238E27FC236}">
                <a16:creationId xmlns:a16="http://schemas.microsoft.com/office/drawing/2014/main" id="{EDF6A51B-53EB-CB10-1578-E975C1EE7090}"/>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17228827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61481-F38D-6784-6981-A006BAAF3F69}"/>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562A9078-C38D-95E0-A6DB-FDF85265D6DF}"/>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CA147DA2-3BAB-2A55-6C3E-51955BFB5160}"/>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71F92BB8-CB4A-8CA5-07CD-D4DD7BCEC637}"/>
              </a:ext>
            </a:extLst>
          </p:cNvPr>
          <p:cNvSpPr txBox="1"/>
          <p:nvPr/>
        </p:nvSpPr>
        <p:spPr>
          <a:xfrm>
            <a:off x="0" y="752630"/>
            <a:ext cx="10913806" cy="5842497"/>
          </a:xfrm>
          <a:prstGeom prst="rect">
            <a:avLst/>
          </a:prstGeom>
          <a:noFill/>
        </p:spPr>
        <p:txBody>
          <a:bodyPr wrap="square">
            <a:spAutoFit/>
          </a:bodyPr>
          <a:lstStyle/>
          <a:p>
            <a:pPr>
              <a:lnSpc>
                <a:spcPct val="150000"/>
              </a:lnSpc>
            </a:pPr>
            <a:r>
              <a:rPr lang="en-US" sz="2800" b="1" dirty="0">
                <a:latin typeface="Calibir"/>
              </a:rPr>
              <a:t>10. What to avoid</a:t>
            </a:r>
          </a:p>
          <a:p>
            <a:pPr>
              <a:lnSpc>
                <a:spcPct val="150000"/>
              </a:lnSpc>
            </a:pPr>
            <a:r>
              <a:rPr lang="en-US" sz="2800" b="1" dirty="0">
                <a:latin typeface="Calibir"/>
              </a:rPr>
              <a:t>Do not do this</a:t>
            </a:r>
          </a:p>
          <a:p>
            <a:pPr marL="800100" lvl="1" indent="-342900">
              <a:lnSpc>
                <a:spcPct val="150000"/>
              </a:lnSpc>
              <a:buFont typeface="Arial" panose="020B0604020202020204" pitchFamily="34" charset="0"/>
              <a:buChar char="•"/>
            </a:pPr>
            <a:r>
              <a:rPr lang="en-US" sz="2800" dirty="0">
                <a:latin typeface="Calibir"/>
              </a:rPr>
              <a:t>do not just describe the dataset without a predictive objective </a:t>
            </a:r>
          </a:p>
          <a:p>
            <a:pPr marL="800100" lvl="1" indent="-342900">
              <a:lnSpc>
                <a:spcPct val="150000"/>
              </a:lnSpc>
              <a:buFont typeface="Arial" panose="020B0604020202020204" pitchFamily="34" charset="0"/>
              <a:buChar char="•"/>
            </a:pPr>
            <a:r>
              <a:rPr lang="en-US" sz="2800" dirty="0">
                <a:latin typeface="Calibir"/>
              </a:rPr>
              <a:t>do not build only one model </a:t>
            </a:r>
          </a:p>
          <a:p>
            <a:pPr marL="800100" lvl="1" indent="-342900">
              <a:lnSpc>
                <a:spcPct val="150000"/>
              </a:lnSpc>
              <a:buFont typeface="Arial" panose="020B0604020202020204" pitchFamily="34" charset="0"/>
              <a:buChar char="•"/>
            </a:pPr>
            <a:r>
              <a:rPr lang="en-US" sz="2800" dirty="0">
                <a:latin typeface="Calibir"/>
              </a:rPr>
              <a:t>do not use a model without explaining why it suits the data </a:t>
            </a:r>
          </a:p>
          <a:p>
            <a:pPr marL="800100" lvl="1" indent="-342900">
              <a:lnSpc>
                <a:spcPct val="150000"/>
              </a:lnSpc>
              <a:buFont typeface="Arial" panose="020B0604020202020204" pitchFamily="34" charset="0"/>
              <a:buChar char="•"/>
            </a:pPr>
            <a:r>
              <a:rPr lang="en-US" sz="2800" dirty="0">
                <a:latin typeface="Calibir"/>
              </a:rPr>
              <a:t>do not list preprocessing steps without justification </a:t>
            </a:r>
          </a:p>
          <a:p>
            <a:pPr marL="800100" lvl="1" indent="-342900">
              <a:lnSpc>
                <a:spcPct val="150000"/>
              </a:lnSpc>
              <a:buFont typeface="Arial" panose="020B0604020202020204" pitchFamily="34" charset="0"/>
              <a:buChar char="•"/>
            </a:pPr>
            <a:r>
              <a:rPr lang="en-US" sz="2800" dirty="0">
                <a:latin typeface="Calibir"/>
              </a:rPr>
              <a:t>do not rely only on accuracy </a:t>
            </a:r>
          </a:p>
          <a:p>
            <a:pPr marL="800100" lvl="1" indent="-342900">
              <a:lnSpc>
                <a:spcPct val="150000"/>
              </a:lnSpc>
              <a:buFont typeface="Arial" panose="020B0604020202020204" pitchFamily="34" charset="0"/>
              <a:buChar char="•"/>
            </a:pPr>
            <a:r>
              <a:rPr lang="en-US" sz="2800" dirty="0">
                <a:latin typeface="Calibir"/>
              </a:rPr>
              <a:t>do not ignore overfitting/underfitting </a:t>
            </a:r>
          </a:p>
          <a:p>
            <a:pPr marL="800100" lvl="1" indent="-342900">
              <a:lnSpc>
                <a:spcPct val="150000"/>
              </a:lnSpc>
              <a:buFont typeface="Arial" panose="020B0604020202020204" pitchFamily="34" charset="0"/>
              <a:buChar char="•"/>
            </a:pPr>
            <a:r>
              <a:rPr lang="en-US" sz="2800" dirty="0">
                <a:latin typeface="Calibir"/>
              </a:rPr>
              <a:t>do not write generic ethics points with no dataset examples</a:t>
            </a:r>
          </a:p>
        </p:txBody>
      </p:sp>
      <p:sp>
        <p:nvSpPr>
          <p:cNvPr id="7" name="object 2">
            <a:extLst>
              <a:ext uri="{FF2B5EF4-FFF2-40B4-BE49-F238E27FC236}">
                <a16:creationId xmlns:a16="http://schemas.microsoft.com/office/drawing/2014/main" id="{97E5ED2A-EFCE-877A-5ACD-A52D38258F3D}"/>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226596642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D3567-9389-2CCF-BE46-D3A525224B34}"/>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C27A51C5-780B-E49E-4252-42C9BF75AD73}"/>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B0B23BBD-09E9-ABFA-979C-5DEB2DB89796}"/>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054C02CF-6749-1567-A135-AB6262647103}"/>
              </a:ext>
            </a:extLst>
          </p:cNvPr>
          <p:cNvSpPr txBox="1"/>
          <p:nvPr/>
        </p:nvSpPr>
        <p:spPr>
          <a:xfrm>
            <a:off x="0" y="752630"/>
            <a:ext cx="10913806" cy="2610843"/>
          </a:xfrm>
          <a:prstGeom prst="rect">
            <a:avLst/>
          </a:prstGeom>
          <a:noFill/>
        </p:spPr>
        <p:txBody>
          <a:bodyPr wrap="square">
            <a:spAutoFit/>
          </a:bodyPr>
          <a:lstStyle/>
          <a:p>
            <a:pPr marL="800100" lvl="1" indent="-342900">
              <a:lnSpc>
                <a:spcPct val="150000"/>
              </a:lnSpc>
              <a:buFont typeface="Arial" panose="020B0604020202020204" pitchFamily="34" charset="0"/>
              <a:buChar char="•"/>
            </a:pPr>
            <a:r>
              <a:rPr lang="en-US" sz="2800" dirty="0">
                <a:latin typeface="Calibir"/>
              </a:rPr>
              <a:t>do not read directly from slides </a:t>
            </a:r>
          </a:p>
          <a:p>
            <a:pPr marL="800100" lvl="1" indent="-342900">
              <a:lnSpc>
                <a:spcPct val="150000"/>
              </a:lnSpc>
              <a:buFont typeface="Arial" panose="020B0604020202020204" pitchFamily="34" charset="0"/>
              <a:buChar char="•"/>
            </a:pPr>
            <a:r>
              <a:rPr lang="en-US" sz="2800" dirty="0">
                <a:latin typeface="Calibir"/>
              </a:rPr>
              <a:t>do not submit in the wrong format </a:t>
            </a:r>
          </a:p>
          <a:p>
            <a:pPr marL="800100" lvl="1" indent="-342900">
              <a:lnSpc>
                <a:spcPct val="150000"/>
              </a:lnSpc>
              <a:buFont typeface="Arial" panose="020B0604020202020204" pitchFamily="34" charset="0"/>
              <a:buChar char="•"/>
            </a:pPr>
            <a:r>
              <a:rPr lang="en-US" sz="2800" dirty="0">
                <a:latin typeface="Calibir"/>
              </a:rPr>
              <a:t>do not forget cover sheet, references, or contribution sheet </a:t>
            </a:r>
          </a:p>
          <a:p>
            <a:pPr marL="800100" lvl="1" indent="-342900">
              <a:lnSpc>
                <a:spcPct val="150000"/>
              </a:lnSpc>
              <a:buFont typeface="Arial" panose="020B0604020202020204" pitchFamily="34" charset="0"/>
              <a:buChar char="•"/>
            </a:pPr>
            <a:r>
              <a:rPr lang="en-US" sz="2800" dirty="0">
                <a:latin typeface="Calibir"/>
              </a:rPr>
              <a:t>do not use fake citations or broken references</a:t>
            </a:r>
          </a:p>
        </p:txBody>
      </p:sp>
      <p:sp>
        <p:nvSpPr>
          <p:cNvPr id="7" name="object 2">
            <a:extLst>
              <a:ext uri="{FF2B5EF4-FFF2-40B4-BE49-F238E27FC236}">
                <a16:creationId xmlns:a16="http://schemas.microsoft.com/office/drawing/2014/main" id="{7C337B15-A21A-C5DD-AB23-51C3102DE10F}"/>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47010865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1CA8F-1CE5-D202-78C3-2153A9439AA8}"/>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037FE0B4-117C-2F8D-5C1A-5A25833628A5}"/>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F63594DA-B47F-BDE0-DC8D-7DA4D8ED1AB0}"/>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3961DAD1-753C-B852-A440-D2E0B4AAE967}"/>
              </a:ext>
            </a:extLst>
          </p:cNvPr>
          <p:cNvSpPr txBox="1"/>
          <p:nvPr/>
        </p:nvSpPr>
        <p:spPr>
          <a:xfrm>
            <a:off x="0" y="752630"/>
            <a:ext cx="10913806" cy="3903504"/>
          </a:xfrm>
          <a:prstGeom prst="rect">
            <a:avLst/>
          </a:prstGeom>
          <a:noFill/>
        </p:spPr>
        <p:txBody>
          <a:bodyPr wrap="square">
            <a:spAutoFit/>
          </a:bodyPr>
          <a:lstStyle/>
          <a:p>
            <a:pPr>
              <a:lnSpc>
                <a:spcPct val="150000"/>
              </a:lnSpc>
            </a:pPr>
            <a:r>
              <a:rPr lang="en-US" sz="2800" b="1" dirty="0">
                <a:latin typeface="Calibir"/>
              </a:rPr>
              <a:t>11. Common mistakes students make</a:t>
            </a:r>
          </a:p>
          <a:p>
            <a:pPr>
              <a:lnSpc>
                <a:spcPct val="150000"/>
              </a:lnSpc>
            </a:pPr>
            <a:r>
              <a:rPr lang="en-US" sz="2800" dirty="0">
                <a:latin typeface="Calibir"/>
              </a:rPr>
              <a:t>These are the most common problems:</a:t>
            </a:r>
          </a:p>
          <a:p>
            <a:pPr>
              <a:lnSpc>
                <a:spcPct val="150000"/>
              </a:lnSpc>
            </a:pPr>
            <a:r>
              <a:rPr lang="en-US" sz="2800" b="1" dirty="0">
                <a:latin typeface="Calibir"/>
              </a:rPr>
              <a:t>1. Weak problem statement</a:t>
            </a:r>
          </a:p>
          <a:p>
            <a:pPr>
              <a:lnSpc>
                <a:spcPct val="150000"/>
              </a:lnSpc>
            </a:pPr>
            <a:r>
              <a:rPr lang="en-US" sz="2800" dirty="0">
                <a:latin typeface="Calibir"/>
              </a:rPr>
              <a:t>Students say, “We used the churn dataset,” but never clearly state:</a:t>
            </a:r>
          </a:p>
          <a:p>
            <a:pPr marL="914400" lvl="1" indent="-457200">
              <a:lnSpc>
                <a:spcPct val="150000"/>
              </a:lnSpc>
              <a:buFont typeface="Arial" panose="020B0604020202020204" pitchFamily="34" charset="0"/>
              <a:buChar char="•"/>
            </a:pPr>
            <a:r>
              <a:rPr lang="en-US" sz="2800" dirty="0">
                <a:latin typeface="Calibir"/>
              </a:rPr>
              <a:t>what is being predicted </a:t>
            </a:r>
          </a:p>
          <a:p>
            <a:pPr marL="914400" lvl="1" indent="-457200">
              <a:lnSpc>
                <a:spcPct val="150000"/>
              </a:lnSpc>
              <a:buFont typeface="Arial" panose="020B0604020202020204" pitchFamily="34" charset="0"/>
              <a:buChar char="•"/>
            </a:pPr>
            <a:r>
              <a:rPr lang="en-US" sz="2800" dirty="0">
                <a:latin typeface="Calibir"/>
              </a:rPr>
              <a:t>why it matters</a:t>
            </a:r>
          </a:p>
        </p:txBody>
      </p:sp>
      <p:sp>
        <p:nvSpPr>
          <p:cNvPr id="7" name="object 2">
            <a:extLst>
              <a:ext uri="{FF2B5EF4-FFF2-40B4-BE49-F238E27FC236}">
                <a16:creationId xmlns:a16="http://schemas.microsoft.com/office/drawing/2014/main" id="{645BCDB7-115C-7FB4-CC7C-061A4D080419}"/>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104945949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BE205F-11AE-68DB-E8D4-62859138AFEA}"/>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482F108F-A76E-FBF3-190F-FD05656049BC}"/>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459D42EB-2F6B-CC22-BBE6-4D7B97F036AF}"/>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006217DD-D324-C0FA-802E-C586A037A5F2}"/>
              </a:ext>
            </a:extLst>
          </p:cNvPr>
          <p:cNvSpPr txBox="1"/>
          <p:nvPr/>
        </p:nvSpPr>
        <p:spPr>
          <a:xfrm>
            <a:off x="0" y="752630"/>
            <a:ext cx="10913806" cy="3257174"/>
          </a:xfrm>
          <a:prstGeom prst="rect">
            <a:avLst/>
          </a:prstGeom>
          <a:noFill/>
        </p:spPr>
        <p:txBody>
          <a:bodyPr wrap="square">
            <a:spAutoFit/>
          </a:bodyPr>
          <a:lstStyle/>
          <a:p>
            <a:pPr>
              <a:lnSpc>
                <a:spcPct val="150000"/>
              </a:lnSpc>
            </a:pPr>
            <a:r>
              <a:rPr lang="en-US" sz="2800" b="1" dirty="0">
                <a:latin typeface="Calibir"/>
              </a:rPr>
              <a:t>2. No real justification for model choice</a:t>
            </a:r>
          </a:p>
          <a:p>
            <a:pPr>
              <a:lnSpc>
                <a:spcPct val="150000"/>
              </a:lnSpc>
            </a:pPr>
            <a:r>
              <a:rPr lang="en-US" sz="2800" dirty="0">
                <a:latin typeface="Calibir"/>
              </a:rPr>
              <a:t>Students choose models randomly or only because they are popular.</a:t>
            </a:r>
          </a:p>
          <a:p>
            <a:pPr>
              <a:lnSpc>
                <a:spcPct val="150000"/>
              </a:lnSpc>
            </a:pPr>
            <a:r>
              <a:rPr lang="en-US" sz="2800" b="1" dirty="0">
                <a:latin typeface="Calibir"/>
              </a:rPr>
              <a:t>3. Poor preprocessing explanation</a:t>
            </a:r>
          </a:p>
          <a:p>
            <a:pPr>
              <a:lnSpc>
                <a:spcPct val="150000"/>
              </a:lnSpc>
            </a:pPr>
            <a:r>
              <a:rPr lang="en-US" sz="2800" dirty="0">
                <a:latin typeface="Calibir"/>
              </a:rPr>
              <a:t>Students say they cleaned data, encoded variables, and scaled features, but do not explain why.</a:t>
            </a:r>
          </a:p>
        </p:txBody>
      </p:sp>
      <p:sp>
        <p:nvSpPr>
          <p:cNvPr id="7" name="object 2">
            <a:extLst>
              <a:ext uri="{FF2B5EF4-FFF2-40B4-BE49-F238E27FC236}">
                <a16:creationId xmlns:a16="http://schemas.microsoft.com/office/drawing/2014/main" id="{DD51F7EE-185A-5ED7-2E76-773943F9991F}"/>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215036552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F3D74-BE7B-F26D-A025-4CC81AFEDE09}"/>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D30810A9-10C9-F6C2-ADE4-10039D412887}"/>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A67F1796-F693-15D6-4683-A63F77ABB615}"/>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E62D135B-5810-8B1B-4BE6-DF6241E4D376}"/>
              </a:ext>
            </a:extLst>
          </p:cNvPr>
          <p:cNvSpPr txBox="1"/>
          <p:nvPr/>
        </p:nvSpPr>
        <p:spPr>
          <a:xfrm>
            <a:off x="0" y="752630"/>
            <a:ext cx="10913806" cy="3903504"/>
          </a:xfrm>
          <a:prstGeom prst="rect">
            <a:avLst/>
          </a:prstGeom>
          <a:noFill/>
        </p:spPr>
        <p:txBody>
          <a:bodyPr wrap="square">
            <a:spAutoFit/>
          </a:bodyPr>
          <a:lstStyle/>
          <a:p>
            <a:pPr>
              <a:lnSpc>
                <a:spcPct val="150000"/>
              </a:lnSpc>
            </a:pPr>
            <a:r>
              <a:rPr lang="en-US" sz="2800" b="1" dirty="0">
                <a:latin typeface="Calibir"/>
              </a:rPr>
              <a:t>4. No evidence</a:t>
            </a:r>
          </a:p>
          <a:p>
            <a:pPr>
              <a:lnSpc>
                <a:spcPct val="150000"/>
              </a:lnSpc>
            </a:pPr>
            <a:r>
              <a:rPr lang="en-US" sz="2800" dirty="0">
                <a:latin typeface="Calibir"/>
              </a:rPr>
              <a:t>Students forget screenshots of:</a:t>
            </a:r>
          </a:p>
          <a:p>
            <a:pPr marL="914400" lvl="1" indent="-457200">
              <a:lnSpc>
                <a:spcPct val="150000"/>
              </a:lnSpc>
              <a:buFont typeface="Arial" panose="020B0604020202020204" pitchFamily="34" charset="0"/>
              <a:buChar char="•"/>
            </a:pPr>
            <a:r>
              <a:rPr lang="en-US" sz="2800" dirty="0">
                <a:latin typeface="Calibir"/>
              </a:rPr>
              <a:t>raw issues </a:t>
            </a:r>
          </a:p>
          <a:p>
            <a:pPr marL="914400" lvl="1" indent="-457200">
              <a:lnSpc>
                <a:spcPct val="150000"/>
              </a:lnSpc>
              <a:buFont typeface="Arial" panose="020B0604020202020204" pitchFamily="34" charset="0"/>
              <a:buChar char="•"/>
            </a:pPr>
            <a:r>
              <a:rPr lang="en-US" sz="2800" dirty="0">
                <a:latin typeface="Calibir"/>
              </a:rPr>
              <a:t>preprocessing </a:t>
            </a:r>
          </a:p>
          <a:p>
            <a:pPr marL="914400" lvl="1" indent="-457200">
              <a:lnSpc>
                <a:spcPct val="150000"/>
              </a:lnSpc>
              <a:buFont typeface="Arial" panose="020B0604020202020204" pitchFamily="34" charset="0"/>
              <a:buChar char="•"/>
            </a:pPr>
            <a:r>
              <a:rPr lang="en-US" sz="2800" dirty="0">
                <a:latin typeface="Calibir"/>
              </a:rPr>
              <a:t>training </a:t>
            </a:r>
          </a:p>
          <a:p>
            <a:pPr marL="914400" lvl="1" indent="-457200">
              <a:lnSpc>
                <a:spcPct val="150000"/>
              </a:lnSpc>
              <a:buFont typeface="Arial" panose="020B0604020202020204" pitchFamily="34" charset="0"/>
              <a:buChar char="•"/>
            </a:pPr>
            <a:r>
              <a:rPr lang="en-US" sz="2800" dirty="0">
                <a:latin typeface="Calibir"/>
              </a:rPr>
              <a:t>output results</a:t>
            </a:r>
          </a:p>
        </p:txBody>
      </p:sp>
      <p:sp>
        <p:nvSpPr>
          <p:cNvPr id="7" name="object 2">
            <a:extLst>
              <a:ext uri="{FF2B5EF4-FFF2-40B4-BE49-F238E27FC236}">
                <a16:creationId xmlns:a16="http://schemas.microsoft.com/office/drawing/2014/main" id="{9376B7D5-887D-ECEF-E23D-3CB2A947ABF9}"/>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420649543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C3B49-B3D7-EB11-D852-5AC39B9E82FF}"/>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5BE4D30C-0035-8CC9-C0B8-D57AC0A55749}"/>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3212103E-4FB9-D440-CD00-066C06F1F6E4}"/>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421B17A5-9751-1C03-F23C-6407354DFD14}"/>
              </a:ext>
            </a:extLst>
          </p:cNvPr>
          <p:cNvSpPr txBox="1"/>
          <p:nvPr/>
        </p:nvSpPr>
        <p:spPr>
          <a:xfrm>
            <a:off x="0" y="752630"/>
            <a:ext cx="10913806" cy="5196166"/>
          </a:xfrm>
          <a:prstGeom prst="rect">
            <a:avLst/>
          </a:prstGeom>
          <a:noFill/>
        </p:spPr>
        <p:txBody>
          <a:bodyPr wrap="square">
            <a:spAutoFit/>
          </a:bodyPr>
          <a:lstStyle/>
          <a:p>
            <a:pPr>
              <a:lnSpc>
                <a:spcPct val="150000"/>
              </a:lnSpc>
            </a:pPr>
            <a:r>
              <a:rPr lang="en-US" sz="2800" b="1" dirty="0">
                <a:latin typeface="Calibir"/>
              </a:rPr>
              <a:t>5. Wrong metric usage</a:t>
            </a:r>
          </a:p>
          <a:p>
            <a:pPr>
              <a:lnSpc>
                <a:spcPct val="150000"/>
              </a:lnSpc>
            </a:pPr>
            <a:r>
              <a:rPr lang="en-US" sz="2800" dirty="0">
                <a:latin typeface="Calibir"/>
              </a:rPr>
              <a:t>Students evaluate classification using only accuracy, or regression without RMSE/R².</a:t>
            </a:r>
          </a:p>
          <a:p>
            <a:pPr>
              <a:lnSpc>
                <a:spcPct val="150000"/>
              </a:lnSpc>
            </a:pPr>
            <a:r>
              <a:rPr lang="en-US" sz="2800" b="1" dirty="0">
                <a:latin typeface="Calibir"/>
              </a:rPr>
              <a:t>6. Weak comparison</a:t>
            </a:r>
          </a:p>
          <a:p>
            <a:pPr>
              <a:lnSpc>
                <a:spcPct val="150000"/>
              </a:lnSpc>
            </a:pPr>
            <a:r>
              <a:rPr lang="en-US" sz="2800" dirty="0">
                <a:latin typeface="Calibir"/>
              </a:rPr>
              <a:t>Students show two models but do not compare strengths, weaknesses, or trade-offs.</a:t>
            </a:r>
          </a:p>
          <a:p>
            <a:pPr>
              <a:lnSpc>
                <a:spcPct val="150000"/>
              </a:lnSpc>
            </a:pPr>
            <a:r>
              <a:rPr lang="en-US" sz="2800" b="1" dirty="0">
                <a:latin typeface="Calibir"/>
              </a:rPr>
              <a:t>7. No discussion of assumptions</a:t>
            </a:r>
          </a:p>
          <a:p>
            <a:pPr>
              <a:lnSpc>
                <a:spcPct val="150000"/>
              </a:lnSpc>
            </a:pPr>
            <a:r>
              <a:rPr lang="en-US" sz="2800" dirty="0">
                <a:latin typeface="Calibir"/>
              </a:rPr>
              <a:t>Students explain theory from textbooks but do not test it on their dataset.</a:t>
            </a:r>
          </a:p>
        </p:txBody>
      </p:sp>
      <p:sp>
        <p:nvSpPr>
          <p:cNvPr id="7" name="object 2">
            <a:extLst>
              <a:ext uri="{FF2B5EF4-FFF2-40B4-BE49-F238E27FC236}">
                <a16:creationId xmlns:a16="http://schemas.microsoft.com/office/drawing/2014/main" id="{28D3B606-495C-147E-507E-C008D9459133}"/>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31871549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1805F-5CFF-4D4A-6FF1-247162F08F4F}"/>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F9D5D5F8-1D38-B8A9-F42B-39CABF70C10C}"/>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B0FC3320-CBB1-BB03-B8FA-6E02B9E1CDB1}"/>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76FD0F7C-D022-2625-E0A1-DA210418B112}"/>
              </a:ext>
            </a:extLst>
          </p:cNvPr>
          <p:cNvSpPr txBox="1"/>
          <p:nvPr/>
        </p:nvSpPr>
        <p:spPr>
          <a:xfrm>
            <a:off x="0" y="752630"/>
            <a:ext cx="10913806" cy="4549835"/>
          </a:xfrm>
          <a:prstGeom prst="rect">
            <a:avLst/>
          </a:prstGeom>
          <a:noFill/>
        </p:spPr>
        <p:txBody>
          <a:bodyPr wrap="square">
            <a:spAutoFit/>
          </a:bodyPr>
          <a:lstStyle/>
          <a:p>
            <a:pPr>
              <a:lnSpc>
                <a:spcPct val="150000"/>
              </a:lnSpc>
            </a:pPr>
            <a:r>
              <a:rPr lang="en-US" sz="2800" b="1" dirty="0">
                <a:latin typeface="Calibir"/>
              </a:rPr>
              <a:t>8. Generic insights</a:t>
            </a:r>
          </a:p>
          <a:p>
            <a:pPr>
              <a:lnSpc>
                <a:spcPct val="150000"/>
              </a:lnSpc>
            </a:pPr>
            <a:r>
              <a:rPr lang="en-US" sz="2800" dirty="0">
                <a:latin typeface="Calibir"/>
              </a:rPr>
              <a:t>Students write conclusions that are too obvious or not actionable.</a:t>
            </a:r>
          </a:p>
          <a:p>
            <a:pPr>
              <a:lnSpc>
                <a:spcPct val="150000"/>
              </a:lnSpc>
            </a:pPr>
            <a:r>
              <a:rPr lang="en-US" sz="2800" b="1" dirty="0">
                <a:latin typeface="Calibir"/>
              </a:rPr>
              <a:t>9. Generic ethics section</a:t>
            </a:r>
          </a:p>
          <a:p>
            <a:pPr>
              <a:lnSpc>
                <a:spcPct val="150000"/>
              </a:lnSpc>
            </a:pPr>
            <a:r>
              <a:rPr lang="en-US" sz="2800" dirty="0">
                <a:latin typeface="Calibir"/>
              </a:rPr>
              <a:t>Students write “bias may exist” without linking it to age, gender, income, or other variables in the dataset.</a:t>
            </a:r>
          </a:p>
          <a:p>
            <a:pPr>
              <a:lnSpc>
                <a:spcPct val="150000"/>
              </a:lnSpc>
            </a:pPr>
            <a:r>
              <a:rPr lang="en-US" sz="2800" b="1" dirty="0">
                <a:latin typeface="Calibir"/>
              </a:rPr>
              <a:t>10. Reflection is too shallow</a:t>
            </a:r>
          </a:p>
          <a:p>
            <a:pPr>
              <a:lnSpc>
                <a:spcPct val="150000"/>
              </a:lnSpc>
            </a:pPr>
            <a:r>
              <a:rPr lang="en-US" sz="2800" dirty="0">
                <a:latin typeface="Calibir"/>
              </a:rPr>
              <a:t>Students write only “we learned a lot.” That is not enough.</a:t>
            </a:r>
          </a:p>
        </p:txBody>
      </p:sp>
      <p:sp>
        <p:nvSpPr>
          <p:cNvPr id="7" name="object 2">
            <a:extLst>
              <a:ext uri="{FF2B5EF4-FFF2-40B4-BE49-F238E27FC236}">
                <a16:creationId xmlns:a16="http://schemas.microsoft.com/office/drawing/2014/main" id="{0CC982C5-092F-08D7-5FD8-42C92AF6B9B2}"/>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130306296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0537E-5DAA-955B-54F7-988C421E72ED}"/>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787C9DED-F5B1-765F-1B36-27359D548FCA}"/>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C9BB5129-6012-A9EC-F865-08AA6D28B5B2}"/>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51EA0116-1DEA-CB72-921E-239B25839700}"/>
              </a:ext>
            </a:extLst>
          </p:cNvPr>
          <p:cNvSpPr txBox="1"/>
          <p:nvPr/>
        </p:nvSpPr>
        <p:spPr>
          <a:xfrm>
            <a:off x="0" y="752630"/>
            <a:ext cx="10913806" cy="5196166"/>
          </a:xfrm>
          <a:prstGeom prst="rect">
            <a:avLst/>
          </a:prstGeom>
          <a:noFill/>
        </p:spPr>
        <p:txBody>
          <a:bodyPr wrap="square">
            <a:spAutoFit/>
          </a:bodyPr>
          <a:lstStyle/>
          <a:p>
            <a:pPr>
              <a:lnSpc>
                <a:spcPct val="150000"/>
              </a:lnSpc>
            </a:pPr>
            <a:r>
              <a:rPr lang="en-US" sz="2800" b="1" dirty="0">
                <a:latin typeface="Calibir"/>
              </a:rPr>
              <a:t>11. Poor presentation delivery</a:t>
            </a:r>
          </a:p>
          <a:p>
            <a:pPr>
              <a:lnSpc>
                <a:spcPct val="150000"/>
              </a:lnSpc>
            </a:pPr>
            <a:r>
              <a:rPr lang="en-US" sz="2800" dirty="0">
                <a:latin typeface="Calibir"/>
              </a:rPr>
              <a:t>Students read slides word-for-word and cannot answer questions.</a:t>
            </a:r>
          </a:p>
          <a:p>
            <a:pPr>
              <a:lnSpc>
                <a:spcPct val="150000"/>
              </a:lnSpc>
            </a:pPr>
            <a:r>
              <a:rPr lang="en-US" sz="2800" b="1" dirty="0">
                <a:latin typeface="Calibir"/>
              </a:rPr>
              <a:t>12. Referencing errors</a:t>
            </a:r>
          </a:p>
          <a:p>
            <a:pPr>
              <a:lnSpc>
                <a:spcPct val="150000"/>
              </a:lnSpc>
            </a:pPr>
            <a:r>
              <a:rPr lang="en-US" sz="2800" dirty="0">
                <a:latin typeface="Calibir"/>
              </a:rPr>
              <a:t>Students forget:</a:t>
            </a:r>
          </a:p>
          <a:p>
            <a:pPr marL="914400" lvl="1" indent="-457200">
              <a:lnSpc>
                <a:spcPct val="150000"/>
              </a:lnSpc>
              <a:buFont typeface="Arial" panose="020B0604020202020204" pitchFamily="34" charset="0"/>
              <a:buChar char="•"/>
            </a:pPr>
            <a:r>
              <a:rPr lang="en-US" sz="2800" dirty="0">
                <a:latin typeface="Calibir"/>
              </a:rPr>
              <a:t>full-text accessible references </a:t>
            </a:r>
          </a:p>
          <a:p>
            <a:pPr marL="914400" lvl="1" indent="-457200">
              <a:lnSpc>
                <a:spcPct val="150000"/>
              </a:lnSpc>
              <a:buFont typeface="Arial" panose="020B0604020202020204" pitchFamily="34" charset="0"/>
              <a:buChar char="•"/>
            </a:pPr>
            <a:r>
              <a:rPr lang="en-US" sz="2800" dirty="0">
                <a:latin typeface="Calibir"/>
              </a:rPr>
              <a:t>hyperlinks </a:t>
            </a:r>
          </a:p>
          <a:p>
            <a:pPr marL="914400" lvl="1" indent="-457200">
              <a:lnSpc>
                <a:spcPct val="150000"/>
              </a:lnSpc>
              <a:buFont typeface="Arial" panose="020B0604020202020204" pitchFamily="34" charset="0"/>
              <a:buChar char="•"/>
            </a:pPr>
            <a:r>
              <a:rPr lang="en-US" sz="2800" dirty="0">
                <a:latin typeface="Calibir"/>
              </a:rPr>
              <a:t>separate References page </a:t>
            </a:r>
          </a:p>
          <a:p>
            <a:pPr marL="914400" lvl="1" indent="-457200">
              <a:lnSpc>
                <a:spcPct val="150000"/>
              </a:lnSpc>
              <a:buFont typeface="Arial" panose="020B0604020202020204" pitchFamily="34" charset="0"/>
              <a:buChar char="•"/>
            </a:pPr>
            <a:r>
              <a:rPr lang="en-US" sz="2800" dirty="0">
                <a:latin typeface="Calibir"/>
              </a:rPr>
              <a:t>in-text citation format with page and paragraph</a:t>
            </a:r>
          </a:p>
        </p:txBody>
      </p:sp>
      <p:sp>
        <p:nvSpPr>
          <p:cNvPr id="7" name="object 2">
            <a:extLst>
              <a:ext uri="{FF2B5EF4-FFF2-40B4-BE49-F238E27FC236}">
                <a16:creationId xmlns:a16="http://schemas.microsoft.com/office/drawing/2014/main" id="{D9ABB38D-6C74-20CA-68C3-693D44D6133A}"/>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0197670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972D9-787B-314C-8F51-77974CC1A1C6}"/>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A724F820-09FF-D3C2-D0B0-0C351804CA5A}"/>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2A46B5FC-005F-B113-1A5B-5104D4AC1C6D}"/>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CDA880EF-A615-8D46-272B-47DA12D54F75}"/>
              </a:ext>
            </a:extLst>
          </p:cNvPr>
          <p:cNvSpPr txBox="1"/>
          <p:nvPr/>
        </p:nvSpPr>
        <p:spPr>
          <a:xfrm>
            <a:off x="0" y="752630"/>
            <a:ext cx="10913806" cy="4549835"/>
          </a:xfrm>
          <a:prstGeom prst="rect">
            <a:avLst/>
          </a:prstGeom>
          <a:noFill/>
        </p:spPr>
        <p:txBody>
          <a:bodyPr wrap="square">
            <a:spAutoFit/>
          </a:bodyPr>
          <a:lstStyle/>
          <a:p>
            <a:pPr>
              <a:lnSpc>
                <a:spcPct val="150000"/>
              </a:lnSpc>
            </a:pPr>
            <a:r>
              <a:rPr lang="en-US" sz="2800" b="1" dirty="0">
                <a:latin typeface="Calibir"/>
              </a:rPr>
              <a:t>12. Referencing reminders</a:t>
            </a:r>
          </a:p>
          <a:p>
            <a:pPr>
              <a:lnSpc>
                <a:spcPct val="150000"/>
              </a:lnSpc>
            </a:pPr>
            <a:r>
              <a:rPr lang="en-US" sz="2800" dirty="0">
                <a:latin typeface="Calibir"/>
              </a:rPr>
              <a:t>You must use Holmes Adapted Harvard.</a:t>
            </a:r>
          </a:p>
          <a:p>
            <a:pPr>
              <a:lnSpc>
                <a:spcPct val="150000"/>
              </a:lnSpc>
            </a:pPr>
            <a:r>
              <a:rPr lang="en-US" sz="2800" dirty="0">
                <a:latin typeface="Calibir"/>
              </a:rPr>
              <a:t>Key rules</a:t>
            </a:r>
          </a:p>
          <a:p>
            <a:pPr marL="457200" indent="-457200">
              <a:lnSpc>
                <a:spcPct val="150000"/>
              </a:lnSpc>
              <a:buFont typeface="Arial" panose="020B0604020202020204" pitchFamily="34" charset="0"/>
              <a:buChar char="•"/>
            </a:pPr>
            <a:r>
              <a:rPr lang="en-US" sz="2800" dirty="0">
                <a:latin typeface="Calibir"/>
              </a:rPr>
              <a:t>references on a separate page titled References </a:t>
            </a:r>
          </a:p>
          <a:p>
            <a:pPr marL="457200" indent="-457200">
              <a:lnSpc>
                <a:spcPct val="150000"/>
              </a:lnSpc>
              <a:buFont typeface="Arial" panose="020B0604020202020204" pitchFamily="34" charset="0"/>
              <a:buChar char="•"/>
            </a:pPr>
            <a:r>
              <a:rPr lang="en-US" sz="2800" dirty="0">
                <a:latin typeface="Calibir"/>
              </a:rPr>
              <a:t>arranged alphabetically A–Z </a:t>
            </a:r>
          </a:p>
          <a:p>
            <a:pPr marL="457200" indent="-457200">
              <a:lnSpc>
                <a:spcPct val="150000"/>
              </a:lnSpc>
              <a:buFont typeface="Arial" panose="020B0604020202020204" pitchFamily="34" charset="0"/>
              <a:buChar char="•"/>
            </a:pPr>
            <a:r>
              <a:rPr lang="en-US" sz="2800" dirty="0">
                <a:latin typeface="Calibir"/>
              </a:rPr>
              <a:t>numbered </a:t>
            </a:r>
          </a:p>
          <a:p>
            <a:pPr marL="457200" indent="-457200">
              <a:lnSpc>
                <a:spcPct val="150000"/>
              </a:lnSpc>
              <a:buFont typeface="Arial" panose="020B0604020202020204" pitchFamily="34" charset="0"/>
              <a:buChar char="•"/>
            </a:pPr>
            <a:r>
              <a:rPr lang="en-US" sz="2800" dirty="0">
                <a:latin typeface="Calibir"/>
              </a:rPr>
              <a:t>each reference must include a hyperlink to full text</a:t>
            </a:r>
          </a:p>
        </p:txBody>
      </p:sp>
      <p:sp>
        <p:nvSpPr>
          <p:cNvPr id="7" name="object 2">
            <a:extLst>
              <a:ext uri="{FF2B5EF4-FFF2-40B4-BE49-F238E27FC236}">
                <a16:creationId xmlns:a16="http://schemas.microsoft.com/office/drawing/2014/main" id="{FA242BAD-A9D9-011F-1105-73838693D37C}"/>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86959672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4E3F2-ED78-57F1-A055-20E313046533}"/>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B2B458BA-362E-F8EF-2334-23A7BB7B60A1}"/>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3EB5D82F-948F-AA37-A87C-E33F990DE9E0}"/>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A1F3A572-6283-209B-93C6-C922B9C2112D}"/>
              </a:ext>
            </a:extLst>
          </p:cNvPr>
          <p:cNvSpPr txBox="1"/>
          <p:nvPr/>
        </p:nvSpPr>
        <p:spPr>
          <a:xfrm>
            <a:off x="0" y="752630"/>
            <a:ext cx="10913806" cy="3257174"/>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Calibir"/>
              </a:rPr>
              <a:t>in-text citations must include: </a:t>
            </a:r>
          </a:p>
          <a:p>
            <a:pPr marL="914400" lvl="1" indent="-457200">
              <a:lnSpc>
                <a:spcPct val="150000"/>
              </a:lnSpc>
              <a:buFont typeface="Arial" panose="020B0604020202020204" pitchFamily="34" charset="0"/>
              <a:buChar char="•"/>
            </a:pPr>
            <a:r>
              <a:rPr lang="en-US" sz="2800" dirty="0">
                <a:latin typeface="Calibir"/>
              </a:rPr>
              <a:t>author surname or authoring body </a:t>
            </a:r>
          </a:p>
          <a:p>
            <a:pPr marL="914400" lvl="1" indent="-457200">
              <a:lnSpc>
                <a:spcPct val="150000"/>
              </a:lnSpc>
              <a:buFont typeface="Arial" panose="020B0604020202020204" pitchFamily="34" charset="0"/>
              <a:buChar char="•"/>
            </a:pPr>
            <a:r>
              <a:rPr lang="en-US" sz="2800" dirty="0">
                <a:latin typeface="Calibir"/>
              </a:rPr>
              <a:t>year </a:t>
            </a:r>
          </a:p>
          <a:p>
            <a:pPr marL="914400" lvl="1" indent="-457200">
              <a:lnSpc>
                <a:spcPct val="150000"/>
              </a:lnSpc>
              <a:buFont typeface="Arial" panose="020B0604020202020204" pitchFamily="34" charset="0"/>
              <a:buChar char="•"/>
            </a:pPr>
            <a:r>
              <a:rPr lang="en-US" sz="2800" dirty="0">
                <a:latin typeface="Calibir"/>
              </a:rPr>
              <a:t>page number </a:t>
            </a:r>
          </a:p>
          <a:p>
            <a:pPr marL="914400" lvl="1" indent="-457200">
              <a:lnSpc>
                <a:spcPct val="150000"/>
              </a:lnSpc>
              <a:buFont typeface="Arial" panose="020B0604020202020204" pitchFamily="34" charset="0"/>
              <a:buChar char="•"/>
            </a:pPr>
            <a:r>
              <a:rPr lang="en-US" sz="2800" dirty="0">
                <a:latin typeface="Calibir"/>
              </a:rPr>
              <a:t>paragraph number</a:t>
            </a:r>
          </a:p>
        </p:txBody>
      </p:sp>
      <p:sp>
        <p:nvSpPr>
          <p:cNvPr id="7" name="object 2">
            <a:extLst>
              <a:ext uri="{FF2B5EF4-FFF2-40B4-BE49-F238E27FC236}">
                <a16:creationId xmlns:a16="http://schemas.microsoft.com/office/drawing/2014/main" id="{217E7735-63B9-F634-5432-AD54A8FB3FE0}"/>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146451435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1B8A0-0679-41E8-C02C-C3FCC88A4B0E}"/>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C355D051-1103-66A1-8F12-91F336160F50}"/>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F5CC15BF-F087-BF01-88B1-DD88E76689AF}"/>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6A8DEED5-0C57-07E7-8803-043FEFFE290F}"/>
              </a:ext>
            </a:extLst>
          </p:cNvPr>
          <p:cNvSpPr txBox="1"/>
          <p:nvPr/>
        </p:nvSpPr>
        <p:spPr>
          <a:xfrm>
            <a:off x="0" y="752630"/>
            <a:ext cx="10913806" cy="2610843"/>
          </a:xfrm>
          <a:prstGeom prst="rect">
            <a:avLst/>
          </a:prstGeom>
          <a:noFill/>
        </p:spPr>
        <p:txBody>
          <a:bodyPr wrap="square">
            <a:spAutoFit/>
          </a:bodyPr>
          <a:lstStyle/>
          <a:p>
            <a:pPr>
              <a:lnSpc>
                <a:spcPct val="150000"/>
              </a:lnSpc>
            </a:pPr>
            <a:r>
              <a:rPr lang="en-US" sz="2800" b="1" dirty="0">
                <a:latin typeface="Calibir"/>
              </a:rPr>
              <a:t>Example in-text citation</a:t>
            </a:r>
          </a:p>
          <a:p>
            <a:pPr>
              <a:lnSpc>
                <a:spcPct val="150000"/>
              </a:lnSpc>
            </a:pPr>
            <a:r>
              <a:rPr lang="en-US" sz="2800" dirty="0">
                <a:latin typeface="Calibir"/>
              </a:rPr>
              <a:t>(Hawking et al., 2004, p3(4))</a:t>
            </a:r>
          </a:p>
          <a:p>
            <a:pPr>
              <a:lnSpc>
                <a:spcPct val="150000"/>
              </a:lnSpc>
            </a:pPr>
            <a:r>
              <a:rPr lang="en-US" sz="2800" b="1" dirty="0">
                <a:latin typeface="Calibir"/>
              </a:rPr>
              <a:t>Important</a:t>
            </a:r>
          </a:p>
          <a:p>
            <a:pPr>
              <a:lnSpc>
                <a:spcPct val="150000"/>
              </a:lnSpc>
            </a:pPr>
            <a:r>
              <a:rPr lang="en-US" sz="2800" dirty="0">
                <a:latin typeface="Calibir"/>
              </a:rPr>
              <a:t>Students often lose marks here even when the technical work is good.</a:t>
            </a:r>
          </a:p>
        </p:txBody>
      </p:sp>
      <p:sp>
        <p:nvSpPr>
          <p:cNvPr id="7" name="object 2">
            <a:extLst>
              <a:ext uri="{FF2B5EF4-FFF2-40B4-BE49-F238E27FC236}">
                <a16:creationId xmlns:a16="http://schemas.microsoft.com/office/drawing/2014/main" id="{4B336772-4BDC-8AAD-AA07-5D6CB6C9CA15}"/>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54740360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B9C5D-760F-01C4-94FD-1ABECF95F1C7}"/>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1C01AA96-C346-3DCF-779B-EA18A716B4C0}"/>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2BE9CE6D-EBFD-0CDC-D200-DE0FC1221EA5}"/>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A399517A-B438-EB3C-7D7C-C2BC4D2BF3B4}"/>
              </a:ext>
            </a:extLst>
          </p:cNvPr>
          <p:cNvSpPr txBox="1"/>
          <p:nvPr/>
        </p:nvSpPr>
        <p:spPr>
          <a:xfrm>
            <a:off x="0" y="752630"/>
            <a:ext cx="10913806" cy="5842497"/>
          </a:xfrm>
          <a:prstGeom prst="rect">
            <a:avLst/>
          </a:prstGeom>
          <a:noFill/>
        </p:spPr>
        <p:txBody>
          <a:bodyPr wrap="square">
            <a:spAutoFit/>
          </a:bodyPr>
          <a:lstStyle/>
          <a:p>
            <a:pPr>
              <a:lnSpc>
                <a:spcPct val="150000"/>
              </a:lnSpc>
            </a:pPr>
            <a:r>
              <a:rPr lang="en-US" sz="2800" b="1" dirty="0">
                <a:latin typeface="Calibir"/>
              </a:rPr>
              <a:t>13. Final submission checklist</a:t>
            </a:r>
          </a:p>
          <a:p>
            <a:pPr>
              <a:lnSpc>
                <a:spcPct val="150000"/>
              </a:lnSpc>
            </a:pPr>
            <a:r>
              <a:rPr lang="en-US" sz="2800" dirty="0">
                <a:latin typeface="Calibir"/>
              </a:rPr>
              <a:t>Before submitting, check:</a:t>
            </a:r>
          </a:p>
          <a:p>
            <a:pPr marL="914400" lvl="1" indent="-457200">
              <a:lnSpc>
                <a:spcPct val="150000"/>
              </a:lnSpc>
              <a:buFont typeface="Arial" panose="020B0604020202020204" pitchFamily="34" charset="0"/>
              <a:buChar char="•"/>
            </a:pPr>
            <a:r>
              <a:rPr lang="en-US" sz="2800" dirty="0">
                <a:latin typeface="Calibir"/>
              </a:rPr>
              <a:t>cover sheet included </a:t>
            </a:r>
          </a:p>
          <a:p>
            <a:pPr marL="914400" lvl="1" indent="-457200">
              <a:lnSpc>
                <a:spcPct val="150000"/>
              </a:lnSpc>
              <a:buFont typeface="Arial" panose="020B0604020202020204" pitchFamily="34" charset="0"/>
              <a:buChar char="•"/>
            </a:pPr>
            <a:r>
              <a:rPr lang="en-US" sz="2800" dirty="0">
                <a:latin typeface="Calibir"/>
              </a:rPr>
              <a:t>report is in Word </a:t>
            </a:r>
          </a:p>
          <a:p>
            <a:pPr marL="914400" lvl="1" indent="-457200">
              <a:lnSpc>
                <a:spcPct val="150000"/>
              </a:lnSpc>
              <a:buFont typeface="Arial" panose="020B0604020202020204" pitchFamily="34" charset="0"/>
              <a:buChar char="•"/>
            </a:pPr>
            <a:r>
              <a:rPr lang="en-US" sz="2800" dirty="0">
                <a:latin typeface="Calibir"/>
              </a:rPr>
              <a:t>slides are in PowerPoint </a:t>
            </a:r>
          </a:p>
          <a:p>
            <a:pPr marL="914400" lvl="1" indent="-457200">
              <a:lnSpc>
                <a:spcPct val="150000"/>
              </a:lnSpc>
              <a:buFont typeface="Arial" panose="020B0604020202020204" pitchFamily="34" charset="0"/>
              <a:buChar char="•"/>
            </a:pPr>
            <a:r>
              <a:rPr lang="en-US" sz="2800" dirty="0">
                <a:latin typeface="Calibir"/>
              </a:rPr>
              <a:t>notebook/script included </a:t>
            </a:r>
          </a:p>
          <a:p>
            <a:pPr marL="914400" lvl="1" indent="-457200">
              <a:lnSpc>
                <a:spcPct val="150000"/>
              </a:lnSpc>
              <a:buFont typeface="Arial" panose="020B0604020202020204" pitchFamily="34" charset="0"/>
              <a:buChar char="•"/>
            </a:pPr>
            <a:r>
              <a:rPr lang="en-US" sz="2800" dirty="0">
                <a:latin typeface="Calibir"/>
              </a:rPr>
              <a:t>screenshots included </a:t>
            </a:r>
          </a:p>
          <a:p>
            <a:pPr marL="914400" lvl="1" indent="-457200">
              <a:lnSpc>
                <a:spcPct val="150000"/>
              </a:lnSpc>
              <a:buFont typeface="Arial" panose="020B0604020202020204" pitchFamily="34" charset="0"/>
              <a:buChar char="•"/>
            </a:pPr>
            <a:r>
              <a:rPr lang="en-US" sz="2800" dirty="0">
                <a:latin typeface="Calibir"/>
              </a:rPr>
              <a:t>dataset link included </a:t>
            </a:r>
          </a:p>
          <a:p>
            <a:pPr marL="914400" lvl="1" indent="-457200">
              <a:lnSpc>
                <a:spcPct val="150000"/>
              </a:lnSpc>
              <a:buFont typeface="Arial" panose="020B0604020202020204" pitchFamily="34" charset="0"/>
              <a:buChar char="•"/>
            </a:pPr>
            <a:r>
              <a:rPr lang="en-US" sz="2800" dirty="0">
                <a:latin typeface="Calibir"/>
              </a:rPr>
              <a:t>contribution sheet included</a:t>
            </a:r>
          </a:p>
        </p:txBody>
      </p:sp>
      <p:sp>
        <p:nvSpPr>
          <p:cNvPr id="7" name="object 2">
            <a:extLst>
              <a:ext uri="{FF2B5EF4-FFF2-40B4-BE49-F238E27FC236}">
                <a16:creationId xmlns:a16="http://schemas.microsoft.com/office/drawing/2014/main" id="{F6E8A33A-01C2-70BF-76C2-8C589EE18BDD}"/>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161683623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A0701-E817-F382-D9B1-AF6FA33A7831}"/>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4F98323F-3439-7CC0-1CCC-2BF5973106D7}"/>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A838A0FA-DE07-C48E-E2CD-7578281365FF}"/>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0EFFDBB4-A0C0-C10C-98C8-00125D86BF13}"/>
              </a:ext>
            </a:extLst>
          </p:cNvPr>
          <p:cNvSpPr txBox="1"/>
          <p:nvPr/>
        </p:nvSpPr>
        <p:spPr>
          <a:xfrm>
            <a:off x="0" y="752630"/>
            <a:ext cx="10913806" cy="3903504"/>
          </a:xfrm>
          <a:prstGeom prst="rect">
            <a:avLst/>
          </a:prstGeom>
          <a:noFill/>
        </p:spPr>
        <p:txBody>
          <a:bodyPr wrap="square">
            <a:spAutoFit/>
          </a:bodyPr>
          <a:lstStyle/>
          <a:p>
            <a:pPr marL="914400" lvl="1" indent="-457200">
              <a:lnSpc>
                <a:spcPct val="150000"/>
              </a:lnSpc>
              <a:buFont typeface="Arial" panose="020B0604020202020204" pitchFamily="34" charset="0"/>
              <a:buChar char="•"/>
            </a:pPr>
            <a:r>
              <a:rPr lang="en-US" sz="2800" dirty="0">
                <a:latin typeface="Calibir"/>
              </a:rPr>
              <a:t>two models included </a:t>
            </a:r>
          </a:p>
          <a:p>
            <a:pPr marL="914400" lvl="1" indent="-457200">
              <a:lnSpc>
                <a:spcPct val="150000"/>
              </a:lnSpc>
              <a:buFont typeface="Arial" panose="020B0604020202020204" pitchFamily="34" charset="0"/>
              <a:buChar char="•"/>
            </a:pPr>
            <a:r>
              <a:rPr lang="en-US" sz="2800" dirty="0">
                <a:latin typeface="Calibir"/>
              </a:rPr>
              <a:t>evaluation table included </a:t>
            </a:r>
          </a:p>
          <a:p>
            <a:pPr marL="914400" lvl="1" indent="-457200">
              <a:lnSpc>
                <a:spcPct val="150000"/>
              </a:lnSpc>
              <a:buFont typeface="Arial" panose="020B0604020202020204" pitchFamily="34" charset="0"/>
              <a:buChar char="•"/>
            </a:pPr>
            <a:r>
              <a:rPr lang="en-US" sz="2800" dirty="0">
                <a:latin typeface="Calibir"/>
              </a:rPr>
              <a:t>ethics section included </a:t>
            </a:r>
          </a:p>
          <a:p>
            <a:pPr marL="914400" lvl="1" indent="-457200">
              <a:lnSpc>
                <a:spcPct val="150000"/>
              </a:lnSpc>
              <a:buFont typeface="Arial" panose="020B0604020202020204" pitchFamily="34" charset="0"/>
              <a:buChar char="•"/>
            </a:pPr>
            <a:r>
              <a:rPr lang="en-US" sz="2800" dirty="0">
                <a:latin typeface="Calibir"/>
              </a:rPr>
              <a:t>reflection included </a:t>
            </a:r>
          </a:p>
          <a:p>
            <a:pPr marL="914400" lvl="1" indent="-457200">
              <a:lnSpc>
                <a:spcPct val="150000"/>
              </a:lnSpc>
              <a:buFont typeface="Arial" panose="020B0604020202020204" pitchFamily="34" charset="0"/>
              <a:buChar char="•"/>
            </a:pPr>
            <a:r>
              <a:rPr lang="en-US" sz="2800" dirty="0">
                <a:latin typeface="Calibir"/>
              </a:rPr>
              <a:t>references are correct </a:t>
            </a:r>
          </a:p>
          <a:p>
            <a:pPr marL="914400" lvl="1" indent="-457200">
              <a:lnSpc>
                <a:spcPct val="150000"/>
              </a:lnSpc>
              <a:buFont typeface="Arial" panose="020B0604020202020204" pitchFamily="34" charset="0"/>
              <a:buChar char="•"/>
            </a:pPr>
            <a:r>
              <a:rPr lang="en-US" sz="2800" dirty="0">
                <a:latin typeface="Calibir"/>
              </a:rPr>
              <a:t>all members understand the project</a:t>
            </a:r>
          </a:p>
        </p:txBody>
      </p:sp>
      <p:sp>
        <p:nvSpPr>
          <p:cNvPr id="7" name="object 2">
            <a:extLst>
              <a:ext uri="{FF2B5EF4-FFF2-40B4-BE49-F238E27FC236}">
                <a16:creationId xmlns:a16="http://schemas.microsoft.com/office/drawing/2014/main" id="{03E9A849-1506-ADD5-0B09-2050CBFE8D1B}"/>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28224423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422D1-EA17-78C4-6928-9D93150AD119}"/>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679D31E3-CEE6-5F64-A191-CF6FB5F67EE4}"/>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33D352AC-8CCD-C037-C8E8-E5DFD523D7B2}"/>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258F1C79-6F80-9264-397B-092AE5F5450D}"/>
              </a:ext>
            </a:extLst>
          </p:cNvPr>
          <p:cNvSpPr txBox="1"/>
          <p:nvPr/>
        </p:nvSpPr>
        <p:spPr>
          <a:xfrm>
            <a:off x="0" y="752630"/>
            <a:ext cx="10913806" cy="5842497"/>
          </a:xfrm>
          <a:prstGeom prst="rect">
            <a:avLst/>
          </a:prstGeom>
          <a:noFill/>
        </p:spPr>
        <p:txBody>
          <a:bodyPr wrap="square">
            <a:spAutoFit/>
          </a:bodyPr>
          <a:lstStyle/>
          <a:p>
            <a:pPr>
              <a:lnSpc>
                <a:spcPct val="150000"/>
              </a:lnSpc>
            </a:pPr>
            <a:r>
              <a:rPr lang="en-US" sz="2800" b="1" dirty="0">
                <a:latin typeface="Calibir"/>
              </a:rPr>
              <a:t>14. Helpful hints for getting higher marks</a:t>
            </a:r>
          </a:p>
          <a:p>
            <a:pPr>
              <a:lnSpc>
                <a:spcPct val="150000"/>
              </a:lnSpc>
            </a:pPr>
            <a:r>
              <a:rPr lang="en-US" sz="2800" dirty="0">
                <a:latin typeface="Calibir"/>
              </a:rPr>
              <a:t>To aim for a high distinction:</a:t>
            </a:r>
          </a:p>
          <a:p>
            <a:pPr marL="914400" lvl="1" indent="-457200">
              <a:lnSpc>
                <a:spcPct val="150000"/>
              </a:lnSpc>
              <a:buFont typeface="Arial" panose="020B0604020202020204" pitchFamily="34" charset="0"/>
              <a:buChar char="•"/>
            </a:pPr>
            <a:r>
              <a:rPr lang="en-US" sz="2800" dirty="0">
                <a:latin typeface="Calibir"/>
              </a:rPr>
              <a:t>choose a dataset with a clear business use case </a:t>
            </a:r>
          </a:p>
          <a:p>
            <a:pPr marL="914400" lvl="1" indent="-457200">
              <a:lnSpc>
                <a:spcPct val="150000"/>
              </a:lnSpc>
              <a:buFont typeface="Arial" panose="020B0604020202020204" pitchFamily="34" charset="0"/>
              <a:buChar char="•"/>
            </a:pPr>
            <a:r>
              <a:rPr lang="en-US" sz="2800" dirty="0">
                <a:latin typeface="Calibir"/>
              </a:rPr>
              <a:t>use two models that create meaningful comparison </a:t>
            </a:r>
          </a:p>
          <a:p>
            <a:pPr marL="914400" lvl="1" indent="-457200">
              <a:lnSpc>
                <a:spcPct val="150000"/>
              </a:lnSpc>
              <a:buFont typeface="Arial" panose="020B0604020202020204" pitchFamily="34" charset="0"/>
              <a:buChar char="•"/>
            </a:pPr>
            <a:r>
              <a:rPr lang="en-US" sz="2800" dirty="0">
                <a:latin typeface="Calibir"/>
              </a:rPr>
              <a:t>make preprocessing critical, not superficial </a:t>
            </a:r>
          </a:p>
          <a:p>
            <a:pPr marL="914400" lvl="1" indent="-457200">
              <a:lnSpc>
                <a:spcPct val="150000"/>
              </a:lnSpc>
              <a:buFont typeface="Arial" panose="020B0604020202020204" pitchFamily="34" charset="0"/>
              <a:buChar char="•"/>
            </a:pPr>
            <a:r>
              <a:rPr lang="en-US" sz="2800" dirty="0">
                <a:latin typeface="Calibir"/>
              </a:rPr>
              <a:t>explain assumptions properly </a:t>
            </a:r>
          </a:p>
          <a:p>
            <a:pPr marL="914400" lvl="1" indent="-457200">
              <a:lnSpc>
                <a:spcPct val="150000"/>
              </a:lnSpc>
              <a:buFont typeface="Arial" panose="020B0604020202020204" pitchFamily="34" charset="0"/>
              <a:buChar char="•"/>
            </a:pPr>
            <a:r>
              <a:rPr lang="en-US" sz="2800" dirty="0">
                <a:latin typeface="Calibir"/>
              </a:rPr>
              <a:t>use evidence, tables, and screenshots </a:t>
            </a:r>
          </a:p>
          <a:p>
            <a:pPr marL="914400" lvl="1" indent="-457200">
              <a:lnSpc>
                <a:spcPct val="150000"/>
              </a:lnSpc>
              <a:buFont typeface="Arial" panose="020B0604020202020204" pitchFamily="34" charset="0"/>
              <a:buChar char="•"/>
            </a:pPr>
            <a:r>
              <a:rPr lang="en-US" sz="2800" dirty="0">
                <a:latin typeface="Calibir"/>
              </a:rPr>
              <a:t>discuss trade-offs, not just best score </a:t>
            </a:r>
          </a:p>
          <a:p>
            <a:pPr marL="914400" lvl="1" indent="-457200">
              <a:lnSpc>
                <a:spcPct val="150000"/>
              </a:lnSpc>
              <a:buFont typeface="Arial" panose="020B0604020202020204" pitchFamily="34" charset="0"/>
              <a:buChar char="•"/>
            </a:pPr>
            <a:r>
              <a:rPr lang="en-US" sz="2800" dirty="0">
                <a:latin typeface="Calibir"/>
              </a:rPr>
              <a:t>generate practical business recommendations</a:t>
            </a:r>
          </a:p>
        </p:txBody>
      </p:sp>
      <p:sp>
        <p:nvSpPr>
          <p:cNvPr id="7" name="object 2">
            <a:extLst>
              <a:ext uri="{FF2B5EF4-FFF2-40B4-BE49-F238E27FC236}">
                <a16:creationId xmlns:a16="http://schemas.microsoft.com/office/drawing/2014/main" id="{FEAEB7CA-29DC-5D4F-1910-727C12A58B67}"/>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18756802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2BE82-FE05-1337-F685-2F5FFC5F8E32}"/>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70D7AD4E-2CA2-73AB-72EA-D7C67C20F7D4}"/>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B4C56D8C-95EB-D9AF-F1F3-22CA6A292237}"/>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A83CA609-EBDB-6AAF-7AED-77E152E4DB77}"/>
              </a:ext>
            </a:extLst>
          </p:cNvPr>
          <p:cNvSpPr txBox="1"/>
          <p:nvPr/>
        </p:nvSpPr>
        <p:spPr>
          <a:xfrm>
            <a:off x="0" y="752630"/>
            <a:ext cx="10913806" cy="1964512"/>
          </a:xfrm>
          <a:prstGeom prst="rect">
            <a:avLst/>
          </a:prstGeom>
          <a:noFill/>
        </p:spPr>
        <p:txBody>
          <a:bodyPr wrap="square">
            <a:spAutoFit/>
          </a:bodyPr>
          <a:lstStyle/>
          <a:p>
            <a:pPr marL="914400" lvl="1" indent="-457200">
              <a:lnSpc>
                <a:spcPct val="150000"/>
              </a:lnSpc>
              <a:buFont typeface="Arial" panose="020B0604020202020204" pitchFamily="34" charset="0"/>
              <a:buChar char="•"/>
            </a:pPr>
            <a:r>
              <a:rPr lang="en-US" sz="2800" dirty="0">
                <a:latin typeface="Calibir"/>
              </a:rPr>
              <a:t>link ethics directly to the dataset variables </a:t>
            </a:r>
          </a:p>
          <a:p>
            <a:pPr marL="914400" lvl="1" indent="-457200">
              <a:lnSpc>
                <a:spcPct val="150000"/>
              </a:lnSpc>
              <a:buFont typeface="Arial" panose="020B0604020202020204" pitchFamily="34" charset="0"/>
              <a:buChar char="•"/>
            </a:pPr>
            <a:r>
              <a:rPr lang="en-US" sz="2800" dirty="0">
                <a:latin typeface="Calibir"/>
              </a:rPr>
              <a:t>speak confidently in presentation </a:t>
            </a:r>
          </a:p>
          <a:p>
            <a:pPr marL="914400" lvl="1" indent="-457200">
              <a:lnSpc>
                <a:spcPct val="150000"/>
              </a:lnSpc>
              <a:buFont typeface="Arial" panose="020B0604020202020204" pitchFamily="34" charset="0"/>
              <a:buChar char="•"/>
            </a:pPr>
            <a:r>
              <a:rPr lang="en-US" sz="2800" dirty="0">
                <a:latin typeface="Calibir"/>
              </a:rPr>
              <a:t>ensure every member can explain the work </a:t>
            </a:r>
          </a:p>
        </p:txBody>
      </p:sp>
      <p:sp>
        <p:nvSpPr>
          <p:cNvPr id="7" name="object 2">
            <a:extLst>
              <a:ext uri="{FF2B5EF4-FFF2-40B4-BE49-F238E27FC236}">
                <a16:creationId xmlns:a16="http://schemas.microsoft.com/office/drawing/2014/main" id="{3EED03A6-1DC6-1349-F3DB-01CA4A70DB0A}"/>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418336478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EA2F9-919C-D264-6193-E4E78ACEC534}"/>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96E3B320-5307-31FB-A4D2-BB115038CAE8}"/>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CD8E6BCF-5337-EE96-B803-D3CB9AF03E61}"/>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1EAF8D35-F2CE-79EB-14DA-55EF7A30C74A}"/>
              </a:ext>
            </a:extLst>
          </p:cNvPr>
          <p:cNvSpPr txBox="1"/>
          <p:nvPr/>
        </p:nvSpPr>
        <p:spPr>
          <a:xfrm>
            <a:off x="0" y="752630"/>
            <a:ext cx="10913806" cy="4549835"/>
          </a:xfrm>
          <a:prstGeom prst="rect">
            <a:avLst/>
          </a:prstGeom>
          <a:noFill/>
        </p:spPr>
        <p:txBody>
          <a:bodyPr wrap="square">
            <a:spAutoFit/>
          </a:bodyPr>
          <a:lstStyle/>
          <a:p>
            <a:pPr>
              <a:lnSpc>
                <a:spcPct val="150000"/>
              </a:lnSpc>
            </a:pPr>
            <a:r>
              <a:rPr lang="en-US" sz="2800" b="1" dirty="0">
                <a:latin typeface="Calibir"/>
              </a:rPr>
              <a:t>15. Questions and answers for students</a:t>
            </a:r>
          </a:p>
          <a:p>
            <a:pPr>
              <a:lnSpc>
                <a:spcPct val="150000"/>
              </a:lnSpc>
            </a:pPr>
            <a:r>
              <a:rPr lang="en-US" sz="2800" b="1" dirty="0">
                <a:latin typeface="Calibir"/>
              </a:rPr>
              <a:t>Q1. Do we need two models?</a:t>
            </a:r>
          </a:p>
          <a:p>
            <a:pPr>
              <a:lnSpc>
                <a:spcPct val="150000"/>
              </a:lnSpc>
            </a:pPr>
            <a:r>
              <a:rPr lang="en-US" sz="2800" dirty="0">
                <a:latin typeface="Calibir"/>
              </a:rPr>
              <a:t>Yes. This is compulsory.</a:t>
            </a:r>
          </a:p>
          <a:p>
            <a:pPr>
              <a:lnSpc>
                <a:spcPct val="150000"/>
              </a:lnSpc>
            </a:pPr>
            <a:r>
              <a:rPr lang="en-US" sz="2800" b="1" dirty="0">
                <a:latin typeface="Calibir"/>
              </a:rPr>
              <a:t>Q2. Must both models be supervised?</a:t>
            </a:r>
          </a:p>
          <a:p>
            <a:pPr>
              <a:lnSpc>
                <a:spcPct val="150000"/>
              </a:lnSpc>
            </a:pPr>
            <a:r>
              <a:rPr lang="en-US" sz="2800" dirty="0">
                <a:latin typeface="Calibir"/>
              </a:rPr>
              <a:t>At least one must be supervised. The second may also be supervised, or clustering if clearly justified. For most groups, using two supervised models is safer.</a:t>
            </a:r>
          </a:p>
        </p:txBody>
      </p:sp>
      <p:sp>
        <p:nvSpPr>
          <p:cNvPr id="7" name="object 2">
            <a:extLst>
              <a:ext uri="{FF2B5EF4-FFF2-40B4-BE49-F238E27FC236}">
                <a16:creationId xmlns:a16="http://schemas.microsoft.com/office/drawing/2014/main" id="{F6842A7F-B5EB-C9ED-8F87-C53533B710E2}"/>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1974106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4" end="4"/>
                                            </p:txEl>
                                          </p:spTgt>
                                        </p:tgtEl>
                                        <p:attrNameLst>
                                          <p:attrName>style.visibility</p:attrName>
                                        </p:attrNameLst>
                                      </p:cBhvr>
                                      <p:to>
                                        <p:strVal val="visible"/>
                                      </p:to>
                                    </p:set>
                                    <p:animEffect transition="in" filter="fade">
                                      <p:cBhvr>
                                        <p:cTn id="12" dur="1000"/>
                                        <p:tgtEl>
                                          <p:spTgt spid="5">
                                            <p:txEl>
                                              <p:pRg st="4" end="4"/>
                                            </p:txEl>
                                          </p:spTgt>
                                        </p:tgtEl>
                                      </p:cBhvr>
                                    </p:animEffect>
                                    <p:anim calcmode="lin" valueType="num">
                                      <p:cBhvr>
                                        <p:cTn id="13"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255C4-B744-9C63-2A80-BE1F9678FC95}"/>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AFE889C0-0C66-371D-D65B-2D5FD7D2AFDF}"/>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8C9DE347-310A-EFEE-2871-49E5C39FAA77}"/>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BF81051B-EABC-2EA1-9CB4-0259274FA71F}"/>
              </a:ext>
            </a:extLst>
          </p:cNvPr>
          <p:cNvSpPr txBox="1"/>
          <p:nvPr/>
        </p:nvSpPr>
        <p:spPr>
          <a:xfrm>
            <a:off x="0" y="752630"/>
            <a:ext cx="10913806" cy="3903504"/>
          </a:xfrm>
          <a:prstGeom prst="rect">
            <a:avLst/>
          </a:prstGeom>
          <a:noFill/>
        </p:spPr>
        <p:txBody>
          <a:bodyPr wrap="square">
            <a:spAutoFit/>
          </a:bodyPr>
          <a:lstStyle/>
          <a:p>
            <a:pPr>
              <a:lnSpc>
                <a:spcPct val="150000"/>
              </a:lnSpc>
            </a:pPr>
            <a:r>
              <a:rPr lang="en-US" sz="2800" b="1" dirty="0">
                <a:latin typeface="Calibir"/>
              </a:rPr>
              <a:t>Q3. Can we use Google </a:t>
            </a:r>
            <a:r>
              <a:rPr lang="en-US" sz="2800" b="1" dirty="0" err="1">
                <a:latin typeface="Calibir"/>
              </a:rPr>
              <a:t>Colab</a:t>
            </a:r>
            <a:r>
              <a:rPr lang="en-US" sz="2800" b="1" dirty="0">
                <a:latin typeface="Calibir"/>
              </a:rPr>
              <a:t>?</a:t>
            </a:r>
          </a:p>
          <a:p>
            <a:pPr>
              <a:lnSpc>
                <a:spcPct val="150000"/>
              </a:lnSpc>
            </a:pPr>
            <a:r>
              <a:rPr lang="en-US" sz="2800" dirty="0">
                <a:latin typeface="Calibir"/>
              </a:rPr>
              <a:t>Yes. It is recommended.</a:t>
            </a:r>
          </a:p>
          <a:p>
            <a:pPr>
              <a:lnSpc>
                <a:spcPct val="150000"/>
              </a:lnSpc>
            </a:pPr>
            <a:r>
              <a:rPr lang="en-US" sz="2800" b="1" dirty="0">
                <a:latin typeface="Calibir"/>
              </a:rPr>
              <a:t>Q4. Can we use KNIME?</a:t>
            </a:r>
          </a:p>
          <a:p>
            <a:pPr>
              <a:lnSpc>
                <a:spcPct val="150000"/>
              </a:lnSpc>
            </a:pPr>
            <a:r>
              <a:rPr lang="en-US" sz="2800" dirty="0">
                <a:latin typeface="Calibir"/>
              </a:rPr>
              <a:t>Only with lecturer approval.</a:t>
            </a:r>
          </a:p>
          <a:p>
            <a:pPr>
              <a:lnSpc>
                <a:spcPct val="150000"/>
              </a:lnSpc>
            </a:pPr>
            <a:r>
              <a:rPr lang="en-US" sz="2800" b="1" dirty="0">
                <a:latin typeface="Calibir"/>
              </a:rPr>
              <a:t>Q5. Can we use Azure ML?</a:t>
            </a:r>
          </a:p>
          <a:p>
            <a:pPr>
              <a:lnSpc>
                <a:spcPct val="150000"/>
              </a:lnSpc>
            </a:pPr>
            <a:r>
              <a:rPr lang="en-US" sz="2800" dirty="0">
                <a:latin typeface="Calibir"/>
              </a:rPr>
              <a:t>Yes, optionally, but it is not required.</a:t>
            </a:r>
          </a:p>
        </p:txBody>
      </p:sp>
      <p:sp>
        <p:nvSpPr>
          <p:cNvPr id="7" name="object 2">
            <a:extLst>
              <a:ext uri="{FF2B5EF4-FFF2-40B4-BE49-F238E27FC236}">
                <a16:creationId xmlns:a16="http://schemas.microsoft.com/office/drawing/2014/main" id="{4393B8B4-4363-3830-0D66-A0F588000886}"/>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239693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anim calcmode="lin" valueType="num">
                                      <p:cBhvr>
                                        <p:cTn id="1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animEffect transition="in" filter="fade">
                                      <p:cBhvr>
                                        <p:cTn id="17" dur="1000"/>
                                        <p:tgtEl>
                                          <p:spTgt spid="5">
                                            <p:txEl>
                                              <p:pRg st="5" end="5"/>
                                            </p:txEl>
                                          </p:spTgt>
                                        </p:tgtEl>
                                      </p:cBhvr>
                                    </p:animEffect>
                                    <p:anim calcmode="lin" valueType="num">
                                      <p:cBhvr>
                                        <p:cTn id="18"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91759-D5E7-0CAB-BE79-86D7EE197A14}"/>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38F096A7-6FA2-FB51-4EF0-90AA7B125641}"/>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5CF88B3B-2A36-FB31-33A0-35B152F0534A}"/>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2D1184A8-EB3E-6F8F-6E2F-40B9FC3D2D3F}"/>
              </a:ext>
            </a:extLst>
          </p:cNvPr>
          <p:cNvSpPr txBox="1"/>
          <p:nvPr/>
        </p:nvSpPr>
        <p:spPr>
          <a:xfrm>
            <a:off x="0" y="524692"/>
            <a:ext cx="10913806" cy="6488828"/>
          </a:xfrm>
          <a:prstGeom prst="rect">
            <a:avLst/>
          </a:prstGeom>
          <a:noFill/>
        </p:spPr>
        <p:txBody>
          <a:bodyPr wrap="square">
            <a:spAutoFit/>
          </a:bodyPr>
          <a:lstStyle/>
          <a:p>
            <a:pPr>
              <a:lnSpc>
                <a:spcPct val="150000"/>
              </a:lnSpc>
            </a:pPr>
            <a:r>
              <a:rPr lang="en-US" sz="2800" b="1" dirty="0">
                <a:latin typeface="Calibir"/>
              </a:rPr>
              <a:t>Q6. What is the easiest kind of dataset to use?</a:t>
            </a:r>
          </a:p>
          <a:p>
            <a:pPr>
              <a:lnSpc>
                <a:spcPct val="150000"/>
              </a:lnSpc>
            </a:pPr>
            <a:r>
              <a:rPr lang="en-US" sz="2800" dirty="0">
                <a:latin typeface="Calibir"/>
              </a:rPr>
              <a:t>A binary classification dataset is usually easier for students, such as churn, attrition, heart disease, or loan prediction.</a:t>
            </a:r>
          </a:p>
          <a:p>
            <a:pPr>
              <a:lnSpc>
                <a:spcPct val="150000"/>
              </a:lnSpc>
            </a:pPr>
            <a:r>
              <a:rPr lang="en-US" sz="2800" b="1" dirty="0">
                <a:latin typeface="Calibir"/>
              </a:rPr>
              <a:t>Q7. What is the easiest model pair for most groups?</a:t>
            </a:r>
          </a:p>
          <a:p>
            <a:pPr>
              <a:lnSpc>
                <a:spcPct val="150000"/>
              </a:lnSpc>
            </a:pPr>
            <a:r>
              <a:rPr lang="en-US" sz="2800" dirty="0">
                <a:latin typeface="Calibir"/>
              </a:rPr>
              <a:t>For classification:</a:t>
            </a:r>
          </a:p>
          <a:p>
            <a:pPr marL="457200" indent="-457200">
              <a:lnSpc>
                <a:spcPct val="150000"/>
              </a:lnSpc>
              <a:buFont typeface="Arial" panose="020B0604020202020204" pitchFamily="34" charset="0"/>
              <a:buChar char="•"/>
            </a:pPr>
            <a:r>
              <a:rPr lang="en-US" sz="2800" dirty="0">
                <a:latin typeface="Calibir"/>
              </a:rPr>
              <a:t>Logistic Regression + Random Forest</a:t>
            </a:r>
            <a:br>
              <a:rPr lang="en-US" sz="2800" dirty="0">
                <a:latin typeface="Calibir"/>
              </a:rPr>
            </a:br>
            <a:r>
              <a:rPr lang="en-US" sz="2800" dirty="0">
                <a:latin typeface="Calibir"/>
              </a:rPr>
              <a:t>or </a:t>
            </a:r>
          </a:p>
          <a:p>
            <a:pPr marL="457200" indent="-457200">
              <a:lnSpc>
                <a:spcPct val="150000"/>
              </a:lnSpc>
              <a:buFont typeface="Arial" panose="020B0604020202020204" pitchFamily="34" charset="0"/>
              <a:buChar char="•"/>
            </a:pPr>
            <a:r>
              <a:rPr lang="en-US" sz="2800" dirty="0">
                <a:latin typeface="Calibir"/>
              </a:rPr>
              <a:t>Logistic Regression + Decision Tree </a:t>
            </a:r>
          </a:p>
          <a:p>
            <a:pPr>
              <a:lnSpc>
                <a:spcPct val="150000"/>
              </a:lnSpc>
            </a:pPr>
            <a:r>
              <a:rPr lang="en-US" sz="2800" dirty="0">
                <a:latin typeface="Calibir"/>
              </a:rPr>
              <a:t>For regression:</a:t>
            </a:r>
          </a:p>
          <a:p>
            <a:pPr marL="457200" indent="-457200">
              <a:lnSpc>
                <a:spcPct val="150000"/>
              </a:lnSpc>
              <a:buFont typeface="Arial" panose="020B0604020202020204" pitchFamily="34" charset="0"/>
              <a:buChar char="•"/>
            </a:pPr>
            <a:r>
              <a:rPr lang="en-US" sz="2800" dirty="0">
                <a:latin typeface="Calibir"/>
              </a:rPr>
              <a:t>Linear Regression + Random Forest Regressor</a:t>
            </a:r>
          </a:p>
        </p:txBody>
      </p:sp>
      <p:sp>
        <p:nvSpPr>
          <p:cNvPr id="7" name="object 2">
            <a:extLst>
              <a:ext uri="{FF2B5EF4-FFF2-40B4-BE49-F238E27FC236}">
                <a16:creationId xmlns:a16="http://schemas.microsoft.com/office/drawing/2014/main" id="{25A0772A-FC91-1C07-129B-269C15C9C261}"/>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871997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anim calcmode="lin" valueType="num">
                                      <p:cBhvr>
                                        <p:cTn id="1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7" end="7"/>
                                            </p:txEl>
                                          </p:spTgt>
                                        </p:tgtEl>
                                        <p:attrNameLst>
                                          <p:attrName>style.visibility</p:attrName>
                                        </p:attrNameLst>
                                      </p:cBhvr>
                                      <p:to>
                                        <p:strVal val="visible"/>
                                      </p:to>
                                    </p:set>
                                    <p:animEffect transition="in" filter="fade">
                                      <p:cBhvr>
                                        <p:cTn id="17" dur="1000"/>
                                        <p:tgtEl>
                                          <p:spTgt spid="5">
                                            <p:txEl>
                                              <p:pRg st="7" end="7"/>
                                            </p:txEl>
                                          </p:spTgt>
                                        </p:tgtEl>
                                      </p:cBhvr>
                                    </p:animEffect>
                                    <p:anim calcmode="lin" valueType="num">
                                      <p:cBhvr>
                                        <p:cTn id="18" dur="1000" fill="hold"/>
                                        <p:tgtEl>
                                          <p:spTgt spid="5">
                                            <p:txEl>
                                              <p:pRg st="7" end="7"/>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7" end="7"/>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fade">
                                      <p:cBhvr>
                                        <p:cTn id="22" dur="1000"/>
                                        <p:tgtEl>
                                          <p:spTgt spid="5">
                                            <p:txEl>
                                              <p:pRg st="5" end="5"/>
                                            </p:txEl>
                                          </p:spTgt>
                                        </p:tgtEl>
                                      </p:cBhvr>
                                    </p:animEffect>
                                    <p:anim calcmode="lin" valueType="num">
                                      <p:cBhvr>
                                        <p:cTn id="23"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Effect transition="in" filter="fade">
                                      <p:cBhvr>
                                        <p:cTn id="27" dur="1000"/>
                                        <p:tgtEl>
                                          <p:spTgt spid="5">
                                            <p:txEl>
                                              <p:pRg st="6" end="6"/>
                                            </p:txEl>
                                          </p:spTgt>
                                        </p:tgtEl>
                                      </p:cBhvr>
                                    </p:animEffect>
                                    <p:anim calcmode="lin" valueType="num">
                                      <p:cBhvr>
                                        <p:cTn id="28"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5">
                                            <p:txEl>
                                              <p:pRg st="6" end="6"/>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5">
                                            <p:txEl>
                                              <p:pRg st="4" end="4"/>
                                            </p:txEl>
                                          </p:spTgt>
                                        </p:tgtEl>
                                        <p:attrNameLst>
                                          <p:attrName>style.visibility</p:attrName>
                                        </p:attrNameLst>
                                      </p:cBhvr>
                                      <p:to>
                                        <p:strVal val="visible"/>
                                      </p:to>
                                    </p:set>
                                    <p:animEffect transition="in" filter="fade">
                                      <p:cBhvr>
                                        <p:cTn id="32" dur="1000"/>
                                        <p:tgtEl>
                                          <p:spTgt spid="5">
                                            <p:txEl>
                                              <p:pRg st="4" end="4"/>
                                            </p:txEl>
                                          </p:spTgt>
                                        </p:tgtEl>
                                      </p:cBhvr>
                                    </p:animEffect>
                                    <p:anim calcmode="lin" valueType="num">
                                      <p:cBhvr>
                                        <p:cTn id="33"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34"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33CFE-03B1-0B93-65E7-95D0D90A26F0}"/>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5FC6E392-A98C-337D-A196-BABE13C76A24}"/>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CAACFCB6-BBC0-00B1-47D4-CF7A6F9F0EF5}"/>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01D32036-38B6-8C3B-EB13-90B70948AB51}"/>
              </a:ext>
            </a:extLst>
          </p:cNvPr>
          <p:cNvSpPr txBox="1"/>
          <p:nvPr/>
        </p:nvSpPr>
        <p:spPr>
          <a:xfrm>
            <a:off x="0" y="583684"/>
            <a:ext cx="10913806" cy="3903504"/>
          </a:xfrm>
          <a:prstGeom prst="rect">
            <a:avLst/>
          </a:prstGeom>
          <a:noFill/>
        </p:spPr>
        <p:txBody>
          <a:bodyPr wrap="square">
            <a:spAutoFit/>
          </a:bodyPr>
          <a:lstStyle/>
          <a:p>
            <a:pPr>
              <a:lnSpc>
                <a:spcPct val="150000"/>
              </a:lnSpc>
            </a:pPr>
            <a:r>
              <a:rPr lang="en-US" sz="2800" b="1" dirty="0">
                <a:latin typeface="Calibir"/>
              </a:rPr>
              <a:t>Q8. What if our two models give similar results?</a:t>
            </a:r>
          </a:p>
          <a:p>
            <a:pPr>
              <a:lnSpc>
                <a:spcPct val="150000"/>
              </a:lnSpc>
            </a:pPr>
            <a:r>
              <a:rPr lang="en-US" sz="2800" dirty="0">
                <a:latin typeface="Calibir"/>
              </a:rPr>
              <a:t>That is fine. You still need to compare them and explain trade-offs such as interpretability, overfitting risk, and business suitability.</a:t>
            </a:r>
          </a:p>
          <a:p>
            <a:pPr>
              <a:lnSpc>
                <a:spcPct val="150000"/>
              </a:lnSpc>
            </a:pPr>
            <a:r>
              <a:rPr lang="en-US" sz="2800" b="1" dirty="0">
                <a:latin typeface="Calibir"/>
              </a:rPr>
              <a:t>Q9. Do we need hyperparameter tuning?</a:t>
            </a:r>
          </a:p>
          <a:p>
            <a:pPr>
              <a:lnSpc>
                <a:spcPct val="150000"/>
              </a:lnSpc>
            </a:pPr>
            <a:r>
              <a:rPr lang="en-US" sz="2800" dirty="0">
                <a:latin typeface="Calibir"/>
              </a:rPr>
              <a:t>Not always advanced tuning, but you should explain parameter settings and why you chose them.</a:t>
            </a:r>
          </a:p>
        </p:txBody>
      </p:sp>
      <p:sp>
        <p:nvSpPr>
          <p:cNvPr id="7" name="object 2">
            <a:extLst>
              <a:ext uri="{FF2B5EF4-FFF2-40B4-BE49-F238E27FC236}">
                <a16:creationId xmlns:a16="http://schemas.microsoft.com/office/drawing/2014/main" id="{3D393DEB-9929-9BF3-9E6E-185E082D97FB}"/>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2708328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anim calcmode="lin" valueType="num">
                                      <p:cBhvr>
                                        <p:cTn id="1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94970-FD75-173B-7699-1A4D13616BBD}"/>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E2C5ADD1-E7A9-05B0-491D-D46C5152AD17}"/>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E154A11C-E3BC-1BCC-C67B-3F6B91BF50BA}"/>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092C1A92-89DE-D427-4D85-FEA17D862C6D}"/>
              </a:ext>
            </a:extLst>
          </p:cNvPr>
          <p:cNvSpPr txBox="1"/>
          <p:nvPr/>
        </p:nvSpPr>
        <p:spPr>
          <a:xfrm>
            <a:off x="0" y="583684"/>
            <a:ext cx="10913806" cy="1964512"/>
          </a:xfrm>
          <a:prstGeom prst="rect">
            <a:avLst/>
          </a:prstGeom>
          <a:noFill/>
        </p:spPr>
        <p:txBody>
          <a:bodyPr wrap="square">
            <a:spAutoFit/>
          </a:bodyPr>
          <a:lstStyle/>
          <a:p>
            <a:pPr>
              <a:lnSpc>
                <a:spcPct val="150000"/>
              </a:lnSpc>
            </a:pPr>
            <a:r>
              <a:rPr lang="en-US" sz="2800" b="1" dirty="0">
                <a:latin typeface="Calibir"/>
              </a:rPr>
              <a:t>Q10. Do we need screenshots?</a:t>
            </a:r>
          </a:p>
          <a:p>
            <a:pPr>
              <a:lnSpc>
                <a:spcPct val="150000"/>
              </a:lnSpc>
            </a:pPr>
            <a:r>
              <a:rPr lang="en-US" sz="2800" dirty="0">
                <a:latin typeface="Calibir"/>
              </a:rPr>
              <a:t>Yes. The instructions specifically require screenshots as implementation evidence.</a:t>
            </a:r>
          </a:p>
        </p:txBody>
      </p:sp>
      <p:sp>
        <p:nvSpPr>
          <p:cNvPr id="7" name="object 2">
            <a:extLst>
              <a:ext uri="{FF2B5EF4-FFF2-40B4-BE49-F238E27FC236}">
                <a16:creationId xmlns:a16="http://schemas.microsoft.com/office/drawing/2014/main" id="{56F628E8-EC69-57D5-A7F8-4F5ECF72DA6A}"/>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181271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barn(inVertical)">
                                      <p:cBhvr>
                                        <p:cTn id="7"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E34A4-E09D-65EE-A647-088488F9E3D3}"/>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9BE45323-E568-34BA-3B67-1883D200544B}"/>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92967B74-D673-D746-3BD8-4936AF1C94C8}"/>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C6B152C3-6340-54D5-1B4D-91223E03A4F0}"/>
              </a:ext>
            </a:extLst>
          </p:cNvPr>
          <p:cNvSpPr txBox="1"/>
          <p:nvPr/>
        </p:nvSpPr>
        <p:spPr>
          <a:xfrm>
            <a:off x="0" y="583684"/>
            <a:ext cx="10913806" cy="5842497"/>
          </a:xfrm>
          <a:prstGeom prst="rect">
            <a:avLst/>
          </a:prstGeom>
          <a:noFill/>
        </p:spPr>
        <p:txBody>
          <a:bodyPr wrap="square">
            <a:spAutoFit/>
          </a:bodyPr>
          <a:lstStyle/>
          <a:p>
            <a:pPr>
              <a:lnSpc>
                <a:spcPct val="150000"/>
              </a:lnSpc>
            </a:pPr>
            <a:r>
              <a:rPr lang="en-US" sz="2800" b="1" dirty="0">
                <a:latin typeface="Calibir"/>
              </a:rPr>
              <a:t>Q11. What screenshots should we capture?</a:t>
            </a:r>
          </a:p>
          <a:p>
            <a:pPr>
              <a:lnSpc>
                <a:spcPct val="150000"/>
              </a:lnSpc>
            </a:pPr>
            <a:r>
              <a:rPr lang="en-US" sz="2800" dirty="0">
                <a:latin typeface="Calibir"/>
              </a:rPr>
              <a:t>Capture:</a:t>
            </a:r>
          </a:p>
          <a:p>
            <a:pPr marL="914400" lvl="1" indent="-457200">
              <a:lnSpc>
                <a:spcPct val="150000"/>
              </a:lnSpc>
              <a:buFont typeface="Arial" panose="020B0604020202020204" pitchFamily="34" charset="0"/>
              <a:buChar char="•"/>
            </a:pPr>
            <a:r>
              <a:rPr lang="en-US" sz="2800" dirty="0">
                <a:latin typeface="Calibir"/>
              </a:rPr>
              <a:t>raw dataset issues </a:t>
            </a:r>
          </a:p>
          <a:p>
            <a:pPr marL="914400" lvl="1" indent="-457200">
              <a:lnSpc>
                <a:spcPct val="150000"/>
              </a:lnSpc>
              <a:buFont typeface="Arial" panose="020B0604020202020204" pitchFamily="34" charset="0"/>
              <a:buChar char="•"/>
            </a:pPr>
            <a:r>
              <a:rPr lang="en-US" sz="2800" dirty="0">
                <a:latin typeface="Calibir"/>
              </a:rPr>
              <a:t>preprocessing steps </a:t>
            </a:r>
          </a:p>
          <a:p>
            <a:pPr marL="914400" lvl="1" indent="-457200">
              <a:lnSpc>
                <a:spcPct val="150000"/>
              </a:lnSpc>
              <a:buFont typeface="Arial" panose="020B0604020202020204" pitchFamily="34" charset="0"/>
              <a:buChar char="•"/>
            </a:pPr>
            <a:r>
              <a:rPr lang="en-US" sz="2800" dirty="0">
                <a:latin typeface="Calibir"/>
              </a:rPr>
              <a:t>feature selection </a:t>
            </a:r>
          </a:p>
          <a:p>
            <a:pPr marL="914400" lvl="1" indent="-457200">
              <a:lnSpc>
                <a:spcPct val="150000"/>
              </a:lnSpc>
              <a:buFont typeface="Arial" panose="020B0604020202020204" pitchFamily="34" charset="0"/>
              <a:buChar char="•"/>
            </a:pPr>
            <a:r>
              <a:rPr lang="en-US" sz="2800" dirty="0">
                <a:latin typeface="Calibir"/>
              </a:rPr>
              <a:t>transformed dataset </a:t>
            </a:r>
          </a:p>
          <a:p>
            <a:pPr marL="914400" lvl="1" indent="-457200">
              <a:lnSpc>
                <a:spcPct val="150000"/>
              </a:lnSpc>
              <a:buFont typeface="Arial" panose="020B0604020202020204" pitchFamily="34" charset="0"/>
              <a:buChar char="•"/>
            </a:pPr>
            <a:r>
              <a:rPr lang="en-US" sz="2800" dirty="0">
                <a:latin typeface="Calibir"/>
              </a:rPr>
              <a:t>model training </a:t>
            </a:r>
          </a:p>
          <a:p>
            <a:pPr marL="914400" lvl="1" indent="-457200">
              <a:lnSpc>
                <a:spcPct val="150000"/>
              </a:lnSpc>
              <a:buFont typeface="Arial" panose="020B0604020202020204" pitchFamily="34" charset="0"/>
              <a:buChar char="•"/>
            </a:pPr>
            <a:r>
              <a:rPr lang="en-US" sz="2800" dirty="0">
                <a:latin typeface="Calibir"/>
              </a:rPr>
              <a:t>parameter settings </a:t>
            </a:r>
          </a:p>
          <a:p>
            <a:pPr marL="914400" lvl="1" indent="-457200">
              <a:lnSpc>
                <a:spcPct val="150000"/>
              </a:lnSpc>
              <a:buFont typeface="Arial" panose="020B0604020202020204" pitchFamily="34" charset="0"/>
              <a:buChar char="•"/>
            </a:pPr>
            <a:r>
              <a:rPr lang="en-US" sz="2800" dirty="0">
                <a:latin typeface="Calibir"/>
              </a:rPr>
              <a:t>evaluation outputs</a:t>
            </a:r>
          </a:p>
        </p:txBody>
      </p:sp>
      <p:sp>
        <p:nvSpPr>
          <p:cNvPr id="7" name="object 2">
            <a:extLst>
              <a:ext uri="{FF2B5EF4-FFF2-40B4-BE49-F238E27FC236}">
                <a16:creationId xmlns:a16="http://schemas.microsoft.com/office/drawing/2014/main" id="{2656DD1D-21F3-0950-511D-6495E81AF777}"/>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92112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 calcmode="lin" valueType="num">
                                      <p:cBhvr additive="base">
                                        <p:cTn id="7"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anim calcmode="lin" valueType="num">
                                      <p:cBhvr additive="base">
                                        <p:cTn id="11"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anim calcmode="lin" valueType="num">
                                      <p:cBhvr additive="base">
                                        <p:cTn id="1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 calcmode="lin" valueType="num">
                                      <p:cBhvr additive="base">
                                        <p:cTn id="19"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anim calcmode="lin" valueType="num">
                                      <p:cBhvr additive="base">
                                        <p:cTn id="23"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 calcmode="lin" valueType="num">
                                      <p:cBhvr additive="base">
                                        <p:cTn id="27"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
                                            <p:txEl>
                                              <p:pRg st="6" end="6"/>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anim calcmode="lin" valueType="num">
                                      <p:cBhvr additive="base">
                                        <p:cTn id="31"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7" end="7"/>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anim calcmode="lin" valueType="num">
                                      <p:cBhvr additive="base">
                                        <p:cTn id="35"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10E8F-8887-4085-08CC-6B1D325C2245}"/>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3C62C9FA-D44C-C852-AE47-510975F0D9AD}"/>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CEB80EB0-C5A7-6985-AD32-4195CFBBCD54}"/>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01210395-8870-2055-488E-A2AD74FDDE5C}"/>
              </a:ext>
            </a:extLst>
          </p:cNvPr>
          <p:cNvSpPr txBox="1"/>
          <p:nvPr/>
        </p:nvSpPr>
        <p:spPr>
          <a:xfrm>
            <a:off x="0" y="583684"/>
            <a:ext cx="10913806" cy="4549835"/>
          </a:xfrm>
          <a:prstGeom prst="rect">
            <a:avLst/>
          </a:prstGeom>
          <a:noFill/>
        </p:spPr>
        <p:txBody>
          <a:bodyPr wrap="square">
            <a:spAutoFit/>
          </a:bodyPr>
          <a:lstStyle/>
          <a:p>
            <a:pPr>
              <a:lnSpc>
                <a:spcPct val="150000"/>
              </a:lnSpc>
            </a:pPr>
            <a:r>
              <a:rPr lang="en-US" sz="2800" b="1" dirty="0">
                <a:latin typeface="Calibir"/>
              </a:rPr>
              <a:t>Q12. Can we just show code without screenshots?</a:t>
            </a:r>
          </a:p>
          <a:p>
            <a:pPr>
              <a:lnSpc>
                <a:spcPct val="150000"/>
              </a:lnSpc>
            </a:pPr>
            <a:r>
              <a:rPr lang="en-US" sz="2800" dirty="0">
                <a:latin typeface="Calibir"/>
              </a:rPr>
              <a:t>No. You should include both code and screenshots.</a:t>
            </a:r>
          </a:p>
          <a:p>
            <a:pPr>
              <a:lnSpc>
                <a:spcPct val="150000"/>
              </a:lnSpc>
            </a:pPr>
            <a:r>
              <a:rPr lang="en-US" sz="2800" b="1" dirty="0">
                <a:latin typeface="Calibir"/>
              </a:rPr>
              <a:t>Q13. What does “before vs after comparison” mean?</a:t>
            </a:r>
          </a:p>
          <a:p>
            <a:pPr>
              <a:lnSpc>
                <a:spcPct val="150000"/>
              </a:lnSpc>
            </a:pPr>
            <a:r>
              <a:rPr lang="en-US" sz="2800" dirty="0">
                <a:latin typeface="Calibir"/>
              </a:rPr>
              <a:t>Show how the data changed after preprocessing. For example:</a:t>
            </a:r>
          </a:p>
          <a:p>
            <a:pPr marL="914400" lvl="1" indent="-457200">
              <a:lnSpc>
                <a:spcPct val="150000"/>
              </a:lnSpc>
              <a:buFont typeface="Arial" panose="020B0604020202020204" pitchFamily="34" charset="0"/>
              <a:buChar char="•"/>
            </a:pPr>
            <a:r>
              <a:rPr lang="en-US" sz="2800" dirty="0">
                <a:latin typeface="Calibir"/>
              </a:rPr>
              <a:t>missing values before and after </a:t>
            </a:r>
          </a:p>
          <a:p>
            <a:pPr marL="914400" lvl="1" indent="-457200">
              <a:lnSpc>
                <a:spcPct val="150000"/>
              </a:lnSpc>
              <a:buFont typeface="Arial" panose="020B0604020202020204" pitchFamily="34" charset="0"/>
              <a:buChar char="•"/>
            </a:pPr>
            <a:r>
              <a:rPr lang="en-US" sz="2800" dirty="0">
                <a:latin typeface="Calibir"/>
              </a:rPr>
              <a:t>categorical variables before and after encoding </a:t>
            </a:r>
          </a:p>
          <a:p>
            <a:pPr marL="914400" lvl="1" indent="-457200">
              <a:lnSpc>
                <a:spcPct val="150000"/>
              </a:lnSpc>
              <a:buFont typeface="Arial" panose="020B0604020202020204" pitchFamily="34" charset="0"/>
              <a:buChar char="•"/>
            </a:pPr>
            <a:r>
              <a:rPr lang="en-US" sz="2800" dirty="0">
                <a:latin typeface="Calibir"/>
              </a:rPr>
              <a:t>shape or structure before and after cleaning</a:t>
            </a:r>
          </a:p>
        </p:txBody>
      </p:sp>
      <p:sp>
        <p:nvSpPr>
          <p:cNvPr id="7" name="object 2">
            <a:extLst>
              <a:ext uri="{FF2B5EF4-FFF2-40B4-BE49-F238E27FC236}">
                <a16:creationId xmlns:a16="http://schemas.microsoft.com/office/drawing/2014/main" id="{447C85E9-23A4-6D2E-BCD8-967221B2D812}"/>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504366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anim calcmode="lin" valueType="num">
                                      <p:cBhvr>
                                        <p:cTn id="1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1000"/>
                                        <p:tgtEl>
                                          <p:spTgt spid="5">
                                            <p:txEl>
                                              <p:pRg st="4" end="4"/>
                                            </p:txEl>
                                          </p:spTgt>
                                        </p:tgtEl>
                                      </p:cBhvr>
                                    </p:animEffect>
                                    <p:anim calcmode="lin" valueType="num">
                                      <p:cBhvr>
                                        <p:cTn id="1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fade">
                                      <p:cBhvr>
                                        <p:cTn id="22" dur="1000"/>
                                        <p:tgtEl>
                                          <p:spTgt spid="5">
                                            <p:txEl>
                                              <p:pRg st="5" end="5"/>
                                            </p:txEl>
                                          </p:spTgt>
                                        </p:tgtEl>
                                      </p:cBhvr>
                                    </p:animEffect>
                                    <p:anim calcmode="lin" valueType="num">
                                      <p:cBhvr>
                                        <p:cTn id="23"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Effect transition="in" filter="fade">
                                      <p:cBhvr>
                                        <p:cTn id="27" dur="1000"/>
                                        <p:tgtEl>
                                          <p:spTgt spid="5">
                                            <p:txEl>
                                              <p:pRg st="6" end="6"/>
                                            </p:txEl>
                                          </p:spTgt>
                                        </p:tgtEl>
                                      </p:cBhvr>
                                    </p:animEffect>
                                    <p:anim calcmode="lin" valueType="num">
                                      <p:cBhvr>
                                        <p:cTn id="28"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E05CB-CEEB-D1E5-909E-1F3E3E137033}"/>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3E8A7755-A424-5C28-B17A-474E9756705D}"/>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128809EA-C6A3-E638-8427-5FB69BC0801F}"/>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EAE58990-977C-9238-551E-C463E505B6E3}"/>
              </a:ext>
            </a:extLst>
          </p:cNvPr>
          <p:cNvSpPr txBox="1"/>
          <p:nvPr/>
        </p:nvSpPr>
        <p:spPr>
          <a:xfrm>
            <a:off x="0" y="583684"/>
            <a:ext cx="10913806" cy="5842497"/>
          </a:xfrm>
          <a:prstGeom prst="rect">
            <a:avLst/>
          </a:prstGeom>
          <a:noFill/>
        </p:spPr>
        <p:txBody>
          <a:bodyPr wrap="square">
            <a:spAutoFit/>
          </a:bodyPr>
          <a:lstStyle/>
          <a:p>
            <a:pPr>
              <a:lnSpc>
                <a:spcPct val="150000"/>
              </a:lnSpc>
            </a:pPr>
            <a:r>
              <a:rPr lang="en-US" sz="2800" b="1" dirty="0">
                <a:latin typeface="Calibir"/>
              </a:rPr>
              <a:t>Q14. Do we need to explain assumptions for both models?</a:t>
            </a:r>
          </a:p>
          <a:p>
            <a:pPr>
              <a:lnSpc>
                <a:spcPct val="150000"/>
              </a:lnSpc>
            </a:pPr>
            <a:r>
              <a:rPr lang="en-US" sz="2800" dirty="0">
                <a:latin typeface="Calibir"/>
              </a:rPr>
              <a:t>Yes, especially for the chosen techniques. You should explain the theoretical assumptions and whether your dataset satisfies them.</a:t>
            </a:r>
          </a:p>
          <a:p>
            <a:pPr>
              <a:lnSpc>
                <a:spcPct val="150000"/>
              </a:lnSpc>
            </a:pPr>
            <a:r>
              <a:rPr lang="en-US" sz="2800" b="1" dirty="0">
                <a:latin typeface="Calibir"/>
              </a:rPr>
              <a:t>Q15. What if assumptions are violated?</a:t>
            </a:r>
          </a:p>
          <a:p>
            <a:pPr>
              <a:lnSpc>
                <a:spcPct val="150000"/>
              </a:lnSpc>
            </a:pPr>
            <a:r>
              <a:rPr lang="en-US" sz="2800" dirty="0">
                <a:latin typeface="Calibir"/>
              </a:rPr>
              <a:t>That is okay if you discuss:</a:t>
            </a:r>
          </a:p>
          <a:p>
            <a:pPr marL="914400" lvl="1" indent="-457200">
              <a:lnSpc>
                <a:spcPct val="150000"/>
              </a:lnSpc>
              <a:buFont typeface="Arial" panose="020B0604020202020204" pitchFamily="34" charset="0"/>
              <a:buChar char="•"/>
            </a:pPr>
            <a:r>
              <a:rPr lang="en-US" sz="2800" dirty="0">
                <a:latin typeface="Calibir"/>
              </a:rPr>
              <a:t>which assumption is violated </a:t>
            </a:r>
          </a:p>
          <a:p>
            <a:pPr marL="914400" lvl="1" indent="-457200">
              <a:lnSpc>
                <a:spcPct val="150000"/>
              </a:lnSpc>
              <a:buFont typeface="Arial" panose="020B0604020202020204" pitchFamily="34" charset="0"/>
              <a:buChar char="•"/>
            </a:pPr>
            <a:r>
              <a:rPr lang="en-US" sz="2800" dirty="0">
                <a:latin typeface="Calibir"/>
              </a:rPr>
              <a:t>the likely impact </a:t>
            </a:r>
          </a:p>
          <a:p>
            <a:pPr marL="914400" lvl="1" indent="-457200">
              <a:lnSpc>
                <a:spcPct val="150000"/>
              </a:lnSpc>
              <a:buFont typeface="Arial" panose="020B0604020202020204" pitchFamily="34" charset="0"/>
              <a:buChar char="•"/>
            </a:pPr>
            <a:r>
              <a:rPr lang="en-US" sz="2800" dirty="0">
                <a:latin typeface="Calibir"/>
              </a:rPr>
              <a:t>whether the model still remains useful </a:t>
            </a:r>
          </a:p>
          <a:p>
            <a:pPr marL="914400" lvl="1" indent="-457200">
              <a:lnSpc>
                <a:spcPct val="150000"/>
              </a:lnSpc>
              <a:buFont typeface="Arial" panose="020B0604020202020204" pitchFamily="34" charset="0"/>
              <a:buChar char="•"/>
            </a:pPr>
            <a:r>
              <a:rPr lang="en-US" sz="2800" dirty="0">
                <a:latin typeface="Calibir"/>
              </a:rPr>
              <a:t>whether another model handles the issue better</a:t>
            </a:r>
          </a:p>
        </p:txBody>
      </p:sp>
      <p:sp>
        <p:nvSpPr>
          <p:cNvPr id="7" name="object 2">
            <a:extLst>
              <a:ext uri="{FF2B5EF4-FFF2-40B4-BE49-F238E27FC236}">
                <a16:creationId xmlns:a16="http://schemas.microsoft.com/office/drawing/2014/main" id="{C1D71D55-F1CF-C825-8FC0-B49CC97EC56A}"/>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887561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anim calcmode="lin" valueType="num">
                                      <p:cBhvr>
                                        <p:cTn id="1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1000"/>
                                        <p:tgtEl>
                                          <p:spTgt spid="5">
                                            <p:txEl>
                                              <p:pRg st="4" end="4"/>
                                            </p:txEl>
                                          </p:spTgt>
                                        </p:tgtEl>
                                      </p:cBhvr>
                                    </p:animEffect>
                                    <p:anim calcmode="lin" valueType="num">
                                      <p:cBhvr>
                                        <p:cTn id="1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fade">
                                      <p:cBhvr>
                                        <p:cTn id="22" dur="1000"/>
                                        <p:tgtEl>
                                          <p:spTgt spid="5">
                                            <p:txEl>
                                              <p:pRg st="5" end="5"/>
                                            </p:txEl>
                                          </p:spTgt>
                                        </p:tgtEl>
                                      </p:cBhvr>
                                    </p:animEffect>
                                    <p:anim calcmode="lin" valueType="num">
                                      <p:cBhvr>
                                        <p:cTn id="23"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Effect transition="in" filter="fade">
                                      <p:cBhvr>
                                        <p:cTn id="27" dur="1000"/>
                                        <p:tgtEl>
                                          <p:spTgt spid="5">
                                            <p:txEl>
                                              <p:pRg st="6" end="6"/>
                                            </p:txEl>
                                          </p:spTgt>
                                        </p:tgtEl>
                                      </p:cBhvr>
                                    </p:animEffect>
                                    <p:anim calcmode="lin" valueType="num">
                                      <p:cBhvr>
                                        <p:cTn id="28"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5">
                                            <p:txEl>
                                              <p:pRg st="6" end="6"/>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5">
                                            <p:txEl>
                                              <p:pRg st="7" end="7"/>
                                            </p:txEl>
                                          </p:spTgt>
                                        </p:tgtEl>
                                        <p:attrNameLst>
                                          <p:attrName>style.visibility</p:attrName>
                                        </p:attrNameLst>
                                      </p:cBhvr>
                                      <p:to>
                                        <p:strVal val="visible"/>
                                      </p:to>
                                    </p:set>
                                    <p:animEffect transition="in" filter="fade">
                                      <p:cBhvr>
                                        <p:cTn id="32" dur="1000"/>
                                        <p:tgtEl>
                                          <p:spTgt spid="5">
                                            <p:txEl>
                                              <p:pRg st="7" end="7"/>
                                            </p:txEl>
                                          </p:spTgt>
                                        </p:tgtEl>
                                      </p:cBhvr>
                                    </p:animEffect>
                                    <p:anim calcmode="lin" valueType="num">
                                      <p:cBhvr>
                                        <p:cTn id="33" dur="1000" fill="hold"/>
                                        <p:tgtEl>
                                          <p:spTgt spid="5">
                                            <p:txEl>
                                              <p:pRg st="7" end="7"/>
                                            </p:txEl>
                                          </p:spTgt>
                                        </p:tgtEl>
                                        <p:attrNameLst>
                                          <p:attrName>ppt_x</p:attrName>
                                        </p:attrNameLst>
                                      </p:cBhvr>
                                      <p:tavLst>
                                        <p:tav tm="0">
                                          <p:val>
                                            <p:strVal val="#ppt_x"/>
                                          </p:val>
                                        </p:tav>
                                        <p:tav tm="100000">
                                          <p:val>
                                            <p:strVal val="#ppt_x"/>
                                          </p:val>
                                        </p:tav>
                                      </p:tavLst>
                                    </p:anim>
                                    <p:anim calcmode="lin" valueType="num">
                                      <p:cBhvr>
                                        <p:cTn id="34" dur="1000" fill="hold"/>
                                        <p:tgtEl>
                                          <p:spTgt spid="5">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8E471-1E37-E9B1-17ED-E86E0DC34C98}"/>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C7E0DBFC-EDE9-B515-BB34-47FAC0409B2E}"/>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95E28F4D-A7C8-589C-AA5C-95E05AD19F2F}"/>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38CAF1E4-3663-BAC4-4D4F-CB1262BA53C9}"/>
              </a:ext>
            </a:extLst>
          </p:cNvPr>
          <p:cNvSpPr txBox="1"/>
          <p:nvPr/>
        </p:nvSpPr>
        <p:spPr>
          <a:xfrm>
            <a:off x="0" y="583684"/>
            <a:ext cx="10913806" cy="5196166"/>
          </a:xfrm>
          <a:prstGeom prst="rect">
            <a:avLst/>
          </a:prstGeom>
          <a:noFill/>
        </p:spPr>
        <p:txBody>
          <a:bodyPr wrap="square">
            <a:spAutoFit/>
          </a:bodyPr>
          <a:lstStyle/>
          <a:p>
            <a:pPr>
              <a:lnSpc>
                <a:spcPct val="150000"/>
              </a:lnSpc>
            </a:pPr>
            <a:r>
              <a:rPr lang="en-US" sz="2800" b="1" dirty="0">
                <a:latin typeface="Calibir"/>
              </a:rPr>
              <a:t>Q16. Do we need business insights even if this is a technical subject?</a:t>
            </a:r>
          </a:p>
          <a:p>
            <a:pPr>
              <a:lnSpc>
                <a:spcPct val="150000"/>
              </a:lnSpc>
            </a:pPr>
            <a:r>
              <a:rPr lang="en-US" sz="2800" dirty="0">
                <a:latin typeface="Calibir"/>
              </a:rPr>
              <a:t>Yes. This is very important. Predictive analytics should lead to meaningful decisions or actions.</a:t>
            </a:r>
          </a:p>
          <a:p>
            <a:pPr>
              <a:lnSpc>
                <a:spcPct val="150000"/>
              </a:lnSpc>
            </a:pPr>
            <a:r>
              <a:rPr lang="en-US" sz="2800" b="1" dirty="0">
                <a:latin typeface="Calibir"/>
              </a:rPr>
              <a:t>Q17. What counts as a good business insight?</a:t>
            </a:r>
          </a:p>
          <a:p>
            <a:pPr>
              <a:lnSpc>
                <a:spcPct val="150000"/>
              </a:lnSpc>
            </a:pPr>
            <a:r>
              <a:rPr lang="en-US" sz="2800" dirty="0">
                <a:latin typeface="Calibir"/>
              </a:rPr>
              <a:t>A good insight connects:</a:t>
            </a:r>
          </a:p>
          <a:p>
            <a:pPr marL="914400" lvl="1" indent="-457200">
              <a:lnSpc>
                <a:spcPct val="150000"/>
              </a:lnSpc>
              <a:buFont typeface="Arial" panose="020B0604020202020204" pitchFamily="34" charset="0"/>
              <a:buChar char="•"/>
            </a:pPr>
            <a:r>
              <a:rPr lang="en-US" sz="2800" dirty="0">
                <a:latin typeface="Calibir"/>
              </a:rPr>
              <a:t>an important variable or pattern </a:t>
            </a:r>
          </a:p>
          <a:p>
            <a:pPr marL="914400" lvl="1" indent="-457200">
              <a:lnSpc>
                <a:spcPct val="150000"/>
              </a:lnSpc>
              <a:buFont typeface="Arial" panose="020B0604020202020204" pitchFamily="34" charset="0"/>
              <a:buChar char="•"/>
            </a:pPr>
            <a:r>
              <a:rPr lang="en-US" sz="2800" dirty="0">
                <a:latin typeface="Calibir"/>
              </a:rPr>
              <a:t>the model result </a:t>
            </a:r>
          </a:p>
          <a:p>
            <a:pPr marL="914400" lvl="1" indent="-457200">
              <a:lnSpc>
                <a:spcPct val="150000"/>
              </a:lnSpc>
              <a:buFont typeface="Arial" panose="020B0604020202020204" pitchFamily="34" charset="0"/>
              <a:buChar char="•"/>
            </a:pPr>
            <a:r>
              <a:rPr lang="en-US" sz="2800" dirty="0">
                <a:latin typeface="Calibir"/>
              </a:rPr>
              <a:t>a practical action or recommendation</a:t>
            </a:r>
          </a:p>
        </p:txBody>
      </p:sp>
      <p:sp>
        <p:nvSpPr>
          <p:cNvPr id="7" name="object 2">
            <a:extLst>
              <a:ext uri="{FF2B5EF4-FFF2-40B4-BE49-F238E27FC236}">
                <a16:creationId xmlns:a16="http://schemas.microsoft.com/office/drawing/2014/main" id="{5CABFE98-B0B5-6507-9ADD-F9B404946F78}"/>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593718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anim calcmode="lin" valueType="num">
                                      <p:cBhvr>
                                        <p:cTn id="1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1000"/>
                                        <p:tgtEl>
                                          <p:spTgt spid="5">
                                            <p:txEl>
                                              <p:pRg st="4" end="4"/>
                                            </p:txEl>
                                          </p:spTgt>
                                        </p:tgtEl>
                                      </p:cBhvr>
                                    </p:animEffect>
                                    <p:anim calcmode="lin" valueType="num">
                                      <p:cBhvr>
                                        <p:cTn id="1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fade">
                                      <p:cBhvr>
                                        <p:cTn id="22" dur="1000"/>
                                        <p:tgtEl>
                                          <p:spTgt spid="5">
                                            <p:txEl>
                                              <p:pRg st="5" end="5"/>
                                            </p:txEl>
                                          </p:spTgt>
                                        </p:tgtEl>
                                      </p:cBhvr>
                                    </p:animEffect>
                                    <p:anim calcmode="lin" valueType="num">
                                      <p:cBhvr>
                                        <p:cTn id="23"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Effect transition="in" filter="fade">
                                      <p:cBhvr>
                                        <p:cTn id="27" dur="1000"/>
                                        <p:tgtEl>
                                          <p:spTgt spid="5">
                                            <p:txEl>
                                              <p:pRg st="6" end="6"/>
                                            </p:txEl>
                                          </p:spTgt>
                                        </p:tgtEl>
                                      </p:cBhvr>
                                    </p:animEffect>
                                    <p:anim calcmode="lin" valueType="num">
                                      <p:cBhvr>
                                        <p:cTn id="28"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6C140-B9D6-3B83-4EDA-134094123D5A}"/>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963D174C-6C6A-9E36-AE4F-FA446E4405C4}"/>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8BBDEFD7-F519-D1E0-D16A-5A913EC8E937}"/>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FCCCA4F9-A4CD-8D50-A186-DAB07A1FAB85}"/>
              </a:ext>
            </a:extLst>
          </p:cNvPr>
          <p:cNvSpPr txBox="1"/>
          <p:nvPr/>
        </p:nvSpPr>
        <p:spPr>
          <a:xfrm>
            <a:off x="0" y="583684"/>
            <a:ext cx="10913806" cy="3257174"/>
          </a:xfrm>
          <a:prstGeom prst="rect">
            <a:avLst/>
          </a:prstGeom>
          <a:noFill/>
        </p:spPr>
        <p:txBody>
          <a:bodyPr wrap="square">
            <a:spAutoFit/>
          </a:bodyPr>
          <a:lstStyle/>
          <a:p>
            <a:pPr>
              <a:lnSpc>
                <a:spcPct val="150000"/>
              </a:lnSpc>
            </a:pPr>
            <a:r>
              <a:rPr lang="en-US" sz="2800" b="1" dirty="0">
                <a:latin typeface="Calibir"/>
              </a:rPr>
              <a:t>Q18. What should we say in ethics and bias?</a:t>
            </a:r>
          </a:p>
          <a:p>
            <a:pPr>
              <a:lnSpc>
                <a:spcPct val="150000"/>
              </a:lnSpc>
            </a:pPr>
            <a:r>
              <a:rPr lang="en-US" sz="2800" dirty="0">
                <a:latin typeface="Calibir"/>
              </a:rPr>
              <a:t>Discuss real bias risks from your actual dataset, such as age, gender, income, department, or historical sampling imbalance.</a:t>
            </a:r>
          </a:p>
          <a:p>
            <a:pPr>
              <a:lnSpc>
                <a:spcPct val="150000"/>
              </a:lnSpc>
            </a:pPr>
            <a:r>
              <a:rPr lang="en-US" sz="2800" b="1" dirty="0">
                <a:latin typeface="Calibir"/>
              </a:rPr>
              <a:t>Q19. Can we remove sensitive variables like gender?</a:t>
            </a:r>
          </a:p>
          <a:p>
            <a:pPr>
              <a:lnSpc>
                <a:spcPct val="150000"/>
              </a:lnSpc>
            </a:pPr>
            <a:r>
              <a:rPr lang="en-US" sz="2800" dirty="0">
                <a:latin typeface="Calibir"/>
              </a:rPr>
              <a:t>Yes, if justified. But you should explain why and discuss the trade-off.</a:t>
            </a:r>
          </a:p>
        </p:txBody>
      </p:sp>
      <p:sp>
        <p:nvSpPr>
          <p:cNvPr id="7" name="object 2">
            <a:extLst>
              <a:ext uri="{FF2B5EF4-FFF2-40B4-BE49-F238E27FC236}">
                <a16:creationId xmlns:a16="http://schemas.microsoft.com/office/drawing/2014/main" id="{06889D54-EB70-E78D-F4D9-A8B244F09A60}"/>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2460227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anim calcmode="lin" valueType="num">
                                      <p:cBhvr>
                                        <p:cTn id="1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201DC-4CF1-31A2-7A8F-D30206A27366}"/>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6607B0E3-509C-C47D-5EDF-9184571065A9}"/>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986BCA63-8F59-88EC-E285-77620B4F7D3A}"/>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B34C035C-53D7-F367-0591-6C9F3E855FEC}"/>
              </a:ext>
            </a:extLst>
          </p:cNvPr>
          <p:cNvSpPr txBox="1"/>
          <p:nvPr/>
        </p:nvSpPr>
        <p:spPr>
          <a:xfrm>
            <a:off x="0" y="583684"/>
            <a:ext cx="10913806" cy="4549835"/>
          </a:xfrm>
          <a:prstGeom prst="rect">
            <a:avLst/>
          </a:prstGeom>
          <a:noFill/>
        </p:spPr>
        <p:txBody>
          <a:bodyPr wrap="square">
            <a:spAutoFit/>
          </a:bodyPr>
          <a:lstStyle/>
          <a:p>
            <a:pPr>
              <a:lnSpc>
                <a:spcPct val="150000"/>
              </a:lnSpc>
            </a:pPr>
            <a:r>
              <a:rPr lang="en-US" sz="2800" b="1" dirty="0">
                <a:latin typeface="Calibir"/>
              </a:rPr>
              <a:t>Q20. What is overfitting?</a:t>
            </a:r>
          </a:p>
          <a:p>
            <a:pPr>
              <a:lnSpc>
                <a:spcPct val="150000"/>
              </a:lnSpc>
            </a:pPr>
            <a:r>
              <a:rPr lang="en-US" sz="2800" dirty="0">
                <a:latin typeface="Calibir"/>
              </a:rPr>
              <a:t>Overfitting happens when a model performs very well on training data but poorly on test data because it has learned noise rather than general patterns.</a:t>
            </a:r>
          </a:p>
          <a:p>
            <a:pPr>
              <a:lnSpc>
                <a:spcPct val="150000"/>
              </a:lnSpc>
            </a:pPr>
            <a:r>
              <a:rPr lang="en-US" sz="2800" b="1" dirty="0">
                <a:latin typeface="Calibir"/>
              </a:rPr>
              <a:t>Q21. What is underfitting?</a:t>
            </a:r>
          </a:p>
          <a:p>
            <a:pPr>
              <a:lnSpc>
                <a:spcPct val="150000"/>
              </a:lnSpc>
            </a:pPr>
            <a:r>
              <a:rPr lang="en-US" sz="2800" dirty="0">
                <a:latin typeface="Calibir"/>
              </a:rPr>
              <a:t>Underfitting happens when the model is too simple to capture important patterns, so performance is poor even on training data.</a:t>
            </a:r>
          </a:p>
        </p:txBody>
      </p:sp>
      <p:sp>
        <p:nvSpPr>
          <p:cNvPr id="7" name="object 2">
            <a:extLst>
              <a:ext uri="{FF2B5EF4-FFF2-40B4-BE49-F238E27FC236}">
                <a16:creationId xmlns:a16="http://schemas.microsoft.com/office/drawing/2014/main" id="{8AB5AEC1-3A83-6983-17EE-529C10D662C7}"/>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618093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anim calcmode="lin" valueType="num">
                                      <p:cBhvr>
                                        <p:cTn id="1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F355D-E77D-0A2A-435A-332EB7A5303F}"/>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E1C4E77B-45A4-3DE3-E050-456B977B9045}"/>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12C85731-6334-99B7-C06E-9884255A69A8}"/>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E6E686FB-5E90-847E-C25E-BADD3F501901}"/>
              </a:ext>
            </a:extLst>
          </p:cNvPr>
          <p:cNvSpPr txBox="1"/>
          <p:nvPr/>
        </p:nvSpPr>
        <p:spPr>
          <a:xfrm>
            <a:off x="0" y="583684"/>
            <a:ext cx="10913806" cy="3903504"/>
          </a:xfrm>
          <a:prstGeom prst="rect">
            <a:avLst/>
          </a:prstGeom>
          <a:noFill/>
        </p:spPr>
        <p:txBody>
          <a:bodyPr wrap="square">
            <a:spAutoFit/>
          </a:bodyPr>
          <a:lstStyle/>
          <a:p>
            <a:pPr>
              <a:lnSpc>
                <a:spcPct val="150000"/>
              </a:lnSpc>
            </a:pPr>
            <a:r>
              <a:rPr lang="en-US" sz="2800" b="1" dirty="0">
                <a:latin typeface="Calibir"/>
              </a:rPr>
              <a:t>Q22. What if one member did most of the coding?</a:t>
            </a:r>
          </a:p>
          <a:p>
            <a:pPr>
              <a:lnSpc>
                <a:spcPct val="150000"/>
              </a:lnSpc>
            </a:pPr>
            <a:r>
              <a:rPr lang="en-US" sz="2800" dirty="0">
                <a:latin typeface="Calibir"/>
              </a:rPr>
              <a:t>That is risky. All members may be asked questions during the presentation. Everyone should understand the whole project.</a:t>
            </a:r>
          </a:p>
          <a:p>
            <a:pPr>
              <a:lnSpc>
                <a:spcPct val="150000"/>
              </a:lnSpc>
            </a:pPr>
            <a:r>
              <a:rPr lang="en-US" sz="2800" b="1" dirty="0">
                <a:latin typeface="Calibir"/>
              </a:rPr>
              <a:t>Q23. Can we read from notes during the presentation?</a:t>
            </a:r>
          </a:p>
          <a:p>
            <a:pPr>
              <a:lnSpc>
                <a:spcPct val="150000"/>
              </a:lnSpc>
            </a:pPr>
            <a:r>
              <a:rPr lang="en-US" sz="2800" dirty="0">
                <a:latin typeface="Calibir"/>
              </a:rPr>
              <a:t>You may use notes for support, but simply reading from slides or notes will likely reduce marks significantly.</a:t>
            </a:r>
          </a:p>
        </p:txBody>
      </p:sp>
      <p:sp>
        <p:nvSpPr>
          <p:cNvPr id="7" name="object 2">
            <a:extLst>
              <a:ext uri="{FF2B5EF4-FFF2-40B4-BE49-F238E27FC236}">
                <a16:creationId xmlns:a16="http://schemas.microsoft.com/office/drawing/2014/main" id="{3156A7F7-0282-3130-BD4E-1698EBBD14B3}"/>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2497192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anim calcmode="lin" valueType="num">
                                      <p:cBhvr>
                                        <p:cTn id="1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77EBC-4635-2CD9-A225-808E1AF74DCB}"/>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53ED8268-7033-B8AC-74BA-94FFC2AECDB2}"/>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9919050B-ECB5-92B0-575D-8FE499073625}"/>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5A18A383-B588-AF58-CED8-E64BAFA2F955}"/>
              </a:ext>
            </a:extLst>
          </p:cNvPr>
          <p:cNvSpPr txBox="1"/>
          <p:nvPr/>
        </p:nvSpPr>
        <p:spPr>
          <a:xfrm>
            <a:off x="0" y="583684"/>
            <a:ext cx="10913806" cy="3903504"/>
          </a:xfrm>
          <a:prstGeom prst="rect">
            <a:avLst/>
          </a:prstGeom>
          <a:noFill/>
        </p:spPr>
        <p:txBody>
          <a:bodyPr wrap="square">
            <a:spAutoFit/>
          </a:bodyPr>
          <a:lstStyle/>
          <a:p>
            <a:pPr>
              <a:lnSpc>
                <a:spcPct val="150000"/>
              </a:lnSpc>
            </a:pPr>
            <a:r>
              <a:rPr lang="en-US" sz="2800" b="1" dirty="0">
                <a:latin typeface="Calibir"/>
              </a:rPr>
              <a:t>Q24. What if our model accuracy is not very high?</a:t>
            </a:r>
          </a:p>
          <a:p>
            <a:pPr>
              <a:lnSpc>
                <a:spcPct val="150000"/>
              </a:lnSpc>
            </a:pPr>
            <a:r>
              <a:rPr lang="en-US" sz="2800" dirty="0">
                <a:latin typeface="Calibir"/>
              </a:rPr>
              <a:t>That is not automatically a problem. Marks also depend on justification, understanding, comparison, critical analysis, and reflection.</a:t>
            </a:r>
          </a:p>
          <a:p>
            <a:pPr>
              <a:lnSpc>
                <a:spcPct val="150000"/>
              </a:lnSpc>
            </a:pPr>
            <a:r>
              <a:rPr lang="en-US" sz="2800" b="1" dirty="0">
                <a:latin typeface="Calibir"/>
              </a:rPr>
              <a:t>Q25. Do we need references for technical concepts?</a:t>
            </a:r>
          </a:p>
          <a:p>
            <a:pPr>
              <a:lnSpc>
                <a:spcPct val="150000"/>
              </a:lnSpc>
            </a:pPr>
            <a:r>
              <a:rPr lang="en-US" sz="2800" dirty="0">
                <a:latin typeface="Calibir"/>
              </a:rPr>
              <a:t>Yes. If you discuss theory, metrics, bias, or model assumptions, support them with proper references.</a:t>
            </a:r>
          </a:p>
        </p:txBody>
      </p:sp>
      <p:sp>
        <p:nvSpPr>
          <p:cNvPr id="7" name="object 2">
            <a:extLst>
              <a:ext uri="{FF2B5EF4-FFF2-40B4-BE49-F238E27FC236}">
                <a16:creationId xmlns:a16="http://schemas.microsoft.com/office/drawing/2014/main" id="{773E7CAA-2227-66F7-137A-8E0349D657F7}"/>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314339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anim calcmode="lin" valueType="num">
                                      <p:cBhvr>
                                        <p:cTn id="1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6951A-C3A5-D951-B7EE-983BA1D449DC}"/>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A3CA4213-3737-B170-20CB-8572D8D99D84}"/>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8F3A7740-F65E-FA20-F66A-ED52DC24C146}"/>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98BBA7D3-A2A8-8C9A-D5E7-0860F2E442E9}"/>
              </a:ext>
            </a:extLst>
          </p:cNvPr>
          <p:cNvSpPr txBox="1"/>
          <p:nvPr/>
        </p:nvSpPr>
        <p:spPr>
          <a:xfrm>
            <a:off x="0" y="583684"/>
            <a:ext cx="10913806" cy="3257174"/>
          </a:xfrm>
          <a:prstGeom prst="rect">
            <a:avLst/>
          </a:prstGeom>
          <a:noFill/>
        </p:spPr>
        <p:txBody>
          <a:bodyPr wrap="square">
            <a:spAutoFit/>
          </a:bodyPr>
          <a:lstStyle/>
          <a:p>
            <a:pPr>
              <a:lnSpc>
                <a:spcPct val="150000"/>
              </a:lnSpc>
            </a:pPr>
            <a:r>
              <a:rPr lang="en-US" sz="2800" b="1" dirty="0">
                <a:latin typeface="Calibir"/>
              </a:rPr>
              <a:t>Q26. Can we cite Kaggle or UCI for the dataset?</a:t>
            </a:r>
          </a:p>
          <a:p>
            <a:pPr>
              <a:lnSpc>
                <a:spcPct val="150000"/>
              </a:lnSpc>
            </a:pPr>
            <a:r>
              <a:rPr lang="en-US" sz="2800" dirty="0">
                <a:latin typeface="Calibir"/>
              </a:rPr>
              <a:t>Yes, for the dataset source. But theory and analytical discussion should also be supported with credible academic or professional references.</a:t>
            </a:r>
          </a:p>
          <a:p>
            <a:pPr>
              <a:lnSpc>
                <a:spcPct val="150000"/>
              </a:lnSpc>
            </a:pPr>
            <a:r>
              <a:rPr lang="en-US" sz="2800" b="1" dirty="0">
                <a:latin typeface="Calibir"/>
              </a:rPr>
              <a:t>Q27. What happens if references are wrong?</a:t>
            </a:r>
          </a:p>
          <a:p>
            <a:pPr>
              <a:lnSpc>
                <a:spcPct val="150000"/>
              </a:lnSpc>
            </a:pPr>
            <a:r>
              <a:rPr lang="en-US" sz="2800" dirty="0">
                <a:latin typeface="Calibir"/>
              </a:rPr>
              <a:t>You may receive a penalty, possibly 20%, according to the instructions.</a:t>
            </a:r>
          </a:p>
        </p:txBody>
      </p:sp>
      <p:sp>
        <p:nvSpPr>
          <p:cNvPr id="7" name="object 2">
            <a:extLst>
              <a:ext uri="{FF2B5EF4-FFF2-40B4-BE49-F238E27FC236}">
                <a16:creationId xmlns:a16="http://schemas.microsoft.com/office/drawing/2014/main" id="{E69FA734-91E4-2CAD-D695-85A2FD47A326}"/>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078254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anim calcmode="lin" valueType="num">
                                      <p:cBhvr>
                                        <p:cTn id="1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AC515-F0B6-A360-4C0A-E165340EC813}"/>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39E37CCE-6310-CD1B-971B-B1A2FBDAF0B1}"/>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F04AEB05-9B81-16E9-A5B3-DBACE04C7A00}"/>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27CF1861-9F66-D1C2-E877-9F7A97D62220}"/>
              </a:ext>
            </a:extLst>
          </p:cNvPr>
          <p:cNvSpPr txBox="1"/>
          <p:nvPr/>
        </p:nvSpPr>
        <p:spPr>
          <a:xfrm>
            <a:off x="0" y="583684"/>
            <a:ext cx="10913806" cy="3903504"/>
          </a:xfrm>
          <a:prstGeom prst="rect">
            <a:avLst/>
          </a:prstGeom>
          <a:noFill/>
        </p:spPr>
        <p:txBody>
          <a:bodyPr wrap="square">
            <a:spAutoFit/>
          </a:bodyPr>
          <a:lstStyle/>
          <a:p>
            <a:pPr>
              <a:lnSpc>
                <a:spcPct val="150000"/>
              </a:lnSpc>
            </a:pPr>
            <a:r>
              <a:rPr lang="en-US" sz="2800" b="1" dirty="0">
                <a:latin typeface="Calibir"/>
              </a:rPr>
              <a:t>Q28. What happens if we submit as a solo student for a group assessment?</a:t>
            </a:r>
          </a:p>
          <a:p>
            <a:pPr>
              <a:lnSpc>
                <a:spcPct val="150000"/>
              </a:lnSpc>
            </a:pPr>
            <a:r>
              <a:rPr lang="en-US" sz="2800" dirty="0">
                <a:latin typeface="Calibir"/>
              </a:rPr>
              <a:t>There is a 20% penalty.</a:t>
            </a:r>
          </a:p>
          <a:p>
            <a:pPr>
              <a:lnSpc>
                <a:spcPct val="150000"/>
              </a:lnSpc>
            </a:pPr>
            <a:r>
              <a:rPr lang="en-US" sz="2800" b="1" dirty="0">
                <a:latin typeface="Calibir"/>
              </a:rPr>
              <a:t>Q29. What happens if we submit without cover sheet or in the wrong format?</a:t>
            </a:r>
          </a:p>
          <a:p>
            <a:pPr>
              <a:lnSpc>
                <a:spcPct val="150000"/>
              </a:lnSpc>
            </a:pPr>
            <a:r>
              <a:rPr lang="en-US" sz="2800" dirty="0">
                <a:latin typeface="Calibir"/>
              </a:rPr>
              <a:t>There is a 20% penalty.</a:t>
            </a:r>
          </a:p>
        </p:txBody>
      </p:sp>
      <p:sp>
        <p:nvSpPr>
          <p:cNvPr id="7" name="object 2">
            <a:extLst>
              <a:ext uri="{FF2B5EF4-FFF2-40B4-BE49-F238E27FC236}">
                <a16:creationId xmlns:a16="http://schemas.microsoft.com/office/drawing/2014/main" id="{F1CCBD71-C14C-BA97-B47D-4FBE4F70B610}"/>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1434767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anim calcmode="lin" valueType="num">
                                      <p:cBhvr>
                                        <p:cTn id="1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37370-4E32-1D17-92F0-75972F5CA0AE}"/>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7925CC98-3B14-A1FF-4B07-1A3E472F26AA}"/>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A47C0723-AC60-093D-E87C-C3E55D2D26F7}"/>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F828A952-2422-F394-C78E-4119FDDE0EA6}"/>
              </a:ext>
            </a:extLst>
          </p:cNvPr>
          <p:cNvSpPr txBox="1"/>
          <p:nvPr/>
        </p:nvSpPr>
        <p:spPr>
          <a:xfrm>
            <a:off x="0" y="583684"/>
            <a:ext cx="10913806" cy="2610843"/>
          </a:xfrm>
          <a:prstGeom prst="rect">
            <a:avLst/>
          </a:prstGeom>
          <a:noFill/>
        </p:spPr>
        <p:txBody>
          <a:bodyPr wrap="square">
            <a:spAutoFit/>
          </a:bodyPr>
          <a:lstStyle/>
          <a:p>
            <a:pPr>
              <a:lnSpc>
                <a:spcPct val="150000"/>
              </a:lnSpc>
            </a:pPr>
            <a:r>
              <a:rPr lang="en-US" sz="2800" b="1" dirty="0">
                <a:latin typeface="Calibir"/>
              </a:rPr>
              <a:t>Q30. What is the safest way to do well?</a:t>
            </a:r>
          </a:p>
          <a:p>
            <a:pPr>
              <a:lnSpc>
                <a:spcPct val="150000"/>
              </a:lnSpc>
            </a:pPr>
            <a:r>
              <a:rPr lang="en-US" sz="2800" dirty="0">
                <a:latin typeface="Calibir"/>
              </a:rPr>
              <a:t>Choose a manageable dataset, build two suitable models, document everything, explain every decision, and make sure the whole group can confidently present and answer questions.</a:t>
            </a:r>
          </a:p>
        </p:txBody>
      </p:sp>
      <p:sp>
        <p:nvSpPr>
          <p:cNvPr id="7" name="object 2">
            <a:extLst>
              <a:ext uri="{FF2B5EF4-FFF2-40B4-BE49-F238E27FC236}">
                <a16:creationId xmlns:a16="http://schemas.microsoft.com/office/drawing/2014/main" id="{79D54AF0-1E75-583F-89EA-5FE205313184}"/>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1950639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3801F-17A4-2A5C-1261-284023A48CF3}"/>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18287584-B90C-15E9-081D-23E0E51B673A}"/>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1B17DF1E-E1F7-D80C-0131-E199E92C8B8E}"/>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290267BF-A49D-BB83-1F95-08DF3F8D1288}"/>
              </a:ext>
            </a:extLst>
          </p:cNvPr>
          <p:cNvSpPr txBox="1"/>
          <p:nvPr/>
        </p:nvSpPr>
        <p:spPr>
          <a:xfrm>
            <a:off x="0" y="583684"/>
            <a:ext cx="10913806" cy="3903504"/>
          </a:xfrm>
          <a:prstGeom prst="rect">
            <a:avLst/>
          </a:prstGeom>
          <a:noFill/>
        </p:spPr>
        <p:txBody>
          <a:bodyPr wrap="square">
            <a:spAutoFit/>
          </a:bodyPr>
          <a:lstStyle/>
          <a:p>
            <a:pPr>
              <a:lnSpc>
                <a:spcPct val="150000"/>
              </a:lnSpc>
            </a:pPr>
            <a:r>
              <a:rPr lang="en-US" sz="2800" b="1" dirty="0">
                <a:latin typeface="Calibir"/>
              </a:rPr>
              <a:t>16. Very simple action plan for students</a:t>
            </a:r>
          </a:p>
          <a:p>
            <a:pPr>
              <a:lnSpc>
                <a:spcPct val="150000"/>
              </a:lnSpc>
            </a:pPr>
            <a:r>
              <a:rPr lang="en-US" sz="2800" dirty="0">
                <a:latin typeface="Calibir"/>
              </a:rPr>
              <a:t>Here is the simplest possible workflow:</a:t>
            </a:r>
          </a:p>
          <a:p>
            <a:pPr>
              <a:lnSpc>
                <a:spcPct val="150000"/>
              </a:lnSpc>
            </a:pPr>
            <a:r>
              <a:rPr lang="en-US" sz="2800" b="1" dirty="0">
                <a:latin typeface="Calibir"/>
              </a:rPr>
              <a:t>First)</a:t>
            </a:r>
          </a:p>
          <a:p>
            <a:pPr marL="914400" lvl="1" indent="-457200">
              <a:lnSpc>
                <a:spcPct val="150000"/>
              </a:lnSpc>
              <a:buFont typeface="Arial" panose="020B0604020202020204" pitchFamily="34" charset="0"/>
              <a:buChar char="•"/>
            </a:pPr>
            <a:r>
              <a:rPr lang="en-US" sz="2800" dirty="0">
                <a:latin typeface="Calibir"/>
              </a:rPr>
              <a:t>choose dataset </a:t>
            </a:r>
          </a:p>
          <a:p>
            <a:pPr marL="914400" lvl="1" indent="-457200">
              <a:lnSpc>
                <a:spcPct val="150000"/>
              </a:lnSpc>
              <a:buFont typeface="Arial" panose="020B0604020202020204" pitchFamily="34" charset="0"/>
              <a:buChar char="•"/>
            </a:pPr>
            <a:r>
              <a:rPr lang="en-US" sz="2800" dirty="0">
                <a:latin typeface="Calibir"/>
              </a:rPr>
              <a:t>define predictive problem </a:t>
            </a:r>
          </a:p>
          <a:p>
            <a:pPr marL="914400" lvl="1" indent="-457200">
              <a:lnSpc>
                <a:spcPct val="150000"/>
              </a:lnSpc>
              <a:buFont typeface="Arial" panose="020B0604020202020204" pitchFamily="34" charset="0"/>
              <a:buChar char="•"/>
            </a:pPr>
            <a:r>
              <a:rPr lang="en-US" sz="2800" dirty="0">
                <a:latin typeface="Calibir"/>
              </a:rPr>
              <a:t>assign team roles </a:t>
            </a:r>
          </a:p>
        </p:txBody>
      </p:sp>
      <p:sp>
        <p:nvSpPr>
          <p:cNvPr id="7" name="object 2">
            <a:extLst>
              <a:ext uri="{FF2B5EF4-FFF2-40B4-BE49-F238E27FC236}">
                <a16:creationId xmlns:a16="http://schemas.microsoft.com/office/drawing/2014/main" id="{2EA28684-A072-EDBA-2BA6-9A81F84F8F29}"/>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49241062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2790A-E4F7-7732-585F-451EA334354E}"/>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E41E117F-F8BC-B58B-BD84-618F45DC82DF}"/>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B63275CF-9329-9C9A-8EA3-6D5F0DFF107C}"/>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8EE0384F-57F8-E468-AD68-3B5942EC16EF}"/>
              </a:ext>
            </a:extLst>
          </p:cNvPr>
          <p:cNvSpPr txBox="1"/>
          <p:nvPr/>
        </p:nvSpPr>
        <p:spPr>
          <a:xfrm>
            <a:off x="0" y="583684"/>
            <a:ext cx="10913806" cy="5842497"/>
          </a:xfrm>
          <a:prstGeom prst="rect">
            <a:avLst/>
          </a:prstGeom>
          <a:noFill/>
        </p:spPr>
        <p:txBody>
          <a:bodyPr wrap="square">
            <a:spAutoFit/>
          </a:bodyPr>
          <a:lstStyle/>
          <a:p>
            <a:pPr>
              <a:lnSpc>
                <a:spcPct val="150000"/>
              </a:lnSpc>
            </a:pPr>
            <a:r>
              <a:rPr lang="en-US" sz="2800" b="1" dirty="0">
                <a:latin typeface="Calibir"/>
              </a:rPr>
              <a:t>Second)</a:t>
            </a:r>
          </a:p>
          <a:p>
            <a:pPr marL="914400" lvl="1" indent="-457200">
              <a:lnSpc>
                <a:spcPct val="150000"/>
              </a:lnSpc>
              <a:buFont typeface="Arial" panose="020B0604020202020204" pitchFamily="34" charset="0"/>
              <a:buChar char="•"/>
            </a:pPr>
            <a:r>
              <a:rPr lang="en-US" sz="2800" dirty="0">
                <a:latin typeface="Calibir"/>
              </a:rPr>
              <a:t>inspect data </a:t>
            </a:r>
          </a:p>
          <a:p>
            <a:pPr marL="914400" lvl="1" indent="-457200">
              <a:lnSpc>
                <a:spcPct val="150000"/>
              </a:lnSpc>
              <a:buFont typeface="Arial" panose="020B0604020202020204" pitchFamily="34" charset="0"/>
              <a:buChar char="•"/>
            </a:pPr>
            <a:r>
              <a:rPr lang="en-US" sz="2800" dirty="0">
                <a:latin typeface="Calibir"/>
              </a:rPr>
              <a:t>identify issues </a:t>
            </a:r>
          </a:p>
          <a:p>
            <a:pPr marL="914400" lvl="1" indent="-457200">
              <a:lnSpc>
                <a:spcPct val="150000"/>
              </a:lnSpc>
              <a:buFont typeface="Arial" panose="020B0604020202020204" pitchFamily="34" charset="0"/>
              <a:buChar char="•"/>
            </a:pPr>
            <a:r>
              <a:rPr lang="en-US" sz="2800" dirty="0">
                <a:latin typeface="Calibir"/>
              </a:rPr>
              <a:t>preprocess data </a:t>
            </a:r>
          </a:p>
          <a:p>
            <a:pPr marL="914400" lvl="1" indent="-457200">
              <a:lnSpc>
                <a:spcPct val="150000"/>
              </a:lnSpc>
              <a:buFont typeface="Arial" panose="020B0604020202020204" pitchFamily="34" charset="0"/>
              <a:buChar char="•"/>
            </a:pPr>
            <a:r>
              <a:rPr lang="en-US" sz="2800" dirty="0">
                <a:latin typeface="Calibir"/>
              </a:rPr>
              <a:t>take screenshots </a:t>
            </a:r>
          </a:p>
          <a:p>
            <a:pPr>
              <a:lnSpc>
                <a:spcPct val="150000"/>
              </a:lnSpc>
            </a:pPr>
            <a:r>
              <a:rPr lang="en-US" sz="2800" b="1" dirty="0">
                <a:latin typeface="Calibir"/>
              </a:rPr>
              <a:t>Third)</a:t>
            </a:r>
          </a:p>
          <a:p>
            <a:pPr marL="914400" lvl="1" indent="-457200">
              <a:lnSpc>
                <a:spcPct val="150000"/>
              </a:lnSpc>
              <a:buFont typeface="Arial" panose="020B0604020202020204" pitchFamily="34" charset="0"/>
              <a:buChar char="•"/>
            </a:pPr>
            <a:r>
              <a:rPr lang="en-US" sz="2800" dirty="0">
                <a:latin typeface="Calibir"/>
              </a:rPr>
              <a:t>build model 1 </a:t>
            </a:r>
          </a:p>
          <a:p>
            <a:pPr marL="914400" lvl="1" indent="-457200">
              <a:lnSpc>
                <a:spcPct val="150000"/>
              </a:lnSpc>
              <a:buFont typeface="Arial" panose="020B0604020202020204" pitchFamily="34" charset="0"/>
              <a:buChar char="•"/>
            </a:pPr>
            <a:r>
              <a:rPr lang="en-US" sz="2800" dirty="0">
                <a:latin typeface="Calibir"/>
              </a:rPr>
              <a:t>build model 2 </a:t>
            </a:r>
          </a:p>
          <a:p>
            <a:pPr marL="914400" lvl="1" indent="-457200">
              <a:lnSpc>
                <a:spcPct val="150000"/>
              </a:lnSpc>
              <a:buFont typeface="Arial" panose="020B0604020202020204" pitchFamily="34" charset="0"/>
              <a:buChar char="•"/>
            </a:pPr>
            <a:r>
              <a:rPr lang="en-US" sz="2800" dirty="0">
                <a:latin typeface="Calibir"/>
              </a:rPr>
              <a:t>evaluate both</a:t>
            </a:r>
          </a:p>
        </p:txBody>
      </p:sp>
      <p:sp>
        <p:nvSpPr>
          <p:cNvPr id="7" name="object 2">
            <a:extLst>
              <a:ext uri="{FF2B5EF4-FFF2-40B4-BE49-F238E27FC236}">
                <a16:creationId xmlns:a16="http://schemas.microsoft.com/office/drawing/2014/main" id="{87151BDA-3278-E0FA-DB1C-BAD35A0A8101}"/>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147980966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DBD3D-DD54-9992-4CF8-E7928C2DD0B0}"/>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4F46C598-5961-C5CE-25A6-0F582AAE1EFB}"/>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55E1AC8C-4470-D079-2272-F39573CDAB2B}"/>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D0FC3EB7-9F10-3421-D085-4744328223E8}"/>
              </a:ext>
            </a:extLst>
          </p:cNvPr>
          <p:cNvSpPr txBox="1"/>
          <p:nvPr/>
        </p:nvSpPr>
        <p:spPr>
          <a:xfrm>
            <a:off x="0" y="583684"/>
            <a:ext cx="10913806" cy="5842497"/>
          </a:xfrm>
          <a:prstGeom prst="rect">
            <a:avLst/>
          </a:prstGeom>
          <a:noFill/>
        </p:spPr>
        <p:txBody>
          <a:bodyPr wrap="square">
            <a:spAutoFit/>
          </a:bodyPr>
          <a:lstStyle/>
          <a:p>
            <a:pPr>
              <a:lnSpc>
                <a:spcPct val="150000"/>
              </a:lnSpc>
            </a:pPr>
            <a:r>
              <a:rPr lang="en-US" sz="2800" b="1" dirty="0">
                <a:latin typeface="Calibir"/>
              </a:rPr>
              <a:t>Fourth)</a:t>
            </a:r>
          </a:p>
          <a:p>
            <a:pPr marL="914400" lvl="1" indent="-457200">
              <a:lnSpc>
                <a:spcPct val="150000"/>
              </a:lnSpc>
              <a:buFont typeface="Arial" panose="020B0604020202020204" pitchFamily="34" charset="0"/>
              <a:buChar char="•"/>
            </a:pPr>
            <a:r>
              <a:rPr lang="en-US" sz="2800" dirty="0">
                <a:latin typeface="Calibir"/>
              </a:rPr>
              <a:t>compare results </a:t>
            </a:r>
          </a:p>
          <a:p>
            <a:pPr marL="914400" lvl="1" indent="-457200">
              <a:lnSpc>
                <a:spcPct val="150000"/>
              </a:lnSpc>
              <a:buFont typeface="Arial" panose="020B0604020202020204" pitchFamily="34" charset="0"/>
              <a:buChar char="•"/>
            </a:pPr>
            <a:r>
              <a:rPr lang="en-US" sz="2800" dirty="0">
                <a:latin typeface="Calibir"/>
              </a:rPr>
              <a:t>write insights </a:t>
            </a:r>
          </a:p>
          <a:p>
            <a:pPr marL="914400" lvl="1" indent="-457200">
              <a:lnSpc>
                <a:spcPct val="150000"/>
              </a:lnSpc>
              <a:buFont typeface="Arial" panose="020B0604020202020204" pitchFamily="34" charset="0"/>
              <a:buChar char="•"/>
            </a:pPr>
            <a:r>
              <a:rPr lang="en-US" sz="2800" dirty="0">
                <a:latin typeface="Calibir"/>
              </a:rPr>
              <a:t>discuss ethics and reflection </a:t>
            </a:r>
          </a:p>
          <a:p>
            <a:pPr>
              <a:lnSpc>
                <a:spcPct val="150000"/>
              </a:lnSpc>
            </a:pPr>
            <a:r>
              <a:rPr lang="en-US" sz="2800" b="1" dirty="0">
                <a:latin typeface="Calibir"/>
              </a:rPr>
              <a:t>Fifth)</a:t>
            </a:r>
          </a:p>
          <a:p>
            <a:pPr marL="914400" lvl="1" indent="-457200">
              <a:lnSpc>
                <a:spcPct val="150000"/>
              </a:lnSpc>
              <a:buFont typeface="Arial" panose="020B0604020202020204" pitchFamily="34" charset="0"/>
              <a:buChar char="•"/>
            </a:pPr>
            <a:r>
              <a:rPr lang="en-US" sz="2800" dirty="0">
                <a:latin typeface="Calibir"/>
              </a:rPr>
              <a:t>prepare report </a:t>
            </a:r>
          </a:p>
          <a:p>
            <a:pPr marL="914400" lvl="1" indent="-457200">
              <a:lnSpc>
                <a:spcPct val="150000"/>
              </a:lnSpc>
              <a:buFont typeface="Arial" panose="020B0604020202020204" pitchFamily="34" charset="0"/>
              <a:buChar char="•"/>
            </a:pPr>
            <a:r>
              <a:rPr lang="en-US" sz="2800" dirty="0">
                <a:latin typeface="Calibir"/>
              </a:rPr>
              <a:t>prepare slides </a:t>
            </a:r>
          </a:p>
          <a:p>
            <a:pPr marL="914400" lvl="1" indent="-457200">
              <a:lnSpc>
                <a:spcPct val="150000"/>
              </a:lnSpc>
              <a:buFont typeface="Arial" panose="020B0604020202020204" pitchFamily="34" charset="0"/>
              <a:buChar char="•"/>
            </a:pPr>
            <a:r>
              <a:rPr lang="en-US" sz="2800" dirty="0" err="1">
                <a:latin typeface="Calibir"/>
              </a:rPr>
              <a:t>organise</a:t>
            </a:r>
            <a:r>
              <a:rPr lang="en-US" sz="2800" dirty="0">
                <a:latin typeface="Calibir"/>
              </a:rPr>
              <a:t> references </a:t>
            </a:r>
          </a:p>
          <a:p>
            <a:pPr marL="914400" lvl="1" indent="-457200">
              <a:lnSpc>
                <a:spcPct val="150000"/>
              </a:lnSpc>
              <a:buFont typeface="Arial" panose="020B0604020202020204" pitchFamily="34" charset="0"/>
              <a:buChar char="•"/>
            </a:pPr>
            <a:r>
              <a:rPr lang="en-US" sz="2800" dirty="0">
                <a:latin typeface="Calibir"/>
              </a:rPr>
              <a:t>rehearse presentation and Q&amp;A</a:t>
            </a:r>
          </a:p>
        </p:txBody>
      </p:sp>
      <p:sp>
        <p:nvSpPr>
          <p:cNvPr id="7" name="object 2">
            <a:extLst>
              <a:ext uri="{FF2B5EF4-FFF2-40B4-BE49-F238E27FC236}">
                <a16:creationId xmlns:a16="http://schemas.microsoft.com/office/drawing/2014/main" id="{12EC033F-74E9-B6B4-5484-4C46587112B0}"/>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61285078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C8939-C858-8EC6-A307-1756F1BA2DC1}"/>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45CD4C38-91BC-3268-1EC0-B2359CF02BC0}"/>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1BA3B5DC-DE75-301C-1B2F-D789B54AE7DA}"/>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EE615E2B-CFA5-2DD3-FC05-3A6810A0E60A}"/>
              </a:ext>
            </a:extLst>
          </p:cNvPr>
          <p:cNvSpPr txBox="1"/>
          <p:nvPr/>
        </p:nvSpPr>
        <p:spPr>
          <a:xfrm>
            <a:off x="0" y="583684"/>
            <a:ext cx="10913806" cy="5842497"/>
          </a:xfrm>
          <a:prstGeom prst="rect">
            <a:avLst/>
          </a:prstGeom>
          <a:noFill/>
        </p:spPr>
        <p:txBody>
          <a:bodyPr wrap="square">
            <a:spAutoFit/>
          </a:bodyPr>
          <a:lstStyle/>
          <a:p>
            <a:pPr>
              <a:lnSpc>
                <a:spcPct val="150000"/>
              </a:lnSpc>
            </a:pPr>
            <a:r>
              <a:rPr lang="en-US" sz="2800" b="1" dirty="0">
                <a:latin typeface="Calibir"/>
              </a:rPr>
              <a:t>17. Final advice to students</a:t>
            </a:r>
          </a:p>
          <a:p>
            <a:pPr>
              <a:lnSpc>
                <a:spcPct val="150000"/>
              </a:lnSpc>
            </a:pPr>
            <a:r>
              <a:rPr lang="en-US" sz="2800" dirty="0">
                <a:latin typeface="Calibir"/>
              </a:rPr>
              <a:t>A strong submission is not the one with the most complicated model.</a:t>
            </a:r>
            <a:br>
              <a:rPr lang="en-US" sz="2800" dirty="0">
                <a:latin typeface="Calibir"/>
              </a:rPr>
            </a:br>
            <a:r>
              <a:rPr lang="en-US" sz="2800" dirty="0">
                <a:latin typeface="Calibir"/>
              </a:rPr>
              <a:t>A strong submission is the one that is:</a:t>
            </a:r>
          </a:p>
          <a:p>
            <a:pPr marL="914400" lvl="1" indent="-457200">
              <a:lnSpc>
                <a:spcPct val="150000"/>
              </a:lnSpc>
              <a:buFont typeface="Arial" panose="020B0604020202020204" pitchFamily="34" charset="0"/>
              <a:buChar char="•"/>
            </a:pPr>
            <a:r>
              <a:rPr lang="en-US" sz="2800" dirty="0">
                <a:latin typeface="Calibir"/>
              </a:rPr>
              <a:t>clear </a:t>
            </a:r>
          </a:p>
          <a:p>
            <a:pPr marL="914400" lvl="1" indent="-457200">
              <a:lnSpc>
                <a:spcPct val="150000"/>
              </a:lnSpc>
              <a:buFont typeface="Arial" panose="020B0604020202020204" pitchFamily="34" charset="0"/>
              <a:buChar char="•"/>
            </a:pPr>
            <a:r>
              <a:rPr lang="en-US" sz="2800" dirty="0">
                <a:latin typeface="Calibir"/>
              </a:rPr>
              <a:t>justified </a:t>
            </a:r>
          </a:p>
          <a:p>
            <a:pPr marL="914400" lvl="1" indent="-457200">
              <a:lnSpc>
                <a:spcPct val="150000"/>
              </a:lnSpc>
              <a:buFont typeface="Arial" panose="020B0604020202020204" pitchFamily="34" charset="0"/>
              <a:buChar char="•"/>
            </a:pPr>
            <a:r>
              <a:rPr lang="en-US" sz="2800" dirty="0">
                <a:latin typeface="Calibir"/>
              </a:rPr>
              <a:t>evidence-based </a:t>
            </a:r>
          </a:p>
          <a:p>
            <a:pPr marL="914400" lvl="1" indent="-457200">
              <a:lnSpc>
                <a:spcPct val="150000"/>
              </a:lnSpc>
              <a:buFont typeface="Arial" panose="020B0604020202020204" pitchFamily="34" charset="0"/>
              <a:buChar char="•"/>
            </a:pPr>
            <a:r>
              <a:rPr lang="en-US" sz="2800" dirty="0">
                <a:latin typeface="Calibir"/>
              </a:rPr>
              <a:t>well-compared </a:t>
            </a:r>
          </a:p>
          <a:p>
            <a:pPr marL="914400" lvl="1" indent="-457200">
              <a:lnSpc>
                <a:spcPct val="150000"/>
              </a:lnSpc>
              <a:buFont typeface="Arial" panose="020B0604020202020204" pitchFamily="34" charset="0"/>
              <a:buChar char="•"/>
            </a:pPr>
            <a:r>
              <a:rPr lang="en-US" sz="2800" dirty="0">
                <a:latin typeface="Calibir"/>
              </a:rPr>
              <a:t>ethically aware </a:t>
            </a:r>
          </a:p>
          <a:p>
            <a:pPr marL="914400" lvl="1" indent="-457200">
              <a:lnSpc>
                <a:spcPct val="150000"/>
              </a:lnSpc>
              <a:buFont typeface="Arial" panose="020B0604020202020204" pitchFamily="34" charset="0"/>
              <a:buChar char="•"/>
            </a:pPr>
            <a:r>
              <a:rPr lang="en-US" sz="2800" dirty="0">
                <a:latin typeface="Calibir"/>
              </a:rPr>
              <a:t>professionally presented</a:t>
            </a:r>
          </a:p>
        </p:txBody>
      </p:sp>
      <p:sp>
        <p:nvSpPr>
          <p:cNvPr id="7" name="object 2">
            <a:extLst>
              <a:ext uri="{FF2B5EF4-FFF2-40B4-BE49-F238E27FC236}">
                <a16:creationId xmlns:a16="http://schemas.microsoft.com/office/drawing/2014/main" id="{D6EB21BD-0CDB-6DDD-CAB4-73228001BEF0}"/>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156077835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BCADA-C2BC-8C89-F224-6C84B30E1807}"/>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2E8AB4A3-BE79-06FA-AC7C-BEC57E783D0D}"/>
              </a:ext>
            </a:extLst>
          </p:cNvPr>
          <p:cNvSpPr>
            <a:spLocks noGrp="1"/>
          </p:cNvSpPr>
          <p:nvPr>
            <p:ph type="title"/>
          </p:nvPr>
        </p:nvSpPr>
        <p:spPr>
          <a:xfrm>
            <a:off x="0" y="0"/>
            <a:ext cx="9144000" cy="577517"/>
          </a:xfrm>
        </p:spPr>
        <p:txBody>
          <a:bodyPr>
            <a:normAutofit/>
          </a:bodyPr>
          <a:lstStyle/>
          <a:p>
            <a:r>
              <a:rPr lang="en-US" sz="3000" b="1" dirty="0">
                <a:latin typeface="Calibir"/>
              </a:rPr>
              <a:t>Let’s Answer Your Questions</a:t>
            </a:r>
            <a:endParaRPr lang="en-AU" sz="3000" b="1" dirty="0">
              <a:latin typeface="Calibir"/>
            </a:endParaRPr>
          </a:p>
        </p:txBody>
      </p:sp>
      <p:pic>
        <p:nvPicPr>
          <p:cNvPr id="1028" name="Picture 4" descr="Answering Questions In Complete Sentences">
            <a:extLst>
              <a:ext uri="{FF2B5EF4-FFF2-40B4-BE49-F238E27FC236}">
                <a16:creationId xmlns:a16="http://schemas.microsoft.com/office/drawing/2014/main" id="{84E5527E-4D0B-667B-4471-EFDB8B31430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03244" y="1036133"/>
            <a:ext cx="3385511" cy="211594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10BBB43-1E60-3AC7-6893-6AAB3EFF1E14}"/>
              </a:ext>
            </a:extLst>
          </p:cNvPr>
          <p:cNvSpPr txBox="1"/>
          <p:nvPr/>
        </p:nvSpPr>
        <p:spPr>
          <a:xfrm>
            <a:off x="0" y="3299222"/>
            <a:ext cx="12192000" cy="3257174"/>
          </a:xfrm>
          <a:prstGeom prst="rect">
            <a:avLst/>
          </a:prstGeom>
          <a:noFill/>
        </p:spPr>
        <p:txBody>
          <a:bodyPr wrap="square" rtlCol="0">
            <a:spAutoFit/>
          </a:bodyPr>
          <a:lstStyle/>
          <a:p>
            <a:pPr marL="385763" indent="-385763" eaLnBrk="0" fontAlgn="base" hangingPunct="0">
              <a:lnSpc>
                <a:spcPct val="150000"/>
              </a:lnSpc>
              <a:spcBef>
                <a:spcPct val="0"/>
              </a:spcBef>
              <a:spcAft>
                <a:spcPct val="0"/>
              </a:spcAft>
              <a:buFont typeface="+mj-lt"/>
              <a:buAutoNum type="arabicPeriod"/>
              <a:defRPr/>
            </a:pPr>
            <a:r>
              <a:rPr lang="en-US" altLang="en-US" sz="2800" b="1" kern="0" dirty="0">
                <a:solidFill>
                  <a:sysClr val="windowText" lastClr="000000"/>
                </a:solidFill>
                <a:latin typeface="Calibri" panose="020F0502020204030204" pitchFamily="34" charset="0"/>
                <a:cs typeface="Calibri" panose="020F0502020204030204" pitchFamily="34" charset="0"/>
              </a:rPr>
              <a:t>Live during class</a:t>
            </a:r>
            <a:r>
              <a:rPr lang="en-US" altLang="en-US" sz="2800" kern="0" dirty="0">
                <a:solidFill>
                  <a:sysClr val="windowText" lastClr="000000"/>
                </a:solidFill>
                <a:latin typeface="Calibri" panose="020F0502020204030204" pitchFamily="34" charset="0"/>
                <a:cs typeface="Calibri" panose="020F0502020204030204" pitchFamily="34" charset="0"/>
              </a:rPr>
              <a:t> – Ask directly during sessions.</a:t>
            </a:r>
          </a:p>
          <a:p>
            <a:pPr marL="385763" indent="-385763" eaLnBrk="0" fontAlgn="base" hangingPunct="0">
              <a:lnSpc>
                <a:spcPct val="150000"/>
              </a:lnSpc>
              <a:spcBef>
                <a:spcPct val="0"/>
              </a:spcBef>
              <a:spcAft>
                <a:spcPct val="0"/>
              </a:spcAft>
              <a:buFont typeface="+mj-lt"/>
              <a:buAutoNum type="arabicPeriod"/>
              <a:defRPr/>
            </a:pPr>
            <a:r>
              <a:rPr lang="en-US" altLang="en-US" sz="2800" b="1" kern="0" dirty="0">
                <a:solidFill>
                  <a:sysClr val="windowText" lastClr="000000"/>
                </a:solidFill>
                <a:latin typeface="Calibri" panose="020F0502020204030204" pitchFamily="34" charset="0"/>
                <a:cs typeface="Calibri" panose="020F0502020204030204" pitchFamily="34" charset="0"/>
              </a:rPr>
              <a:t>Canvas Inbox</a:t>
            </a:r>
            <a:r>
              <a:rPr lang="en-US" altLang="en-US" sz="2800" kern="0" dirty="0">
                <a:solidFill>
                  <a:sysClr val="windowText" lastClr="000000"/>
                </a:solidFill>
                <a:latin typeface="Calibri" panose="020F0502020204030204" pitchFamily="34" charset="0"/>
                <a:cs typeface="Calibri" panose="020F0502020204030204" pitchFamily="34" charset="0"/>
              </a:rPr>
              <a:t> – For structured academic queries.</a:t>
            </a:r>
          </a:p>
          <a:p>
            <a:pPr marL="385763" indent="-385763" eaLnBrk="0" fontAlgn="base" hangingPunct="0">
              <a:lnSpc>
                <a:spcPct val="150000"/>
              </a:lnSpc>
              <a:spcBef>
                <a:spcPct val="0"/>
              </a:spcBef>
              <a:spcAft>
                <a:spcPct val="0"/>
              </a:spcAft>
              <a:buFont typeface="+mj-lt"/>
              <a:buAutoNum type="arabicPeriod"/>
              <a:defRPr/>
            </a:pPr>
            <a:r>
              <a:rPr lang="en-US" altLang="en-US" sz="2800" b="1" kern="0" dirty="0">
                <a:solidFill>
                  <a:sysClr val="windowText" lastClr="000000"/>
                </a:solidFill>
                <a:latin typeface="Calibri" panose="020F0502020204030204" pitchFamily="34" charset="0"/>
                <a:cs typeface="Calibri" panose="020F0502020204030204" pitchFamily="34" charset="0"/>
              </a:rPr>
              <a:t>Email</a:t>
            </a:r>
            <a:r>
              <a:rPr lang="en-US" altLang="en-US" sz="2800" kern="0" dirty="0">
                <a:solidFill>
                  <a:sysClr val="windowText" lastClr="000000"/>
                </a:solidFill>
                <a:latin typeface="Calibri" panose="020F0502020204030204" pitchFamily="34" charset="0"/>
                <a:cs typeface="Calibri" panose="020F0502020204030204" pitchFamily="34" charset="0"/>
              </a:rPr>
              <a:t> – For formal communications or attachments.</a:t>
            </a:r>
          </a:p>
          <a:p>
            <a:pPr marL="385763" indent="-385763" eaLnBrk="0" fontAlgn="base" hangingPunct="0">
              <a:lnSpc>
                <a:spcPct val="150000"/>
              </a:lnSpc>
              <a:spcBef>
                <a:spcPct val="0"/>
              </a:spcBef>
              <a:spcAft>
                <a:spcPct val="0"/>
              </a:spcAft>
              <a:buFont typeface="+mj-lt"/>
              <a:buAutoNum type="arabicPeriod"/>
              <a:defRPr/>
            </a:pPr>
            <a:r>
              <a:rPr lang="en-US" altLang="en-US" sz="2800" b="1" kern="0" dirty="0">
                <a:solidFill>
                  <a:sysClr val="windowText" lastClr="000000"/>
                </a:solidFill>
                <a:latin typeface="Calibri" panose="020F0502020204030204" pitchFamily="34" charset="0"/>
                <a:cs typeface="Calibri" panose="020F0502020204030204" pitchFamily="34" charset="0"/>
              </a:rPr>
              <a:t>Canvas Discussion </a:t>
            </a:r>
            <a:r>
              <a:rPr lang="en-US" altLang="en-US" sz="2800" kern="0" dirty="0">
                <a:solidFill>
                  <a:sysClr val="windowText" lastClr="000000"/>
                </a:solidFill>
                <a:latin typeface="Calibri" panose="020F0502020204030204" pitchFamily="34" charset="0"/>
                <a:cs typeface="Calibri" panose="020F0502020204030204" pitchFamily="34" charset="0"/>
              </a:rPr>
              <a:t>– For sharing your questions.</a:t>
            </a:r>
          </a:p>
          <a:p>
            <a:pPr marL="385763" indent="-385763" eaLnBrk="0" fontAlgn="base" hangingPunct="0">
              <a:lnSpc>
                <a:spcPct val="150000"/>
              </a:lnSpc>
              <a:spcBef>
                <a:spcPct val="0"/>
              </a:spcBef>
              <a:spcAft>
                <a:spcPct val="0"/>
              </a:spcAft>
              <a:buFont typeface="+mj-lt"/>
              <a:buAutoNum type="arabicPeriod"/>
              <a:defRPr/>
            </a:pPr>
            <a:r>
              <a:rPr lang="en-US" altLang="en-US" sz="2800" b="1" kern="0" dirty="0">
                <a:solidFill>
                  <a:sysClr val="windowText" lastClr="000000"/>
                </a:solidFill>
                <a:latin typeface="Calibri" panose="020F0502020204030204" pitchFamily="34" charset="0"/>
                <a:cs typeface="Calibri" panose="020F0502020204030204" pitchFamily="34" charset="0"/>
              </a:rPr>
              <a:t>Microsoft Team </a:t>
            </a:r>
            <a:r>
              <a:rPr lang="en-US" altLang="en-US" sz="2800" kern="0" dirty="0">
                <a:solidFill>
                  <a:sysClr val="windowText" lastClr="000000"/>
                </a:solidFill>
                <a:latin typeface="Calibri" panose="020F0502020204030204" pitchFamily="34" charset="0"/>
                <a:cs typeface="Calibri" panose="020F0502020204030204" pitchFamily="34" charset="0"/>
              </a:rPr>
              <a:t>– Send a reminder if I did not reply after 3 business days</a:t>
            </a:r>
          </a:p>
        </p:txBody>
      </p:sp>
    </p:spTree>
    <p:extLst>
      <p:ext uri="{BB962C8B-B14F-4D97-AF65-F5344CB8AC3E}">
        <p14:creationId xmlns:p14="http://schemas.microsoft.com/office/powerpoint/2010/main" val="3910630027"/>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C101F-C65F-1D84-0824-C2471518F032}"/>
            </a:ext>
          </a:extLst>
        </p:cNvPr>
        <p:cNvGrpSpPr/>
        <p:nvPr/>
      </p:nvGrpSpPr>
      <p:grpSpPr>
        <a:xfrm>
          <a:off x="0" y="0"/>
          <a:ext cx="0" cy="0"/>
          <a:chOff x="0" y="0"/>
          <a:chExt cx="0" cy="0"/>
        </a:xfrm>
      </p:grpSpPr>
      <p:pic>
        <p:nvPicPr>
          <p:cNvPr id="19" name="Picture 18" descr="Tying a bow in an arrangment of presents">
            <a:extLst>
              <a:ext uri="{FF2B5EF4-FFF2-40B4-BE49-F238E27FC236}">
                <a16:creationId xmlns:a16="http://schemas.microsoft.com/office/drawing/2014/main" id="{E6D721DE-1453-5AA6-9447-209B227E2123}"/>
              </a:ext>
            </a:extLst>
          </p:cNvPr>
          <p:cNvPicPr>
            <a:picLocks noChangeAspect="1"/>
          </p:cNvPicPr>
          <p:nvPr/>
        </p:nvPicPr>
        <p:blipFill rotWithShape="1">
          <a:blip r:embed="rId2"/>
          <a:srcRect l="17081" r="16168" b="-2"/>
          <a:stretch/>
        </p:blipFill>
        <p:spPr>
          <a:xfrm>
            <a:off x="1903064" y="1272864"/>
            <a:ext cx="4306642" cy="4306642"/>
          </a:xfrm>
          <a:custGeom>
            <a:avLst/>
            <a:gdLst/>
            <a:ahLst/>
            <a:cxnLst/>
            <a:rect l="l" t="t" r="r" b="b"/>
            <a:pathLst>
              <a:path w="1838528" h="1838528">
                <a:moveTo>
                  <a:pt x="919264" y="0"/>
                </a:moveTo>
                <a:cubicBezTo>
                  <a:pt x="1426959" y="0"/>
                  <a:pt x="1838528" y="411569"/>
                  <a:pt x="1838528" y="919264"/>
                </a:cubicBezTo>
                <a:cubicBezTo>
                  <a:pt x="1838528" y="1426959"/>
                  <a:pt x="1426959" y="1838528"/>
                  <a:pt x="919264" y="1838528"/>
                </a:cubicBezTo>
                <a:cubicBezTo>
                  <a:pt x="411569" y="1838528"/>
                  <a:pt x="0" y="1426959"/>
                  <a:pt x="0" y="919264"/>
                </a:cubicBezTo>
                <a:cubicBezTo>
                  <a:pt x="0" y="411569"/>
                  <a:pt x="411569" y="0"/>
                  <a:pt x="919264" y="0"/>
                </a:cubicBezTo>
                <a:close/>
              </a:path>
            </a:pathLst>
          </a:custGeom>
        </p:spPr>
      </p:pic>
      <p:sp>
        <p:nvSpPr>
          <p:cNvPr id="3" name="TextBox 2">
            <a:extLst>
              <a:ext uri="{FF2B5EF4-FFF2-40B4-BE49-F238E27FC236}">
                <a16:creationId xmlns:a16="http://schemas.microsoft.com/office/drawing/2014/main" id="{84845029-98A4-9C92-04B4-320B6AFDD1B8}"/>
              </a:ext>
            </a:extLst>
          </p:cNvPr>
          <p:cNvSpPr txBox="1"/>
          <p:nvPr/>
        </p:nvSpPr>
        <p:spPr>
          <a:xfrm>
            <a:off x="6390404" y="1272866"/>
            <a:ext cx="5664962" cy="4003328"/>
          </a:xfrm>
          <a:prstGeom prst="rect">
            <a:avLst/>
          </a:prstGeom>
        </p:spPr>
        <p:txBody>
          <a:bodyPr vert="horz" lIns="68580" tIns="34290" rIns="68580" bIns="34290" rtlCol="0" anchor="t">
            <a:noAutofit/>
          </a:bodyPr>
          <a:lstStyle/>
          <a:p>
            <a:pPr defTabSz="685800">
              <a:lnSpc>
                <a:spcPct val="150000"/>
              </a:lnSpc>
              <a:spcAft>
                <a:spcPts val="450"/>
              </a:spcAft>
              <a:defRPr/>
            </a:pPr>
            <a:r>
              <a:rPr lang="en-US" sz="2800" b="1" dirty="0">
                <a:solidFill>
                  <a:prstClr val="black">
                    <a:alpha val="80000"/>
                  </a:prstClr>
                </a:solidFill>
                <a:latin typeface="Calibri" panose="020F0502020204030204"/>
              </a:rPr>
              <a:t>Stay Connected:</a:t>
            </a:r>
            <a:br>
              <a:rPr lang="en-US" sz="2800" dirty="0">
                <a:solidFill>
                  <a:prstClr val="black">
                    <a:alpha val="80000"/>
                  </a:prstClr>
                </a:solidFill>
                <a:latin typeface="Calibri" panose="020F0502020204030204"/>
              </a:rPr>
            </a:br>
            <a:r>
              <a:rPr lang="en-US" sz="2800" dirty="0">
                <a:solidFill>
                  <a:prstClr val="black">
                    <a:alpha val="80000"/>
                  </a:prstClr>
                </a:solidFill>
                <a:latin typeface="Calibri" panose="020F0502020204030204"/>
                <a:hlinkClick r:id="rId3"/>
              </a:rPr>
              <a:t>linkedin.com/in/farshid-keivanian</a:t>
            </a:r>
            <a:r>
              <a:rPr lang="en-US" sz="2800" dirty="0">
                <a:solidFill>
                  <a:prstClr val="black">
                    <a:alpha val="80000"/>
                  </a:prstClr>
                </a:solidFill>
                <a:latin typeface="Calibri" panose="020F0502020204030204"/>
              </a:rPr>
              <a:t> </a:t>
            </a:r>
            <a:br>
              <a:rPr lang="en-US" sz="2800" dirty="0">
                <a:solidFill>
                  <a:prstClr val="black">
                    <a:alpha val="80000"/>
                  </a:prstClr>
                </a:solidFill>
                <a:latin typeface="Calibri" panose="020F0502020204030204"/>
              </a:rPr>
            </a:br>
            <a:r>
              <a:rPr lang="en-US" sz="2800" dirty="0">
                <a:solidFill>
                  <a:prstClr val="black">
                    <a:alpha val="80000"/>
                  </a:prstClr>
                </a:solidFill>
                <a:latin typeface="Calibri" panose="020F0502020204030204"/>
                <a:hlinkClick r:id="rId4"/>
              </a:rPr>
              <a:t>github.com/FarshidKeivanian</a:t>
            </a:r>
            <a:r>
              <a:rPr lang="en-US" sz="2800" dirty="0">
                <a:solidFill>
                  <a:prstClr val="black">
                    <a:alpha val="80000"/>
                  </a:prstClr>
                </a:solidFill>
                <a:latin typeface="Calibri" panose="020F0502020204030204"/>
              </a:rPr>
              <a:t> </a:t>
            </a:r>
          </a:p>
          <a:p>
            <a:pPr indent="-171450" defTabSz="685800">
              <a:lnSpc>
                <a:spcPct val="150000"/>
              </a:lnSpc>
              <a:spcAft>
                <a:spcPts val="450"/>
              </a:spcAft>
              <a:buFont typeface="Arial" panose="020B0604020202020204" pitchFamily="34" charset="0"/>
              <a:buChar char="•"/>
              <a:defRPr/>
            </a:pPr>
            <a:r>
              <a:rPr lang="en-US" sz="2800" i="1" dirty="0">
                <a:solidFill>
                  <a:prstClr val="black">
                    <a:alpha val="80000"/>
                  </a:prstClr>
                </a:solidFill>
                <a:latin typeface="Calibri" panose="020F0502020204030204"/>
              </a:rPr>
              <a:t>Education is the most powerful weapon you can use to change the world. </a:t>
            </a:r>
            <a:r>
              <a:rPr lang="en-US" sz="2800" dirty="0">
                <a:solidFill>
                  <a:prstClr val="black">
                    <a:alpha val="80000"/>
                  </a:prstClr>
                </a:solidFill>
                <a:latin typeface="Calibri" panose="020F0502020204030204"/>
              </a:rPr>
              <a:t>— Nelson Mandela</a:t>
            </a:r>
          </a:p>
        </p:txBody>
      </p:sp>
      <p:sp>
        <p:nvSpPr>
          <p:cNvPr id="2" name="object 2">
            <a:extLst>
              <a:ext uri="{FF2B5EF4-FFF2-40B4-BE49-F238E27FC236}">
                <a16:creationId xmlns:a16="http://schemas.microsoft.com/office/drawing/2014/main" id="{92EB8C87-8395-5CF8-FB02-8B57ECDD50A8}"/>
              </a:ext>
            </a:extLst>
          </p:cNvPr>
          <p:cNvSpPr txBox="1">
            <a:spLocks noGrp="1"/>
          </p:cNvSpPr>
          <p:nvPr>
            <p:ph type="title"/>
          </p:nvPr>
        </p:nvSpPr>
        <p:spPr>
          <a:xfrm>
            <a:off x="0" y="0"/>
            <a:ext cx="6920865" cy="723788"/>
          </a:xfrm>
          <a:prstGeom prst="rect">
            <a:avLst/>
          </a:prstGeom>
        </p:spPr>
        <p:txBody>
          <a:bodyPr vert="horz" wrap="square" lIns="0" tIns="259588" rIns="0" bIns="0" rtlCol="0" anchor="ctr">
            <a:spAutoFit/>
          </a:bodyPr>
          <a:lstStyle/>
          <a:p>
            <a:pPr marL="123825">
              <a:lnSpc>
                <a:spcPct val="100000"/>
              </a:lnSpc>
              <a:spcBef>
                <a:spcPts val="100"/>
              </a:spcBef>
            </a:pPr>
            <a:r>
              <a:rPr lang="en-US" sz="3000" b="1" spc="-20" dirty="0">
                <a:latin typeface="Calibir"/>
              </a:rPr>
              <a:t>Happy Learning and Bright Futures Ahead!</a:t>
            </a:r>
            <a:endParaRPr sz="3000" b="1" spc="-20" dirty="0">
              <a:latin typeface="Calibir"/>
            </a:endParaRPr>
          </a:p>
        </p:txBody>
      </p:sp>
    </p:spTree>
    <p:extLst>
      <p:ext uri="{BB962C8B-B14F-4D97-AF65-F5344CB8AC3E}">
        <p14:creationId xmlns:p14="http://schemas.microsoft.com/office/powerpoint/2010/main" val="3190861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CB339-E632-9E22-A7B6-C9019F91C54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9FBAC6E-9EAC-CF1D-420B-AB0E38575A55}"/>
              </a:ext>
            </a:extLst>
          </p:cNvPr>
          <p:cNvSpPr txBox="1">
            <a:spLocks noGrp="1"/>
          </p:cNvSpPr>
          <p:nvPr>
            <p:ph type="title"/>
          </p:nvPr>
        </p:nvSpPr>
        <p:spPr>
          <a:xfrm>
            <a:off x="0" y="0"/>
            <a:ext cx="6553200" cy="520655"/>
          </a:xfrm>
          <a:prstGeom prst="rect">
            <a:avLst/>
          </a:prstGeom>
        </p:spPr>
        <p:txBody>
          <a:bodyPr vert="horz" wrap="square" lIns="0" tIns="12700" rIns="0" bIns="0" rtlCol="0" anchor="ctr">
            <a:spAutoFit/>
          </a:bodyPr>
          <a:lstStyle/>
          <a:p>
            <a:pPr marL="12700">
              <a:lnSpc>
                <a:spcPct val="100000"/>
              </a:lnSpc>
              <a:spcBef>
                <a:spcPts val="100"/>
              </a:spcBef>
            </a:pPr>
            <a:r>
              <a:rPr lang="en-US" sz="3300" b="1" dirty="0">
                <a:latin typeface="Calibir"/>
              </a:rPr>
              <a:t>Thank You</a:t>
            </a:r>
            <a:endParaRPr sz="3300" b="1" spc="-10" dirty="0">
              <a:latin typeface="Calibir"/>
            </a:endParaRPr>
          </a:p>
        </p:txBody>
      </p:sp>
      <p:sp>
        <p:nvSpPr>
          <p:cNvPr id="4" name="object 4">
            <a:extLst>
              <a:ext uri="{FF2B5EF4-FFF2-40B4-BE49-F238E27FC236}">
                <a16:creationId xmlns:a16="http://schemas.microsoft.com/office/drawing/2014/main" id="{524FA3D3-2D48-1396-02E0-E592D20AE6B7}"/>
              </a:ext>
            </a:extLst>
          </p:cNvPr>
          <p:cNvSpPr txBox="1">
            <a:spLocks noGrp="1"/>
          </p:cNvSpPr>
          <p:nvPr>
            <p:ph type="sldNum" sz="quarter" idx="7"/>
          </p:nvPr>
        </p:nvSpPr>
        <p:spPr>
          <a:xfrm>
            <a:off x="552269" y="6556594"/>
            <a:ext cx="3729354" cy="167640"/>
          </a:xfrm>
          <a:prstGeom prst="rect">
            <a:avLst/>
          </a:prstGeom>
        </p:spPr>
        <p:txBody>
          <a:bodyPr vert="horz" wrap="square" lIns="0" tIns="0" rIns="0" bIns="0" rtlCol="0">
            <a:spAutoFit/>
          </a:bodyPr>
          <a:lstStyle>
            <a:defPPr>
              <a:defRPr kern="0"/>
            </a:defPPr>
            <a:lvl1pPr>
              <a:defRPr sz="1000" b="0" i="0">
                <a:solidFill>
                  <a:srgbClr val="3D3935"/>
                </a:solidFill>
                <a:latin typeface="Arial"/>
                <a:cs typeface="Arial"/>
              </a:defRPr>
            </a:lvl1pPr>
          </a:lstStyle>
          <a:p>
            <a:pPr marL="38100">
              <a:spcBef>
                <a:spcPts val="5"/>
              </a:spcBef>
              <a:defRPr/>
            </a:pPr>
            <a:fld id="{81D60167-4931-47E6-BA6A-407CBD079E47}" type="slidenum">
              <a:rPr lang="en-US" smtClean="0"/>
              <a:pPr marL="38100">
                <a:spcBef>
                  <a:spcPts val="5"/>
                </a:spcBef>
                <a:defRPr/>
              </a:pPr>
              <a:t>120</a:t>
            </a:fld>
            <a:r>
              <a:rPr lang="en-US" spc="235"/>
              <a:t> </a:t>
            </a:r>
            <a:r>
              <a:rPr lang="en-US"/>
              <a:t>|</a:t>
            </a:r>
            <a:r>
              <a:rPr lang="en-US" spc="400"/>
              <a:t> </a:t>
            </a:r>
            <a:r>
              <a:rPr lang="en-US"/>
              <a:t>Faculty</a:t>
            </a:r>
            <a:r>
              <a:rPr lang="en-US" spc="-15"/>
              <a:t> </a:t>
            </a:r>
            <a:r>
              <a:rPr lang="en-US"/>
              <a:t>of</a:t>
            </a:r>
            <a:r>
              <a:rPr lang="en-US" spc="-20"/>
              <a:t> </a:t>
            </a:r>
            <a:r>
              <a:rPr lang="en-US"/>
              <a:t>Business</a:t>
            </a:r>
            <a:r>
              <a:rPr lang="en-US" spc="-20"/>
              <a:t> </a:t>
            </a:r>
            <a:r>
              <a:rPr lang="en-US"/>
              <a:t>and</a:t>
            </a:r>
            <a:r>
              <a:rPr lang="en-US" spc="-20"/>
              <a:t> </a:t>
            </a:r>
            <a:r>
              <a:rPr lang="en-US"/>
              <a:t>Law</a:t>
            </a:r>
            <a:r>
              <a:rPr lang="en-US" spc="-15"/>
              <a:t> </a:t>
            </a:r>
            <a:r>
              <a:rPr lang="en-US"/>
              <a:t>|</a:t>
            </a:r>
            <a:r>
              <a:rPr lang="en-US" spc="-15"/>
              <a:t> </a:t>
            </a:r>
            <a:r>
              <a:rPr lang="en-US"/>
              <a:t>Peter</a:t>
            </a:r>
            <a:r>
              <a:rPr lang="en-US" spc="-10"/>
              <a:t> </a:t>
            </a:r>
            <a:r>
              <a:rPr lang="en-US"/>
              <a:t>Faber</a:t>
            </a:r>
            <a:r>
              <a:rPr lang="en-US" spc="-15"/>
              <a:t> </a:t>
            </a:r>
            <a:r>
              <a:rPr lang="en-US"/>
              <a:t>Business</a:t>
            </a:r>
            <a:r>
              <a:rPr lang="en-US" spc="-15"/>
              <a:t> </a:t>
            </a:r>
            <a:r>
              <a:rPr lang="en-US" spc="-10"/>
              <a:t>School</a:t>
            </a:r>
            <a:endParaRPr sz="1000" kern="0" spc="-10" dirty="0">
              <a:solidFill>
                <a:srgbClr val="3D3935"/>
              </a:solidFill>
              <a:latin typeface="Arial"/>
              <a:cs typeface="Arial"/>
            </a:endParaRPr>
          </a:p>
        </p:txBody>
      </p:sp>
      <p:sp>
        <p:nvSpPr>
          <p:cNvPr id="3" name="object 3">
            <a:extLst>
              <a:ext uri="{FF2B5EF4-FFF2-40B4-BE49-F238E27FC236}">
                <a16:creationId xmlns:a16="http://schemas.microsoft.com/office/drawing/2014/main" id="{29AB1092-95B3-7ACF-8F0C-CB846267DED1}"/>
              </a:ext>
            </a:extLst>
          </p:cNvPr>
          <p:cNvSpPr txBox="1"/>
          <p:nvPr/>
        </p:nvSpPr>
        <p:spPr>
          <a:xfrm>
            <a:off x="2043611" y="1416812"/>
            <a:ext cx="7745095" cy="511037"/>
          </a:xfrm>
          <a:prstGeom prst="rect">
            <a:avLst/>
          </a:prstGeom>
        </p:spPr>
        <p:txBody>
          <a:bodyPr vert="horz" wrap="square" lIns="0" tIns="79375" rIns="0" bIns="0" rtlCol="0">
            <a:spAutoFit/>
          </a:bodyPr>
          <a:lstStyle/>
          <a:p>
            <a:pPr marL="456565" indent="-443865">
              <a:spcBef>
                <a:spcPts val="625"/>
              </a:spcBef>
              <a:buClr>
                <a:srgbClr val="F2120C"/>
              </a:buClr>
              <a:buSzPct val="75000"/>
              <a:buFont typeface="Arial"/>
              <a:buChar char="•"/>
              <a:tabLst>
                <a:tab pos="456565" algn="l"/>
              </a:tabLst>
              <a:defRPr/>
            </a:pPr>
            <a:r>
              <a:rPr lang="en-US" sz="2800" i="1" kern="0" dirty="0">
                <a:solidFill>
                  <a:srgbClr val="3D3935"/>
                </a:solidFill>
                <a:latin typeface="Calibri"/>
                <a:cs typeface="Arial"/>
              </a:rPr>
              <a:t>Have a Great Learning Day!</a:t>
            </a:r>
            <a:endParaRPr sz="2800" kern="0" dirty="0">
              <a:solidFill>
                <a:sysClr val="windowText" lastClr="000000"/>
              </a:solidFill>
              <a:latin typeface="Calibri"/>
              <a:cs typeface="Arial"/>
            </a:endParaRPr>
          </a:p>
        </p:txBody>
      </p:sp>
      <p:sp>
        <p:nvSpPr>
          <p:cNvPr id="5" name="object 3">
            <a:extLst>
              <a:ext uri="{FF2B5EF4-FFF2-40B4-BE49-F238E27FC236}">
                <a16:creationId xmlns:a16="http://schemas.microsoft.com/office/drawing/2014/main" id="{A0227068-EB5C-24F0-54DA-165117897DD9}"/>
              </a:ext>
            </a:extLst>
          </p:cNvPr>
          <p:cNvSpPr txBox="1"/>
          <p:nvPr/>
        </p:nvSpPr>
        <p:spPr>
          <a:xfrm>
            <a:off x="2076270" y="2107462"/>
            <a:ext cx="7745095" cy="511037"/>
          </a:xfrm>
          <a:prstGeom prst="rect">
            <a:avLst/>
          </a:prstGeom>
        </p:spPr>
        <p:txBody>
          <a:bodyPr vert="horz" wrap="square" lIns="0" tIns="79375" rIns="0" bIns="0" rtlCol="0">
            <a:spAutoFit/>
          </a:bodyPr>
          <a:lstStyle/>
          <a:p>
            <a:pPr marL="456565" indent="-443865">
              <a:spcBef>
                <a:spcPts val="625"/>
              </a:spcBef>
              <a:buClr>
                <a:srgbClr val="F2120C"/>
              </a:buClr>
              <a:buSzPct val="75000"/>
              <a:buFont typeface="Arial"/>
              <a:buChar char="•"/>
              <a:tabLst>
                <a:tab pos="456565" algn="l"/>
              </a:tabLst>
              <a:defRPr/>
            </a:pPr>
            <a:r>
              <a:rPr lang="en-US" sz="2800" kern="0" dirty="0">
                <a:solidFill>
                  <a:sysClr val="windowText" lastClr="000000"/>
                </a:solidFill>
                <a:latin typeface="Calibri"/>
              </a:rPr>
              <a:t>Feel free to reach out with any questions!</a:t>
            </a:r>
            <a:endParaRPr sz="2800" kern="0" dirty="0">
              <a:solidFill>
                <a:sysClr val="windowText" lastClr="000000"/>
              </a:solidFill>
              <a:latin typeface="Calibri"/>
              <a:cs typeface="Arial"/>
            </a:endParaRPr>
          </a:p>
        </p:txBody>
      </p:sp>
    </p:spTree>
    <p:extLst>
      <p:ext uri="{BB962C8B-B14F-4D97-AF65-F5344CB8AC3E}">
        <p14:creationId xmlns:p14="http://schemas.microsoft.com/office/powerpoint/2010/main" val="25170703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248</TotalTime>
  <Words>4906</Words>
  <Application>Microsoft Office PowerPoint</Application>
  <PresentationFormat>Widescreen</PresentationFormat>
  <Paragraphs>912</Paragraphs>
  <Slides>120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120</vt:i4>
      </vt:variant>
    </vt:vector>
  </HeadingPairs>
  <TitlesOfParts>
    <vt:vector size="126" baseType="lpstr">
      <vt:lpstr>Aptos</vt:lpstr>
      <vt:lpstr>Aptos Display</vt:lpstr>
      <vt:lpstr>Arial</vt:lpstr>
      <vt:lpstr>Calibir</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Let’s Answer Your Questions</vt:lpstr>
      <vt:lpstr>Happy Learning and Bright Futures Ahead!</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Farshid Keivanian</dc:creator>
  <cp:lastModifiedBy>Farshid Keivanian</cp:lastModifiedBy>
  <cp:revision>150</cp:revision>
  <dcterms:created xsi:type="dcterms:W3CDTF">2026-04-01T10:02:37Z</dcterms:created>
  <dcterms:modified xsi:type="dcterms:W3CDTF">2026-04-22T21:56:29Z</dcterms:modified>
</cp:coreProperties>
</file>