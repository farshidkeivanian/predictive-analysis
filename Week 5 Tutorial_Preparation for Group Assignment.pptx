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8"/>
  </p:notesMasterIdLst>
  <p:sldIdLst>
    <p:sldId id="257" r:id="rId2"/>
    <p:sldId id="1897" r:id="rId3"/>
    <p:sldId id="2086" r:id="rId4"/>
    <p:sldId id="2087" r:id="rId5"/>
    <p:sldId id="2088" r:id="rId6"/>
    <p:sldId id="2089" r:id="rId7"/>
    <p:sldId id="2090" r:id="rId8"/>
    <p:sldId id="2091" r:id="rId9"/>
    <p:sldId id="2099" r:id="rId10"/>
    <p:sldId id="2100" r:id="rId11"/>
    <p:sldId id="2101" r:id="rId12"/>
    <p:sldId id="2102" r:id="rId13"/>
    <p:sldId id="2103" r:id="rId14"/>
    <p:sldId id="2104" r:id="rId15"/>
    <p:sldId id="2105" r:id="rId16"/>
    <p:sldId id="2092" r:id="rId17"/>
    <p:sldId id="2106" r:id="rId18"/>
    <p:sldId id="2107" r:id="rId19"/>
    <p:sldId id="2093" r:id="rId20"/>
    <p:sldId id="2108" r:id="rId21"/>
    <p:sldId id="2094" r:id="rId22"/>
    <p:sldId id="2109" r:id="rId23"/>
    <p:sldId id="2110" r:id="rId24"/>
    <p:sldId id="2095" r:id="rId25"/>
    <p:sldId id="2111" r:id="rId26"/>
    <p:sldId id="2096" r:id="rId27"/>
    <p:sldId id="2112" r:id="rId28"/>
    <p:sldId id="2113" r:id="rId29"/>
    <p:sldId id="2097" r:id="rId30"/>
    <p:sldId id="2098" r:id="rId31"/>
    <p:sldId id="2125" r:id="rId32"/>
    <p:sldId id="2126" r:id="rId33"/>
    <p:sldId id="2127" r:id="rId34"/>
    <p:sldId id="2128" r:id="rId35"/>
    <p:sldId id="2129" r:id="rId36"/>
    <p:sldId id="2130" r:id="rId37"/>
    <p:sldId id="2131" r:id="rId38"/>
    <p:sldId id="2132" r:id="rId39"/>
    <p:sldId id="2115" r:id="rId40"/>
    <p:sldId id="2116" r:id="rId41"/>
    <p:sldId id="2117" r:id="rId42"/>
    <p:sldId id="2118" r:id="rId43"/>
    <p:sldId id="2119" r:id="rId44"/>
    <p:sldId id="2120" r:id="rId45"/>
    <p:sldId id="2121" r:id="rId46"/>
    <p:sldId id="2122" r:id="rId47"/>
    <p:sldId id="2123" r:id="rId48"/>
    <p:sldId id="2085" r:id="rId49"/>
    <p:sldId id="1898" r:id="rId50"/>
    <p:sldId id="1971" r:id="rId51"/>
    <p:sldId id="1972" r:id="rId52"/>
    <p:sldId id="1973" r:id="rId53"/>
    <p:sldId id="1974" r:id="rId54"/>
    <p:sldId id="1975" r:id="rId55"/>
    <p:sldId id="1976" r:id="rId56"/>
    <p:sldId id="1977" r:id="rId57"/>
    <p:sldId id="1978" r:id="rId58"/>
    <p:sldId id="1979" r:id="rId59"/>
    <p:sldId id="1980" r:id="rId60"/>
    <p:sldId id="1981" r:id="rId61"/>
    <p:sldId id="1982" r:id="rId62"/>
    <p:sldId id="1983" r:id="rId63"/>
    <p:sldId id="1984" r:id="rId64"/>
    <p:sldId id="1985" r:id="rId65"/>
    <p:sldId id="1986" r:id="rId66"/>
    <p:sldId id="1987" r:id="rId67"/>
    <p:sldId id="1988" r:id="rId68"/>
    <p:sldId id="1989" r:id="rId69"/>
    <p:sldId id="1990" r:id="rId70"/>
    <p:sldId id="1991" r:id="rId71"/>
    <p:sldId id="1992" r:id="rId72"/>
    <p:sldId id="1993" r:id="rId73"/>
    <p:sldId id="1994" r:id="rId74"/>
    <p:sldId id="1995" r:id="rId75"/>
    <p:sldId id="1996" r:id="rId76"/>
    <p:sldId id="1997" r:id="rId77"/>
    <p:sldId id="1998" r:id="rId78"/>
    <p:sldId id="1999" r:id="rId79"/>
    <p:sldId id="2000" r:id="rId80"/>
    <p:sldId id="2001" r:id="rId81"/>
    <p:sldId id="2002" r:id="rId82"/>
    <p:sldId id="2003" r:id="rId83"/>
    <p:sldId id="2004" r:id="rId84"/>
    <p:sldId id="2005" r:id="rId85"/>
    <p:sldId id="2006" r:id="rId86"/>
    <p:sldId id="2007" r:id="rId87"/>
    <p:sldId id="2008" r:id="rId88"/>
    <p:sldId id="2009" r:id="rId89"/>
    <p:sldId id="2010" r:id="rId90"/>
    <p:sldId id="2011" r:id="rId91"/>
    <p:sldId id="2012" r:id="rId92"/>
    <p:sldId id="2013" r:id="rId93"/>
    <p:sldId id="2014" r:id="rId94"/>
    <p:sldId id="2015" r:id="rId95"/>
    <p:sldId id="2016" r:id="rId96"/>
    <p:sldId id="2017" r:id="rId97"/>
    <p:sldId id="2018" r:id="rId98"/>
    <p:sldId id="2019" r:id="rId99"/>
    <p:sldId id="2020" r:id="rId100"/>
    <p:sldId id="2021" r:id="rId101"/>
    <p:sldId id="2022" r:id="rId102"/>
    <p:sldId id="2023" r:id="rId103"/>
    <p:sldId id="2024" r:id="rId104"/>
    <p:sldId id="2025" r:id="rId105"/>
    <p:sldId id="2026" r:id="rId106"/>
    <p:sldId id="2027" r:id="rId107"/>
    <p:sldId id="2028" r:id="rId108"/>
    <p:sldId id="2029" r:id="rId109"/>
    <p:sldId id="2030" r:id="rId110"/>
    <p:sldId id="2031" r:id="rId111"/>
    <p:sldId id="2032" r:id="rId112"/>
    <p:sldId id="2033" r:id="rId113"/>
    <p:sldId id="2034" r:id="rId114"/>
    <p:sldId id="2035" r:id="rId115"/>
    <p:sldId id="2036" r:id="rId116"/>
    <p:sldId id="2037" r:id="rId117"/>
    <p:sldId id="2038" r:id="rId118"/>
    <p:sldId id="2039" r:id="rId119"/>
    <p:sldId id="2040" r:id="rId120"/>
    <p:sldId id="2041" r:id="rId121"/>
    <p:sldId id="2042" r:id="rId122"/>
    <p:sldId id="2043" r:id="rId123"/>
    <p:sldId id="2044" r:id="rId124"/>
    <p:sldId id="2045" r:id="rId125"/>
    <p:sldId id="2046" r:id="rId126"/>
    <p:sldId id="2047" r:id="rId127"/>
    <p:sldId id="2048" r:id="rId128"/>
    <p:sldId id="2049" r:id="rId129"/>
    <p:sldId id="2050" r:id="rId130"/>
    <p:sldId id="2051" r:id="rId131"/>
    <p:sldId id="2052" r:id="rId132"/>
    <p:sldId id="2053" r:id="rId133"/>
    <p:sldId id="2054" r:id="rId134"/>
    <p:sldId id="2055" r:id="rId135"/>
    <p:sldId id="2056" r:id="rId136"/>
    <p:sldId id="2057" r:id="rId137"/>
    <p:sldId id="2058" r:id="rId138"/>
    <p:sldId id="2059" r:id="rId139"/>
    <p:sldId id="2060" r:id="rId140"/>
    <p:sldId id="2061" r:id="rId141"/>
    <p:sldId id="2062" r:id="rId142"/>
    <p:sldId id="2063" r:id="rId143"/>
    <p:sldId id="2064" r:id="rId144"/>
    <p:sldId id="2065" r:id="rId145"/>
    <p:sldId id="2066" r:id="rId146"/>
    <p:sldId id="2067" r:id="rId147"/>
    <p:sldId id="2068" r:id="rId148"/>
    <p:sldId id="2069" r:id="rId149"/>
    <p:sldId id="2070" r:id="rId150"/>
    <p:sldId id="2071" r:id="rId151"/>
    <p:sldId id="2072" r:id="rId152"/>
    <p:sldId id="2073" r:id="rId153"/>
    <p:sldId id="2074" r:id="rId154"/>
    <p:sldId id="2075" r:id="rId155"/>
    <p:sldId id="2076" r:id="rId156"/>
    <p:sldId id="2077" r:id="rId157"/>
    <p:sldId id="2078" r:id="rId158"/>
    <p:sldId id="2079" r:id="rId159"/>
    <p:sldId id="2080" r:id="rId160"/>
    <p:sldId id="2081" r:id="rId161"/>
    <p:sldId id="2082" r:id="rId162"/>
    <p:sldId id="2083" r:id="rId163"/>
    <p:sldId id="2084" r:id="rId164"/>
    <p:sldId id="1871" r:id="rId165"/>
    <p:sldId id="749" r:id="rId166"/>
    <p:sldId id="353" r:id="rId1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410"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97DCA-64BC-45F8-BF68-471B4397264F}"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D0D0B-8444-4E13-B800-D172D14A68D8}" type="slidenum">
              <a:rPr lang="en-US" smtClean="0"/>
              <a:t>‹#›</a:t>
            </a:fld>
            <a:endParaRPr lang="en-US"/>
          </a:p>
        </p:txBody>
      </p:sp>
    </p:spTree>
    <p:extLst>
      <p:ext uri="{BB962C8B-B14F-4D97-AF65-F5344CB8AC3E}">
        <p14:creationId xmlns:p14="http://schemas.microsoft.com/office/powerpoint/2010/main" val="2912098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BA0-3567-A69C-89D5-35649AD8A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BFD70E-1D55-8D25-8E4D-7902E6D80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743844-3636-B493-A041-6B9449A09C0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1FFAC05F-0F8E-0A34-83EA-FF89BD751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DFA5B-DBEC-459E-DE20-69CCB6B8C42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2374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2B09-6193-D2CF-28A5-F10D004F8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35128D-32CD-ED17-13D9-5D1FEF1A32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0ACAA-AC57-8F09-F181-C7E6CEF4DABA}"/>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C75FEFC4-B2D3-6536-6686-3E3453812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BFBAAB-91C7-139B-EB52-F4E313439669}"/>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306147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65FC-76F4-ADE5-9E7F-9C38C89277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616C1-C975-6067-2B7F-DB9F155945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A170B-965A-0241-0525-B2ABC4FB04DB}"/>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F8FB2E0F-705A-6BE2-C9AF-3547914E2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F3A05-66F5-6587-251F-AFB191B71610}"/>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0923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8300-E4D2-4208-EAB8-E99C531EF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7C9A71-89D7-144F-FF96-7956B29BA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92D053-F65C-300C-6B4C-811431D85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A8B57A-8426-57B7-6B7B-D14D244BEFAC}"/>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43D5F8B9-6890-73AB-2F24-36801188A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E8C89-2F91-3376-69B5-D80C544F7A0E}"/>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502587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761-A66D-1F0C-3137-C65C5E333D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0D2A34-8ED3-BB9C-9363-3066A9598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6FD0C-1CF8-4719-A49E-F09206577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5BB3EE-7150-36F7-0C76-A935571B0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1F896F-DA57-2611-5C7C-88A5A722D2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DC29C8-8642-A852-811D-368E2555DD34}"/>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8" name="Footer Placeholder 7">
            <a:extLst>
              <a:ext uri="{FF2B5EF4-FFF2-40B4-BE49-F238E27FC236}">
                <a16:creationId xmlns:a16="http://schemas.microsoft.com/office/drawing/2014/main" id="{15A87AAF-B101-D6D4-A4AB-E18BFF1C89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9846B1-A764-6F86-2BB1-3EFDCD04EB4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540660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93E2-A908-74A4-4A51-CDAC7C16F2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6027D4-B88A-94C4-F850-5434CC0519D0}"/>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4" name="Footer Placeholder 3">
            <a:extLst>
              <a:ext uri="{FF2B5EF4-FFF2-40B4-BE49-F238E27FC236}">
                <a16:creationId xmlns:a16="http://schemas.microsoft.com/office/drawing/2014/main" id="{112A6CA0-BB0E-2595-FBBE-57558425C6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327B39-0229-5495-4AF4-28EE9BCD558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401860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00644-265F-AAA9-1596-2848CF7F058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3" name="Footer Placeholder 2">
            <a:extLst>
              <a:ext uri="{FF2B5EF4-FFF2-40B4-BE49-F238E27FC236}">
                <a16:creationId xmlns:a16="http://schemas.microsoft.com/office/drawing/2014/main" id="{581AA8B1-B0F3-5E64-3282-105EEDF245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4C6DCF-6D35-E204-6296-59518601AE28}"/>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191698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15E1-7907-C9F2-CE58-E61415FC4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62A7B-90E2-E613-EC88-72B99816E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77170-642E-6882-7340-E46C633F7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34D353-A3F6-8354-656B-826A364BC2E2}"/>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8B081F9B-817F-1676-DD52-A35BAC6562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BAD93-244A-FB8B-A7B4-DA2A2ED8F56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287724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595D-1F53-53E9-3B82-7CB3B8B64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08AA5-49B6-80BC-834E-629BE44AF9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571CED-2C52-DD4D-5578-E9F6B0B2A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6541D-EEC6-080E-2610-4DF6FC66EB4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6" name="Footer Placeholder 5">
            <a:extLst>
              <a:ext uri="{FF2B5EF4-FFF2-40B4-BE49-F238E27FC236}">
                <a16:creationId xmlns:a16="http://schemas.microsoft.com/office/drawing/2014/main" id="{B1829E2D-62A5-155F-F235-656326BE0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874E9-562B-6D85-D536-BEC5BF7E2604}"/>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83116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45D7-5390-D91F-E743-97E29EAFD4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3AFDCC-DE28-3F52-4634-F3FBDAF1C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ED6F8-D8E4-E68B-7727-216ACADF223D}"/>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4379CE75-4F1C-DE69-C05B-0916E139A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737B7-C61D-DD5B-45F4-2A65BA3B649D}"/>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4052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43388-E01D-7A9F-EC12-0CD0881CD7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4CEE70-4A8E-31D3-5BA2-E822E6F5D0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C0CA9-5029-CEB4-3FAF-A452EFBDEDB7}"/>
              </a:ext>
            </a:extLst>
          </p:cNvPr>
          <p:cNvSpPr>
            <a:spLocks noGrp="1"/>
          </p:cNvSpPr>
          <p:nvPr>
            <p:ph type="dt" sz="half" idx="10"/>
          </p:nvPr>
        </p:nvSpPr>
        <p:spPr/>
        <p:txBody>
          <a:body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1457D8D2-C12E-5712-06DE-6F511DC14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22757-1319-FD30-A649-F781E2862956}"/>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4127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54DBC-87E7-B994-958D-4334EA4CBF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A84B89-260B-DA3B-282C-1AE14EFEBC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049DE-292B-FF07-9E02-2FFFFA5AC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187918-C88E-4AE8-98BA-82190638546D}" type="datetimeFigureOut">
              <a:rPr lang="en-US" smtClean="0"/>
              <a:t>4/23/2026</a:t>
            </a:fld>
            <a:endParaRPr lang="en-US"/>
          </a:p>
        </p:txBody>
      </p:sp>
      <p:sp>
        <p:nvSpPr>
          <p:cNvPr id="5" name="Footer Placeholder 4">
            <a:extLst>
              <a:ext uri="{FF2B5EF4-FFF2-40B4-BE49-F238E27FC236}">
                <a16:creationId xmlns:a16="http://schemas.microsoft.com/office/drawing/2014/main" id="{5A69973F-6051-28CF-6202-6AF3780218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E4D5BD-294A-4336-8EC3-EE921033D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E7C756-0902-4473-83B7-28EB270F081E}" type="slidenum">
              <a:rPr lang="en-US" smtClean="0"/>
              <a:t>‹#›</a:t>
            </a:fld>
            <a:endParaRPr lang="en-US"/>
          </a:p>
        </p:txBody>
      </p:sp>
    </p:spTree>
    <p:extLst>
      <p:ext uri="{BB962C8B-B14F-4D97-AF65-F5344CB8AC3E}">
        <p14:creationId xmlns:p14="http://schemas.microsoft.com/office/powerpoint/2010/main" val="1683534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colab.research.google.com/drive/1vZjb9DT1ReCYq81ylbFYRm43DQpb0r8y?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hyperlink" Target="https://holmesedug-my.sharepoint.com/:x:/g/personal/ftohidi_holmes_edu_au/IQD4_gSsoQZvRbv46Rb97GhpAUrfQ-SpE_I7om4JOF8-hyM?e=dYHOI1"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C8CCC5-7719-5429-9C16-F066E03793F0}"/>
              </a:ext>
            </a:extLst>
          </p:cNvPr>
          <p:cNvSpPr txBox="1"/>
          <p:nvPr/>
        </p:nvSpPr>
        <p:spPr>
          <a:xfrm>
            <a:off x="0" y="746115"/>
            <a:ext cx="6089530" cy="3615678"/>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latin typeface="Calibir"/>
                <a:ea typeface="+mj-ea"/>
                <a:cs typeface="+mj-cs"/>
              </a:rPr>
              <a:t>HI6039 (Predictive Analysis)</a:t>
            </a:r>
          </a:p>
          <a:p>
            <a:pPr algn="ctr">
              <a:lnSpc>
                <a:spcPct val="90000"/>
              </a:lnSpc>
              <a:spcBef>
                <a:spcPct val="0"/>
              </a:spcBef>
              <a:spcAft>
                <a:spcPts val="338"/>
              </a:spcAft>
            </a:pPr>
            <a:r>
              <a:rPr lang="en-US" sz="3800" b="1" dirty="0">
                <a:latin typeface="Calibir"/>
                <a:ea typeface="+mj-ea"/>
                <a:cs typeface="+mj-cs"/>
              </a:rPr>
              <a:t>Dr. Farshid Keivanian</a:t>
            </a:r>
          </a:p>
          <a:p>
            <a:pPr algn="ctr">
              <a:lnSpc>
                <a:spcPct val="90000"/>
              </a:lnSpc>
              <a:spcBef>
                <a:spcPct val="0"/>
              </a:spcBef>
              <a:spcAft>
                <a:spcPts val="338"/>
              </a:spcAft>
            </a:pPr>
            <a:endParaRPr lang="en-US" sz="3800" b="1" dirty="0">
              <a:latin typeface="Calibir"/>
              <a:ea typeface="+mj-ea"/>
              <a:cs typeface="+mj-cs"/>
            </a:endParaRPr>
          </a:p>
          <a:p>
            <a:pPr algn="ctr">
              <a:lnSpc>
                <a:spcPct val="90000"/>
              </a:lnSpc>
              <a:spcBef>
                <a:spcPct val="0"/>
              </a:spcBef>
              <a:spcAft>
                <a:spcPts val="338"/>
              </a:spcAft>
            </a:pPr>
            <a:r>
              <a:rPr lang="en-US" sz="3400" b="1" dirty="0">
                <a:latin typeface="Calibir"/>
                <a:ea typeface="+mj-ea"/>
                <a:cs typeface="+mj-cs"/>
              </a:rPr>
              <a:t>Week 5: </a:t>
            </a:r>
            <a:r>
              <a:rPr lang="en-US" sz="3400" b="1" dirty="0">
                <a:latin typeface="Calibir"/>
              </a:rPr>
              <a:t>Regression Analysis &amp; </a:t>
            </a:r>
            <a:r>
              <a:rPr lang="en-US" sz="3400" b="1" dirty="0">
                <a:latin typeface="Calibir"/>
                <a:ea typeface="+mj-ea"/>
                <a:cs typeface="+mj-cs"/>
              </a:rPr>
              <a:t>Preparation for </a:t>
            </a:r>
            <a:r>
              <a:rPr lang="en-US" sz="3400" b="1" dirty="0">
                <a:latin typeface="Calibir"/>
              </a:rPr>
              <a:t>Group Assignment</a:t>
            </a:r>
            <a:endParaRPr lang="en-US" sz="3400" b="1" dirty="0">
              <a:latin typeface="Calibir"/>
              <a:ea typeface="+mj-ea"/>
              <a:cs typeface="+mj-cs"/>
            </a:endParaRPr>
          </a:p>
        </p:txBody>
      </p:sp>
      <p:pic>
        <p:nvPicPr>
          <p:cNvPr id="4" name="Picture 3">
            <a:extLst>
              <a:ext uri="{FF2B5EF4-FFF2-40B4-BE49-F238E27FC236}">
                <a16:creationId xmlns:a16="http://schemas.microsoft.com/office/drawing/2014/main" id="{37BA1B80-27DD-FC4B-43BE-F15BBB7F77C0}"/>
              </a:ext>
            </a:extLst>
          </p:cNvPr>
          <p:cNvPicPr>
            <a:picLocks noChangeAspect="1"/>
          </p:cNvPicPr>
          <p:nvPr/>
        </p:nvPicPr>
        <p:blipFill>
          <a:blip r:embed="rId2">
            <a:extLst>
              <a:ext uri="{28A0092B-C50C-407E-A947-70E740481C1C}">
                <a14:useLocalDpi xmlns:a14="http://schemas.microsoft.com/office/drawing/2010/main" val="0"/>
              </a:ext>
            </a:extLst>
          </a:blip>
          <a:srcRect l="4968" r="24813" b="1"/>
          <a:stretch>
            <a:fillRect/>
          </a:stretch>
        </p:blipFill>
        <p:spPr>
          <a:xfrm>
            <a:off x="6102471" y="746115"/>
            <a:ext cx="4040011" cy="6008804"/>
          </a:xfrm>
          <a:prstGeom prst="rect">
            <a:avLst/>
          </a:prstGeom>
        </p:spPr>
      </p:pic>
      <p:pic>
        <p:nvPicPr>
          <p:cNvPr id="3" name="object 3"/>
          <p:cNvPicPr/>
          <p:nvPr/>
        </p:nvPicPr>
        <p:blipFill>
          <a:blip r:embed="rId3" cstate="print"/>
          <a:srcRect l="24413" r="9390"/>
          <a:stretch>
            <a:fillRect/>
          </a:stretch>
        </p:blipFill>
        <p:spPr>
          <a:xfrm>
            <a:off x="10710041" y="73691"/>
            <a:ext cx="1481959" cy="19444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47EF-CA19-2B80-555F-1928522B6C5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D5E0246-14FB-D37C-C61E-AD4DC93AA7E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6DD33C77-F48B-8EDB-CE77-5F3638EEF47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C9CE3CC-2052-B177-C938-25A6DE1ED67A}"/>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Regression Analysis</a:t>
            </a:r>
          </a:p>
        </p:txBody>
      </p:sp>
      <p:sp>
        <p:nvSpPr>
          <p:cNvPr id="5" name="TextBox 4">
            <a:extLst>
              <a:ext uri="{FF2B5EF4-FFF2-40B4-BE49-F238E27FC236}">
                <a16:creationId xmlns:a16="http://schemas.microsoft.com/office/drawing/2014/main" id="{23A31742-0A22-CC37-FCE9-2DCF84A03CBB}"/>
              </a:ext>
            </a:extLst>
          </p:cNvPr>
          <p:cNvSpPr txBox="1"/>
          <p:nvPr/>
        </p:nvSpPr>
        <p:spPr>
          <a:xfrm>
            <a:off x="0" y="1324303"/>
            <a:ext cx="11529848" cy="3903504"/>
          </a:xfrm>
          <a:prstGeom prst="rect">
            <a:avLst/>
          </a:prstGeom>
          <a:noFill/>
        </p:spPr>
        <p:txBody>
          <a:bodyPr wrap="square">
            <a:spAutoFit/>
          </a:bodyPr>
          <a:lstStyle/>
          <a:p>
            <a:pPr>
              <a:lnSpc>
                <a:spcPct val="150000"/>
              </a:lnSpc>
              <a:buNone/>
            </a:pPr>
            <a:r>
              <a:rPr lang="en-US" sz="2800" b="1" dirty="0">
                <a:latin typeface="Calibir"/>
              </a:rPr>
              <a:t>What is Regression?</a:t>
            </a:r>
          </a:p>
          <a:p>
            <a:pPr>
              <a:lnSpc>
                <a:spcPct val="150000"/>
              </a:lnSpc>
              <a:buNone/>
            </a:pPr>
            <a:r>
              <a:rPr lang="en-US" sz="2800" dirty="0">
                <a:latin typeface="Calibir"/>
              </a:rPr>
              <a:t>Regression = predicting a number</a:t>
            </a:r>
          </a:p>
          <a:p>
            <a:pPr>
              <a:lnSpc>
                <a:spcPct val="150000"/>
              </a:lnSpc>
              <a:buNone/>
            </a:pPr>
            <a:r>
              <a:rPr lang="en-US" sz="2800" dirty="0">
                <a:latin typeface="Calibir"/>
              </a:rPr>
              <a:t>Examples:</a:t>
            </a:r>
          </a:p>
          <a:p>
            <a:pPr marL="914400" lvl="1" indent="-457200">
              <a:lnSpc>
                <a:spcPct val="150000"/>
              </a:lnSpc>
              <a:buFont typeface="Arial" panose="020B0604020202020204" pitchFamily="34" charset="0"/>
              <a:buChar char="•"/>
            </a:pPr>
            <a:r>
              <a:rPr lang="en-US" sz="2800" dirty="0">
                <a:latin typeface="Calibir"/>
              </a:rPr>
              <a:t>House price → 500,000 </a:t>
            </a:r>
          </a:p>
          <a:p>
            <a:pPr marL="914400" lvl="1" indent="-457200">
              <a:lnSpc>
                <a:spcPct val="150000"/>
              </a:lnSpc>
              <a:buFont typeface="Arial" panose="020B0604020202020204" pitchFamily="34" charset="0"/>
              <a:buChar char="•"/>
            </a:pPr>
            <a:r>
              <a:rPr lang="en-US" sz="2800" dirty="0">
                <a:latin typeface="Calibir"/>
              </a:rPr>
              <a:t>Salary → 75,000 </a:t>
            </a:r>
          </a:p>
          <a:p>
            <a:pPr marL="914400" lvl="1" indent="-457200">
              <a:lnSpc>
                <a:spcPct val="150000"/>
              </a:lnSpc>
              <a:buFont typeface="Arial" panose="020B0604020202020204" pitchFamily="34" charset="0"/>
              <a:buChar char="•"/>
            </a:pPr>
            <a:r>
              <a:rPr lang="en-US" sz="2800" dirty="0">
                <a:latin typeface="Calibir"/>
              </a:rPr>
              <a:t>Wine quality → 5.5</a:t>
            </a:r>
          </a:p>
        </p:txBody>
      </p:sp>
    </p:spTree>
    <p:extLst>
      <p:ext uri="{BB962C8B-B14F-4D97-AF65-F5344CB8AC3E}">
        <p14:creationId xmlns:p14="http://schemas.microsoft.com/office/powerpoint/2010/main" val="321994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E1EEB-ECC2-B340-BE10-3DEC084986E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3555EE1-5399-FE20-6EE9-55AF6D3CA68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0F5A62D-543F-25B0-A8D3-9CAEE0B0D32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047819BF-7EC5-0198-D6BA-AB21D477C9CB}"/>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Regression Analysis</a:t>
            </a:r>
          </a:p>
        </p:txBody>
      </p:sp>
      <p:sp>
        <p:nvSpPr>
          <p:cNvPr id="5" name="TextBox 4">
            <a:extLst>
              <a:ext uri="{FF2B5EF4-FFF2-40B4-BE49-F238E27FC236}">
                <a16:creationId xmlns:a16="http://schemas.microsoft.com/office/drawing/2014/main" id="{D698D602-AA76-4019-275E-4CF2F48B9342}"/>
              </a:ext>
            </a:extLst>
          </p:cNvPr>
          <p:cNvSpPr txBox="1"/>
          <p:nvPr/>
        </p:nvSpPr>
        <p:spPr>
          <a:xfrm>
            <a:off x="0" y="1324303"/>
            <a:ext cx="11529848" cy="3903504"/>
          </a:xfrm>
          <a:prstGeom prst="rect">
            <a:avLst/>
          </a:prstGeom>
          <a:noFill/>
        </p:spPr>
        <p:txBody>
          <a:bodyPr wrap="square">
            <a:spAutoFit/>
          </a:bodyPr>
          <a:lstStyle/>
          <a:p>
            <a:pPr>
              <a:lnSpc>
                <a:spcPct val="150000"/>
              </a:lnSpc>
            </a:pPr>
            <a:r>
              <a:rPr lang="en-US" sz="2800" b="1" dirty="0">
                <a:latin typeface="Calibir"/>
              </a:rPr>
              <a:t>Link to Week 4 (Overfitting)</a:t>
            </a:r>
          </a:p>
          <a:p>
            <a:pPr>
              <a:lnSpc>
                <a:spcPct val="150000"/>
              </a:lnSpc>
            </a:pPr>
            <a:r>
              <a:rPr lang="en-US" sz="2800" dirty="0">
                <a:latin typeface="Calibir"/>
              </a:rPr>
              <a:t>Last week:</a:t>
            </a:r>
          </a:p>
          <a:p>
            <a:pPr marL="914400" lvl="1" indent="-457200">
              <a:lnSpc>
                <a:spcPct val="150000"/>
              </a:lnSpc>
              <a:buFont typeface="Arial" panose="020B0604020202020204" pitchFamily="34" charset="0"/>
              <a:buChar char="•"/>
            </a:pPr>
            <a:r>
              <a:rPr lang="en-US" sz="2800" dirty="0">
                <a:latin typeface="Calibir"/>
              </a:rPr>
              <a:t>We learned models can overfit </a:t>
            </a:r>
          </a:p>
          <a:p>
            <a:pPr>
              <a:lnSpc>
                <a:spcPct val="150000"/>
              </a:lnSpc>
            </a:pPr>
            <a:r>
              <a:rPr lang="en-US" sz="2800" dirty="0">
                <a:latin typeface="Calibir"/>
              </a:rPr>
              <a:t>This week:</a:t>
            </a:r>
          </a:p>
          <a:p>
            <a:pPr marL="914400" lvl="1" indent="-457200">
              <a:lnSpc>
                <a:spcPct val="150000"/>
              </a:lnSpc>
              <a:buFont typeface="Arial" panose="020B0604020202020204" pitchFamily="34" charset="0"/>
              <a:buChar char="•"/>
            </a:pPr>
            <a:r>
              <a:rPr lang="en-US" sz="2800" dirty="0">
                <a:latin typeface="Calibir"/>
              </a:rPr>
              <a:t>We build regression models </a:t>
            </a:r>
          </a:p>
          <a:p>
            <a:pPr marL="914400" lvl="1" indent="-457200">
              <a:lnSpc>
                <a:spcPct val="150000"/>
              </a:lnSpc>
              <a:buFont typeface="Arial" panose="020B0604020202020204" pitchFamily="34" charset="0"/>
              <a:buChar char="•"/>
            </a:pPr>
            <a:r>
              <a:rPr lang="en-US" sz="2800" dirty="0">
                <a:latin typeface="Calibir"/>
              </a:rPr>
              <a:t>Then check if they are good or not</a:t>
            </a:r>
          </a:p>
        </p:txBody>
      </p:sp>
    </p:spTree>
    <p:extLst>
      <p:ext uri="{BB962C8B-B14F-4D97-AF65-F5344CB8AC3E}">
        <p14:creationId xmlns:p14="http://schemas.microsoft.com/office/powerpoint/2010/main" val="52609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6F7AB-4C2A-F01C-AC86-3B3853CD087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DE120B5-7077-F270-3D78-1E49D22AA77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1B8C4E27-FC1D-3C99-B58F-03CDCE623911}"/>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A717B9E-1924-B5D5-D882-4733B47C9FFE}"/>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Regression Analysis</a:t>
            </a:r>
          </a:p>
        </p:txBody>
      </p:sp>
      <p:sp>
        <p:nvSpPr>
          <p:cNvPr id="5" name="TextBox 4">
            <a:extLst>
              <a:ext uri="{FF2B5EF4-FFF2-40B4-BE49-F238E27FC236}">
                <a16:creationId xmlns:a16="http://schemas.microsoft.com/office/drawing/2014/main" id="{846176FC-5E76-A941-5CC7-77F15ED24A5F}"/>
              </a:ext>
            </a:extLst>
          </p:cNvPr>
          <p:cNvSpPr txBox="1"/>
          <p:nvPr/>
        </p:nvSpPr>
        <p:spPr>
          <a:xfrm>
            <a:off x="0" y="1324303"/>
            <a:ext cx="11529848" cy="1318181"/>
          </a:xfrm>
          <a:prstGeom prst="rect">
            <a:avLst/>
          </a:prstGeom>
          <a:noFill/>
        </p:spPr>
        <p:txBody>
          <a:bodyPr wrap="square">
            <a:spAutoFit/>
          </a:bodyPr>
          <a:lstStyle/>
          <a:p>
            <a:pPr>
              <a:lnSpc>
                <a:spcPct val="150000"/>
              </a:lnSpc>
            </a:pPr>
            <a:r>
              <a:rPr lang="en-US" sz="2800" b="1" dirty="0">
                <a:latin typeface="Calibir"/>
              </a:rPr>
              <a:t>Key idea</a:t>
            </a:r>
          </a:p>
          <a:p>
            <a:pPr>
              <a:lnSpc>
                <a:spcPct val="150000"/>
              </a:lnSpc>
            </a:pPr>
            <a:r>
              <a:rPr lang="en-US" sz="2800" dirty="0">
                <a:latin typeface="Calibir"/>
              </a:rPr>
              <a:t>A good model = low error + explains data well</a:t>
            </a:r>
          </a:p>
        </p:txBody>
      </p:sp>
    </p:spTree>
    <p:extLst>
      <p:ext uri="{BB962C8B-B14F-4D97-AF65-F5344CB8AC3E}">
        <p14:creationId xmlns:p14="http://schemas.microsoft.com/office/powerpoint/2010/main" val="1164381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8A782-F5D2-66C5-C4B1-D24D3812720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07B2E3D-D00B-E4FC-8464-0705EC733A4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E11E4F9-7519-1899-950D-2307944152AC}"/>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9FACCD3-F2E2-A3B0-CA43-3D9EC028B01E}"/>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5" name="TextBox 4">
            <a:extLst>
              <a:ext uri="{FF2B5EF4-FFF2-40B4-BE49-F238E27FC236}">
                <a16:creationId xmlns:a16="http://schemas.microsoft.com/office/drawing/2014/main" id="{2B26A56B-4F68-C40E-4DD7-4DF60B5370E0}"/>
              </a:ext>
            </a:extLst>
          </p:cNvPr>
          <p:cNvSpPr txBox="1"/>
          <p:nvPr/>
        </p:nvSpPr>
        <p:spPr>
          <a:xfrm>
            <a:off x="94419" y="941812"/>
            <a:ext cx="11529848" cy="5196166"/>
          </a:xfrm>
          <a:prstGeom prst="rect">
            <a:avLst/>
          </a:prstGeom>
          <a:noFill/>
        </p:spPr>
        <p:txBody>
          <a:bodyPr wrap="square">
            <a:spAutoFit/>
          </a:bodyPr>
          <a:lstStyle/>
          <a:p>
            <a:pPr>
              <a:lnSpc>
                <a:spcPct val="150000"/>
              </a:lnSpc>
            </a:pPr>
            <a:r>
              <a:rPr lang="en-US" sz="2800" b="1" dirty="0">
                <a:latin typeface="Calibir"/>
              </a:rPr>
              <a:t>Today’s goal</a:t>
            </a:r>
          </a:p>
          <a:p>
            <a:pPr>
              <a:lnSpc>
                <a:spcPct val="150000"/>
              </a:lnSpc>
            </a:pPr>
            <a:r>
              <a:rPr lang="en-US" sz="2800" dirty="0">
                <a:latin typeface="Calibir"/>
              </a:rPr>
              <a:t>We will build a regression model to predict:</a:t>
            </a:r>
          </a:p>
          <a:p>
            <a:pPr>
              <a:lnSpc>
                <a:spcPct val="150000"/>
              </a:lnSpc>
            </a:pPr>
            <a:r>
              <a:rPr lang="en-US" sz="2800" dirty="0">
                <a:latin typeface="Calibir"/>
              </a:rPr>
              <a:t>insurance charges</a:t>
            </a:r>
          </a:p>
          <a:p>
            <a:pPr>
              <a:lnSpc>
                <a:spcPct val="150000"/>
              </a:lnSpc>
            </a:pPr>
            <a:r>
              <a:rPr lang="en-US" sz="2800" dirty="0">
                <a:latin typeface="Calibir"/>
              </a:rPr>
              <a:t>This is a regression problem because the answer is a number.</a:t>
            </a:r>
          </a:p>
          <a:p>
            <a:pPr>
              <a:lnSpc>
                <a:spcPct val="150000"/>
              </a:lnSpc>
            </a:pPr>
            <a:r>
              <a:rPr lang="en-US" sz="2800" dirty="0">
                <a:latin typeface="Calibir"/>
              </a:rPr>
              <a:t>Examples:</a:t>
            </a:r>
          </a:p>
          <a:p>
            <a:pPr marL="914400" lvl="1" indent="-457200">
              <a:lnSpc>
                <a:spcPct val="150000"/>
              </a:lnSpc>
              <a:buFont typeface="Arial" panose="020B0604020202020204" pitchFamily="34" charset="0"/>
              <a:buChar char="•"/>
            </a:pPr>
            <a:r>
              <a:rPr lang="en-US" sz="2800" dirty="0">
                <a:latin typeface="Calibir"/>
              </a:rPr>
              <a:t>16884.92 </a:t>
            </a:r>
          </a:p>
          <a:p>
            <a:pPr marL="914400" lvl="1" indent="-457200">
              <a:lnSpc>
                <a:spcPct val="150000"/>
              </a:lnSpc>
              <a:buFont typeface="Arial" panose="020B0604020202020204" pitchFamily="34" charset="0"/>
              <a:buChar char="•"/>
            </a:pPr>
            <a:r>
              <a:rPr lang="en-US" sz="2800" dirty="0">
                <a:latin typeface="Calibir"/>
              </a:rPr>
              <a:t>5325.65 </a:t>
            </a:r>
          </a:p>
          <a:p>
            <a:pPr marL="914400" lvl="1" indent="-457200">
              <a:lnSpc>
                <a:spcPct val="150000"/>
              </a:lnSpc>
              <a:buFont typeface="Arial" panose="020B0604020202020204" pitchFamily="34" charset="0"/>
              <a:buChar char="•"/>
            </a:pPr>
            <a:r>
              <a:rPr lang="en-US" sz="2800" dirty="0">
                <a:latin typeface="Calibir"/>
              </a:rPr>
              <a:t>21978.67</a:t>
            </a:r>
          </a:p>
        </p:txBody>
      </p:sp>
    </p:spTree>
    <p:extLst>
      <p:ext uri="{BB962C8B-B14F-4D97-AF65-F5344CB8AC3E}">
        <p14:creationId xmlns:p14="http://schemas.microsoft.com/office/powerpoint/2010/main" val="10639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5AC1C-2CC8-C51C-F5F6-B0CF46AD56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46F7A9-5101-2914-4B04-2F33568273AA}"/>
              </a:ext>
            </a:extLst>
          </p:cNvPr>
          <p:cNvPicPr>
            <a:picLocks noChangeAspect="1"/>
          </p:cNvPicPr>
          <p:nvPr/>
        </p:nvPicPr>
        <p:blipFill>
          <a:blip r:embed="rId2"/>
          <a:srcRect b="5882"/>
          <a:stretch>
            <a:fillRect/>
          </a:stretch>
        </p:blipFill>
        <p:spPr>
          <a:xfrm>
            <a:off x="0" y="403412"/>
            <a:ext cx="12192000" cy="6454588"/>
          </a:xfrm>
          <a:prstGeom prst="rect">
            <a:avLst/>
          </a:prstGeom>
        </p:spPr>
      </p:pic>
      <p:sp>
        <p:nvSpPr>
          <p:cNvPr id="6" name="Rectangle 1">
            <a:extLst>
              <a:ext uri="{FF2B5EF4-FFF2-40B4-BE49-F238E27FC236}">
                <a16:creationId xmlns:a16="http://schemas.microsoft.com/office/drawing/2014/main" id="{C0E97586-3E9F-5DC2-9D76-BD3019804DE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12E6BF4C-963E-290A-2405-A5C393DFC1A0}"/>
              </a:ext>
            </a:extLst>
          </p:cNvPr>
          <p:cNvPicPr/>
          <p:nvPr/>
        </p:nvPicPr>
        <p:blipFill>
          <a:blip r:embed="rId3"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37F1781-55B1-1815-1658-3793FE54E7E7}"/>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5" name="TextBox 4">
            <a:extLst>
              <a:ext uri="{FF2B5EF4-FFF2-40B4-BE49-F238E27FC236}">
                <a16:creationId xmlns:a16="http://schemas.microsoft.com/office/drawing/2014/main" id="{AB433E56-BF68-5CF5-9432-5669F898012C}"/>
              </a:ext>
            </a:extLst>
          </p:cNvPr>
          <p:cNvSpPr txBox="1"/>
          <p:nvPr/>
        </p:nvSpPr>
        <p:spPr>
          <a:xfrm>
            <a:off x="5184061" y="2379646"/>
            <a:ext cx="6266959" cy="3903504"/>
          </a:xfrm>
          <a:prstGeom prst="rect">
            <a:avLst/>
          </a:prstGeom>
          <a:solidFill>
            <a:schemeClr val="bg1"/>
          </a:solidFill>
        </p:spPr>
        <p:txBody>
          <a:bodyPr wrap="square">
            <a:spAutoFit/>
          </a:bodyPr>
          <a:lstStyle/>
          <a:p>
            <a:pPr>
              <a:lnSpc>
                <a:spcPct val="150000"/>
              </a:lnSpc>
            </a:pPr>
            <a:r>
              <a:rPr lang="en-US" sz="2800" b="1" dirty="0">
                <a:latin typeface="Calibir"/>
              </a:rPr>
              <a:t>Dataset</a:t>
            </a:r>
          </a:p>
          <a:p>
            <a:pPr>
              <a:lnSpc>
                <a:spcPct val="150000"/>
              </a:lnSpc>
            </a:pPr>
            <a:r>
              <a:rPr lang="en-US" sz="2800" dirty="0">
                <a:latin typeface="Calibir"/>
              </a:rPr>
              <a:t>We will use this dataset:</a:t>
            </a:r>
          </a:p>
          <a:p>
            <a:pPr>
              <a:lnSpc>
                <a:spcPct val="150000"/>
              </a:lnSpc>
            </a:pPr>
            <a:r>
              <a:rPr lang="en-US" sz="2800" dirty="0" err="1">
                <a:latin typeface="Calibir"/>
              </a:rPr>
              <a:t>url</a:t>
            </a:r>
            <a:r>
              <a:rPr lang="en-US" sz="2800" dirty="0">
                <a:latin typeface="Calibir"/>
              </a:rPr>
              <a:t> = "https://raw.githubusercontent.com/</a:t>
            </a:r>
            <a:r>
              <a:rPr lang="en-US" sz="2800" dirty="0" err="1">
                <a:latin typeface="Calibir"/>
              </a:rPr>
              <a:t>stedy</a:t>
            </a:r>
            <a:r>
              <a:rPr lang="en-US" sz="2800" dirty="0">
                <a:latin typeface="Calibir"/>
              </a:rPr>
              <a:t>/Machine-Learning-with-R-datasets/master/insurance.csv"</a:t>
            </a:r>
          </a:p>
        </p:txBody>
      </p:sp>
    </p:spTree>
    <p:extLst>
      <p:ext uri="{BB962C8B-B14F-4D97-AF65-F5344CB8AC3E}">
        <p14:creationId xmlns:p14="http://schemas.microsoft.com/office/powerpoint/2010/main" val="13782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86127-124D-6B02-2271-E3009CC035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5515CD-6C9F-4D8F-8A54-AF50D6018957}"/>
              </a:ext>
            </a:extLst>
          </p:cNvPr>
          <p:cNvPicPr>
            <a:picLocks noChangeAspect="1"/>
          </p:cNvPicPr>
          <p:nvPr/>
        </p:nvPicPr>
        <p:blipFill>
          <a:blip r:embed="rId2"/>
          <a:srcRect b="5882"/>
          <a:stretch>
            <a:fillRect/>
          </a:stretch>
        </p:blipFill>
        <p:spPr>
          <a:xfrm>
            <a:off x="0" y="403412"/>
            <a:ext cx="12192000" cy="6454588"/>
          </a:xfrm>
          <a:prstGeom prst="rect">
            <a:avLst/>
          </a:prstGeom>
        </p:spPr>
      </p:pic>
      <p:sp>
        <p:nvSpPr>
          <p:cNvPr id="6" name="Rectangle 1">
            <a:extLst>
              <a:ext uri="{FF2B5EF4-FFF2-40B4-BE49-F238E27FC236}">
                <a16:creationId xmlns:a16="http://schemas.microsoft.com/office/drawing/2014/main" id="{2C0D5286-6E21-5DE8-46C0-1620A604828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5D32BF54-2B55-C5F9-DF91-04E2323023B4}"/>
              </a:ext>
            </a:extLst>
          </p:cNvPr>
          <p:cNvPicPr/>
          <p:nvPr/>
        </p:nvPicPr>
        <p:blipFill>
          <a:blip r:embed="rId3"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B1B25C82-C80A-202A-799C-379AA0D27121}"/>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5" name="TextBox 4">
            <a:extLst>
              <a:ext uri="{FF2B5EF4-FFF2-40B4-BE49-F238E27FC236}">
                <a16:creationId xmlns:a16="http://schemas.microsoft.com/office/drawing/2014/main" id="{EA50570C-B290-151F-05F8-57723B62A688}"/>
              </a:ext>
            </a:extLst>
          </p:cNvPr>
          <p:cNvSpPr txBox="1"/>
          <p:nvPr/>
        </p:nvSpPr>
        <p:spPr>
          <a:xfrm>
            <a:off x="4976561" y="941812"/>
            <a:ext cx="5849093" cy="5842497"/>
          </a:xfrm>
          <a:prstGeom prst="rect">
            <a:avLst/>
          </a:prstGeom>
          <a:solidFill>
            <a:schemeClr val="bg1"/>
          </a:solidFill>
        </p:spPr>
        <p:txBody>
          <a:bodyPr wrap="square">
            <a:spAutoFit/>
          </a:bodyPr>
          <a:lstStyle/>
          <a:p>
            <a:pPr>
              <a:lnSpc>
                <a:spcPct val="150000"/>
              </a:lnSpc>
            </a:pPr>
            <a:r>
              <a:rPr lang="en-US" sz="2800" b="1" dirty="0">
                <a:latin typeface="Calibir"/>
              </a:rPr>
              <a:t>Columns include:</a:t>
            </a:r>
          </a:p>
          <a:p>
            <a:pPr marL="914400" lvl="1" indent="-457200">
              <a:lnSpc>
                <a:spcPct val="150000"/>
              </a:lnSpc>
              <a:buFont typeface="Arial" panose="020B0604020202020204" pitchFamily="34" charset="0"/>
              <a:buChar char="•"/>
            </a:pPr>
            <a:r>
              <a:rPr lang="en-US" sz="2800" dirty="0">
                <a:latin typeface="Calibir"/>
              </a:rPr>
              <a:t>age </a:t>
            </a:r>
          </a:p>
          <a:p>
            <a:pPr marL="914400" lvl="1" indent="-457200">
              <a:lnSpc>
                <a:spcPct val="150000"/>
              </a:lnSpc>
              <a:buFont typeface="Arial" panose="020B0604020202020204" pitchFamily="34" charset="0"/>
              <a:buChar char="•"/>
            </a:pPr>
            <a:r>
              <a:rPr lang="en-US" sz="2800" dirty="0">
                <a:latin typeface="Calibir"/>
              </a:rPr>
              <a:t>sex </a:t>
            </a:r>
          </a:p>
          <a:p>
            <a:pPr marL="914400" lvl="1" indent="-457200">
              <a:lnSpc>
                <a:spcPct val="150000"/>
              </a:lnSpc>
              <a:buFont typeface="Arial" panose="020B0604020202020204" pitchFamily="34" charset="0"/>
              <a:buChar char="•"/>
            </a:pPr>
            <a:r>
              <a:rPr lang="en-US" sz="2800" dirty="0" err="1">
                <a:latin typeface="Calibir"/>
              </a:rPr>
              <a:t>bmi</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children </a:t>
            </a:r>
          </a:p>
          <a:p>
            <a:pPr marL="914400" lvl="1" indent="-457200">
              <a:lnSpc>
                <a:spcPct val="150000"/>
              </a:lnSpc>
              <a:buFont typeface="Arial" panose="020B0604020202020204" pitchFamily="34" charset="0"/>
              <a:buChar char="•"/>
            </a:pPr>
            <a:r>
              <a:rPr lang="en-US" sz="2800" dirty="0">
                <a:latin typeface="Calibir"/>
              </a:rPr>
              <a:t>smoker </a:t>
            </a:r>
          </a:p>
          <a:p>
            <a:pPr marL="914400" lvl="1" indent="-457200">
              <a:lnSpc>
                <a:spcPct val="150000"/>
              </a:lnSpc>
              <a:buFont typeface="Arial" panose="020B0604020202020204" pitchFamily="34" charset="0"/>
              <a:buChar char="•"/>
            </a:pPr>
            <a:r>
              <a:rPr lang="en-US" sz="2800" dirty="0">
                <a:latin typeface="Calibir"/>
              </a:rPr>
              <a:t>region </a:t>
            </a:r>
          </a:p>
          <a:p>
            <a:pPr marL="914400" lvl="1" indent="-457200">
              <a:lnSpc>
                <a:spcPct val="150000"/>
              </a:lnSpc>
              <a:buFont typeface="Arial" panose="020B0604020202020204" pitchFamily="34" charset="0"/>
              <a:buChar char="•"/>
            </a:pPr>
            <a:r>
              <a:rPr lang="en-US" sz="2800" dirty="0">
                <a:latin typeface="Calibir"/>
              </a:rPr>
              <a:t>charges ← this is the value we want to predict</a:t>
            </a:r>
          </a:p>
        </p:txBody>
      </p:sp>
    </p:spTree>
    <p:extLst>
      <p:ext uri="{BB962C8B-B14F-4D97-AF65-F5344CB8AC3E}">
        <p14:creationId xmlns:p14="http://schemas.microsoft.com/office/powerpoint/2010/main" val="32773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9E63E-75F8-051F-DB09-78B88C100D9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7509BA50-4034-2183-1E36-1DFA90AD440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920751D-A7AA-ED0F-7825-BED173B05D5C}"/>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0D12C7C7-4823-36EF-8458-E2F676B41508}"/>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128F590E-987B-82EE-7EFF-F6F4EF60AF8E}"/>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9D104802-C7D0-104D-5F58-9CD99BC1C3E4}"/>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E803EB3D-D074-0819-1EF2-216338B64A9F}"/>
              </a:ext>
            </a:extLst>
          </p:cNvPr>
          <p:cNvSpPr txBox="1"/>
          <p:nvPr/>
        </p:nvSpPr>
        <p:spPr>
          <a:xfrm>
            <a:off x="6580493" y="2482041"/>
            <a:ext cx="5611507" cy="2607958"/>
          </a:xfrm>
          <a:prstGeom prst="rect">
            <a:avLst/>
          </a:prstGeom>
          <a:noFill/>
        </p:spPr>
        <p:txBody>
          <a:bodyPr wrap="square">
            <a:spAutoFit/>
          </a:bodyPr>
          <a:lstStyle/>
          <a:p>
            <a:pPr>
              <a:lnSpc>
                <a:spcPct val="150000"/>
              </a:lnSpc>
              <a:buNone/>
            </a:pPr>
            <a:r>
              <a:rPr lang="en-US" sz="2800" b="1" dirty="0">
                <a:latin typeface="Calibir"/>
              </a:rPr>
              <a:t>1. Import libraries</a:t>
            </a:r>
          </a:p>
          <a:p>
            <a:pPr>
              <a:lnSpc>
                <a:spcPct val="150000"/>
              </a:lnSpc>
              <a:buNone/>
            </a:pPr>
            <a:r>
              <a:rPr lang="en-US" sz="2800" dirty="0">
                <a:latin typeface="Calibir"/>
              </a:rPr>
              <a:t>These lines load the tools we need.</a:t>
            </a:r>
          </a:p>
          <a:p>
            <a:pPr rtl="0">
              <a:lnSpc>
                <a:spcPct val="150000"/>
              </a:lnSpc>
              <a:buNone/>
            </a:pPr>
            <a:r>
              <a:rPr lang="en-US" sz="2800" dirty="0">
                <a:latin typeface="Calibir"/>
              </a:rPr>
              <a:t>import pandas as pd</a:t>
            </a:r>
          </a:p>
          <a:p>
            <a:pPr>
              <a:lnSpc>
                <a:spcPct val="150000"/>
              </a:lnSpc>
              <a:buNone/>
            </a:pPr>
            <a:r>
              <a:rPr lang="en-US" sz="2800" dirty="0">
                <a:latin typeface="Calibir"/>
              </a:rPr>
              <a:t>Used to work with data tables.</a:t>
            </a:r>
          </a:p>
        </p:txBody>
      </p:sp>
    </p:spTree>
    <p:extLst>
      <p:ext uri="{BB962C8B-B14F-4D97-AF65-F5344CB8AC3E}">
        <p14:creationId xmlns:p14="http://schemas.microsoft.com/office/powerpoint/2010/main" val="3823288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4B00-78AD-D6E2-634A-DB4CD4AC5D3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12ABA01-47C6-FD61-53B8-0EF1571B24A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F48D3E0-F387-9F34-9FD9-D4C73236510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07E2CB86-AEC2-15D1-2490-149CF7778C28}"/>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B221E7FB-7BA4-14B2-8DEA-68B14D906D62}"/>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EA3BF04F-9539-ED53-825F-D56EC36300D4}"/>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40E733C6-DB83-9C3B-C1AF-3B75D911036B}"/>
              </a:ext>
            </a:extLst>
          </p:cNvPr>
          <p:cNvSpPr txBox="1"/>
          <p:nvPr/>
        </p:nvSpPr>
        <p:spPr>
          <a:xfrm>
            <a:off x="6580493" y="2482041"/>
            <a:ext cx="5611507" cy="2610843"/>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sklearn.model_selection</a:t>
            </a:r>
            <a:r>
              <a:rPr lang="en-US" sz="2800" dirty="0">
                <a:latin typeface="Calibir"/>
              </a:rPr>
              <a:t> import </a:t>
            </a:r>
            <a:r>
              <a:rPr lang="en-US" sz="2800" dirty="0" err="1">
                <a:latin typeface="Calibir"/>
              </a:rPr>
              <a:t>train_test_split</a:t>
            </a:r>
            <a:endParaRPr lang="en-US" sz="2800" dirty="0">
              <a:latin typeface="Calibir"/>
            </a:endParaRPr>
          </a:p>
          <a:p>
            <a:pPr>
              <a:lnSpc>
                <a:spcPct val="150000"/>
              </a:lnSpc>
            </a:pPr>
            <a:r>
              <a:rPr lang="en-US" sz="2800" dirty="0">
                <a:latin typeface="Calibir"/>
              </a:rPr>
              <a:t>Used to split the data into training and testing parts.</a:t>
            </a:r>
          </a:p>
        </p:txBody>
      </p:sp>
    </p:spTree>
    <p:extLst>
      <p:ext uri="{BB962C8B-B14F-4D97-AF65-F5344CB8AC3E}">
        <p14:creationId xmlns:p14="http://schemas.microsoft.com/office/powerpoint/2010/main" val="3971198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DFED8-B025-82C4-E9D2-B363B85BC368}"/>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D01FA44-23A2-8A24-6632-D39AED9E2FE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595766CE-3DBF-1F79-BF94-B1C9E0D678E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93AAF207-3C03-401D-838B-9FD6F14CBF83}"/>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BAEF9672-6A4F-FA22-1DBF-9C54D886731E}"/>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E72CF793-084B-5AF2-E67D-A5A41B3FF6E5}"/>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38DD73D5-3341-0E9B-34DB-CAB319A31ED6}"/>
              </a:ext>
            </a:extLst>
          </p:cNvPr>
          <p:cNvSpPr txBox="1"/>
          <p:nvPr/>
        </p:nvSpPr>
        <p:spPr>
          <a:xfrm>
            <a:off x="6580493" y="2482041"/>
            <a:ext cx="5611507" cy="2610843"/>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sklearn.compose</a:t>
            </a:r>
            <a:r>
              <a:rPr lang="en-US" sz="2800" dirty="0">
                <a:latin typeface="Calibir"/>
              </a:rPr>
              <a:t> import </a:t>
            </a:r>
            <a:r>
              <a:rPr lang="en-US" sz="2800" dirty="0" err="1">
                <a:latin typeface="Calibir"/>
              </a:rPr>
              <a:t>ColumnTransformer</a:t>
            </a:r>
            <a:endParaRPr lang="en-US" sz="2800" dirty="0">
              <a:latin typeface="Calibir"/>
            </a:endParaRPr>
          </a:p>
          <a:p>
            <a:pPr>
              <a:lnSpc>
                <a:spcPct val="150000"/>
              </a:lnSpc>
            </a:pPr>
            <a:r>
              <a:rPr lang="en-US" sz="2800" dirty="0">
                <a:latin typeface="Calibir"/>
              </a:rPr>
              <a:t>Used to apply different steps to numeric columns and text columns.</a:t>
            </a:r>
          </a:p>
        </p:txBody>
      </p:sp>
    </p:spTree>
    <p:extLst>
      <p:ext uri="{BB962C8B-B14F-4D97-AF65-F5344CB8AC3E}">
        <p14:creationId xmlns:p14="http://schemas.microsoft.com/office/powerpoint/2010/main" val="219955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35CC-A893-E3B7-C0D1-17C386F45BA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6B4F177-7032-5DFD-FB43-8C5F81FDBD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B0EF795-E539-4701-50C1-D6253D1A0E5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0991A309-51D6-EBB8-EF0D-BAF1AB6C70AD}"/>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DD18E771-B9B9-F78D-AD9A-E140ED91BFE5}"/>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A12A854D-F391-1AA9-8501-07F12E3854C8}"/>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1F86BA72-DCC5-5645-97CC-EF02946E82E8}"/>
              </a:ext>
            </a:extLst>
          </p:cNvPr>
          <p:cNvSpPr txBox="1"/>
          <p:nvPr/>
        </p:nvSpPr>
        <p:spPr>
          <a:xfrm>
            <a:off x="6580493" y="2482041"/>
            <a:ext cx="5611507" cy="1318181"/>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sklearn.pipeline</a:t>
            </a:r>
            <a:r>
              <a:rPr lang="en-US" sz="2800" dirty="0">
                <a:latin typeface="Calibir"/>
              </a:rPr>
              <a:t> import Pipeline</a:t>
            </a:r>
          </a:p>
          <a:p>
            <a:pPr>
              <a:lnSpc>
                <a:spcPct val="150000"/>
              </a:lnSpc>
            </a:pPr>
            <a:r>
              <a:rPr lang="en-US" sz="2800" dirty="0">
                <a:latin typeface="Calibir"/>
              </a:rPr>
              <a:t>Used to combine steps into one flow.</a:t>
            </a:r>
          </a:p>
        </p:txBody>
      </p:sp>
    </p:spTree>
    <p:extLst>
      <p:ext uri="{BB962C8B-B14F-4D97-AF65-F5344CB8AC3E}">
        <p14:creationId xmlns:p14="http://schemas.microsoft.com/office/powerpoint/2010/main" val="2663687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783B-EAE5-E97D-CE46-6E53504F3F9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084C6F9-35E0-7807-FAB9-94A38490076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7A96B93-8ABC-A207-3F8F-17BA592E9295}"/>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8E80D21-7A08-B2F2-22A1-723CED280B6B}"/>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44462F53-7DF2-443C-FF0C-CF65A466B157}"/>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0DF82459-D799-C181-FD33-96DD5EB5CA9E}"/>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85EF6EE8-C1D1-51AE-76DE-D144AD522278}"/>
              </a:ext>
            </a:extLst>
          </p:cNvPr>
          <p:cNvSpPr txBox="1"/>
          <p:nvPr/>
        </p:nvSpPr>
        <p:spPr>
          <a:xfrm>
            <a:off x="6580493" y="2482041"/>
            <a:ext cx="5611507" cy="1964512"/>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sklearn.impute</a:t>
            </a:r>
            <a:r>
              <a:rPr lang="en-US" sz="2800" dirty="0">
                <a:latin typeface="Calibir"/>
              </a:rPr>
              <a:t> import </a:t>
            </a:r>
            <a:r>
              <a:rPr lang="en-US" sz="2800" dirty="0" err="1">
                <a:latin typeface="Calibir"/>
              </a:rPr>
              <a:t>SimpleImputer</a:t>
            </a:r>
            <a:endParaRPr lang="en-US" sz="2800" dirty="0">
              <a:latin typeface="Calibir"/>
            </a:endParaRPr>
          </a:p>
          <a:p>
            <a:pPr>
              <a:lnSpc>
                <a:spcPct val="150000"/>
              </a:lnSpc>
            </a:pPr>
            <a:r>
              <a:rPr lang="en-US" sz="2800" dirty="0">
                <a:latin typeface="Calibir"/>
              </a:rPr>
              <a:t>Used to fill missing values if needed.</a:t>
            </a:r>
          </a:p>
        </p:txBody>
      </p:sp>
    </p:spTree>
    <p:extLst>
      <p:ext uri="{BB962C8B-B14F-4D97-AF65-F5344CB8AC3E}">
        <p14:creationId xmlns:p14="http://schemas.microsoft.com/office/powerpoint/2010/main" val="42363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48EA-C418-87AE-C9BA-6A71A97DD9F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29F7E379-A853-E856-679F-6715C1D56B0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58AC4773-1495-8E5E-FEFE-4586D76695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86F7339-549E-F520-8DD3-B6AB9F26C145}"/>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AE305012-59A3-3AB5-D1CE-0EF7FFBCC191}"/>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791E8625-414B-0B70-0626-DAE30E6DA88E}"/>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3889DF47-F0E3-ED42-5CCB-7DAA5D5B0E4A}"/>
              </a:ext>
            </a:extLst>
          </p:cNvPr>
          <p:cNvSpPr txBox="1"/>
          <p:nvPr/>
        </p:nvSpPr>
        <p:spPr>
          <a:xfrm>
            <a:off x="6580493" y="2482041"/>
            <a:ext cx="5611507" cy="1961627"/>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sklearn.preprocessing</a:t>
            </a:r>
            <a:r>
              <a:rPr lang="en-US" sz="2800" dirty="0">
                <a:latin typeface="Calibir"/>
              </a:rPr>
              <a:t> import </a:t>
            </a:r>
            <a:r>
              <a:rPr lang="en-US" sz="2800" dirty="0" err="1">
                <a:latin typeface="Calibir"/>
              </a:rPr>
              <a:t>OneHotEncoder</a:t>
            </a:r>
            <a:endParaRPr lang="en-US" sz="2800" dirty="0">
              <a:latin typeface="Calibir"/>
            </a:endParaRPr>
          </a:p>
          <a:p>
            <a:pPr>
              <a:lnSpc>
                <a:spcPct val="150000"/>
              </a:lnSpc>
            </a:pPr>
            <a:r>
              <a:rPr lang="en-US" sz="2800" dirty="0">
                <a:latin typeface="Calibir"/>
              </a:rPr>
              <a:t>Used to turn text into numbers.</a:t>
            </a:r>
          </a:p>
        </p:txBody>
      </p:sp>
    </p:spTree>
    <p:extLst>
      <p:ext uri="{BB962C8B-B14F-4D97-AF65-F5344CB8AC3E}">
        <p14:creationId xmlns:p14="http://schemas.microsoft.com/office/powerpoint/2010/main" val="3896550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E846D-3AA9-8C6D-43BF-4366425CB5F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E5A0EC7-78BB-4877-9CB7-2C866D3C5CB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54A49219-B7B1-D472-D632-38B934AE137B}"/>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654F855-9FAE-3020-EF6B-8A68428D78E7}"/>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7F543A71-4CBB-5D88-95B2-CE82F15A6EC8}"/>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30DCF6AB-BAB6-A552-54EB-608B41D9B88E}"/>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0C8B0297-BA06-5CB3-5621-3B51A89B0C5B}"/>
              </a:ext>
            </a:extLst>
          </p:cNvPr>
          <p:cNvSpPr txBox="1"/>
          <p:nvPr/>
        </p:nvSpPr>
        <p:spPr>
          <a:xfrm>
            <a:off x="6580493" y="2482041"/>
            <a:ext cx="5611507" cy="1961627"/>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sklearn.ensemble</a:t>
            </a:r>
            <a:r>
              <a:rPr lang="en-US" sz="2800" dirty="0">
                <a:latin typeface="Calibir"/>
              </a:rPr>
              <a:t> import </a:t>
            </a:r>
            <a:r>
              <a:rPr lang="en-US" sz="2800" dirty="0" err="1">
                <a:latin typeface="Calibir"/>
              </a:rPr>
              <a:t>RandomForestRegressor</a:t>
            </a:r>
            <a:endParaRPr lang="en-US" sz="2800" dirty="0">
              <a:latin typeface="Calibir"/>
            </a:endParaRPr>
          </a:p>
          <a:p>
            <a:pPr>
              <a:lnSpc>
                <a:spcPct val="150000"/>
              </a:lnSpc>
            </a:pPr>
            <a:r>
              <a:rPr lang="en-US" sz="2800" dirty="0">
                <a:latin typeface="Calibir"/>
              </a:rPr>
              <a:t>This is the regression model.</a:t>
            </a:r>
          </a:p>
        </p:txBody>
      </p:sp>
    </p:spTree>
    <p:extLst>
      <p:ext uri="{BB962C8B-B14F-4D97-AF65-F5344CB8AC3E}">
        <p14:creationId xmlns:p14="http://schemas.microsoft.com/office/powerpoint/2010/main" val="1299731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2F86-2236-DE51-06B1-041EFF70B50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72439638-9A21-50BA-3350-6568B279BE6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8DC15B1-0E3C-FCD2-7B3F-CF5BB0D492C5}"/>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773C6F5B-C6B1-1D3A-32F7-3773491FBA75}"/>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0560DE41-4DD8-1687-023E-74E4BE80036C}"/>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2AB16A8F-F07D-5326-C8B7-CF34248DD1FA}"/>
              </a:ext>
            </a:extLst>
          </p:cNvPr>
          <p:cNvSpPr txBox="1"/>
          <p:nvPr/>
        </p:nvSpPr>
        <p:spPr>
          <a:xfrm>
            <a:off x="126124" y="1045898"/>
            <a:ext cx="6427076" cy="4247317"/>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EXAMPLE (WEEK 5) - MEDICAL INSURANCE CHARGES</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Import libraries</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p:txBody>
      </p:sp>
      <p:sp>
        <p:nvSpPr>
          <p:cNvPr id="9" name="TextBox 8">
            <a:extLst>
              <a:ext uri="{FF2B5EF4-FFF2-40B4-BE49-F238E27FC236}">
                <a16:creationId xmlns:a16="http://schemas.microsoft.com/office/drawing/2014/main" id="{E03C2D19-907E-C9F8-A4FF-35B5E33B88A3}"/>
              </a:ext>
            </a:extLst>
          </p:cNvPr>
          <p:cNvSpPr txBox="1"/>
          <p:nvPr/>
        </p:nvSpPr>
        <p:spPr>
          <a:xfrm>
            <a:off x="6580493" y="2482041"/>
            <a:ext cx="5611507" cy="2610843"/>
          </a:xfrm>
          <a:prstGeom prst="rect">
            <a:avLst/>
          </a:prstGeom>
          <a:noFill/>
        </p:spPr>
        <p:txBody>
          <a:bodyPr wrap="square">
            <a:spAutoFit/>
          </a:bodyPr>
          <a:lstStyle/>
          <a:p>
            <a:pPr>
              <a:lnSpc>
                <a:spcPct val="150000"/>
              </a:lnSpc>
            </a:pPr>
            <a:r>
              <a:rPr lang="en-US" sz="2800" dirty="0">
                <a:latin typeface="Calibir"/>
              </a:rPr>
              <a:t>from </a:t>
            </a:r>
            <a:r>
              <a:rPr lang="en-US" sz="2800" dirty="0" err="1">
                <a:latin typeface="Calibir"/>
              </a:rPr>
              <a:t>sklearn.metrics</a:t>
            </a:r>
            <a:r>
              <a:rPr lang="en-US" sz="2800" dirty="0">
                <a:latin typeface="Calibir"/>
              </a:rPr>
              <a:t> import </a:t>
            </a:r>
            <a:r>
              <a:rPr lang="en-US" sz="2800" dirty="0" err="1">
                <a:latin typeface="Calibir"/>
              </a:rPr>
              <a:t>mean_absolute_error</a:t>
            </a:r>
            <a:r>
              <a:rPr lang="en-US" sz="2800" dirty="0">
                <a:latin typeface="Calibir"/>
              </a:rPr>
              <a:t>, r2_score</a:t>
            </a:r>
          </a:p>
          <a:p>
            <a:pPr>
              <a:lnSpc>
                <a:spcPct val="150000"/>
              </a:lnSpc>
            </a:pPr>
            <a:r>
              <a:rPr lang="en-US" sz="2800" dirty="0">
                <a:latin typeface="Calibir"/>
              </a:rPr>
              <a:t>These measure how well the model performs.</a:t>
            </a:r>
          </a:p>
        </p:txBody>
      </p:sp>
    </p:spTree>
    <p:extLst>
      <p:ext uri="{BB962C8B-B14F-4D97-AF65-F5344CB8AC3E}">
        <p14:creationId xmlns:p14="http://schemas.microsoft.com/office/powerpoint/2010/main" val="20497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930A8-5778-D5C4-EED8-4F12C9B2892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6C9C461-7F48-616B-E2D3-F3316A3EA47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CD0006B-65CF-D10E-3D7F-117B619EAD4B}"/>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60937B7-A4EF-DFF8-FFBF-B84C43D1D8AB}"/>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A67A786A-64FD-C7AD-527E-AF67C37CE05A}"/>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D7F9B27C-B5BE-0179-710C-E7717149B3BC}"/>
              </a:ext>
            </a:extLst>
          </p:cNvPr>
          <p:cNvSpPr txBox="1"/>
          <p:nvPr/>
        </p:nvSpPr>
        <p:spPr>
          <a:xfrm>
            <a:off x="126124" y="1045898"/>
            <a:ext cx="6427076" cy="4801314"/>
          </a:xfrm>
          <a:prstGeom prst="rect">
            <a:avLst/>
          </a:prstGeom>
          <a:noFill/>
        </p:spPr>
        <p:txBody>
          <a:bodyPr wrap="square">
            <a:spAutoFit/>
          </a:bodyPr>
          <a:lstStyle/>
          <a:p>
            <a:pPr>
              <a:buNone/>
            </a:pP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2. Load data</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 = </a:t>
            </a:r>
            <a:r>
              <a:rPr lang="en-US" dirty="0">
                <a:solidFill>
                  <a:srgbClr val="A31515"/>
                </a:solidFill>
                <a:latin typeface="Courier New" panose="02070309020205020404" pitchFamily="49" charset="0"/>
              </a:rPr>
              <a:t>"https://raw.githubusercontent.com/</a:t>
            </a:r>
            <a:r>
              <a:rPr lang="en-US" dirty="0" err="1">
                <a:solidFill>
                  <a:srgbClr val="A31515"/>
                </a:solidFill>
                <a:latin typeface="Courier New" panose="02070309020205020404" pitchFamily="49" charset="0"/>
              </a:rPr>
              <a:t>stedy</a:t>
            </a:r>
            <a:r>
              <a:rPr lang="en-US" dirty="0">
                <a:solidFill>
                  <a:srgbClr val="A31515"/>
                </a:solidFill>
                <a:latin typeface="Courier New" panose="02070309020205020404" pitchFamily="49" charset="0"/>
              </a:rPr>
              <a:t>/Machine-Learning-with-R-datasets/master/insurance.csv"</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pd.read_csv</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3. Quick look at the data</a:t>
            </a: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"Shape:"</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df.shape</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df.head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4. Split input and target</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X = </a:t>
            </a:r>
            <a:r>
              <a:rPr lang="en-US" dirty="0" err="1">
                <a:solidFill>
                  <a:srgbClr val="000000"/>
                </a:solidFill>
                <a:latin typeface="Courier New" panose="02070309020205020404" pitchFamily="49" charset="0"/>
              </a:rPr>
              <a:t>df.drop</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 axis=</a:t>
            </a:r>
            <a:r>
              <a:rPr lang="en-US" dirty="0">
                <a:solidFill>
                  <a:srgbClr val="116644"/>
                </a:solidFill>
                <a:latin typeface="Courier New" panose="02070309020205020404" pitchFamily="49" charset="0"/>
              </a:rPr>
              <a:t>1</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y = </a:t>
            </a: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7EAD08A7-F2A7-9DEA-2682-18E7CAEE8830}"/>
              </a:ext>
            </a:extLst>
          </p:cNvPr>
          <p:cNvSpPr txBox="1"/>
          <p:nvPr/>
        </p:nvSpPr>
        <p:spPr>
          <a:xfrm>
            <a:off x="5635580" y="2379646"/>
            <a:ext cx="6430296" cy="2610843"/>
          </a:xfrm>
          <a:prstGeom prst="rect">
            <a:avLst/>
          </a:prstGeom>
          <a:noFill/>
        </p:spPr>
        <p:txBody>
          <a:bodyPr wrap="square">
            <a:spAutoFit/>
          </a:bodyPr>
          <a:lstStyle/>
          <a:p>
            <a:pPr>
              <a:lnSpc>
                <a:spcPct val="150000"/>
              </a:lnSpc>
              <a:buNone/>
            </a:pPr>
            <a:r>
              <a:rPr lang="en-US" sz="2800" b="1" dirty="0">
                <a:latin typeface="Calibir"/>
              </a:rPr>
              <a:t>2. Load data</a:t>
            </a:r>
          </a:p>
          <a:p>
            <a:pPr rtl="0">
              <a:lnSpc>
                <a:spcPct val="150000"/>
              </a:lnSpc>
              <a:buNone/>
            </a:pPr>
            <a:r>
              <a:rPr lang="en-US" sz="2800" dirty="0" err="1">
                <a:latin typeface="Calibir"/>
              </a:rPr>
              <a:t>df</a:t>
            </a:r>
            <a:r>
              <a:rPr lang="en-US" sz="2800" dirty="0">
                <a:latin typeface="Calibir"/>
              </a:rPr>
              <a:t> = </a:t>
            </a:r>
            <a:r>
              <a:rPr lang="en-US" sz="2800" dirty="0" err="1">
                <a:latin typeface="Calibir"/>
              </a:rPr>
              <a:t>pd.read_csv</a:t>
            </a:r>
            <a:r>
              <a:rPr lang="en-US" sz="2800" dirty="0">
                <a:latin typeface="Calibir"/>
              </a:rPr>
              <a:t>(</a:t>
            </a:r>
            <a:r>
              <a:rPr lang="en-US" sz="2800" dirty="0" err="1">
                <a:latin typeface="Calibir"/>
              </a:rPr>
              <a:t>url</a:t>
            </a:r>
            <a:r>
              <a:rPr lang="en-US" sz="2800" dirty="0">
                <a:latin typeface="Calibir"/>
              </a:rPr>
              <a:t>)</a:t>
            </a:r>
          </a:p>
          <a:p>
            <a:pPr>
              <a:lnSpc>
                <a:spcPct val="150000"/>
              </a:lnSpc>
              <a:buNone/>
            </a:pPr>
            <a:r>
              <a:rPr lang="en-US" sz="2800" dirty="0">
                <a:latin typeface="Calibir"/>
              </a:rPr>
              <a:t>Loads the dataset from the internet into a table.</a:t>
            </a:r>
          </a:p>
        </p:txBody>
      </p:sp>
    </p:spTree>
    <p:extLst>
      <p:ext uri="{BB962C8B-B14F-4D97-AF65-F5344CB8AC3E}">
        <p14:creationId xmlns:p14="http://schemas.microsoft.com/office/powerpoint/2010/main" val="303721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33DB-84FD-3272-9900-71A33F8F515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89BB787-418A-BCA2-3648-5D8EB0B4E93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967548F-71A5-A8D0-59FF-4809516318C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6F81E791-D587-9C29-94F8-9B9DC277D8D2}"/>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B47FD7B0-116A-979A-FB5A-F94ED0164788}"/>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E9181D8A-3C72-B1A7-C5D5-76C139799DB1}"/>
              </a:ext>
            </a:extLst>
          </p:cNvPr>
          <p:cNvSpPr txBox="1"/>
          <p:nvPr/>
        </p:nvSpPr>
        <p:spPr>
          <a:xfrm>
            <a:off x="126124" y="1045898"/>
            <a:ext cx="6427076" cy="4801314"/>
          </a:xfrm>
          <a:prstGeom prst="rect">
            <a:avLst/>
          </a:prstGeom>
          <a:noFill/>
        </p:spPr>
        <p:txBody>
          <a:bodyPr wrap="square">
            <a:spAutoFit/>
          </a:bodyPr>
          <a:lstStyle/>
          <a:p>
            <a:pPr>
              <a:buNone/>
            </a:pP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2. Load data</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 = </a:t>
            </a:r>
            <a:r>
              <a:rPr lang="en-US" dirty="0">
                <a:solidFill>
                  <a:srgbClr val="A31515"/>
                </a:solidFill>
                <a:latin typeface="Courier New" panose="02070309020205020404" pitchFamily="49" charset="0"/>
              </a:rPr>
              <a:t>"https://raw.githubusercontent.com/</a:t>
            </a:r>
            <a:r>
              <a:rPr lang="en-US" dirty="0" err="1">
                <a:solidFill>
                  <a:srgbClr val="A31515"/>
                </a:solidFill>
                <a:latin typeface="Courier New" panose="02070309020205020404" pitchFamily="49" charset="0"/>
              </a:rPr>
              <a:t>stedy</a:t>
            </a:r>
            <a:r>
              <a:rPr lang="en-US" dirty="0">
                <a:solidFill>
                  <a:srgbClr val="A31515"/>
                </a:solidFill>
                <a:latin typeface="Courier New" panose="02070309020205020404" pitchFamily="49" charset="0"/>
              </a:rPr>
              <a:t>/Machine-Learning-with-R-datasets/master/insurance.csv"</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pd.read_csv</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3. Quick look at the data</a:t>
            </a: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"Shape:"</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df.shape</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df.head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4. Split input and target</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X = </a:t>
            </a:r>
            <a:r>
              <a:rPr lang="en-US" dirty="0" err="1">
                <a:solidFill>
                  <a:srgbClr val="000000"/>
                </a:solidFill>
                <a:latin typeface="Courier New" panose="02070309020205020404" pitchFamily="49" charset="0"/>
              </a:rPr>
              <a:t>df.drop</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 axis=</a:t>
            </a:r>
            <a:r>
              <a:rPr lang="en-US" dirty="0">
                <a:solidFill>
                  <a:srgbClr val="116644"/>
                </a:solidFill>
                <a:latin typeface="Courier New" panose="02070309020205020404" pitchFamily="49" charset="0"/>
              </a:rPr>
              <a:t>1</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y = </a:t>
            </a: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F403A33A-CAC9-719C-5DAB-157F35246A21}"/>
              </a:ext>
            </a:extLst>
          </p:cNvPr>
          <p:cNvSpPr txBox="1"/>
          <p:nvPr/>
        </p:nvSpPr>
        <p:spPr>
          <a:xfrm>
            <a:off x="5635580" y="2379646"/>
            <a:ext cx="6430296" cy="3903504"/>
          </a:xfrm>
          <a:prstGeom prst="rect">
            <a:avLst/>
          </a:prstGeom>
          <a:noFill/>
        </p:spPr>
        <p:txBody>
          <a:bodyPr wrap="square">
            <a:spAutoFit/>
          </a:bodyPr>
          <a:lstStyle/>
          <a:p>
            <a:pPr>
              <a:lnSpc>
                <a:spcPct val="150000"/>
              </a:lnSpc>
            </a:pPr>
            <a:r>
              <a:rPr lang="en-US" sz="2800" b="1" dirty="0">
                <a:latin typeface="Calibir"/>
              </a:rPr>
              <a:t>3. Show data</a:t>
            </a:r>
          </a:p>
          <a:p>
            <a:pPr>
              <a:lnSpc>
                <a:spcPct val="150000"/>
              </a:lnSpc>
            </a:pPr>
            <a:r>
              <a:rPr lang="en-US" sz="2800" dirty="0">
                <a:latin typeface="Calibir"/>
              </a:rPr>
              <a:t>print("Shape:", </a:t>
            </a:r>
            <a:r>
              <a:rPr lang="en-US" sz="2800" dirty="0" err="1">
                <a:latin typeface="Calibir"/>
              </a:rPr>
              <a:t>df.shape</a:t>
            </a:r>
            <a:r>
              <a:rPr lang="en-US" sz="2800" dirty="0">
                <a:latin typeface="Calibir"/>
              </a:rPr>
              <a:t>)</a:t>
            </a:r>
            <a:br>
              <a:rPr lang="en-US" sz="2800" dirty="0">
                <a:latin typeface="Calibir"/>
              </a:rPr>
            </a:br>
            <a:r>
              <a:rPr lang="en-US" sz="2800" dirty="0">
                <a:latin typeface="Calibir"/>
              </a:rPr>
              <a:t>print(</a:t>
            </a:r>
            <a:r>
              <a:rPr lang="en-US" sz="2800" dirty="0" err="1">
                <a:latin typeface="Calibir"/>
              </a:rPr>
              <a:t>df.head</a:t>
            </a:r>
            <a:r>
              <a:rPr lang="en-US" sz="2800" dirty="0">
                <a:latin typeface="Calibir"/>
              </a:rPr>
              <a:t>())</a:t>
            </a:r>
          </a:p>
          <a:p>
            <a:pPr>
              <a:lnSpc>
                <a:spcPct val="150000"/>
              </a:lnSpc>
            </a:pPr>
            <a:r>
              <a:rPr lang="en-US" sz="2800" dirty="0">
                <a:latin typeface="Calibir"/>
              </a:rPr>
              <a:t>Shows:</a:t>
            </a:r>
          </a:p>
          <a:p>
            <a:pPr>
              <a:lnSpc>
                <a:spcPct val="150000"/>
              </a:lnSpc>
            </a:pPr>
            <a:r>
              <a:rPr lang="en-US" sz="2800" dirty="0">
                <a:latin typeface="Calibir"/>
              </a:rPr>
              <a:t>how many rows and columns there are </a:t>
            </a:r>
          </a:p>
          <a:p>
            <a:pPr>
              <a:lnSpc>
                <a:spcPct val="150000"/>
              </a:lnSpc>
            </a:pPr>
            <a:r>
              <a:rPr lang="en-US" sz="2800" dirty="0">
                <a:latin typeface="Calibir"/>
              </a:rPr>
              <a:t>the first 5 rows</a:t>
            </a:r>
          </a:p>
        </p:txBody>
      </p:sp>
    </p:spTree>
    <p:extLst>
      <p:ext uri="{BB962C8B-B14F-4D97-AF65-F5344CB8AC3E}">
        <p14:creationId xmlns:p14="http://schemas.microsoft.com/office/powerpoint/2010/main" val="102785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1FBA9-88DA-55D1-04B2-19B7209842F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1FD72BB0-E19C-0778-D62D-562F0716C43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F3203F4-54A7-0D9C-3A4F-204F4E80D7A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F37744D-C9E9-38CF-18B0-91EA57A2E705}"/>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B41DC09E-1549-9FC2-40BA-9BC7A8740E01}"/>
              </a:ext>
            </a:extLst>
          </p:cNvPr>
          <p:cNvSpPr txBox="1"/>
          <p:nvPr/>
        </p:nvSpPr>
        <p:spPr>
          <a:xfrm>
            <a:off x="126124" y="1045898"/>
            <a:ext cx="6427076" cy="4801314"/>
          </a:xfrm>
          <a:prstGeom prst="rect">
            <a:avLst/>
          </a:prstGeom>
          <a:noFill/>
        </p:spPr>
        <p:txBody>
          <a:bodyPr wrap="square">
            <a:spAutoFit/>
          </a:bodyPr>
          <a:lstStyle/>
          <a:p>
            <a:pPr>
              <a:buNone/>
            </a:pP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2. Load data</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 = </a:t>
            </a:r>
            <a:r>
              <a:rPr lang="en-US" dirty="0">
                <a:solidFill>
                  <a:srgbClr val="A31515"/>
                </a:solidFill>
                <a:latin typeface="Courier New" panose="02070309020205020404" pitchFamily="49" charset="0"/>
              </a:rPr>
              <a:t>"https://raw.githubusercontent.com/</a:t>
            </a:r>
            <a:r>
              <a:rPr lang="en-US" dirty="0" err="1">
                <a:solidFill>
                  <a:srgbClr val="A31515"/>
                </a:solidFill>
                <a:latin typeface="Courier New" panose="02070309020205020404" pitchFamily="49" charset="0"/>
              </a:rPr>
              <a:t>stedy</a:t>
            </a:r>
            <a:r>
              <a:rPr lang="en-US" dirty="0">
                <a:solidFill>
                  <a:srgbClr val="A31515"/>
                </a:solidFill>
                <a:latin typeface="Courier New" panose="02070309020205020404" pitchFamily="49" charset="0"/>
              </a:rPr>
              <a:t>/Machine-Learning-with-R-datasets/master/insurance.csv"</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pd.read_csv</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3. Quick look at the data</a:t>
            </a: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"Shape:"</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df.shape</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df.head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4. Split input and target</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X = </a:t>
            </a:r>
            <a:r>
              <a:rPr lang="en-US" dirty="0" err="1">
                <a:solidFill>
                  <a:srgbClr val="000000"/>
                </a:solidFill>
                <a:latin typeface="Courier New" panose="02070309020205020404" pitchFamily="49" charset="0"/>
              </a:rPr>
              <a:t>df.drop</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 axis=</a:t>
            </a:r>
            <a:r>
              <a:rPr lang="en-US" dirty="0">
                <a:solidFill>
                  <a:srgbClr val="116644"/>
                </a:solidFill>
                <a:latin typeface="Courier New" panose="02070309020205020404" pitchFamily="49" charset="0"/>
              </a:rPr>
              <a:t>1</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y = </a:t>
            </a: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"charges"</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10C68C7D-62A3-A804-6DE8-CBD33685897B}"/>
              </a:ext>
            </a:extLst>
          </p:cNvPr>
          <p:cNvSpPr txBox="1"/>
          <p:nvPr/>
        </p:nvSpPr>
        <p:spPr>
          <a:xfrm>
            <a:off x="4513006" y="2379646"/>
            <a:ext cx="7552870" cy="4549835"/>
          </a:xfrm>
          <a:prstGeom prst="rect">
            <a:avLst/>
          </a:prstGeom>
          <a:noFill/>
        </p:spPr>
        <p:txBody>
          <a:bodyPr wrap="square">
            <a:spAutoFit/>
          </a:bodyPr>
          <a:lstStyle/>
          <a:p>
            <a:pPr>
              <a:lnSpc>
                <a:spcPct val="150000"/>
              </a:lnSpc>
            </a:pPr>
            <a:r>
              <a:rPr lang="en-US" sz="2800" b="1" dirty="0">
                <a:latin typeface="Calibir"/>
              </a:rPr>
              <a:t>4. Split input and target</a:t>
            </a:r>
          </a:p>
          <a:p>
            <a:pPr>
              <a:lnSpc>
                <a:spcPct val="150000"/>
              </a:lnSpc>
            </a:pPr>
            <a:r>
              <a:rPr lang="en-US" sz="2800" dirty="0">
                <a:latin typeface="Calibir"/>
              </a:rPr>
              <a:t>X = </a:t>
            </a:r>
            <a:r>
              <a:rPr lang="en-US" sz="2800" dirty="0" err="1">
                <a:latin typeface="Calibir"/>
              </a:rPr>
              <a:t>df.drop</a:t>
            </a:r>
            <a:r>
              <a:rPr lang="en-US" sz="2800" dirty="0">
                <a:latin typeface="Calibir"/>
              </a:rPr>
              <a:t>("charges", axis=1)</a:t>
            </a:r>
            <a:br>
              <a:rPr lang="en-US" sz="2800" dirty="0">
                <a:latin typeface="Calibir"/>
              </a:rPr>
            </a:br>
            <a:r>
              <a:rPr lang="en-US" sz="2800" dirty="0">
                <a:latin typeface="Calibir"/>
              </a:rPr>
              <a:t>y = </a:t>
            </a:r>
            <a:r>
              <a:rPr lang="en-US" sz="2800" dirty="0" err="1">
                <a:latin typeface="Calibir"/>
              </a:rPr>
              <a:t>df</a:t>
            </a:r>
            <a:r>
              <a:rPr lang="en-US" sz="2800" dirty="0">
                <a:latin typeface="Calibir"/>
              </a:rPr>
              <a:t>["charges"]</a:t>
            </a:r>
          </a:p>
          <a:p>
            <a:pPr>
              <a:lnSpc>
                <a:spcPct val="150000"/>
              </a:lnSpc>
            </a:pPr>
            <a:r>
              <a:rPr lang="en-US" sz="2800" dirty="0">
                <a:latin typeface="Calibir"/>
              </a:rPr>
              <a:t>X = input features</a:t>
            </a:r>
            <a:br>
              <a:rPr lang="en-US" sz="2800" dirty="0">
                <a:latin typeface="Calibir"/>
              </a:rPr>
            </a:br>
            <a:r>
              <a:rPr lang="en-US" sz="2800" dirty="0">
                <a:latin typeface="Calibir"/>
              </a:rPr>
              <a:t>y = target we want to predict</a:t>
            </a:r>
          </a:p>
          <a:p>
            <a:pPr>
              <a:lnSpc>
                <a:spcPct val="150000"/>
              </a:lnSpc>
            </a:pPr>
            <a:r>
              <a:rPr lang="en-US" sz="2800" dirty="0">
                <a:latin typeface="Calibir"/>
              </a:rPr>
              <a:t>So the model uses age, </a:t>
            </a:r>
            <a:r>
              <a:rPr lang="en-US" sz="2800" dirty="0" err="1">
                <a:latin typeface="Calibir"/>
              </a:rPr>
              <a:t>bmi</a:t>
            </a:r>
            <a:r>
              <a:rPr lang="en-US" sz="2800" dirty="0">
                <a:latin typeface="Calibir"/>
              </a:rPr>
              <a:t>, smoker, and other details to predict charges.</a:t>
            </a:r>
          </a:p>
        </p:txBody>
      </p:sp>
    </p:spTree>
    <p:extLst>
      <p:ext uri="{BB962C8B-B14F-4D97-AF65-F5344CB8AC3E}">
        <p14:creationId xmlns:p14="http://schemas.microsoft.com/office/powerpoint/2010/main" val="468199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03D7-DA6A-7F41-588A-D2080550789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F099E62-B81C-D29D-4A46-6896FED6249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41832A8-D93D-E1D8-03BD-815C38A91C7B}"/>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6FB56EF2-126F-0EC0-F9B0-D22E719116AE}"/>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D39C27CF-5F23-5DF7-4971-4D0BDF63BFDA}"/>
              </a:ext>
            </a:extLst>
          </p:cNvPr>
          <p:cNvSpPr txBox="1"/>
          <p:nvPr/>
        </p:nvSpPr>
        <p:spPr>
          <a:xfrm>
            <a:off x="126124" y="1045898"/>
            <a:ext cx="6427076" cy="4247317"/>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5. Separate numeric and categorical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"int64"</a:t>
            </a: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"float64"</a:t>
            </a:r>
            <a:r>
              <a:rPr lang="en-US" dirty="0">
                <a:solidFill>
                  <a:srgbClr val="000000"/>
                </a:solidFill>
                <a:latin typeface="Courier New" panose="02070309020205020404" pitchFamily="49" charset="0"/>
              </a:rPr>
              <a:t>]).columns</a:t>
            </a:r>
          </a:p>
          <a:p>
            <a:pPr>
              <a:buNone/>
            </a:pP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"object"</a:t>
            </a:r>
            <a:r>
              <a:rPr lang="en-US" dirty="0">
                <a:solidFill>
                  <a:srgbClr val="000000"/>
                </a:solidFill>
                <a:latin typeface="Courier New" panose="02070309020205020404" pitchFamily="49" charset="0"/>
              </a:rPr>
              <a:t>]).columns</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6. Preprocessing for numeric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"median"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p:txBody>
      </p:sp>
      <p:sp>
        <p:nvSpPr>
          <p:cNvPr id="5" name="TextBox 4">
            <a:extLst>
              <a:ext uri="{FF2B5EF4-FFF2-40B4-BE49-F238E27FC236}">
                <a16:creationId xmlns:a16="http://schemas.microsoft.com/office/drawing/2014/main" id="{7AF5EFEE-812A-0CFE-A340-C7200D19DEA6}"/>
              </a:ext>
            </a:extLst>
          </p:cNvPr>
          <p:cNvSpPr txBox="1"/>
          <p:nvPr/>
        </p:nvSpPr>
        <p:spPr>
          <a:xfrm>
            <a:off x="6297561" y="1588143"/>
            <a:ext cx="5894439" cy="5196166"/>
          </a:xfrm>
          <a:prstGeom prst="rect">
            <a:avLst/>
          </a:prstGeom>
          <a:noFill/>
        </p:spPr>
        <p:txBody>
          <a:bodyPr wrap="square">
            <a:spAutoFit/>
          </a:bodyPr>
          <a:lstStyle/>
          <a:p>
            <a:pPr>
              <a:lnSpc>
                <a:spcPct val="150000"/>
              </a:lnSpc>
              <a:buNone/>
            </a:pPr>
            <a:r>
              <a:rPr lang="en-US" sz="2800" b="1" dirty="0">
                <a:latin typeface="Calibir"/>
              </a:rPr>
              <a:t>5. Separate numeric and categorical columns</a:t>
            </a:r>
          </a:p>
          <a:p>
            <a:pPr rtl="0">
              <a:lnSpc>
                <a:spcPct val="150000"/>
              </a:lnSpc>
              <a:buNone/>
            </a:pPr>
            <a:r>
              <a:rPr lang="en-US" sz="2800" dirty="0" err="1">
                <a:latin typeface="Calibir"/>
              </a:rPr>
              <a:t>numeric_features</a:t>
            </a:r>
            <a:r>
              <a:rPr lang="en-US" sz="2800" dirty="0">
                <a:latin typeface="Calibir"/>
              </a:rPr>
              <a:t> = ...</a:t>
            </a:r>
            <a:br>
              <a:rPr lang="en-US" sz="2800" dirty="0">
                <a:latin typeface="Calibir"/>
              </a:rPr>
            </a:br>
            <a:r>
              <a:rPr lang="en-US" sz="2800" dirty="0" err="1">
                <a:latin typeface="Calibir"/>
              </a:rPr>
              <a:t>categorical_features</a:t>
            </a:r>
            <a:r>
              <a:rPr lang="en-US" sz="2800" dirty="0">
                <a:latin typeface="Calibir"/>
              </a:rPr>
              <a:t> = ...</a:t>
            </a:r>
          </a:p>
          <a:p>
            <a:pPr>
              <a:lnSpc>
                <a:spcPct val="150000"/>
              </a:lnSpc>
              <a:buNone/>
            </a:pPr>
            <a:r>
              <a:rPr lang="en-US" sz="2800" dirty="0">
                <a:latin typeface="Calibir"/>
              </a:rPr>
              <a:t>Numeric columns are numbers like age, </a:t>
            </a:r>
            <a:r>
              <a:rPr lang="en-US" sz="2800" dirty="0" err="1">
                <a:latin typeface="Calibir"/>
              </a:rPr>
              <a:t>bmi</a:t>
            </a:r>
            <a:r>
              <a:rPr lang="en-US" sz="2800" dirty="0">
                <a:latin typeface="Calibir"/>
              </a:rPr>
              <a:t>, children</a:t>
            </a:r>
            <a:br>
              <a:rPr lang="en-US" sz="2800" dirty="0">
                <a:latin typeface="Calibir"/>
              </a:rPr>
            </a:br>
            <a:r>
              <a:rPr lang="en-US" sz="2800" dirty="0">
                <a:latin typeface="Calibir"/>
              </a:rPr>
              <a:t>Categorical columns are text like sex, smoker, region</a:t>
            </a:r>
          </a:p>
        </p:txBody>
      </p:sp>
    </p:spTree>
    <p:extLst>
      <p:ext uri="{BB962C8B-B14F-4D97-AF65-F5344CB8AC3E}">
        <p14:creationId xmlns:p14="http://schemas.microsoft.com/office/powerpoint/2010/main" val="1607964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C286-3EEE-1B18-8368-4A26226CA4D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2BA36B6-551E-8F92-3F73-3A80430C99C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AC709196-85D7-697E-B29B-9EA4B8353028}"/>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9F92B718-1B2D-67B3-25AC-EC3E2F030803}"/>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1CC015B0-3C19-F33A-FCE6-4221753137D3}"/>
              </a:ext>
            </a:extLst>
          </p:cNvPr>
          <p:cNvSpPr txBox="1"/>
          <p:nvPr/>
        </p:nvSpPr>
        <p:spPr>
          <a:xfrm>
            <a:off x="126124" y="1045898"/>
            <a:ext cx="6427076" cy="4247317"/>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5. Separate numeric and categorical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"int64"</a:t>
            </a: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"float64"</a:t>
            </a:r>
            <a:r>
              <a:rPr lang="en-US" dirty="0">
                <a:solidFill>
                  <a:srgbClr val="000000"/>
                </a:solidFill>
                <a:latin typeface="Courier New" panose="02070309020205020404" pitchFamily="49" charset="0"/>
              </a:rPr>
              <a:t>]).columns</a:t>
            </a:r>
          </a:p>
          <a:p>
            <a:pPr>
              <a:buNone/>
            </a:pP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"object"</a:t>
            </a:r>
            <a:r>
              <a:rPr lang="en-US" dirty="0">
                <a:solidFill>
                  <a:srgbClr val="000000"/>
                </a:solidFill>
                <a:latin typeface="Courier New" panose="02070309020205020404" pitchFamily="49" charset="0"/>
              </a:rPr>
              <a:t>]).columns</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6. Preprocessing for numeric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"median"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p:txBody>
      </p:sp>
      <p:sp>
        <p:nvSpPr>
          <p:cNvPr id="5" name="TextBox 4">
            <a:extLst>
              <a:ext uri="{FF2B5EF4-FFF2-40B4-BE49-F238E27FC236}">
                <a16:creationId xmlns:a16="http://schemas.microsoft.com/office/drawing/2014/main" id="{06FDBE1E-7F79-7F5D-C06D-4E0C83B0815C}"/>
              </a:ext>
            </a:extLst>
          </p:cNvPr>
          <p:cNvSpPr txBox="1"/>
          <p:nvPr/>
        </p:nvSpPr>
        <p:spPr>
          <a:xfrm>
            <a:off x="6297561" y="1588143"/>
            <a:ext cx="5894439" cy="3257174"/>
          </a:xfrm>
          <a:prstGeom prst="rect">
            <a:avLst/>
          </a:prstGeom>
          <a:noFill/>
        </p:spPr>
        <p:txBody>
          <a:bodyPr wrap="square">
            <a:spAutoFit/>
          </a:bodyPr>
          <a:lstStyle/>
          <a:p>
            <a:pPr>
              <a:lnSpc>
                <a:spcPct val="150000"/>
              </a:lnSpc>
            </a:pPr>
            <a:r>
              <a:rPr lang="en-US" sz="2800" b="1" dirty="0">
                <a:latin typeface="Calibir"/>
              </a:rPr>
              <a:t>6. Numeric preprocessing</a:t>
            </a:r>
          </a:p>
          <a:p>
            <a:pPr>
              <a:lnSpc>
                <a:spcPct val="150000"/>
              </a:lnSpc>
            </a:pPr>
            <a:r>
              <a:rPr lang="en-US" sz="2800" dirty="0">
                <a:latin typeface="Calibir"/>
              </a:rPr>
              <a:t>("imputer", </a:t>
            </a:r>
            <a:r>
              <a:rPr lang="en-US" sz="2800" dirty="0" err="1">
                <a:latin typeface="Calibir"/>
              </a:rPr>
              <a:t>SimpleImputer</a:t>
            </a:r>
            <a:r>
              <a:rPr lang="en-US" sz="2800" dirty="0">
                <a:latin typeface="Calibir"/>
              </a:rPr>
              <a:t>(strategy="median"))</a:t>
            </a:r>
          </a:p>
          <a:p>
            <a:pPr>
              <a:lnSpc>
                <a:spcPct val="150000"/>
              </a:lnSpc>
            </a:pPr>
            <a:r>
              <a:rPr lang="en-US" sz="2800" dirty="0">
                <a:latin typeface="Calibir"/>
              </a:rPr>
              <a:t>If a number is missing, fill it with the middle value.</a:t>
            </a:r>
          </a:p>
        </p:txBody>
      </p:sp>
    </p:spTree>
    <p:extLst>
      <p:ext uri="{BB962C8B-B14F-4D97-AF65-F5344CB8AC3E}">
        <p14:creationId xmlns:p14="http://schemas.microsoft.com/office/powerpoint/2010/main" val="2530491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D049-D04B-CBEB-FBD8-C56028CF3A58}"/>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5D5E37FB-2B12-60E9-3E11-93BA6B05AE8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F936253-9F00-13CA-DC9D-CE5C37E521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7E28855-CA28-C34C-A950-8560F9707E73}"/>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2745D4FE-DC44-852A-F8A0-8F76A5714E41}"/>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7. Preprocessing for categorical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most_frequent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onehot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OneHotEncoder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handle_unknown</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"ignore"</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8. Combine preprocessing steps</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preprocessor = </a:t>
            </a:r>
            <a:r>
              <a:rPr lang="en-US" dirty="0" err="1">
                <a:solidFill>
                  <a:srgbClr val="000000"/>
                </a:solidFill>
                <a:latin typeface="Courier New" panose="02070309020205020404" pitchFamily="49" charset="0"/>
              </a:rPr>
              <a:t>ColumnTransformer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"num"</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"cat"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3DCA127B-689E-A486-BD3D-D16D6F15B6EA}"/>
              </a:ext>
            </a:extLst>
          </p:cNvPr>
          <p:cNvSpPr txBox="1"/>
          <p:nvPr/>
        </p:nvSpPr>
        <p:spPr>
          <a:xfrm>
            <a:off x="5764924" y="2197865"/>
            <a:ext cx="6427076" cy="3257174"/>
          </a:xfrm>
          <a:prstGeom prst="rect">
            <a:avLst/>
          </a:prstGeom>
          <a:noFill/>
        </p:spPr>
        <p:txBody>
          <a:bodyPr wrap="square">
            <a:spAutoFit/>
          </a:bodyPr>
          <a:lstStyle/>
          <a:p>
            <a:pPr>
              <a:lnSpc>
                <a:spcPct val="150000"/>
              </a:lnSpc>
              <a:buNone/>
            </a:pPr>
            <a:r>
              <a:rPr lang="en-US" sz="2800" b="1" dirty="0">
                <a:latin typeface="Calibir"/>
              </a:rPr>
              <a:t>7. Categorical preprocessing</a:t>
            </a:r>
          </a:p>
          <a:p>
            <a:pPr rtl="0">
              <a:lnSpc>
                <a:spcPct val="150000"/>
              </a:lnSpc>
              <a:buNone/>
            </a:pPr>
            <a:r>
              <a:rPr lang="en-US" sz="2800" dirty="0">
                <a:latin typeface="Calibir"/>
              </a:rPr>
              <a:t>("imputer", </a:t>
            </a:r>
            <a:r>
              <a:rPr lang="en-US" sz="2800" dirty="0" err="1">
                <a:latin typeface="Calibir"/>
              </a:rPr>
              <a:t>SimpleImputer</a:t>
            </a:r>
            <a:r>
              <a:rPr lang="en-US" sz="2800" dirty="0">
                <a:latin typeface="Calibir"/>
              </a:rPr>
              <a:t>(strategy="</a:t>
            </a:r>
            <a:r>
              <a:rPr lang="en-US" sz="2800" dirty="0" err="1">
                <a:latin typeface="Calibir"/>
              </a:rPr>
              <a:t>most_frequent</a:t>
            </a:r>
            <a:r>
              <a:rPr lang="en-US" sz="2800" dirty="0">
                <a:latin typeface="Calibir"/>
              </a:rPr>
              <a:t>"))</a:t>
            </a:r>
          </a:p>
          <a:p>
            <a:pPr>
              <a:lnSpc>
                <a:spcPct val="150000"/>
              </a:lnSpc>
              <a:buNone/>
            </a:pPr>
            <a:r>
              <a:rPr lang="en-US" sz="2800" dirty="0">
                <a:latin typeface="Calibir"/>
              </a:rPr>
              <a:t>If text is missing, fill it with the most common value.</a:t>
            </a:r>
          </a:p>
        </p:txBody>
      </p:sp>
    </p:spTree>
    <p:extLst>
      <p:ext uri="{BB962C8B-B14F-4D97-AF65-F5344CB8AC3E}">
        <p14:creationId xmlns:p14="http://schemas.microsoft.com/office/powerpoint/2010/main" val="1620569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A2DF4-212C-CAB5-CAF4-1DEDC051741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F1EA7DB-5915-22EF-4BAD-50F8FF4AE69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8400AC5-390E-C67C-6BAE-2DB806AFF30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B78D3C00-6407-36FC-973B-324FEFD5DAB6}"/>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38CC8C08-271E-2941-2814-EB54F1E1A3D3}"/>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7. Preprocessing for categorical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most_frequent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onehot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OneHotEncoder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handle_unknown</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"ignore"</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8. Combine preprocessing steps</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preprocessor = </a:t>
            </a:r>
            <a:r>
              <a:rPr lang="en-US" dirty="0" err="1">
                <a:solidFill>
                  <a:srgbClr val="000000"/>
                </a:solidFill>
                <a:latin typeface="Courier New" panose="02070309020205020404" pitchFamily="49" charset="0"/>
              </a:rPr>
              <a:t>ColumnTransformer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"num"</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"cat"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B7480224-878E-E81D-436B-C2AB437CC0F7}"/>
              </a:ext>
            </a:extLst>
          </p:cNvPr>
          <p:cNvSpPr txBox="1"/>
          <p:nvPr/>
        </p:nvSpPr>
        <p:spPr>
          <a:xfrm>
            <a:off x="5764924" y="2197865"/>
            <a:ext cx="6427076" cy="3257174"/>
          </a:xfrm>
          <a:prstGeom prst="rect">
            <a:avLst/>
          </a:prstGeom>
          <a:noFill/>
        </p:spPr>
        <p:txBody>
          <a:bodyPr wrap="square">
            <a:spAutoFit/>
          </a:bodyPr>
          <a:lstStyle/>
          <a:p>
            <a:pPr>
              <a:lnSpc>
                <a:spcPct val="150000"/>
              </a:lnSpc>
            </a:pPr>
            <a:r>
              <a:rPr lang="en-US" sz="2800" dirty="0">
                <a:latin typeface="Calibir"/>
              </a:rPr>
              <a:t>("</a:t>
            </a:r>
            <a:r>
              <a:rPr lang="en-US" sz="2800" dirty="0" err="1">
                <a:latin typeface="Calibir"/>
              </a:rPr>
              <a:t>onehot</a:t>
            </a:r>
            <a:r>
              <a:rPr lang="en-US" sz="2800" dirty="0">
                <a:latin typeface="Calibir"/>
              </a:rPr>
              <a:t>", </a:t>
            </a:r>
            <a:r>
              <a:rPr lang="en-US" sz="2800" dirty="0" err="1">
                <a:latin typeface="Calibir"/>
              </a:rPr>
              <a:t>OneHotEncoder</a:t>
            </a:r>
            <a:r>
              <a:rPr lang="en-US" sz="2800" dirty="0">
                <a:latin typeface="Calibir"/>
              </a:rPr>
              <a:t>(</a:t>
            </a:r>
            <a:r>
              <a:rPr lang="en-US" sz="2800" dirty="0" err="1">
                <a:latin typeface="Calibir"/>
              </a:rPr>
              <a:t>handle_unknown</a:t>
            </a:r>
            <a:r>
              <a:rPr lang="en-US" sz="2800" dirty="0">
                <a:latin typeface="Calibir"/>
              </a:rPr>
              <a:t>="ignore"))</a:t>
            </a:r>
          </a:p>
          <a:p>
            <a:pPr>
              <a:lnSpc>
                <a:spcPct val="150000"/>
              </a:lnSpc>
            </a:pPr>
            <a:r>
              <a:rPr lang="en-US" sz="2800" dirty="0">
                <a:latin typeface="Calibir"/>
              </a:rPr>
              <a:t>Convert text like yes/no or male/female into numbers.</a:t>
            </a:r>
          </a:p>
        </p:txBody>
      </p:sp>
    </p:spTree>
    <p:extLst>
      <p:ext uri="{BB962C8B-B14F-4D97-AF65-F5344CB8AC3E}">
        <p14:creationId xmlns:p14="http://schemas.microsoft.com/office/powerpoint/2010/main" val="3073300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D4CD-286D-60F2-6D80-516E326BF41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5B395224-10F9-E67D-BE29-20B23593965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06F011B2-5B98-B543-3740-084FEA50D057}"/>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5579516-BF99-DB6C-8100-94B4E5B9D212}"/>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E0B3B0DD-1250-CB71-73B2-307A59EAF7B6}"/>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7. Preprocessing for categorical columns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most_frequent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onehot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OneHotEncoder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handle_unknown</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"ignore"</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8. Combine preprocessing steps</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preprocessor = </a:t>
            </a:r>
            <a:r>
              <a:rPr lang="en-US" dirty="0" err="1">
                <a:solidFill>
                  <a:srgbClr val="000000"/>
                </a:solidFill>
                <a:latin typeface="Courier New" panose="02070309020205020404" pitchFamily="49" charset="0"/>
              </a:rPr>
              <a:t>ColumnTransformer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"num"</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"cat"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7C4796E6-A60C-0484-0554-596EDA18DA77}"/>
              </a:ext>
            </a:extLst>
          </p:cNvPr>
          <p:cNvSpPr txBox="1"/>
          <p:nvPr/>
        </p:nvSpPr>
        <p:spPr>
          <a:xfrm>
            <a:off x="5764924" y="2197865"/>
            <a:ext cx="6427076" cy="3257174"/>
          </a:xfrm>
          <a:prstGeom prst="rect">
            <a:avLst/>
          </a:prstGeom>
          <a:noFill/>
        </p:spPr>
        <p:txBody>
          <a:bodyPr wrap="square">
            <a:spAutoFit/>
          </a:bodyPr>
          <a:lstStyle/>
          <a:p>
            <a:pPr>
              <a:lnSpc>
                <a:spcPct val="150000"/>
              </a:lnSpc>
            </a:pPr>
            <a:r>
              <a:rPr lang="en-US" sz="2800" b="1" dirty="0">
                <a:latin typeface="Calibir"/>
              </a:rPr>
              <a:t>8. Combine preprocessing</a:t>
            </a:r>
          </a:p>
          <a:p>
            <a:pPr>
              <a:lnSpc>
                <a:spcPct val="150000"/>
              </a:lnSpc>
            </a:pPr>
            <a:r>
              <a:rPr lang="en-US" sz="2800" dirty="0">
                <a:latin typeface="Calibir"/>
              </a:rPr>
              <a:t>preprocessor = </a:t>
            </a:r>
            <a:r>
              <a:rPr lang="en-US" sz="2800" dirty="0" err="1">
                <a:latin typeface="Calibir"/>
              </a:rPr>
              <a:t>ColumnTransformer</a:t>
            </a:r>
            <a:r>
              <a:rPr lang="en-US" sz="2800" dirty="0">
                <a:latin typeface="Calibir"/>
              </a:rPr>
              <a:t>(...)</a:t>
            </a:r>
          </a:p>
          <a:p>
            <a:pPr>
              <a:lnSpc>
                <a:spcPct val="150000"/>
              </a:lnSpc>
            </a:pPr>
            <a:r>
              <a:rPr lang="en-US" sz="2800" dirty="0">
                <a:latin typeface="Calibir"/>
              </a:rPr>
              <a:t>This tells Python:</a:t>
            </a:r>
          </a:p>
          <a:p>
            <a:pPr>
              <a:lnSpc>
                <a:spcPct val="150000"/>
              </a:lnSpc>
            </a:pPr>
            <a:r>
              <a:rPr lang="en-US" sz="2800" dirty="0">
                <a:latin typeface="Calibir"/>
              </a:rPr>
              <a:t>use one process for numbers </a:t>
            </a:r>
          </a:p>
          <a:p>
            <a:pPr>
              <a:lnSpc>
                <a:spcPct val="150000"/>
              </a:lnSpc>
            </a:pPr>
            <a:r>
              <a:rPr lang="en-US" sz="2800" dirty="0">
                <a:latin typeface="Calibir"/>
              </a:rPr>
              <a:t>use another process for text</a:t>
            </a:r>
          </a:p>
        </p:txBody>
      </p:sp>
    </p:spTree>
    <p:extLst>
      <p:ext uri="{BB962C8B-B14F-4D97-AF65-F5344CB8AC3E}">
        <p14:creationId xmlns:p14="http://schemas.microsoft.com/office/powerpoint/2010/main" val="1559551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C0BFA-CE22-C963-1831-1B2CC32CA7A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3C2A647-6625-5732-2C01-31827CD2555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60C11D04-02E3-C37C-1902-85EBC9D1738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5BAFFA1-FD5D-5DE4-7954-184A8C022CA9}"/>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C44FE9E6-363B-4944-0FE1-E6AD7FF387BC}"/>
              </a:ext>
            </a:extLst>
          </p:cNvPr>
          <p:cNvSpPr txBox="1"/>
          <p:nvPr/>
        </p:nvSpPr>
        <p:spPr>
          <a:xfrm>
            <a:off x="126124" y="1045898"/>
            <a:ext cx="6427076" cy="4801314"/>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9. Build model</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model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"preprocessor"</a:t>
            </a:r>
            <a:r>
              <a:rPr lang="en-US" dirty="0">
                <a:solidFill>
                  <a:srgbClr val="000000"/>
                </a:solidFill>
                <a:latin typeface="Courier New" panose="02070309020205020404" pitchFamily="49" charset="0"/>
              </a:rPr>
              <a:t>, preprocessor),</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"regressor"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RandomForestRegressor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n_estimators</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200</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10. Split data into training and testing sets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train_test_split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X, y, </a:t>
            </a:r>
            <a:r>
              <a:rPr lang="en-US" dirty="0" err="1">
                <a:solidFill>
                  <a:srgbClr val="000000"/>
                </a:solidFill>
                <a:latin typeface="Courier New" panose="02070309020205020404" pitchFamily="49" charset="0"/>
              </a:rPr>
              <a:t>test_size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0.2</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p:txBody>
      </p:sp>
      <p:sp>
        <p:nvSpPr>
          <p:cNvPr id="5" name="TextBox 4">
            <a:extLst>
              <a:ext uri="{FF2B5EF4-FFF2-40B4-BE49-F238E27FC236}">
                <a16:creationId xmlns:a16="http://schemas.microsoft.com/office/drawing/2014/main" id="{04923EF1-237C-B6E1-CF67-52F49673E9D1}"/>
              </a:ext>
            </a:extLst>
          </p:cNvPr>
          <p:cNvSpPr txBox="1"/>
          <p:nvPr/>
        </p:nvSpPr>
        <p:spPr>
          <a:xfrm>
            <a:off x="6386051" y="2379646"/>
            <a:ext cx="5805949" cy="2610843"/>
          </a:xfrm>
          <a:prstGeom prst="rect">
            <a:avLst/>
          </a:prstGeom>
          <a:noFill/>
        </p:spPr>
        <p:txBody>
          <a:bodyPr wrap="square">
            <a:spAutoFit/>
          </a:bodyPr>
          <a:lstStyle/>
          <a:p>
            <a:pPr>
              <a:lnSpc>
                <a:spcPct val="150000"/>
              </a:lnSpc>
              <a:buNone/>
            </a:pPr>
            <a:r>
              <a:rPr lang="en-US" sz="2800" b="1" dirty="0">
                <a:latin typeface="Calibir"/>
              </a:rPr>
              <a:t>9. Build model</a:t>
            </a:r>
          </a:p>
          <a:p>
            <a:pPr rtl="0">
              <a:lnSpc>
                <a:spcPct val="150000"/>
              </a:lnSpc>
              <a:buNone/>
            </a:pPr>
            <a:r>
              <a:rPr lang="en-US" sz="2800" dirty="0">
                <a:latin typeface="Calibir"/>
              </a:rPr>
              <a:t>model = Pipeline([...])</a:t>
            </a:r>
          </a:p>
          <a:p>
            <a:pPr>
              <a:lnSpc>
                <a:spcPct val="150000"/>
              </a:lnSpc>
              <a:buNone/>
            </a:pPr>
            <a:r>
              <a:rPr lang="en-US" sz="2800" dirty="0">
                <a:latin typeface="Calibir"/>
              </a:rPr>
              <a:t>First prepare the data, then train the regression model.</a:t>
            </a:r>
          </a:p>
        </p:txBody>
      </p:sp>
    </p:spTree>
    <p:extLst>
      <p:ext uri="{BB962C8B-B14F-4D97-AF65-F5344CB8AC3E}">
        <p14:creationId xmlns:p14="http://schemas.microsoft.com/office/powerpoint/2010/main" val="264161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F179-DF0A-0469-E621-A5BF9D00C0B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C79D0DF-0F03-4BE9-4FFD-7A01370AF3D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F2D8B56A-1DC8-6AA5-F559-61FF99E7EBB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A4FFEC2-7BEE-B87F-8176-63A552FE5FCD}"/>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3CA89C40-1823-95FD-9FBF-4145AD27B1C7}"/>
              </a:ext>
            </a:extLst>
          </p:cNvPr>
          <p:cNvSpPr txBox="1"/>
          <p:nvPr/>
        </p:nvSpPr>
        <p:spPr>
          <a:xfrm>
            <a:off x="126124" y="1045898"/>
            <a:ext cx="6427076" cy="4801314"/>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9. Build model</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model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"preprocessor"</a:t>
            </a:r>
            <a:r>
              <a:rPr lang="en-US" dirty="0">
                <a:solidFill>
                  <a:srgbClr val="000000"/>
                </a:solidFill>
                <a:latin typeface="Courier New" panose="02070309020205020404" pitchFamily="49" charset="0"/>
              </a:rPr>
              <a:t>, preprocessor),</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"regressor"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RandomForestRegressor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n_estimators</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200</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10. Split data into training and testing sets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train_test_split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X, y, </a:t>
            </a:r>
            <a:r>
              <a:rPr lang="en-US" dirty="0" err="1">
                <a:solidFill>
                  <a:srgbClr val="000000"/>
                </a:solidFill>
                <a:latin typeface="Courier New" panose="02070309020205020404" pitchFamily="49" charset="0"/>
              </a:rPr>
              <a:t>test_size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0.2</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p:txBody>
      </p:sp>
      <p:sp>
        <p:nvSpPr>
          <p:cNvPr id="5" name="TextBox 4">
            <a:extLst>
              <a:ext uri="{FF2B5EF4-FFF2-40B4-BE49-F238E27FC236}">
                <a16:creationId xmlns:a16="http://schemas.microsoft.com/office/drawing/2014/main" id="{A8BEDEC9-39A8-131C-6B3E-3B0A745D7419}"/>
              </a:ext>
            </a:extLst>
          </p:cNvPr>
          <p:cNvSpPr txBox="1"/>
          <p:nvPr/>
        </p:nvSpPr>
        <p:spPr>
          <a:xfrm>
            <a:off x="6386051" y="2379646"/>
            <a:ext cx="5805949" cy="3257174"/>
          </a:xfrm>
          <a:prstGeom prst="rect">
            <a:avLst/>
          </a:prstGeom>
          <a:noFill/>
        </p:spPr>
        <p:txBody>
          <a:bodyPr wrap="square">
            <a:spAutoFit/>
          </a:bodyPr>
          <a:lstStyle/>
          <a:p>
            <a:pPr>
              <a:lnSpc>
                <a:spcPct val="150000"/>
              </a:lnSpc>
            </a:pPr>
            <a:r>
              <a:rPr lang="en-US" sz="2800" b="1" dirty="0">
                <a:latin typeface="Calibir"/>
              </a:rPr>
              <a:t>10. Split data</a:t>
            </a:r>
          </a:p>
          <a:p>
            <a:pPr>
              <a:lnSpc>
                <a:spcPct val="150000"/>
              </a:lnSpc>
            </a:pPr>
            <a:r>
              <a:rPr lang="en-US" sz="2800" dirty="0" err="1">
                <a:latin typeface="Calibir"/>
              </a:rPr>
              <a:t>train_test_split</a:t>
            </a:r>
            <a:r>
              <a:rPr lang="en-US" sz="2800" dirty="0">
                <a:latin typeface="Calibir"/>
              </a:rPr>
              <a:t>(...)</a:t>
            </a:r>
          </a:p>
          <a:p>
            <a:pPr>
              <a:lnSpc>
                <a:spcPct val="150000"/>
              </a:lnSpc>
            </a:pPr>
            <a:r>
              <a:rPr lang="en-US" sz="2800" dirty="0">
                <a:latin typeface="Calibir"/>
              </a:rPr>
              <a:t>Training data teaches the model.</a:t>
            </a:r>
            <a:br>
              <a:rPr lang="en-US" sz="2800" dirty="0">
                <a:latin typeface="Calibir"/>
              </a:rPr>
            </a:br>
            <a:r>
              <a:rPr lang="en-US" sz="2800" dirty="0">
                <a:latin typeface="Calibir"/>
              </a:rPr>
              <a:t>Testing data checks how well it works on new data.</a:t>
            </a:r>
          </a:p>
        </p:txBody>
      </p:sp>
    </p:spTree>
    <p:extLst>
      <p:ext uri="{BB962C8B-B14F-4D97-AF65-F5344CB8AC3E}">
        <p14:creationId xmlns:p14="http://schemas.microsoft.com/office/powerpoint/2010/main" val="2777406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D030-B170-7022-AE24-43B8552CC96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79AD9911-B46A-E7FB-552B-964D4CA886A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8687D1FD-D98A-CC18-FB37-FE9B3EE4A61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AFC7C14-B410-DC52-1F51-5760E6E12D6A}"/>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9283D9A6-00D9-8B38-5A2C-9EFD7E12C3B6}"/>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11. Train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12. Make predictions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13. Evaluate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mean_absolute_error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r2 = r2_score(</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nMean</a:t>
            </a:r>
            <a:r>
              <a:rPr lang="en-US" dirty="0">
                <a:solidFill>
                  <a:srgbClr val="A31515"/>
                </a:solidFill>
                <a:latin typeface="Courier New" panose="02070309020205020404" pitchFamily="49" charset="0"/>
              </a:rPr>
              <a:t> Absolute Error:"</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a:t>
            </a:r>
            <a:r>
              <a:rPr lang="en-US" dirty="0">
                <a:solidFill>
                  <a:srgbClr val="116644"/>
                </a:solidFill>
                <a:latin typeface="Courier New" panose="02070309020205020404" pitchFamily="49" charset="0"/>
              </a:rPr>
              <a:t>2</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"R^2 Score:"</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(r2,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D3FF1E0B-0E48-9700-B936-85D283F4B127}"/>
              </a:ext>
            </a:extLst>
          </p:cNvPr>
          <p:cNvSpPr txBox="1"/>
          <p:nvPr/>
        </p:nvSpPr>
        <p:spPr>
          <a:xfrm>
            <a:off x="6094390" y="2229053"/>
            <a:ext cx="6097610" cy="2610843"/>
          </a:xfrm>
          <a:prstGeom prst="rect">
            <a:avLst/>
          </a:prstGeom>
          <a:noFill/>
        </p:spPr>
        <p:txBody>
          <a:bodyPr wrap="square">
            <a:spAutoFit/>
          </a:bodyPr>
          <a:lstStyle/>
          <a:p>
            <a:pPr>
              <a:lnSpc>
                <a:spcPct val="150000"/>
              </a:lnSpc>
              <a:buNone/>
            </a:pPr>
            <a:r>
              <a:rPr lang="en-US" sz="2800" b="1" dirty="0">
                <a:latin typeface="Calibir"/>
              </a:rPr>
              <a:t>11. Train model</a:t>
            </a:r>
          </a:p>
          <a:p>
            <a:pPr rtl="0">
              <a:lnSpc>
                <a:spcPct val="150000"/>
              </a:lnSpc>
              <a:buNone/>
            </a:pPr>
            <a:r>
              <a:rPr lang="en-US" sz="2800" dirty="0" err="1">
                <a:latin typeface="Calibir"/>
              </a:rPr>
              <a:t>model.fit</a:t>
            </a:r>
            <a:r>
              <a:rPr lang="en-US" sz="2800" dirty="0">
                <a:latin typeface="Calibir"/>
              </a:rPr>
              <a:t>(</a:t>
            </a:r>
            <a:r>
              <a:rPr lang="en-US" sz="2800" dirty="0" err="1">
                <a:latin typeface="Calibir"/>
              </a:rPr>
              <a:t>X_train</a:t>
            </a:r>
            <a:r>
              <a:rPr lang="en-US" sz="2800" dirty="0">
                <a:latin typeface="Calibir"/>
              </a:rPr>
              <a:t>, </a:t>
            </a:r>
            <a:r>
              <a:rPr lang="en-US" sz="2800" dirty="0" err="1">
                <a:latin typeface="Calibir"/>
              </a:rPr>
              <a:t>y_train</a:t>
            </a:r>
            <a:r>
              <a:rPr lang="en-US" sz="2800" dirty="0">
                <a:latin typeface="Calibir"/>
              </a:rPr>
              <a:t>)</a:t>
            </a:r>
          </a:p>
          <a:p>
            <a:pPr>
              <a:lnSpc>
                <a:spcPct val="150000"/>
              </a:lnSpc>
              <a:buNone/>
            </a:pPr>
            <a:r>
              <a:rPr lang="en-US" sz="2800" dirty="0">
                <a:latin typeface="Calibir"/>
              </a:rPr>
              <a:t>The model learns patterns from the training data.</a:t>
            </a:r>
          </a:p>
        </p:txBody>
      </p:sp>
    </p:spTree>
    <p:extLst>
      <p:ext uri="{BB962C8B-B14F-4D97-AF65-F5344CB8AC3E}">
        <p14:creationId xmlns:p14="http://schemas.microsoft.com/office/powerpoint/2010/main" val="1017067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18772-E83B-526D-F4BA-741A9BCF9A3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209EDE6-BB94-011A-0908-108754149F5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2631A3A-722B-8431-5ACC-07DACBDBF72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1B31BD7-99D5-423D-2B4A-0E34C8BDDCF2}"/>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4C82D449-6700-A532-CE86-EEC6E1D73A6A}"/>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11. Train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12. Make predictions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13. Evaluate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mean_absolute_error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r2 = r2_score(</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nMean</a:t>
            </a:r>
            <a:r>
              <a:rPr lang="en-US" dirty="0">
                <a:solidFill>
                  <a:srgbClr val="A31515"/>
                </a:solidFill>
                <a:latin typeface="Courier New" panose="02070309020205020404" pitchFamily="49" charset="0"/>
              </a:rPr>
              <a:t> Absolute Error:"</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a:t>
            </a:r>
            <a:r>
              <a:rPr lang="en-US" dirty="0">
                <a:solidFill>
                  <a:srgbClr val="116644"/>
                </a:solidFill>
                <a:latin typeface="Courier New" panose="02070309020205020404" pitchFamily="49" charset="0"/>
              </a:rPr>
              <a:t>2</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"R^2 Score:"</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(r2,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DC26CFD8-AC0B-C76C-356F-61A3FE29C0E6}"/>
              </a:ext>
            </a:extLst>
          </p:cNvPr>
          <p:cNvSpPr txBox="1"/>
          <p:nvPr/>
        </p:nvSpPr>
        <p:spPr>
          <a:xfrm>
            <a:off x="6094390" y="2229053"/>
            <a:ext cx="6097610" cy="2610843"/>
          </a:xfrm>
          <a:prstGeom prst="rect">
            <a:avLst/>
          </a:prstGeom>
          <a:noFill/>
        </p:spPr>
        <p:txBody>
          <a:bodyPr wrap="square">
            <a:spAutoFit/>
          </a:bodyPr>
          <a:lstStyle/>
          <a:p>
            <a:pPr>
              <a:lnSpc>
                <a:spcPct val="150000"/>
              </a:lnSpc>
            </a:pPr>
            <a:r>
              <a:rPr lang="en-US" sz="2800" b="1" dirty="0">
                <a:latin typeface="Calibir"/>
              </a:rPr>
              <a:t>12. Predict</a:t>
            </a:r>
          </a:p>
          <a:p>
            <a:pPr>
              <a:lnSpc>
                <a:spcPct val="150000"/>
              </a:lnSpc>
            </a:pPr>
            <a:r>
              <a:rPr lang="en-US" sz="2800" dirty="0" err="1">
                <a:latin typeface="Calibir"/>
              </a:rPr>
              <a:t>y_pred</a:t>
            </a:r>
            <a:r>
              <a:rPr lang="en-US" sz="2800" dirty="0">
                <a:latin typeface="Calibir"/>
              </a:rPr>
              <a:t> = </a:t>
            </a:r>
            <a:r>
              <a:rPr lang="en-US" sz="2800" dirty="0" err="1">
                <a:latin typeface="Calibir"/>
              </a:rPr>
              <a:t>model.predict</a:t>
            </a:r>
            <a:r>
              <a:rPr lang="en-US" sz="2800" dirty="0">
                <a:latin typeface="Calibir"/>
              </a:rPr>
              <a:t>(</a:t>
            </a:r>
            <a:r>
              <a:rPr lang="en-US" sz="2800" dirty="0" err="1">
                <a:latin typeface="Calibir"/>
              </a:rPr>
              <a:t>X_test</a:t>
            </a:r>
            <a:r>
              <a:rPr lang="en-US" sz="2800" dirty="0">
                <a:latin typeface="Calibir"/>
              </a:rPr>
              <a:t>)</a:t>
            </a:r>
          </a:p>
          <a:p>
            <a:pPr>
              <a:lnSpc>
                <a:spcPct val="150000"/>
              </a:lnSpc>
            </a:pPr>
            <a:r>
              <a:rPr lang="en-US" sz="2800" dirty="0">
                <a:latin typeface="Calibir"/>
              </a:rPr>
              <a:t>The model predicts insurance charges for the test data.</a:t>
            </a:r>
          </a:p>
        </p:txBody>
      </p:sp>
    </p:spTree>
    <p:extLst>
      <p:ext uri="{BB962C8B-B14F-4D97-AF65-F5344CB8AC3E}">
        <p14:creationId xmlns:p14="http://schemas.microsoft.com/office/powerpoint/2010/main" val="635860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1D3F-80AF-CAB7-C74D-B66ADD1DBF8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C0CFA02-533B-05A6-D632-95F49195C8E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A4A49C4D-23B3-0756-1CA2-A68CDDED0D8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FF1A9A2-D93E-203C-A02D-3C966E573683}"/>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3" name="TextBox 2">
            <a:extLst>
              <a:ext uri="{FF2B5EF4-FFF2-40B4-BE49-F238E27FC236}">
                <a16:creationId xmlns:a16="http://schemas.microsoft.com/office/drawing/2014/main" id="{E313E6B8-BF9D-E299-1AED-FF07D8D92435}"/>
              </a:ext>
            </a:extLst>
          </p:cNvPr>
          <p:cNvSpPr txBox="1"/>
          <p:nvPr/>
        </p:nvSpPr>
        <p:spPr>
          <a:xfrm>
            <a:off x="126124" y="1045898"/>
            <a:ext cx="6427076" cy="4524315"/>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11. Train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12. Make predictions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13. Evaluate model</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mean_absolute_error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r2 = r2_score(</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nMean</a:t>
            </a:r>
            <a:r>
              <a:rPr lang="en-US" dirty="0">
                <a:solidFill>
                  <a:srgbClr val="A31515"/>
                </a:solidFill>
                <a:latin typeface="Courier New" panose="02070309020205020404" pitchFamily="49" charset="0"/>
              </a:rPr>
              <a:t> Absolute Error:"</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mae</a:t>
            </a:r>
            <a:r>
              <a:rPr lang="en-US" dirty="0">
                <a:solidFill>
                  <a:srgbClr val="000000"/>
                </a:solidFill>
                <a:latin typeface="Courier New" panose="02070309020205020404" pitchFamily="49" charset="0"/>
              </a:rPr>
              <a:t>, </a:t>
            </a:r>
            <a:r>
              <a:rPr lang="en-US" dirty="0">
                <a:solidFill>
                  <a:srgbClr val="116644"/>
                </a:solidFill>
                <a:latin typeface="Courier New" panose="02070309020205020404" pitchFamily="49" charset="0"/>
              </a:rPr>
              <a:t>2</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"R^2 Score:"</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(r2,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5ED43B36-78D5-005C-E1B6-AED46565E003}"/>
              </a:ext>
            </a:extLst>
          </p:cNvPr>
          <p:cNvSpPr txBox="1"/>
          <p:nvPr/>
        </p:nvSpPr>
        <p:spPr>
          <a:xfrm>
            <a:off x="6094390" y="2229053"/>
            <a:ext cx="6097610" cy="4549835"/>
          </a:xfrm>
          <a:prstGeom prst="rect">
            <a:avLst/>
          </a:prstGeom>
          <a:noFill/>
        </p:spPr>
        <p:txBody>
          <a:bodyPr wrap="square">
            <a:spAutoFit/>
          </a:bodyPr>
          <a:lstStyle/>
          <a:p>
            <a:pPr>
              <a:lnSpc>
                <a:spcPct val="150000"/>
              </a:lnSpc>
            </a:pPr>
            <a:r>
              <a:rPr lang="en-US" sz="2800" b="1" dirty="0">
                <a:latin typeface="Calibir"/>
              </a:rPr>
              <a:t>13. Evaluate</a:t>
            </a:r>
          </a:p>
          <a:p>
            <a:pPr>
              <a:lnSpc>
                <a:spcPct val="150000"/>
              </a:lnSpc>
            </a:pPr>
            <a:r>
              <a:rPr lang="en-US" sz="2800" dirty="0" err="1">
                <a:latin typeface="Calibir"/>
              </a:rPr>
              <a:t>mae</a:t>
            </a:r>
            <a:r>
              <a:rPr lang="en-US" sz="2800" dirty="0">
                <a:latin typeface="Calibir"/>
              </a:rPr>
              <a:t> = </a:t>
            </a:r>
            <a:r>
              <a:rPr lang="en-US" sz="2800" dirty="0" err="1">
                <a:latin typeface="Calibir"/>
              </a:rPr>
              <a:t>mean_absolute_error</a:t>
            </a:r>
            <a:r>
              <a:rPr lang="en-US" sz="2800" dirty="0">
                <a:latin typeface="Calibir"/>
              </a:rPr>
              <a:t>(</a:t>
            </a:r>
            <a:r>
              <a:rPr lang="en-US" sz="2800" dirty="0" err="1">
                <a:latin typeface="Calibir"/>
              </a:rPr>
              <a:t>y_test</a:t>
            </a:r>
            <a:r>
              <a:rPr lang="en-US" sz="2800" dirty="0">
                <a:latin typeface="Calibir"/>
              </a:rPr>
              <a:t>, </a:t>
            </a:r>
            <a:r>
              <a:rPr lang="en-US" sz="2800" dirty="0" err="1">
                <a:latin typeface="Calibir"/>
              </a:rPr>
              <a:t>y_pred</a:t>
            </a:r>
            <a:r>
              <a:rPr lang="en-US" sz="2800" dirty="0">
                <a:latin typeface="Calibir"/>
              </a:rPr>
              <a:t>)</a:t>
            </a:r>
            <a:br>
              <a:rPr lang="en-US" sz="2800" dirty="0">
                <a:latin typeface="Calibir"/>
              </a:rPr>
            </a:br>
            <a:r>
              <a:rPr lang="en-US" sz="2800" dirty="0">
                <a:latin typeface="Calibir"/>
              </a:rPr>
              <a:t>r2 = r2_score(</a:t>
            </a:r>
            <a:r>
              <a:rPr lang="en-US" sz="2800" dirty="0" err="1">
                <a:latin typeface="Calibir"/>
              </a:rPr>
              <a:t>y_test</a:t>
            </a:r>
            <a:r>
              <a:rPr lang="en-US" sz="2800" dirty="0">
                <a:latin typeface="Calibir"/>
              </a:rPr>
              <a:t>, </a:t>
            </a:r>
            <a:r>
              <a:rPr lang="en-US" sz="2800" dirty="0" err="1">
                <a:latin typeface="Calibir"/>
              </a:rPr>
              <a:t>y_pred</a:t>
            </a:r>
            <a:r>
              <a:rPr lang="en-US" sz="2800" dirty="0">
                <a:latin typeface="Calibir"/>
              </a:rPr>
              <a:t>)</a:t>
            </a:r>
          </a:p>
          <a:p>
            <a:pPr>
              <a:lnSpc>
                <a:spcPct val="150000"/>
              </a:lnSpc>
            </a:pPr>
            <a:r>
              <a:rPr lang="en-US" sz="2800" dirty="0">
                <a:latin typeface="Calibir"/>
              </a:rPr>
              <a:t>MAE = average prediction error</a:t>
            </a:r>
            <a:br>
              <a:rPr lang="en-US" sz="2800" dirty="0">
                <a:latin typeface="Calibir"/>
              </a:rPr>
            </a:br>
            <a:r>
              <a:rPr lang="en-US" sz="2800" dirty="0">
                <a:latin typeface="Calibir"/>
              </a:rPr>
              <a:t>R² = how well the model explains the data</a:t>
            </a:r>
          </a:p>
        </p:txBody>
      </p:sp>
    </p:spTree>
    <p:extLst>
      <p:ext uri="{BB962C8B-B14F-4D97-AF65-F5344CB8AC3E}">
        <p14:creationId xmlns:p14="http://schemas.microsoft.com/office/powerpoint/2010/main" val="2336554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DEE7F-4C6B-6C17-6BC6-07D058998F4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EF4B474-9359-224A-5BE9-05511FBB8DC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11C32A2-F558-45BA-A0E3-D7EF2A757B67}"/>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8800243A-4DB0-87BF-B404-7D3858C826CF}"/>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sp>
        <p:nvSpPr>
          <p:cNvPr id="8" name="TextBox 7">
            <a:extLst>
              <a:ext uri="{FF2B5EF4-FFF2-40B4-BE49-F238E27FC236}">
                <a16:creationId xmlns:a16="http://schemas.microsoft.com/office/drawing/2014/main" id="{0408816A-73D6-4A74-B206-4BFCD08BDD98}"/>
              </a:ext>
            </a:extLst>
          </p:cNvPr>
          <p:cNvSpPr txBox="1"/>
          <p:nvPr/>
        </p:nvSpPr>
        <p:spPr>
          <a:xfrm>
            <a:off x="2882462" y="6211669"/>
            <a:ext cx="6427076" cy="646331"/>
          </a:xfrm>
          <a:prstGeom prst="rect">
            <a:avLst/>
          </a:prstGeom>
          <a:noFill/>
        </p:spPr>
        <p:txBody>
          <a:bodyPr wrap="square">
            <a:spAutoFit/>
          </a:bodyPr>
          <a:lstStyle/>
          <a:p>
            <a:pPr algn="ctr"/>
            <a:r>
              <a:rPr lang="en-US" dirty="0">
                <a:hlinkClick r:id="rId3"/>
              </a:rPr>
              <a:t>https://colab.research.google.com/drive/1vZjb9DT1ReCYq81ylbFYRm43DQpb0r8y?usp=sharing</a:t>
            </a:r>
            <a:r>
              <a:rPr lang="en-US" dirty="0"/>
              <a:t> </a:t>
            </a:r>
          </a:p>
        </p:txBody>
      </p:sp>
      <p:sp>
        <p:nvSpPr>
          <p:cNvPr id="3" name="TextBox 2">
            <a:extLst>
              <a:ext uri="{FF2B5EF4-FFF2-40B4-BE49-F238E27FC236}">
                <a16:creationId xmlns:a16="http://schemas.microsoft.com/office/drawing/2014/main" id="{3F7ABCC2-5268-E131-6170-2AE36D01F215}"/>
              </a:ext>
            </a:extLst>
          </p:cNvPr>
          <p:cNvSpPr txBox="1"/>
          <p:nvPr/>
        </p:nvSpPr>
        <p:spPr>
          <a:xfrm>
            <a:off x="126124" y="1045898"/>
            <a:ext cx="6427076" cy="3139321"/>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14. Show some predictions</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results = </a:t>
            </a:r>
            <a:r>
              <a:rPr lang="en-US" dirty="0" err="1">
                <a:solidFill>
                  <a:srgbClr val="000000"/>
                </a:solidFill>
                <a:latin typeface="Courier New" panose="02070309020205020404" pitchFamily="49" charset="0"/>
              </a:rPr>
              <a:t>pd.DataFrame</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"Actual Charges"</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y_test.reset_index</a:t>
            </a:r>
            <a:r>
              <a:rPr lang="en-US" dirty="0">
                <a:solidFill>
                  <a:srgbClr val="000000"/>
                </a:solidFill>
                <a:latin typeface="Courier New" panose="02070309020205020404" pitchFamily="49" charset="0"/>
              </a:rPr>
              <a:t>(drop=</a:t>
            </a:r>
            <a:r>
              <a:rPr lang="en-US" dirty="0">
                <a:solidFill>
                  <a:srgbClr val="0000FF"/>
                </a:solidFill>
                <a:latin typeface="Courier New" panose="02070309020205020404" pitchFamily="49" charset="0"/>
              </a:rPr>
              <a:t>True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10</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"Predicted Charges"</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pd.Series</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2</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10</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nSample</a:t>
            </a:r>
            <a:r>
              <a:rPr lang="en-US" dirty="0">
                <a:solidFill>
                  <a:srgbClr val="A31515"/>
                </a:solidFill>
                <a:latin typeface="Courier New" panose="02070309020205020404" pitchFamily="49" charset="0"/>
              </a:rPr>
              <a:t> predictions:"</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(results)</a:t>
            </a:r>
          </a:p>
        </p:txBody>
      </p:sp>
      <p:sp>
        <p:nvSpPr>
          <p:cNvPr id="5" name="TextBox 4">
            <a:extLst>
              <a:ext uri="{FF2B5EF4-FFF2-40B4-BE49-F238E27FC236}">
                <a16:creationId xmlns:a16="http://schemas.microsoft.com/office/drawing/2014/main" id="{397FD7E9-5B11-FFFD-53D4-24FB84719823}"/>
              </a:ext>
            </a:extLst>
          </p:cNvPr>
          <p:cNvSpPr txBox="1"/>
          <p:nvPr/>
        </p:nvSpPr>
        <p:spPr>
          <a:xfrm>
            <a:off x="5235677" y="2379646"/>
            <a:ext cx="6430296" cy="2610843"/>
          </a:xfrm>
          <a:prstGeom prst="rect">
            <a:avLst/>
          </a:prstGeom>
          <a:noFill/>
        </p:spPr>
        <p:txBody>
          <a:bodyPr wrap="square">
            <a:spAutoFit/>
          </a:bodyPr>
          <a:lstStyle/>
          <a:p>
            <a:pPr>
              <a:lnSpc>
                <a:spcPct val="150000"/>
              </a:lnSpc>
              <a:buNone/>
            </a:pPr>
            <a:r>
              <a:rPr lang="en-US" sz="2800" b="1" dirty="0">
                <a:latin typeface="Calibir"/>
              </a:rPr>
              <a:t>14. Show sample predictions</a:t>
            </a:r>
          </a:p>
          <a:p>
            <a:pPr rtl="0">
              <a:lnSpc>
                <a:spcPct val="150000"/>
              </a:lnSpc>
              <a:buNone/>
            </a:pPr>
            <a:r>
              <a:rPr lang="en-US" sz="2800" dirty="0">
                <a:latin typeface="Calibir"/>
              </a:rPr>
              <a:t>results = </a:t>
            </a:r>
            <a:r>
              <a:rPr lang="en-US" sz="2800" dirty="0" err="1">
                <a:latin typeface="Calibir"/>
              </a:rPr>
              <a:t>pd.DataFrame</a:t>
            </a:r>
            <a:r>
              <a:rPr lang="en-US" sz="2800" dirty="0">
                <a:latin typeface="Calibir"/>
              </a:rPr>
              <a:t>(...)</a:t>
            </a:r>
          </a:p>
          <a:p>
            <a:pPr>
              <a:lnSpc>
                <a:spcPct val="150000"/>
              </a:lnSpc>
              <a:buNone/>
            </a:pPr>
            <a:r>
              <a:rPr lang="en-US" sz="2800" dirty="0">
                <a:latin typeface="Calibir"/>
              </a:rPr>
              <a:t>Shows actual charges and predicted charges side by side</a:t>
            </a:r>
          </a:p>
        </p:txBody>
      </p:sp>
    </p:spTree>
    <p:extLst>
      <p:ext uri="{BB962C8B-B14F-4D97-AF65-F5344CB8AC3E}">
        <p14:creationId xmlns:p14="http://schemas.microsoft.com/office/powerpoint/2010/main" val="4134269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425A4-69F7-49FE-4F92-6D2BF0BA6D8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5FAD702A-31BE-DD4C-3D3F-187CE7BE2BA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71B8981-07F9-A1EF-AFB3-59D1679AE5B8}"/>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5F837A7-EDA7-6DCD-678E-A627A6CA08F0}"/>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97B79B12-693C-EA2B-6525-86B0D2793BAD}"/>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4D8A3604-87AA-0E7B-7451-2D7A9AA28BA1}"/>
              </a:ext>
            </a:extLst>
          </p:cNvPr>
          <p:cNvSpPr txBox="1"/>
          <p:nvPr/>
        </p:nvSpPr>
        <p:spPr>
          <a:xfrm>
            <a:off x="5442154" y="2197865"/>
            <a:ext cx="6430296" cy="3903504"/>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1. Dataset Shape</a:t>
            </a:r>
          </a:p>
          <a:p>
            <a:pPr rtl="0">
              <a:lnSpc>
                <a:spcPct val="150000"/>
              </a:lnSpc>
              <a:buNone/>
            </a:pPr>
            <a:r>
              <a:rPr lang="en-US" sz="2800" dirty="0">
                <a:latin typeface="Calibir"/>
              </a:rPr>
              <a:t>Shape: (1338, 7)</a:t>
            </a:r>
          </a:p>
          <a:p>
            <a:pPr>
              <a:lnSpc>
                <a:spcPct val="150000"/>
              </a:lnSpc>
              <a:buNone/>
            </a:pPr>
            <a:r>
              <a:rPr lang="en-US" sz="2800" dirty="0">
                <a:latin typeface="Calibir"/>
              </a:rPr>
              <a:t>This means:</a:t>
            </a:r>
          </a:p>
          <a:p>
            <a:pPr marL="457200" indent="-457200">
              <a:lnSpc>
                <a:spcPct val="150000"/>
              </a:lnSpc>
              <a:buFont typeface="Arial" panose="020B0604020202020204" pitchFamily="34" charset="0"/>
              <a:buChar char="•"/>
            </a:pPr>
            <a:r>
              <a:rPr lang="en-US" sz="2800" b="1" dirty="0">
                <a:latin typeface="Calibir"/>
              </a:rPr>
              <a:t>1338 rows</a:t>
            </a:r>
            <a:r>
              <a:rPr lang="en-US" sz="2800" dirty="0">
                <a:latin typeface="Calibir"/>
              </a:rPr>
              <a:t> → 1338 people </a:t>
            </a:r>
          </a:p>
          <a:p>
            <a:pPr marL="457200" indent="-457200">
              <a:lnSpc>
                <a:spcPct val="150000"/>
              </a:lnSpc>
              <a:buFont typeface="Arial" panose="020B0604020202020204" pitchFamily="34" charset="0"/>
              <a:buChar char="•"/>
            </a:pPr>
            <a:r>
              <a:rPr lang="en-US" sz="2800" b="1" dirty="0">
                <a:latin typeface="Calibir"/>
              </a:rPr>
              <a:t>7 columns</a:t>
            </a:r>
            <a:r>
              <a:rPr lang="en-US" sz="2800" dirty="0">
                <a:latin typeface="Calibir"/>
              </a:rPr>
              <a:t> → features like age, </a:t>
            </a:r>
            <a:r>
              <a:rPr lang="en-US" sz="2800" dirty="0" err="1">
                <a:latin typeface="Calibir"/>
              </a:rPr>
              <a:t>bmi</a:t>
            </a:r>
            <a:r>
              <a:rPr lang="en-US" sz="2800" dirty="0">
                <a:latin typeface="Calibir"/>
              </a:rPr>
              <a:t>, smoker, etc. </a:t>
            </a:r>
          </a:p>
        </p:txBody>
      </p:sp>
    </p:spTree>
    <p:extLst>
      <p:ext uri="{BB962C8B-B14F-4D97-AF65-F5344CB8AC3E}">
        <p14:creationId xmlns:p14="http://schemas.microsoft.com/office/powerpoint/2010/main" val="667840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5EA53-B007-C4AC-72B8-D7195EA4A0C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A47EBF3-7449-8D82-97B7-0BB0B565A35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BA9750A5-E358-2BC5-BC6A-6F455832CAB3}"/>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762BC5A-5F68-F901-AB5E-6401595D290A}"/>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B1F5CFBE-6667-8911-390F-F70E51DD4922}"/>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CCF4FAFD-D2E3-EA46-5D14-0A8C948E81DE}"/>
              </a:ext>
            </a:extLst>
          </p:cNvPr>
          <p:cNvSpPr txBox="1"/>
          <p:nvPr/>
        </p:nvSpPr>
        <p:spPr>
          <a:xfrm>
            <a:off x="5353664" y="1045898"/>
            <a:ext cx="6838336" cy="5842497"/>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2. Mean Absolute Error (MAE)</a:t>
            </a:r>
          </a:p>
          <a:p>
            <a:pPr>
              <a:lnSpc>
                <a:spcPct val="150000"/>
              </a:lnSpc>
            </a:pPr>
            <a:r>
              <a:rPr lang="en-US" sz="2800" dirty="0">
                <a:latin typeface="Calibir"/>
              </a:rPr>
              <a:t>Mean Absolute Error: 2532.42</a:t>
            </a:r>
          </a:p>
          <a:p>
            <a:pPr>
              <a:lnSpc>
                <a:spcPct val="150000"/>
              </a:lnSpc>
              <a:buNone/>
            </a:pPr>
            <a:r>
              <a:rPr lang="en-US" sz="2800" dirty="0">
                <a:latin typeface="Calibir"/>
              </a:rPr>
              <a:t>This means:</a:t>
            </a:r>
          </a:p>
          <a:p>
            <a:pPr marL="457200" indent="-457200">
              <a:lnSpc>
                <a:spcPct val="150000"/>
              </a:lnSpc>
              <a:buFont typeface="Arial" panose="020B0604020202020204" pitchFamily="34" charset="0"/>
              <a:buChar char="•"/>
            </a:pPr>
            <a:r>
              <a:rPr lang="en-US" sz="2800" dirty="0">
                <a:latin typeface="Calibir"/>
              </a:rPr>
              <a:t>On average, the model is wrong by about $2532 </a:t>
            </a:r>
          </a:p>
          <a:p>
            <a:pPr>
              <a:lnSpc>
                <a:spcPct val="150000"/>
              </a:lnSpc>
              <a:buNone/>
            </a:pPr>
            <a:r>
              <a:rPr lang="en-US" sz="2800" dirty="0">
                <a:latin typeface="Calibir"/>
              </a:rPr>
              <a:t>Example:</a:t>
            </a:r>
          </a:p>
          <a:p>
            <a:pPr marL="457200" indent="-457200">
              <a:lnSpc>
                <a:spcPct val="150000"/>
              </a:lnSpc>
              <a:buFont typeface="Arial" panose="020B0604020202020204" pitchFamily="34" charset="0"/>
              <a:buChar char="•"/>
            </a:pPr>
            <a:r>
              <a:rPr lang="en-US" sz="2800" dirty="0">
                <a:latin typeface="Calibir"/>
              </a:rPr>
              <a:t>Real charge = $10,000 </a:t>
            </a:r>
          </a:p>
          <a:p>
            <a:pPr marL="457200" indent="-457200">
              <a:lnSpc>
                <a:spcPct val="150000"/>
              </a:lnSpc>
              <a:buFont typeface="Arial" panose="020B0604020202020204" pitchFamily="34" charset="0"/>
              <a:buChar char="•"/>
            </a:pPr>
            <a:r>
              <a:rPr lang="en-US" sz="2800" dirty="0">
                <a:latin typeface="Calibir"/>
              </a:rPr>
              <a:t>Predicted = $12,500 </a:t>
            </a:r>
          </a:p>
          <a:p>
            <a:pPr>
              <a:lnSpc>
                <a:spcPct val="150000"/>
              </a:lnSpc>
              <a:buNone/>
            </a:pPr>
            <a:r>
              <a:rPr lang="en-US" sz="2800" dirty="0">
                <a:latin typeface="Calibir"/>
              </a:rPr>
              <a:t>Difference ≈ $2500</a:t>
            </a:r>
          </a:p>
        </p:txBody>
      </p:sp>
    </p:spTree>
    <p:extLst>
      <p:ext uri="{BB962C8B-B14F-4D97-AF65-F5344CB8AC3E}">
        <p14:creationId xmlns:p14="http://schemas.microsoft.com/office/powerpoint/2010/main" val="913316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A3F3C-0DEC-27AA-B2FA-13CD83F0AEC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251458EB-2548-C2EB-F3B6-A277C7BADA2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BC33CA1-1ED3-417E-7EA5-A85A47B6F5A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49115DAE-EE5E-20E3-1565-F5D45E35DC15}"/>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00CF8C3C-1D31-AC11-3D2A-E03FC68D1933}"/>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B0801656-1D82-FF6D-B565-71B7F7E9628C}"/>
              </a:ext>
            </a:extLst>
          </p:cNvPr>
          <p:cNvSpPr txBox="1"/>
          <p:nvPr/>
        </p:nvSpPr>
        <p:spPr>
          <a:xfrm>
            <a:off x="5353664" y="1045898"/>
            <a:ext cx="6838336" cy="5196166"/>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Simple explanation:</a:t>
            </a:r>
          </a:p>
          <a:p>
            <a:pPr>
              <a:lnSpc>
                <a:spcPct val="150000"/>
              </a:lnSpc>
              <a:buNone/>
            </a:pPr>
            <a:r>
              <a:rPr lang="en-US" sz="2800" dirty="0">
                <a:latin typeface="Calibir"/>
              </a:rPr>
              <a:t>The model makes some errors, but this is acceptable because insurance charges can be very large (thousands of dollars).</a:t>
            </a:r>
          </a:p>
          <a:p>
            <a:pPr>
              <a:lnSpc>
                <a:spcPct val="150000"/>
              </a:lnSpc>
              <a:buNone/>
            </a:pPr>
            <a:r>
              <a:rPr lang="en-US" sz="2800" b="1" dirty="0">
                <a:latin typeface="Calibir"/>
              </a:rPr>
              <a:t>3. R² Score</a:t>
            </a:r>
          </a:p>
          <a:p>
            <a:pPr>
              <a:lnSpc>
                <a:spcPct val="150000"/>
              </a:lnSpc>
            </a:pPr>
            <a:r>
              <a:rPr lang="en-US" sz="2800" dirty="0">
                <a:latin typeface="Calibir"/>
              </a:rPr>
              <a:t>R² Score: 0.864</a:t>
            </a:r>
          </a:p>
          <a:p>
            <a:pPr>
              <a:lnSpc>
                <a:spcPct val="150000"/>
              </a:lnSpc>
              <a:buNone/>
            </a:pPr>
            <a:r>
              <a:rPr lang="en-US" sz="2800" dirty="0">
                <a:latin typeface="Calibir"/>
              </a:rPr>
              <a:t>This means:</a:t>
            </a:r>
          </a:p>
          <a:p>
            <a:pPr marL="457200" indent="-457200">
              <a:lnSpc>
                <a:spcPct val="150000"/>
              </a:lnSpc>
              <a:buFont typeface="Arial" panose="020B0604020202020204" pitchFamily="34" charset="0"/>
              <a:buChar char="•"/>
            </a:pPr>
            <a:r>
              <a:rPr lang="en-US" sz="2800" dirty="0">
                <a:latin typeface="Calibir"/>
              </a:rPr>
              <a:t>The model explains about 86% of the data</a:t>
            </a:r>
          </a:p>
        </p:txBody>
      </p:sp>
    </p:spTree>
    <p:extLst>
      <p:ext uri="{BB962C8B-B14F-4D97-AF65-F5344CB8AC3E}">
        <p14:creationId xmlns:p14="http://schemas.microsoft.com/office/powerpoint/2010/main" val="1427700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F950-3F8E-9F4C-1A44-973DD1B80F7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9F2F3BF-6CF1-0DEC-EB6F-D53D3840007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3BFB253-4302-A002-00D2-46705D5980F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6587B23-3971-C970-FA52-1FA1FB3B4378}"/>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E887037B-A1E9-7422-1603-E56B9B3511FE}"/>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CE9C6FE2-21FF-9028-BF96-04BACA17F78E}"/>
              </a:ext>
            </a:extLst>
          </p:cNvPr>
          <p:cNvSpPr txBox="1"/>
          <p:nvPr/>
        </p:nvSpPr>
        <p:spPr>
          <a:xfrm>
            <a:off x="5353664" y="1045898"/>
            <a:ext cx="6838336" cy="5196166"/>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Simple explanation:</a:t>
            </a:r>
          </a:p>
          <a:p>
            <a:pPr>
              <a:lnSpc>
                <a:spcPct val="150000"/>
              </a:lnSpc>
              <a:buNone/>
            </a:pPr>
            <a:r>
              <a:rPr lang="en-US" sz="2800" dirty="0">
                <a:latin typeface="Calibir"/>
              </a:rPr>
              <a:t>This is a very good model because it explains most of the variation in charges.</a:t>
            </a:r>
          </a:p>
          <a:p>
            <a:pPr>
              <a:lnSpc>
                <a:spcPct val="150000"/>
              </a:lnSpc>
              <a:buNone/>
            </a:pPr>
            <a:r>
              <a:rPr lang="en-US" sz="2800" dirty="0">
                <a:latin typeface="Calibir"/>
              </a:rPr>
              <a:t>4. Sample Predictions</a:t>
            </a:r>
          </a:p>
          <a:p>
            <a:pPr>
              <a:lnSpc>
                <a:spcPct val="150000"/>
              </a:lnSpc>
              <a:buNone/>
            </a:pPr>
            <a:r>
              <a:rPr lang="en-US" sz="2800" dirty="0">
                <a:latin typeface="Calibir"/>
              </a:rPr>
              <a:t>Example:</a:t>
            </a:r>
          </a:p>
          <a:p>
            <a:pPr>
              <a:lnSpc>
                <a:spcPct val="150000"/>
              </a:lnSpc>
            </a:pPr>
            <a:r>
              <a:rPr lang="en-US" sz="2800" dirty="0">
                <a:latin typeface="Calibir"/>
              </a:rPr>
              <a:t>Actual: 9095 → Predicted: 10072</a:t>
            </a:r>
            <a:br>
              <a:rPr lang="en-US" sz="2800" dirty="0">
                <a:latin typeface="Calibir"/>
              </a:rPr>
            </a:br>
            <a:r>
              <a:rPr lang="en-US" sz="2800" dirty="0">
                <a:latin typeface="Calibir"/>
              </a:rPr>
              <a:t>Actual: 5272 → Predicted: 5359</a:t>
            </a:r>
            <a:br>
              <a:rPr lang="en-US" sz="2800" dirty="0">
                <a:latin typeface="Calibir"/>
              </a:rPr>
            </a:br>
            <a:r>
              <a:rPr lang="en-US" sz="2800" dirty="0">
                <a:latin typeface="Calibir"/>
              </a:rPr>
              <a:t>Actual: 29330 → Predicted: 28143</a:t>
            </a:r>
          </a:p>
        </p:txBody>
      </p:sp>
    </p:spTree>
    <p:extLst>
      <p:ext uri="{BB962C8B-B14F-4D97-AF65-F5344CB8AC3E}">
        <p14:creationId xmlns:p14="http://schemas.microsoft.com/office/powerpoint/2010/main" val="1944477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20D13-8E9F-062D-6092-FDAD04B74DC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28A5FED0-8257-69C4-FAB5-4571D62163F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9B36633-F303-360A-B824-DE8D3E8BBB1B}"/>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9B682F9C-F264-87FA-7FF2-86C1E9DCA4ED}"/>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D6F3688C-4F82-F11D-E77E-676B1DFF7869}"/>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53B90EDD-565E-F44A-EE22-EE54B6BA1B8E}"/>
              </a:ext>
            </a:extLst>
          </p:cNvPr>
          <p:cNvSpPr txBox="1"/>
          <p:nvPr/>
        </p:nvSpPr>
        <p:spPr>
          <a:xfrm>
            <a:off x="5353664" y="1015503"/>
            <a:ext cx="6838336" cy="5842497"/>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What this means:</a:t>
            </a:r>
          </a:p>
          <a:p>
            <a:pPr>
              <a:lnSpc>
                <a:spcPct val="150000"/>
              </a:lnSpc>
              <a:buNone/>
            </a:pPr>
            <a:r>
              <a:rPr lang="en-US" sz="2800" dirty="0">
                <a:latin typeface="Calibir"/>
              </a:rPr>
              <a:t>The predictions are:</a:t>
            </a:r>
          </a:p>
          <a:p>
            <a:pPr marL="457200" indent="-457200">
              <a:lnSpc>
                <a:spcPct val="150000"/>
              </a:lnSpc>
              <a:buFont typeface="Arial" panose="020B0604020202020204" pitchFamily="34" charset="0"/>
              <a:buChar char="•"/>
            </a:pPr>
            <a:r>
              <a:rPr lang="en-US" sz="2800" dirty="0">
                <a:latin typeface="Calibir"/>
              </a:rPr>
              <a:t>close to real values </a:t>
            </a:r>
          </a:p>
          <a:p>
            <a:pPr marL="457200" indent="-457200">
              <a:lnSpc>
                <a:spcPct val="150000"/>
              </a:lnSpc>
              <a:buFont typeface="Arial" panose="020B0604020202020204" pitchFamily="34" charset="0"/>
              <a:buChar char="•"/>
            </a:pPr>
            <a:r>
              <a:rPr lang="en-US" sz="2800" dirty="0">
                <a:latin typeface="Calibir"/>
              </a:rPr>
              <a:t>not perfect, but reasonable </a:t>
            </a:r>
          </a:p>
          <a:p>
            <a:pPr>
              <a:lnSpc>
                <a:spcPct val="150000"/>
              </a:lnSpc>
              <a:buNone/>
            </a:pPr>
            <a:r>
              <a:rPr lang="en-US" sz="2800" dirty="0">
                <a:latin typeface="Calibir"/>
              </a:rPr>
              <a:t>Important observation:</a:t>
            </a:r>
          </a:p>
          <a:p>
            <a:pPr>
              <a:lnSpc>
                <a:spcPct val="150000"/>
              </a:lnSpc>
              <a:buNone/>
            </a:pPr>
            <a:r>
              <a:rPr lang="en-US" sz="2800" dirty="0">
                <a:latin typeface="Calibir"/>
              </a:rPr>
              <a:t>Sometimes:</a:t>
            </a:r>
          </a:p>
          <a:p>
            <a:pPr marL="457200" indent="-457200">
              <a:lnSpc>
                <a:spcPct val="150000"/>
              </a:lnSpc>
              <a:buFont typeface="Arial" panose="020B0604020202020204" pitchFamily="34" charset="0"/>
              <a:buChar char="•"/>
            </a:pPr>
            <a:r>
              <a:rPr lang="en-US" sz="2800" dirty="0">
                <a:latin typeface="Calibir"/>
              </a:rPr>
              <a:t>Prediction is slightly higher </a:t>
            </a:r>
          </a:p>
          <a:p>
            <a:pPr marL="457200" indent="-457200">
              <a:lnSpc>
                <a:spcPct val="150000"/>
              </a:lnSpc>
              <a:buFont typeface="Arial" panose="020B0604020202020204" pitchFamily="34" charset="0"/>
              <a:buChar char="•"/>
            </a:pPr>
            <a:r>
              <a:rPr lang="en-US" sz="2800" dirty="0">
                <a:latin typeface="Calibir"/>
              </a:rPr>
              <a:t>Sometimes lower </a:t>
            </a:r>
          </a:p>
          <a:p>
            <a:pPr>
              <a:lnSpc>
                <a:spcPct val="150000"/>
              </a:lnSpc>
              <a:buNone/>
            </a:pPr>
            <a:r>
              <a:rPr lang="en-US" sz="2800" dirty="0">
                <a:latin typeface="Calibir"/>
              </a:rPr>
              <a:t>This is normal in regression</a:t>
            </a:r>
          </a:p>
        </p:txBody>
      </p:sp>
    </p:spTree>
    <p:extLst>
      <p:ext uri="{BB962C8B-B14F-4D97-AF65-F5344CB8AC3E}">
        <p14:creationId xmlns:p14="http://schemas.microsoft.com/office/powerpoint/2010/main" val="171312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54DF6-9B6C-312C-B7E7-77A286399E8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356393E-310F-9FFE-24B6-A982011F866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2B27CE5-1C27-A8B7-538E-168D2AC652B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0DF35A3-88B8-8C0F-7272-BF87C6AD533B}"/>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79DCFD18-E48E-B592-4F30-5640A39E1B4E}"/>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032ED6F2-4B15-39ED-ADF5-B9030DEE5D69}"/>
              </a:ext>
            </a:extLst>
          </p:cNvPr>
          <p:cNvSpPr txBox="1"/>
          <p:nvPr/>
        </p:nvSpPr>
        <p:spPr>
          <a:xfrm>
            <a:off x="5353664" y="2197865"/>
            <a:ext cx="6838336" cy="3903504"/>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5. Overall Interpretation</a:t>
            </a:r>
          </a:p>
          <a:p>
            <a:pPr>
              <a:lnSpc>
                <a:spcPct val="150000"/>
              </a:lnSpc>
              <a:buNone/>
            </a:pPr>
            <a:r>
              <a:rPr lang="en-US" sz="2800" dirty="0">
                <a:latin typeface="Calibir"/>
              </a:rPr>
              <a:t>The model is:</a:t>
            </a:r>
          </a:p>
          <a:p>
            <a:pPr>
              <a:lnSpc>
                <a:spcPct val="150000"/>
              </a:lnSpc>
              <a:buNone/>
            </a:pPr>
            <a:r>
              <a:rPr lang="en-US" sz="2800" dirty="0">
                <a:latin typeface="Calibir"/>
              </a:rPr>
              <a:t>Strong model</a:t>
            </a:r>
          </a:p>
          <a:p>
            <a:pPr marL="457200" indent="-457200">
              <a:lnSpc>
                <a:spcPct val="150000"/>
              </a:lnSpc>
              <a:buFont typeface="Arial" panose="020B0604020202020204" pitchFamily="34" charset="0"/>
              <a:buChar char="•"/>
            </a:pPr>
            <a:r>
              <a:rPr lang="en-US" sz="2800" dirty="0">
                <a:latin typeface="Calibir"/>
              </a:rPr>
              <a:t>High R² (0.864) </a:t>
            </a:r>
          </a:p>
          <a:p>
            <a:pPr marL="457200" indent="-457200">
              <a:lnSpc>
                <a:spcPct val="150000"/>
              </a:lnSpc>
              <a:buFont typeface="Arial" panose="020B0604020202020204" pitchFamily="34" charset="0"/>
              <a:buChar char="•"/>
            </a:pPr>
            <a:r>
              <a:rPr lang="en-US" sz="2800" dirty="0">
                <a:latin typeface="Calibir"/>
              </a:rPr>
              <a:t>Reasonable MAE </a:t>
            </a:r>
          </a:p>
          <a:p>
            <a:pPr>
              <a:lnSpc>
                <a:spcPct val="150000"/>
              </a:lnSpc>
              <a:buNone/>
            </a:pPr>
            <a:r>
              <a:rPr lang="en-US" sz="2800" dirty="0">
                <a:latin typeface="Calibir"/>
              </a:rPr>
              <a:t>It can predict insurance charges quite well</a:t>
            </a:r>
          </a:p>
        </p:txBody>
      </p:sp>
    </p:spTree>
    <p:extLst>
      <p:ext uri="{BB962C8B-B14F-4D97-AF65-F5344CB8AC3E}">
        <p14:creationId xmlns:p14="http://schemas.microsoft.com/office/powerpoint/2010/main" val="3641763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4F0E9-F503-4BBD-C2D3-577316C0C6F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EB19A6B-14CC-1D42-FC38-64E41329478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853AD483-79BB-FBA2-8DCF-84C68A26E34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142EB19-4F54-FE4B-AA01-78638DF272A7}"/>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A5D68665-5090-DA38-5949-38342FE23D2D}"/>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32039461-1ED3-A60A-447B-E0CC76487791}"/>
              </a:ext>
            </a:extLst>
          </p:cNvPr>
          <p:cNvSpPr txBox="1"/>
          <p:nvPr/>
        </p:nvSpPr>
        <p:spPr>
          <a:xfrm>
            <a:off x="5353664" y="2197865"/>
            <a:ext cx="6838336" cy="3257174"/>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6. Key Insight (Very Important for Students)</a:t>
            </a:r>
          </a:p>
          <a:p>
            <a:pPr>
              <a:lnSpc>
                <a:spcPct val="150000"/>
              </a:lnSpc>
              <a:buNone/>
            </a:pPr>
            <a:r>
              <a:rPr lang="en-US" sz="2800" dirty="0">
                <a:latin typeface="Calibir"/>
              </a:rPr>
              <a:t>The model works well because:</a:t>
            </a:r>
          </a:p>
          <a:p>
            <a:pPr marL="457200" indent="-457200">
              <a:lnSpc>
                <a:spcPct val="150000"/>
              </a:lnSpc>
              <a:buFont typeface="Arial" panose="020B0604020202020204" pitchFamily="34" charset="0"/>
              <a:buChar char="•"/>
            </a:pPr>
            <a:r>
              <a:rPr lang="en-US" sz="2800" dirty="0">
                <a:latin typeface="Calibir"/>
              </a:rPr>
              <a:t>Features like smoker, age, </a:t>
            </a:r>
            <a:r>
              <a:rPr lang="en-US" sz="2800" dirty="0" err="1">
                <a:latin typeface="Calibir"/>
              </a:rPr>
              <a:t>bmi</a:t>
            </a:r>
            <a:r>
              <a:rPr lang="en-US" sz="2800" dirty="0">
                <a:latin typeface="Calibir"/>
              </a:rPr>
              <a:t> are very important </a:t>
            </a:r>
          </a:p>
          <a:p>
            <a:pPr marL="457200" indent="-457200">
              <a:lnSpc>
                <a:spcPct val="150000"/>
              </a:lnSpc>
              <a:buFont typeface="Arial" panose="020B0604020202020204" pitchFamily="34" charset="0"/>
              <a:buChar char="•"/>
            </a:pPr>
            <a:r>
              <a:rPr lang="en-US" sz="2800" dirty="0">
                <a:latin typeface="Calibir"/>
              </a:rPr>
              <a:t>These strongly affect insurance cost </a:t>
            </a:r>
          </a:p>
        </p:txBody>
      </p:sp>
    </p:spTree>
    <p:extLst>
      <p:ext uri="{BB962C8B-B14F-4D97-AF65-F5344CB8AC3E}">
        <p14:creationId xmlns:p14="http://schemas.microsoft.com/office/powerpoint/2010/main" val="3888851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43AF-37B2-7668-8B19-50403AEBC67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4DB13F7-4922-AA61-88EB-B8C03383E97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7426484C-FD76-7B1C-5591-216371B5AF78}"/>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A0C0388-FFC0-A642-745B-88DF63E45322}"/>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CBCE5D71-927F-62F0-B5E0-870FD754FD7D}"/>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21B4A5E4-6D00-AC4A-EAC5-7DEAC90453E4}"/>
              </a:ext>
            </a:extLst>
          </p:cNvPr>
          <p:cNvSpPr txBox="1"/>
          <p:nvPr/>
        </p:nvSpPr>
        <p:spPr>
          <a:xfrm>
            <a:off x="5353664" y="1350373"/>
            <a:ext cx="6838336" cy="5196166"/>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Simple Summar</a:t>
            </a:r>
          </a:p>
          <a:p>
            <a:pPr>
              <a:lnSpc>
                <a:spcPct val="150000"/>
              </a:lnSpc>
              <a:buNone/>
            </a:pPr>
            <a:r>
              <a:rPr lang="en-US" sz="2800" dirty="0">
                <a:latin typeface="Calibir"/>
              </a:rPr>
              <a:t>The model predicts insurance charges quite well. It has a high R² score (0.864), which means it explains most of the data. The average error is about $2500, which is reasonable because charges can be very large. Overall, the model performs well, but predictions are not perfect.</a:t>
            </a:r>
          </a:p>
        </p:txBody>
      </p:sp>
    </p:spTree>
    <p:extLst>
      <p:ext uri="{BB962C8B-B14F-4D97-AF65-F5344CB8AC3E}">
        <p14:creationId xmlns:p14="http://schemas.microsoft.com/office/powerpoint/2010/main" val="681652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6D8D-6355-8026-E2CA-4B05E1D12F9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1BB6DF0-4EC2-6BA1-C109-7C36FA66188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B4FFF26A-DC75-A9C3-E018-49FEF783487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3ECB62BE-CC67-9A46-54CA-48BEABE2C4C8}"/>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Example: Predict Medical Insurance Charges</a:t>
            </a:r>
          </a:p>
        </p:txBody>
      </p:sp>
      <p:pic>
        <p:nvPicPr>
          <p:cNvPr id="5" name="Picture 4">
            <a:extLst>
              <a:ext uri="{FF2B5EF4-FFF2-40B4-BE49-F238E27FC236}">
                <a16:creationId xmlns:a16="http://schemas.microsoft.com/office/drawing/2014/main" id="{5645309A-F832-3645-F0C6-57A84BD52375}"/>
              </a:ext>
            </a:extLst>
          </p:cNvPr>
          <p:cNvPicPr>
            <a:picLocks noChangeAspect="1"/>
          </p:cNvPicPr>
          <p:nvPr/>
        </p:nvPicPr>
        <p:blipFill>
          <a:blip r:embed="rId3"/>
          <a:srcRect l="5497" t="1001" r="5657" b="13549"/>
          <a:stretch>
            <a:fillRect/>
          </a:stretch>
        </p:blipFill>
        <p:spPr>
          <a:xfrm>
            <a:off x="-94419" y="68639"/>
            <a:ext cx="12192000" cy="6595924"/>
          </a:xfrm>
          <a:prstGeom prst="rect">
            <a:avLst/>
          </a:prstGeom>
        </p:spPr>
      </p:pic>
      <p:sp>
        <p:nvSpPr>
          <p:cNvPr id="12" name="TextBox 11">
            <a:extLst>
              <a:ext uri="{FF2B5EF4-FFF2-40B4-BE49-F238E27FC236}">
                <a16:creationId xmlns:a16="http://schemas.microsoft.com/office/drawing/2014/main" id="{D762A6A0-9707-1B47-FC79-3C6BE6EE190C}"/>
              </a:ext>
            </a:extLst>
          </p:cNvPr>
          <p:cNvSpPr txBox="1"/>
          <p:nvPr/>
        </p:nvSpPr>
        <p:spPr>
          <a:xfrm>
            <a:off x="5353664" y="1350373"/>
            <a:ext cx="6838336" cy="2610843"/>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This is a strong regression model — it explains most of the data and makes reasonably accurate predictions, but still has some error.</a:t>
            </a:r>
          </a:p>
        </p:txBody>
      </p:sp>
    </p:spTree>
    <p:extLst>
      <p:ext uri="{BB962C8B-B14F-4D97-AF65-F5344CB8AC3E}">
        <p14:creationId xmlns:p14="http://schemas.microsoft.com/office/powerpoint/2010/main" val="1690252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E75F3-1E32-DED1-6F9D-194669D29FE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37CF0A5-755F-9F57-5617-AECE6A87A21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7CC6ABA-010E-B671-A8CE-F2979A2232A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6CA05B1-0077-4DB9-C47B-438AA1AC1D48}"/>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1: Change the test size</a:t>
            </a:r>
          </a:p>
        </p:txBody>
      </p:sp>
      <p:sp>
        <p:nvSpPr>
          <p:cNvPr id="3" name="TextBox 2">
            <a:extLst>
              <a:ext uri="{FF2B5EF4-FFF2-40B4-BE49-F238E27FC236}">
                <a16:creationId xmlns:a16="http://schemas.microsoft.com/office/drawing/2014/main" id="{182C8234-C910-E788-1B7A-26971EFE89E1}"/>
              </a:ext>
            </a:extLst>
          </p:cNvPr>
          <p:cNvSpPr txBox="1"/>
          <p:nvPr/>
        </p:nvSpPr>
        <p:spPr>
          <a:xfrm>
            <a:off x="94419" y="655502"/>
            <a:ext cx="10615622" cy="6133859"/>
          </a:xfrm>
          <a:prstGeom prst="rect">
            <a:avLst/>
          </a:prstGeom>
          <a:noFill/>
        </p:spPr>
        <p:txBody>
          <a:bodyPr wrap="square">
            <a:spAutoFit/>
          </a:bodyPr>
          <a:lstStyle/>
          <a:p>
            <a:pPr>
              <a:lnSpc>
                <a:spcPct val="150000"/>
              </a:lnSpc>
              <a:buNone/>
            </a:pPr>
            <a:r>
              <a:rPr lang="en-US" sz="2200" b="1" dirty="0">
                <a:latin typeface="Calibir"/>
              </a:rPr>
              <a:t>Change this:</a:t>
            </a:r>
          </a:p>
          <a:p>
            <a:pPr rtl="0">
              <a:lnSpc>
                <a:spcPct val="150000"/>
              </a:lnSpc>
              <a:buNone/>
            </a:pPr>
            <a:r>
              <a:rPr lang="en-US" sz="2200" dirty="0" err="1">
                <a:latin typeface="Calibir"/>
              </a:rPr>
              <a:t>test_size</a:t>
            </a:r>
            <a:r>
              <a:rPr lang="en-US" sz="2200" dirty="0">
                <a:latin typeface="Calibir"/>
              </a:rPr>
              <a:t>=0.2</a:t>
            </a:r>
          </a:p>
          <a:p>
            <a:pPr>
              <a:lnSpc>
                <a:spcPct val="150000"/>
              </a:lnSpc>
              <a:buNone/>
            </a:pPr>
            <a:r>
              <a:rPr lang="en-US" sz="2200" b="1" dirty="0">
                <a:latin typeface="Calibir"/>
              </a:rPr>
              <a:t>Try:</a:t>
            </a:r>
          </a:p>
          <a:p>
            <a:pPr rtl="0">
              <a:lnSpc>
                <a:spcPct val="150000"/>
              </a:lnSpc>
              <a:buNone/>
            </a:pPr>
            <a:r>
              <a:rPr lang="en-US" sz="2200" dirty="0" err="1">
                <a:latin typeface="Calibir"/>
              </a:rPr>
              <a:t>test_size</a:t>
            </a:r>
            <a:r>
              <a:rPr lang="en-US" sz="2200" dirty="0">
                <a:latin typeface="Calibir"/>
              </a:rPr>
              <a:t>=0.3</a:t>
            </a:r>
            <a:br>
              <a:rPr lang="en-US" sz="2200" dirty="0">
                <a:latin typeface="Calibir"/>
              </a:rPr>
            </a:br>
            <a:r>
              <a:rPr lang="en-US" sz="2200" dirty="0" err="1">
                <a:latin typeface="Calibir"/>
              </a:rPr>
              <a:t>test_size</a:t>
            </a:r>
            <a:r>
              <a:rPr lang="en-US" sz="2200" dirty="0">
                <a:latin typeface="Calibir"/>
              </a:rPr>
              <a:t>=0.1</a:t>
            </a:r>
          </a:p>
          <a:p>
            <a:pPr>
              <a:lnSpc>
                <a:spcPct val="150000"/>
              </a:lnSpc>
              <a:buNone/>
            </a:pPr>
            <a:r>
              <a:rPr lang="en-US" sz="2200" b="1" dirty="0">
                <a:latin typeface="Calibir"/>
              </a:rPr>
              <a:t>Questions:</a:t>
            </a:r>
          </a:p>
          <a:p>
            <a:pPr marL="457200" indent="-457200">
              <a:lnSpc>
                <a:spcPct val="150000"/>
              </a:lnSpc>
              <a:buFont typeface="+mj-lt"/>
              <a:buAutoNum type="arabicPeriod"/>
            </a:pPr>
            <a:r>
              <a:rPr lang="en-US" sz="2200" dirty="0">
                <a:latin typeface="Calibir"/>
              </a:rPr>
              <a:t>Does MAE change? </a:t>
            </a:r>
          </a:p>
          <a:p>
            <a:pPr marL="457200" indent="-457200">
              <a:lnSpc>
                <a:spcPct val="150000"/>
              </a:lnSpc>
              <a:buFont typeface="+mj-lt"/>
              <a:buAutoNum type="arabicPeriod"/>
            </a:pPr>
            <a:r>
              <a:rPr lang="en-US" sz="2200" dirty="0">
                <a:latin typeface="Calibir"/>
              </a:rPr>
              <a:t>Does R² change? </a:t>
            </a:r>
          </a:p>
          <a:p>
            <a:pPr marL="457200" indent="-457200">
              <a:lnSpc>
                <a:spcPct val="150000"/>
              </a:lnSpc>
              <a:buFont typeface="+mj-lt"/>
              <a:buAutoNum type="arabicPeriod"/>
            </a:pPr>
            <a:r>
              <a:rPr lang="en-US" sz="2200" dirty="0">
                <a:latin typeface="Calibir"/>
              </a:rPr>
              <a:t>Which test size gives better results? </a:t>
            </a:r>
          </a:p>
          <a:p>
            <a:pPr>
              <a:lnSpc>
                <a:spcPct val="150000"/>
              </a:lnSpc>
              <a:buNone/>
            </a:pPr>
            <a:r>
              <a:rPr lang="en-US" sz="2200" b="1" dirty="0">
                <a:latin typeface="Calibir"/>
              </a:rPr>
              <a:t>Hint:</a:t>
            </a:r>
          </a:p>
          <a:p>
            <a:pPr marL="342900" indent="-342900">
              <a:lnSpc>
                <a:spcPct val="150000"/>
              </a:lnSpc>
              <a:buFont typeface="Arial" panose="020B0604020202020204" pitchFamily="34" charset="0"/>
              <a:buChar char="•"/>
            </a:pPr>
            <a:r>
              <a:rPr lang="en-US" sz="2200" dirty="0">
                <a:latin typeface="Calibir"/>
              </a:rPr>
              <a:t>More training data can help the model learn better </a:t>
            </a:r>
          </a:p>
          <a:p>
            <a:pPr marL="342900" indent="-342900">
              <a:lnSpc>
                <a:spcPct val="150000"/>
              </a:lnSpc>
              <a:buFont typeface="Arial" panose="020B0604020202020204" pitchFamily="34" charset="0"/>
              <a:buChar char="•"/>
            </a:pPr>
            <a:r>
              <a:rPr lang="en-US" sz="2200" dirty="0">
                <a:latin typeface="Calibir"/>
              </a:rPr>
              <a:t>But less test data means evaluation may be less stable</a:t>
            </a:r>
          </a:p>
        </p:txBody>
      </p:sp>
      <p:sp>
        <p:nvSpPr>
          <p:cNvPr id="9" name="TextBox 8">
            <a:extLst>
              <a:ext uri="{FF2B5EF4-FFF2-40B4-BE49-F238E27FC236}">
                <a16:creationId xmlns:a16="http://schemas.microsoft.com/office/drawing/2014/main" id="{0A6A37F0-A933-42DB-89BB-EDDB591DC415}"/>
              </a:ext>
            </a:extLst>
          </p:cNvPr>
          <p:cNvSpPr txBox="1"/>
          <p:nvPr/>
        </p:nvSpPr>
        <p:spPr>
          <a:xfrm>
            <a:off x="5194145" y="1800413"/>
            <a:ext cx="6430296" cy="3257174"/>
          </a:xfrm>
          <a:prstGeom prst="rect">
            <a:avLst/>
          </a:prstGeom>
          <a:noFill/>
        </p:spPr>
        <p:txBody>
          <a:bodyPr wrap="square">
            <a:spAutoFit/>
          </a:bodyPr>
          <a:lstStyle/>
          <a:p>
            <a:pPr>
              <a:lnSpc>
                <a:spcPct val="150000"/>
              </a:lnSpc>
              <a:buNone/>
            </a:pPr>
            <a:r>
              <a:rPr lang="en-US" sz="2800" b="1" dirty="0">
                <a:latin typeface="Calibir"/>
              </a:rPr>
              <a:t>For Task 1</a:t>
            </a:r>
          </a:p>
          <a:p>
            <a:pPr>
              <a:lnSpc>
                <a:spcPct val="150000"/>
              </a:lnSpc>
              <a:buNone/>
            </a:pPr>
            <a:r>
              <a:rPr lang="en-US" sz="2800" dirty="0">
                <a:latin typeface="Calibir"/>
              </a:rPr>
              <a:t>When I changed the test size, the MAE changed from ___ to ___.</a:t>
            </a:r>
            <a:br>
              <a:rPr lang="en-US" sz="2800" dirty="0">
                <a:latin typeface="Calibir"/>
              </a:rPr>
            </a:br>
            <a:r>
              <a:rPr lang="en-US" sz="2800" dirty="0">
                <a:latin typeface="Calibir"/>
              </a:rPr>
              <a:t>The R² changed from ___ to ___.</a:t>
            </a:r>
            <a:br>
              <a:rPr lang="en-US" sz="2800" dirty="0">
                <a:latin typeface="Calibir"/>
              </a:rPr>
            </a:br>
            <a:r>
              <a:rPr lang="en-US" sz="2800" dirty="0">
                <a:latin typeface="Calibir"/>
              </a:rPr>
              <a:t>I think this happened because ___.</a:t>
            </a:r>
          </a:p>
        </p:txBody>
      </p:sp>
    </p:spTree>
    <p:extLst>
      <p:ext uri="{BB962C8B-B14F-4D97-AF65-F5344CB8AC3E}">
        <p14:creationId xmlns:p14="http://schemas.microsoft.com/office/powerpoint/2010/main" val="2770490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44D9-4DBE-890E-A7A8-549533E9530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1FFA85E-917F-E18F-5DFA-CB0F731D662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7CEC14FF-DB75-BBBD-B0A3-8AAA3C4314D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D55F736-7445-F2D7-CAE7-59A00E454AD6}"/>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1: Change the test size</a:t>
            </a:r>
          </a:p>
        </p:txBody>
      </p:sp>
      <p:sp>
        <p:nvSpPr>
          <p:cNvPr id="3" name="TextBox 2">
            <a:extLst>
              <a:ext uri="{FF2B5EF4-FFF2-40B4-BE49-F238E27FC236}">
                <a16:creationId xmlns:a16="http://schemas.microsoft.com/office/drawing/2014/main" id="{2AAFB192-CA56-2653-BE66-B22F91B7B41F}"/>
              </a:ext>
            </a:extLst>
          </p:cNvPr>
          <p:cNvSpPr txBox="1"/>
          <p:nvPr/>
        </p:nvSpPr>
        <p:spPr>
          <a:xfrm>
            <a:off x="94419" y="655502"/>
            <a:ext cx="10615622" cy="1964512"/>
          </a:xfrm>
          <a:prstGeom prst="rect">
            <a:avLst/>
          </a:prstGeom>
          <a:noFill/>
        </p:spPr>
        <p:txBody>
          <a:bodyPr wrap="square">
            <a:spAutoFit/>
          </a:bodyPr>
          <a:lstStyle/>
          <a:p>
            <a:pPr>
              <a:lnSpc>
                <a:spcPct val="150000"/>
              </a:lnSpc>
              <a:buNone/>
            </a:pPr>
            <a:r>
              <a:rPr lang="en-US" sz="2800" dirty="0">
                <a:latin typeface="Calibir"/>
              </a:rPr>
              <a:t>A smaller test size may improve results slightly because the model gets more training data.</a:t>
            </a:r>
            <a:br>
              <a:rPr lang="en-US" sz="2800" dirty="0">
                <a:latin typeface="Calibir"/>
              </a:rPr>
            </a:br>
            <a:r>
              <a:rPr lang="en-US" sz="2800" dirty="0">
                <a:latin typeface="Calibir"/>
              </a:rPr>
              <a:t>But we still need enough test data for a fair evaluation.</a:t>
            </a:r>
          </a:p>
        </p:txBody>
      </p:sp>
    </p:spTree>
    <p:extLst>
      <p:ext uri="{BB962C8B-B14F-4D97-AF65-F5344CB8AC3E}">
        <p14:creationId xmlns:p14="http://schemas.microsoft.com/office/powerpoint/2010/main" val="1277907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07892-01A7-BE27-073C-B9FE18B88AB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206D3B6-F6E0-FBC9-D197-F3982164E82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ADFA280-A896-9F6B-F157-789CDFB4CB33}"/>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F941190-6BAA-7C1A-C9FB-967862B8CEE5}"/>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2: Change the number of trees</a:t>
            </a:r>
          </a:p>
        </p:txBody>
      </p:sp>
      <p:sp>
        <p:nvSpPr>
          <p:cNvPr id="3" name="TextBox 2">
            <a:extLst>
              <a:ext uri="{FF2B5EF4-FFF2-40B4-BE49-F238E27FC236}">
                <a16:creationId xmlns:a16="http://schemas.microsoft.com/office/drawing/2014/main" id="{988BFD13-159E-95B1-D1FF-EC26B6804379}"/>
              </a:ext>
            </a:extLst>
          </p:cNvPr>
          <p:cNvSpPr txBox="1"/>
          <p:nvPr/>
        </p:nvSpPr>
        <p:spPr>
          <a:xfrm>
            <a:off x="94419" y="655502"/>
            <a:ext cx="10615622" cy="5842497"/>
          </a:xfrm>
          <a:prstGeom prst="rect">
            <a:avLst/>
          </a:prstGeom>
          <a:noFill/>
        </p:spPr>
        <p:txBody>
          <a:bodyPr wrap="square">
            <a:spAutoFit/>
          </a:bodyPr>
          <a:lstStyle/>
          <a:p>
            <a:pPr>
              <a:lnSpc>
                <a:spcPct val="150000"/>
              </a:lnSpc>
            </a:pPr>
            <a:r>
              <a:rPr lang="en-US" sz="2800" b="1" dirty="0">
                <a:latin typeface="Calibir"/>
              </a:rPr>
              <a:t>Change this:</a:t>
            </a:r>
          </a:p>
          <a:p>
            <a:pPr>
              <a:lnSpc>
                <a:spcPct val="150000"/>
              </a:lnSpc>
            </a:pPr>
            <a:r>
              <a:rPr lang="en-US" sz="2800" dirty="0" err="1">
                <a:latin typeface="Calibir"/>
              </a:rPr>
              <a:t>n_estimators</a:t>
            </a:r>
            <a:r>
              <a:rPr lang="en-US" sz="2800" dirty="0">
                <a:latin typeface="Calibir"/>
              </a:rPr>
              <a:t>=200</a:t>
            </a:r>
          </a:p>
          <a:p>
            <a:pPr>
              <a:lnSpc>
                <a:spcPct val="150000"/>
              </a:lnSpc>
            </a:pPr>
            <a:r>
              <a:rPr lang="en-US" sz="2800" b="1" dirty="0">
                <a:latin typeface="Calibir"/>
              </a:rPr>
              <a:t>Try:</a:t>
            </a:r>
          </a:p>
          <a:p>
            <a:pPr>
              <a:lnSpc>
                <a:spcPct val="150000"/>
              </a:lnSpc>
            </a:pPr>
            <a:r>
              <a:rPr lang="en-US" sz="2800" dirty="0" err="1">
                <a:latin typeface="Calibir"/>
              </a:rPr>
              <a:t>n_estimators</a:t>
            </a:r>
            <a:r>
              <a:rPr lang="en-US" sz="2800" dirty="0">
                <a:latin typeface="Calibir"/>
              </a:rPr>
              <a:t>=50</a:t>
            </a:r>
            <a:br>
              <a:rPr lang="en-US" sz="2800" dirty="0">
                <a:latin typeface="Calibir"/>
              </a:rPr>
            </a:br>
            <a:r>
              <a:rPr lang="en-US" sz="2800" dirty="0" err="1">
                <a:latin typeface="Calibir"/>
              </a:rPr>
              <a:t>n_estimators</a:t>
            </a:r>
            <a:r>
              <a:rPr lang="en-US" sz="2800" dirty="0">
                <a:latin typeface="Calibir"/>
              </a:rPr>
              <a:t>=500</a:t>
            </a:r>
          </a:p>
          <a:p>
            <a:pPr>
              <a:lnSpc>
                <a:spcPct val="150000"/>
              </a:lnSpc>
            </a:pPr>
            <a:r>
              <a:rPr lang="en-US" sz="2800" b="1" dirty="0">
                <a:latin typeface="Calibir"/>
              </a:rPr>
              <a:t>Questions:</a:t>
            </a:r>
          </a:p>
          <a:p>
            <a:pPr marL="971550" lvl="1" indent="-514350">
              <a:lnSpc>
                <a:spcPct val="150000"/>
              </a:lnSpc>
              <a:buFont typeface="+mj-lt"/>
              <a:buAutoNum type="arabicPeriod"/>
            </a:pPr>
            <a:r>
              <a:rPr lang="en-US" sz="2800" dirty="0">
                <a:latin typeface="Calibir"/>
              </a:rPr>
              <a:t>Does MAE improve? </a:t>
            </a:r>
          </a:p>
          <a:p>
            <a:pPr marL="971550" lvl="1" indent="-514350">
              <a:lnSpc>
                <a:spcPct val="150000"/>
              </a:lnSpc>
              <a:buFont typeface="+mj-lt"/>
              <a:buAutoNum type="arabicPeriod"/>
            </a:pPr>
            <a:r>
              <a:rPr lang="en-US" sz="2800" dirty="0">
                <a:latin typeface="Calibir"/>
              </a:rPr>
              <a:t>Does R² improve? </a:t>
            </a:r>
          </a:p>
          <a:p>
            <a:pPr marL="971550" lvl="1" indent="-514350">
              <a:lnSpc>
                <a:spcPct val="150000"/>
              </a:lnSpc>
              <a:buFont typeface="+mj-lt"/>
              <a:buAutoNum type="arabicPeriod"/>
            </a:pPr>
            <a:r>
              <a:rPr lang="en-US" sz="2800" dirty="0">
                <a:latin typeface="Calibir"/>
              </a:rPr>
              <a:t>Is a bigger number always better? </a:t>
            </a:r>
          </a:p>
        </p:txBody>
      </p:sp>
      <p:sp>
        <p:nvSpPr>
          <p:cNvPr id="5" name="TextBox 4">
            <a:extLst>
              <a:ext uri="{FF2B5EF4-FFF2-40B4-BE49-F238E27FC236}">
                <a16:creationId xmlns:a16="http://schemas.microsoft.com/office/drawing/2014/main" id="{1A0A053B-3AF7-F714-04D3-B261C4E9B285}"/>
              </a:ext>
            </a:extLst>
          </p:cNvPr>
          <p:cNvSpPr txBox="1"/>
          <p:nvPr/>
        </p:nvSpPr>
        <p:spPr>
          <a:xfrm>
            <a:off x="4704735" y="3438770"/>
            <a:ext cx="7487265" cy="2610843"/>
          </a:xfrm>
          <a:prstGeom prst="rect">
            <a:avLst/>
          </a:prstGeom>
          <a:noFill/>
        </p:spPr>
        <p:txBody>
          <a:bodyPr wrap="square">
            <a:spAutoFit/>
          </a:bodyPr>
          <a:lstStyle/>
          <a:p>
            <a:pPr>
              <a:lnSpc>
                <a:spcPct val="150000"/>
              </a:lnSpc>
            </a:pPr>
            <a:r>
              <a:rPr lang="en-US" sz="2800" b="1" dirty="0">
                <a:latin typeface="Calibir"/>
              </a:rPr>
              <a:t>Hint:</a:t>
            </a:r>
          </a:p>
          <a:p>
            <a:pPr marL="914400" lvl="1" indent="-457200">
              <a:lnSpc>
                <a:spcPct val="150000"/>
              </a:lnSpc>
              <a:buFont typeface="Arial" panose="020B0604020202020204" pitchFamily="34" charset="0"/>
              <a:buChar char="•"/>
            </a:pPr>
            <a:r>
              <a:rPr lang="en-US" sz="2800" dirty="0">
                <a:latin typeface="Calibir"/>
              </a:rPr>
              <a:t>More trees often help </a:t>
            </a:r>
          </a:p>
          <a:p>
            <a:pPr marL="914400" lvl="1" indent="-457200">
              <a:lnSpc>
                <a:spcPct val="150000"/>
              </a:lnSpc>
              <a:buFont typeface="Arial" panose="020B0604020202020204" pitchFamily="34" charset="0"/>
              <a:buChar char="•"/>
            </a:pPr>
            <a:r>
              <a:rPr lang="en-US" sz="2800" dirty="0">
                <a:latin typeface="Calibir"/>
              </a:rPr>
              <a:t>But after some point, improvement may be small</a:t>
            </a:r>
          </a:p>
        </p:txBody>
      </p:sp>
      <p:sp>
        <p:nvSpPr>
          <p:cNvPr id="9" name="TextBox 8">
            <a:extLst>
              <a:ext uri="{FF2B5EF4-FFF2-40B4-BE49-F238E27FC236}">
                <a16:creationId xmlns:a16="http://schemas.microsoft.com/office/drawing/2014/main" id="{F50FA6E2-8927-5856-2595-AA36E538CDDF}"/>
              </a:ext>
            </a:extLst>
          </p:cNvPr>
          <p:cNvSpPr txBox="1"/>
          <p:nvPr/>
        </p:nvSpPr>
        <p:spPr>
          <a:xfrm>
            <a:off x="4704735" y="837520"/>
            <a:ext cx="6459792" cy="2610843"/>
          </a:xfrm>
          <a:prstGeom prst="rect">
            <a:avLst/>
          </a:prstGeom>
          <a:noFill/>
        </p:spPr>
        <p:txBody>
          <a:bodyPr wrap="square">
            <a:spAutoFit/>
          </a:bodyPr>
          <a:lstStyle/>
          <a:p>
            <a:pPr>
              <a:lnSpc>
                <a:spcPct val="150000"/>
              </a:lnSpc>
              <a:buNone/>
            </a:pPr>
            <a:r>
              <a:rPr lang="en-US" sz="2800" b="1" dirty="0">
                <a:latin typeface="Calibir"/>
              </a:rPr>
              <a:t>For Task 2</a:t>
            </a:r>
          </a:p>
          <a:p>
            <a:pPr>
              <a:lnSpc>
                <a:spcPct val="150000"/>
              </a:lnSpc>
              <a:buNone/>
            </a:pPr>
            <a:r>
              <a:rPr lang="en-US" sz="2800" dirty="0">
                <a:latin typeface="Calibir"/>
              </a:rPr>
              <a:t>When I increased the number of trees, the model became ___ .</a:t>
            </a:r>
            <a:br>
              <a:rPr lang="en-US" sz="2800" dirty="0">
                <a:latin typeface="Calibir"/>
              </a:rPr>
            </a:br>
            <a:r>
              <a:rPr lang="en-US" sz="2800" dirty="0">
                <a:latin typeface="Calibir"/>
              </a:rPr>
              <a:t>The results changed because ___.</a:t>
            </a:r>
          </a:p>
        </p:txBody>
      </p:sp>
    </p:spTree>
    <p:extLst>
      <p:ext uri="{BB962C8B-B14F-4D97-AF65-F5344CB8AC3E}">
        <p14:creationId xmlns:p14="http://schemas.microsoft.com/office/powerpoint/2010/main" val="3872922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2C26-669B-B31E-5077-9A3E501C13EB}"/>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0A629CF-696E-227E-4AE1-BEA4EEA2DAD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3FB801B-982D-4C4A-58A7-1B8BEE41E498}"/>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B83A1D49-93A7-3CEA-DB0D-413814419483}"/>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2: Change the number of trees</a:t>
            </a:r>
          </a:p>
        </p:txBody>
      </p:sp>
      <p:sp>
        <p:nvSpPr>
          <p:cNvPr id="3" name="TextBox 2">
            <a:extLst>
              <a:ext uri="{FF2B5EF4-FFF2-40B4-BE49-F238E27FC236}">
                <a16:creationId xmlns:a16="http://schemas.microsoft.com/office/drawing/2014/main" id="{EA27DE4F-E4BD-47DE-F4A1-26E181F7EB33}"/>
              </a:ext>
            </a:extLst>
          </p:cNvPr>
          <p:cNvSpPr txBox="1"/>
          <p:nvPr/>
        </p:nvSpPr>
        <p:spPr>
          <a:xfrm>
            <a:off x="94419" y="655502"/>
            <a:ext cx="10615622" cy="1321772"/>
          </a:xfrm>
          <a:prstGeom prst="rect">
            <a:avLst/>
          </a:prstGeom>
          <a:noFill/>
        </p:spPr>
        <p:txBody>
          <a:bodyPr wrap="square">
            <a:spAutoFit/>
          </a:bodyPr>
          <a:lstStyle/>
          <a:p>
            <a:pPr>
              <a:lnSpc>
                <a:spcPct val="150000"/>
              </a:lnSpc>
            </a:pPr>
            <a:r>
              <a:rPr lang="en-US" sz="2800" dirty="0">
                <a:latin typeface="Calibir"/>
              </a:rPr>
              <a:t>Increasing the number of trees may improve the model a little, but it also makes the model slower. Bigger is not always much better.</a:t>
            </a:r>
          </a:p>
        </p:txBody>
      </p:sp>
    </p:spTree>
    <p:extLst>
      <p:ext uri="{BB962C8B-B14F-4D97-AF65-F5344CB8AC3E}">
        <p14:creationId xmlns:p14="http://schemas.microsoft.com/office/powerpoint/2010/main" val="3552895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E467-6325-179B-1910-E48F32647BC2}"/>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04CD28B-3027-C5BB-DD5C-BAA185D618A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AC394F75-F7A4-A58C-9DF6-0DC027D4681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E998115-BF95-0FB2-C21D-021ABC08783A}"/>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3: Remove one important feature</a:t>
            </a:r>
          </a:p>
        </p:txBody>
      </p:sp>
      <p:sp>
        <p:nvSpPr>
          <p:cNvPr id="3" name="TextBox 2">
            <a:extLst>
              <a:ext uri="{FF2B5EF4-FFF2-40B4-BE49-F238E27FC236}">
                <a16:creationId xmlns:a16="http://schemas.microsoft.com/office/drawing/2014/main" id="{2DC66154-0439-72DF-0C3E-0C61C3603C7E}"/>
              </a:ext>
            </a:extLst>
          </p:cNvPr>
          <p:cNvSpPr txBox="1"/>
          <p:nvPr/>
        </p:nvSpPr>
        <p:spPr>
          <a:xfrm>
            <a:off x="94419" y="655502"/>
            <a:ext cx="10615622" cy="5196166"/>
          </a:xfrm>
          <a:prstGeom prst="rect">
            <a:avLst/>
          </a:prstGeom>
          <a:noFill/>
        </p:spPr>
        <p:txBody>
          <a:bodyPr wrap="square">
            <a:spAutoFit/>
          </a:bodyPr>
          <a:lstStyle/>
          <a:p>
            <a:pPr>
              <a:lnSpc>
                <a:spcPct val="150000"/>
              </a:lnSpc>
            </a:pPr>
            <a:r>
              <a:rPr lang="en-US" sz="2800" b="1" dirty="0">
                <a:latin typeface="Calibir"/>
              </a:rPr>
              <a:t>Change this:</a:t>
            </a:r>
          </a:p>
          <a:p>
            <a:pPr>
              <a:lnSpc>
                <a:spcPct val="150000"/>
              </a:lnSpc>
            </a:pPr>
            <a:r>
              <a:rPr lang="en-US" sz="2800" dirty="0">
                <a:latin typeface="Calibir"/>
              </a:rPr>
              <a:t>X = </a:t>
            </a:r>
            <a:r>
              <a:rPr lang="en-US" sz="2800" dirty="0" err="1">
                <a:latin typeface="Calibir"/>
              </a:rPr>
              <a:t>df.drop</a:t>
            </a:r>
            <a:r>
              <a:rPr lang="en-US" sz="2800" dirty="0">
                <a:latin typeface="Calibir"/>
              </a:rPr>
              <a:t>("charges", axis=1)</a:t>
            </a:r>
          </a:p>
          <a:p>
            <a:pPr>
              <a:lnSpc>
                <a:spcPct val="150000"/>
              </a:lnSpc>
            </a:pPr>
            <a:r>
              <a:rPr lang="en-US" sz="2800" b="1" dirty="0">
                <a:latin typeface="Calibir"/>
              </a:rPr>
              <a:t>Try removing smoker:</a:t>
            </a:r>
          </a:p>
          <a:p>
            <a:pPr>
              <a:lnSpc>
                <a:spcPct val="150000"/>
              </a:lnSpc>
            </a:pPr>
            <a:r>
              <a:rPr lang="en-US" sz="2800" dirty="0">
                <a:latin typeface="Calibir"/>
              </a:rPr>
              <a:t>X = </a:t>
            </a:r>
            <a:r>
              <a:rPr lang="en-US" sz="2800" dirty="0" err="1">
                <a:latin typeface="Calibir"/>
              </a:rPr>
              <a:t>df.drop</a:t>
            </a:r>
            <a:r>
              <a:rPr lang="en-US" sz="2800" dirty="0">
                <a:latin typeface="Calibir"/>
              </a:rPr>
              <a:t>(["charges", "smoker"], axis=1)</a:t>
            </a:r>
          </a:p>
          <a:p>
            <a:pPr>
              <a:lnSpc>
                <a:spcPct val="150000"/>
              </a:lnSpc>
            </a:pPr>
            <a:r>
              <a:rPr lang="en-US" sz="2800" b="1" dirty="0">
                <a:latin typeface="Calibir"/>
              </a:rPr>
              <a:t>Questions:</a:t>
            </a:r>
          </a:p>
          <a:p>
            <a:pPr marL="971550" lvl="1" indent="-514350">
              <a:lnSpc>
                <a:spcPct val="150000"/>
              </a:lnSpc>
              <a:buFont typeface="+mj-lt"/>
              <a:buAutoNum type="arabicPeriod"/>
            </a:pPr>
            <a:r>
              <a:rPr lang="en-US" sz="2800" dirty="0">
                <a:latin typeface="Calibir"/>
              </a:rPr>
              <a:t>Does MAE become worse? </a:t>
            </a:r>
          </a:p>
          <a:p>
            <a:pPr marL="971550" lvl="1" indent="-514350">
              <a:lnSpc>
                <a:spcPct val="150000"/>
              </a:lnSpc>
              <a:buFont typeface="+mj-lt"/>
              <a:buAutoNum type="arabicPeriod"/>
            </a:pPr>
            <a:r>
              <a:rPr lang="en-US" sz="2800" dirty="0">
                <a:latin typeface="Calibir"/>
              </a:rPr>
              <a:t>Does R² go down? </a:t>
            </a:r>
          </a:p>
          <a:p>
            <a:pPr marL="971550" lvl="1" indent="-514350">
              <a:lnSpc>
                <a:spcPct val="150000"/>
              </a:lnSpc>
              <a:buFont typeface="+mj-lt"/>
              <a:buAutoNum type="arabicPeriod"/>
            </a:pPr>
            <a:r>
              <a:rPr lang="en-US" sz="2800" dirty="0">
                <a:latin typeface="Calibir"/>
              </a:rPr>
              <a:t>Why?</a:t>
            </a:r>
          </a:p>
        </p:txBody>
      </p:sp>
      <p:sp>
        <p:nvSpPr>
          <p:cNvPr id="5" name="TextBox 4">
            <a:extLst>
              <a:ext uri="{FF2B5EF4-FFF2-40B4-BE49-F238E27FC236}">
                <a16:creationId xmlns:a16="http://schemas.microsoft.com/office/drawing/2014/main" id="{EC8FC12B-74DF-2A50-4819-40063BF8E18D}"/>
              </a:ext>
            </a:extLst>
          </p:cNvPr>
          <p:cNvSpPr txBox="1"/>
          <p:nvPr/>
        </p:nvSpPr>
        <p:spPr>
          <a:xfrm>
            <a:off x="6356555" y="4869412"/>
            <a:ext cx="5835445" cy="1964512"/>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Smoking often has a strong effect on insurance charges </a:t>
            </a:r>
          </a:p>
        </p:txBody>
      </p:sp>
      <p:sp>
        <p:nvSpPr>
          <p:cNvPr id="9" name="TextBox 8">
            <a:extLst>
              <a:ext uri="{FF2B5EF4-FFF2-40B4-BE49-F238E27FC236}">
                <a16:creationId xmlns:a16="http://schemas.microsoft.com/office/drawing/2014/main" id="{061ED37E-9087-67DA-C609-83945BA72D1B}"/>
              </a:ext>
            </a:extLst>
          </p:cNvPr>
          <p:cNvSpPr txBox="1"/>
          <p:nvPr/>
        </p:nvSpPr>
        <p:spPr>
          <a:xfrm>
            <a:off x="6356554" y="1150106"/>
            <a:ext cx="5835445" cy="3257174"/>
          </a:xfrm>
          <a:prstGeom prst="rect">
            <a:avLst/>
          </a:prstGeom>
          <a:noFill/>
        </p:spPr>
        <p:txBody>
          <a:bodyPr wrap="square">
            <a:spAutoFit/>
          </a:bodyPr>
          <a:lstStyle/>
          <a:p>
            <a:pPr>
              <a:lnSpc>
                <a:spcPct val="150000"/>
              </a:lnSpc>
              <a:buNone/>
            </a:pPr>
            <a:r>
              <a:rPr lang="en-US" sz="2800" b="1" dirty="0">
                <a:latin typeface="Calibir"/>
              </a:rPr>
              <a:t>For Task 3</a:t>
            </a:r>
          </a:p>
          <a:p>
            <a:pPr>
              <a:lnSpc>
                <a:spcPct val="150000"/>
              </a:lnSpc>
              <a:buNone/>
            </a:pPr>
            <a:r>
              <a:rPr lang="en-US" sz="2800" dirty="0">
                <a:latin typeface="Calibir"/>
              </a:rPr>
              <a:t>After removing smoker, the model performance became ___ .</a:t>
            </a:r>
            <a:br>
              <a:rPr lang="en-US" sz="2800" dirty="0">
                <a:latin typeface="Calibir"/>
              </a:rPr>
            </a:br>
            <a:r>
              <a:rPr lang="en-US" sz="2800" dirty="0">
                <a:latin typeface="Calibir"/>
              </a:rPr>
              <a:t>This means smoker is ___ for prediction.</a:t>
            </a:r>
          </a:p>
        </p:txBody>
      </p:sp>
    </p:spTree>
    <p:extLst>
      <p:ext uri="{BB962C8B-B14F-4D97-AF65-F5344CB8AC3E}">
        <p14:creationId xmlns:p14="http://schemas.microsoft.com/office/powerpoint/2010/main" val="7155587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59E9-AD8A-A331-3DC1-3D89D809EF3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5A524E5-FDA0-4FA8-041A-042D6E7042F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F909BD8F-4DCD-C5AB-1967-203283CF1BAE}"/>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F81AF5D-ECF6-01A9-968F-ED5734216B4D}"/>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Task 3: Remove one important feature</a:t>
            </a:r>
          </a:p>
        </p:txBody>
      </p:sp>
      <p:sp>
        <p:nvSpPr>
          <p:cNvPr id="3" name="TextBox 2">
            <a:extLst>
              <a:ext uri="{FF2B5EF4-FFF2-40B4-BE49-F238E27FC236}">
                <a16:creationId xmlns:a16="http://schemas.microsoft.com/office/drawing/2014/main" id="{9244099E-0654-D355-B2EC-25A69CA7FF0F}"/>
              </a:ext>
            </a:extLst>
          </p:cNvPr>
          <p:cNvSpPr txBox="1"/>
          <p:nvPr/>
        </p:nvSpPr>
        <p:spPr>
          <a:xfrm>
            <a:off x="94419" y="655502"/>
            <a:ext cx="10615622" cy="1964512"/>
          </a:xfrm>
          <a:prstGeom prst="rect">
            <a:avLst/>
          </a:prstGeom>
          <a:noFill/>
        </p:spPr>
        <p:txBody>
          <a:bodyPr wrap="square">
            <a:spAutoFit/>
          </a:bodyPr>
          <a:lstStyle/>
          <a:p>
            <a:pPr>
              <a:lnSpc>
                <a:spcPct val="150000"/>
              </a:lnSpc>
            </a:pPr>
            <a:r>
              <a:rPr lang="en-US" sz="2800" b="1" dirty="0">
                <a:latin typeface="Calibir"/>
              </a:rPr>
              <a:t>Simple answer guide:</a:t>
            </a:r>
          </a:p>
          <a:p>
            <a:pPr>
              <a:lnSpc>
                <a:spcPct val="150000"/>
              </a:lnSpc>
            </a:pPr>
            <a:r>
              <a:rPr lang="en-US" sz="2800" dirty="0">
                <a:latin typeface="Calibir"/>
              </a:rPr>
              <a:t>If we remove smoker, the model usually becomes worse because it loses an important feature.</a:t>
            </a:r>
          </a:p>
        </p:txBody>
      </p:sp>
    </p:spTree>
    <p:extLst>
      <p:ext uri="{BB962C8B-B14F-4D97-AF65-F5344CB8AC3E}">
        <p14:creationId xmlns:p14="http://schemas.microsoft.com/office/powerpoint/2010/main" val="2987075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14D6-D752-1DBC-1E23-D92016E26B7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16521194-E2C1-A68C-EC87-6B1B9A66768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7DB26883-5D60-4466-D8C8-F643020EBBDB}"/>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4E493E2E-FC7D-50A9-9EB4-D45D97FEC8CC}"/>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What students learned today</a:t>
            </a:r>
          </a:p>
        </p:txBody>
      </p:sp>
      <p:sp>
        <p:nvSpPr>
          <p:cNvPr id="3" name="TextBox 2">
            <a:extLst>
              <a:ext uri="{FF2B5EF4-FFF2-40B4-BE49-F238E27FC236}">
                <a16:creationId xmlns:a16="http://schemas.microsoft.com/office/drawing/2014/main" id="{2D8ADE35-507E-800D-2F45-13A2558173C1}"/>
              </a:ext>
            </a:extLst>
          </p:cNvPr>
          <p:cNvSpPr txBox="1"/>
          <p:nvPr/>
        </p:nvSpPr>
        <p:spPr>
          <a:xfrm>
            <a:off x="0" y="318467"/>
            <a:ext cx="10615622" cy="6639446"/>
          </a:xfrm>
          <a:prstGeom prst="rect">
            <a:avLst/>
          </a:prstGeom>
          <a:noFill/>
        </p:spPr>
        <p:txBody>
          <a:bodyPr wrap="square">
            <a:spAutoFit/>
          </a:bodyPr>
          <a:lstStyle/>
          <a:p>
            <a:pPr>
              <a:lnSpc>
                <a:spcPct val="150000"/>
              </a:lnSpc>
            </a:pPr>
            <a:r>
              <a:rPr lang="en-US" sz="2200" dirty="0">
                <a:latin typeface="Calibir"/>
              </a:rPr>
              <a:t>Today students learned:</a:t>
            </a:r>
          </a:p>
          <a:p>
            <a:pPr>
              <a:lnSpc>
                <a:spcPct val="150000"/>
              </a:lnSpc>
            </a:pPr>
            <a:r>
              <a:rPr lang="en-US" sz="2200" b="1" dirty="0">
                <a:latin typeface="Calibir"/>
              </a:rPr>
              <a:t>What regression is</a:t>
            </a:r>
            <a:br>
              <a:rPr lang="en-US" sz="2200" dirty="0">
                <a:latin typeface="Calibir"/>
              </a:rPr>
            </a:br>
            <a:r>
              <a:rPr lang="en-US" sz="2200" dirty="0">
                <a:latin typeface="Calibir"/>
              </a:rPr>
              <a:t>predicting a number </a:t>
            </a:r>
          </a:p>
          <a:p>
            <a:pPr>
              <a:lnSpc>
                <a:spcPct val="150000"/>
              </a:lnSpc>
            </a:pPr>
            <a:r>
              <a:rPr lang="en-US" sz="2200" b="1" dirty="0">
                <a:latin typeface="Calibir"/>
              </a:rPr>
              <a:t>How to build a regression model</a:t>
            </a:r>
            <a:br>
              <a:rPr lang="en-US" sz="2200" dirty="0">
                <a:latin typeface="Calibir"/>
              </a:rPr>
            </a:br>
            <a:r>
              <a:rPr lang="en-US" sz="2200" dirty="0">
                <a:latin typeface="Calibir"/>
              </a:rPr>
              <a:t>load data, split data, train, predict, evaluate </a:t>
            </a:r>
          </a:p>
          <a:p>
            <a:pPr>
              <a:lnSpc>
                <a:spcPct val="150000"/>
              </a:lnSpc>
            </a:pPr>
            <a:r>
              <a:rPr lang="en-US" sz="2200" b="1" dirty="0">
                <a:latin typeface="Calibir"/>
              </a:rPr>
              <a:t>How to handle text and numeric columns</a:t>
            </a:r>
            <a:br>
              <a:rPr lang="en-US" sz="2200" dirty="0">
                <a:latin typeface="Calibir"/>
              </a:rPr>
            </a:br>
            <a:r>
              <a:rPr lang="en-US" sz="2200" dirty="0">
                <a:latin typeface="Calibir"/>
              </a:rPr>
              <a:t>text columns need encoding </a:t>
            </a:r>
          </a:p>
          <a:p>
            <a:pPr>
              <a:lnSpc>
                <a:spcPct val="150000"/>
              </a:lnSpc>
            </a:pPr>
            <a:r>
              <a:rPr lang="en-US" sz="2200" b="1" dirty="0">
                <a:latin typeface="Calibir"/>
              </a:rPr>
              <a:t>How to evaluate a regression model</a:t>
            </a:r>
            <a:br>
              <a:rPr lang="en-US" sz="2200" dirty="0">
                <a:latin typeface="Calibir"/>
              </a:rPr>
            </a:br>
            <a:r>
              <a:rPr lang="en-US" sz="2200" dirty="0">
                <a:latin typeface="Calibir"/>
              </a:rPr>
              <a:t>using MAE and R² </a:t>
            </a:r>
          </a:p>
          <a:p>
            <a:pPr>
              <a:lnSpc>
                <a:spcPct val="150000"/>
              </a:lnSpc>
            </a:pPr>
            <a:r>
              <a:rPr lang="en-US" sz="2200" b="1" dirty="0">
                <a:latin typeface="Calibir"/>
              </a:rPr>
              <a:t>How to improve or weaken a model</a:t>
            </a:r>
            <a:br>
              <a:rPr lang="en-US" sz="2200" dirty="0">
                <a:latin typeface="Calibir"/>
              </a:rPr>
            </a:br>
            <a:r>
              <a:rPr lang="en-US" sz="2200" dirty="0">
                <a:latin typeface="Calibir"/>
              </a:rPr>
              <a:t>by changing parameters or removing features </a:t>
            </a:r>
          </a:p>
          <a:p>
            <a:pPr>
              <a:lnSpc>
                <a:spcPct val="150000"/>
              </a:lnSpc>
            </a:pPr>
            <a:r>
              <a:rPr lang="en-US" sz="2200" b="1" dirty="0">
                <a:latin typeface="Calibir"/>
              </a:rPr>
              <a:t>How this links to Week 4</a:t>
            </a:r>
            <a:br>
              <a:rPr lang="en-US" sz="2200" dirty="0">
                <a:latin typeface="Calibir"/>
              </a:rPr>
            </a:br>
            <a:r>
              <a:rPr lang="en-US" sz="2200" dirty="0">
                <a:latin typeface="Calibir"/>
              </a:rPr>
              <a:t>good models should learn patterns without overfitting</a:t>
            </a:r>
          </a:p>
        </p:txBody>
      </p:sp>
    </p:spTree>
    <p:extLst>
      <p:ext uri="{BB962C8B-B14F-4D97-AF65-F5344CB8AC3E}">
        <p14:creationId xmlns:p14="http://schemas.microsoft.com/office/powerpoint/2010/main" val="33151589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3B471-9856-DC28-95D0-04D32E39110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60F81F5-20A9-E9F7-CCF9-D72DE78AF8C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FFB7B7D9-6B2E-4F35-11E4-DE09CACF5FAE}"/>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6262628E-2928-1BAB-9EA5-36D58A694F8D}"/>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What students learned today</a:t>
            </a:r>
          </a:p>
        </p:txBody>
      </p:sp>
      <p:sp>
        <p:nvSpPr>
          <p:cNvPr id="3" name="TextBox 2">
            <a:extLst>
              <a:ext uri="{FF2B5EF4-FFF2-40B4-BE49-F238E27FC236}">
                <a16:creationId xmlns:a16="http://schemas.microsoft.com/office/drawing/2014/main" id="{028E7EBF-6C03-190B-405C-CA753162AE4F}"/>
              </a:ext>
            </a:extLst>
          </p:cNvPr>
          <p:cNvSpPr txBox="1"/>
          <p:nvPr/>
        </p:nvSpPr>
        <p:spPr>
          <a:xfrm>
            <a:off x="-19665" y="1719622"/>
            <a:ext cx="12192000" cy="3418756"/>
          </a:xfrm>
          <a:prstGeom prst="rect">
            <a:avLst/>
          </a:prstGeom>
          <a:noFill/>
        </p:spPr>
        <p:txBody>
          <a:bodyPr wrap="square">
            <a:spAutoFit/>
          </a:bodyPr>
          <a:lstStyle/>
          <a:p>
            <a:pPr>
              <a:lnSpc>
                <a:spcPct val="200000"/>
              </a:lnSpc>
            </a:pPr>
            <a:r>
              <a:rPr lang="en-US" sz="2800" dirty="0">
                <a:latin typeface="Calibir"/>
              </a:rPr>
              <a:t>Today we learned regression using a new dataset about insurance charges. We used personal details like age, </a:t>
            </a:r>
            <a:r>
              <a:rPr lang="en-US" sz="2800" dirty="0" err="1">
                <a:latin typeface="Calibir"/>
              </a:rPr>
              <a:t>bmi</a:t>
            </a:r>
            <a:r>
              <a:rPr lang="en-US" sz="2800" dirty="0">
                <a:latin typeface="Calibir"/>
              </a:rPr>
              <a:t>, smoker, and region to predict medical costs. We checked the model using MAE and R², and we learned that changing settings or removing important features can change the model’s performance.</a:t>
            </a:r>
          </a:p>
        </p:txBody>
      </p:sp>
    </p:spTree>
    <p:extLst>
      <p:ext uri="{BB962C8B-B14F-4D97-AF65-F5344CB8AC3E}">
        <p14:creationId xmlns:p14="http://schemas.microsoft.com/office/powerpoint/2010/main" val="13576281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CF1E-53F8-55EB-9D7D-DB338D55928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8F5199B-871F-5C21-2474-3A16F1B7D0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18290F3-CC3E-1882-9146-BCBF39668AE5}"/>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900C75BD-F3BD-736D-AD50-B8506FCF85FF}"/>
              </a:ext>
            </a:extLst>
          </p:cNvPr>
          <p:cNvSpPr txBox="1"/>
          <p:nvPr/>
        </p:nvSpPr>
        <p:spPr>
          <a:xfrm>
            <a:off x="94419" y="68639"/>
            <a:ext cx="9701222" cy="499656"/>
          </a:xfrm>
          <a:prstGeom prst="rect">
            <a:avLst/>
          </a:prstGeom>
        </p:spPr>
        <p:txBody>
          <a:bodyPr vert="horz" wrap="square" lIns="0" tIns="7144" rIns="0" bIns="0" rtlCol="0">
            <a:spAutoFit/>
          </a:bodyPr>
          <a:lstStyle/>
          <a:p>
            <a:r>
              <a:rPr lang="en-US" sz="3200" b="1" dirty="0">
                <a:latin typeface="Calibir"/>
              </a:rPr>
              <a:t>What students learned today</a:t>
            </a:r>
          </a:p>
        </p:txBody>
      </p:sp>
      <p:sp>
        <p:nvSpPr>
          <p:cNvPr id="3" name="TextBox 2">
            <a:extLst>
              <a:ext uri="{FF2B5EF4-FFF2-40B4-BE49-F238E27FC236}">
                <a16:creationId xmlns:a16="http://schemas.microsoft.com/office/drawing/2014/main" id="{DD1ABE6A-54D2-C2B2-6B69-1DB592C58FB7}"/>
              </a:ext>
            </a:extLst>
          </p:cNvPr>
          <p:cNvSpPr txBox="1"/>
          <p:nvPr/>
        </p:nvSpPr>
        <p:spPr>
          <a:xfrm>
            <a:off x="0" y="2018105"/>
            <a:ext cx="12192000" cy="2560573"/>
          </a:xfrm>
          <a:prstGeom prst="rect">
            <a:avLst/>
          </a:prstGeom>
          <a:noFill/>
        </p:spPr>
        <p:txBody>
          <a:bodyPr wrap="square">
            <a:spAutoFit/>
          </a:bodyPr>
          <a:lstStyle/>
          <a:p>
            <a:pPr>
              <a:lnSpc>
                <a:spcPct val="200000"/>
              </a:lnSpc>
            </a:pPr>
            <a:r>
              <a:rPr lang="en-US" sz="2800" dirty="0">
                <a:latin typeface="Calibir"/>
              </a:rPr>
              <a:t>Regression is used to predict numbers. In today’s tutorial, we predicted insurance charges. We learned how to prepare data, train a model, check the results, and test whether the model improves or gets worse.</a:t>
            </a:r>
          </a:p>
        </p:txBody>
      </p:sp>
    </p:spTree>
    <p:extLst>
      <p:ext uri="{BB962C8B-B14F-4D97-AF65-F5344CB8AC3E}">
        <p14:creationId xmlns:p14="http://schemas.microsoft.com/office/powerpoint/2010/main" val="2346082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2B67-FBB2-02C7-1121-01B37C30DF3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3B21C40-6D64-61BD-4CC3-626DAE9FAB5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60ACDC0B-E22C-496C-397E-AD6E489625B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4D89C1E0-D5C7-0E96-EFD0-98E2B31A62BB}"/>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Group Registration</a:t>
            </a:r>
          </a:p>
        </p:txBody>
      </p:sp>
      <p:pic>
        <p:nvPicPr>
          <p:cNvPr id="3" name="Picture 2">
            <a:extLst>
              <a:ext uri="{FF2B5EF4-FFF2-40B4-BE49-F238E27FC236}">
                <a16:creationId xmlns:a16="http://schemas.microsoft.com/office/drawing/2014/main" id="{5CAB5D82-CFC9-6117-5C3E-DE8E5179DAF6}"/>
              </a:ext>
            </a:extLst>
          </p:cNvPr>
          <p:cNvPicPr>
            <a:picLocks noChangeAspect="1"/>
          </p:cNvPicPr>
          <p:nvPr/>
        </p:nvPicPr>
        <p:blipFill>
          <a:blip r:embed="rId3"/>
          <a:srcRect l="14470" t="43608" r="1529" b="16235"/>
          <a:stretch>
            <a:fillRect/>
          </a:stretch>
        </p:blipFill>
        <p:spPr>
          <a:xfrm>
            <a:off x="120877" y="1822244"/>
            <a:ext cx="11950246" cy="3213512"/>
          </a:xfrm>
          <a:prstGeom prst="rect">
            <a:avLst/>
          </a:prstGeom>
        </p:spPr>
      </p:pic>
      <p:sp>
        <p:nvSpPr>
          <p:cNvPr id="9" name="TextBox 8">
            <a:extLst>
              <a:ext uri="{FF2B5EF4-FFF2-40B4-BE49-F238E27FC236}">
                <a16:creationId xmlns:a16="http://schemas.microsoft.com/office/drawing/2014/main" id="{B102DE0C-54DF-3A6F-DEC5-5AE17C79BBA3}"/>
              </a:ext>
            </a:extLst>
          </p:cNvPr>
          <p:cNvSpPr txBox="1"/>
          <p:nvPr/>
        </p:nvSpPr>
        <p:spPr>
          <a:xfrm>
            <a:off x="94419" y="5073987"/>
            <a:ext cx="11950246" cy="646331"/>
          </a:xfrm>
          <a:prstGeom prst="rect">
            <a:avLst/>
          </a:prstGeom>
          <a:noFill/>
        </p:spPr>
        <p:txBody>
          <a:bodyPr wrap="square">
            <a:spAutoFit/>
          </a:bodyPr>
          <a:lstStyle/>
          <a:p>
            <a:r>
              <a:rPr lang="en-US" dirty="0">
                <a:hlinkClick r:id="rId4"/>
              </a:rPr>
              <a:t>https://holmesedug-my.sharepoint.com/:x:/g/personal/ftohidi_holmes_edu_au/IQD4_gSsoQZvRbv46Rb97GhpAUrfQ-SpE_I7om4JOF8-hyM?e=dYHOI1</a:t>
            </a:r>
            <a:r>
              <a:rPr lang="en-US" dirty="0"/>
              <a:t> </a:t>
            </a:r>
          </a:p>
        </p:txBody>
      </p:sp>
    </p:spTree>
    <p:extLst>
      <p:ext uri="{BB962C8B-B14F-4D97-AF65-F5344CB8AC3E}">
        <p14:creationId xmlns:p14="http://schemas.microsoft.com/office/powerpoint/2010/main" val="33247329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77C0-7D48-A01B-F457-00977F1E7C6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4DBBF27-0445-DCC4-A1C6-8CA94A3218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842978F-648D-E8F2-FDD9-1E3649CA2679}"/>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1. What this assignment is really asking you to do</a:t>
            </a:r>
          </a:p>
          <a:p>
            <a:pPr>
              <a:lnSpc>
                <a:spcPct val="150000"/>
              </a:lnSpc>
            </a:pPr>
            <a:r>
              <a:rPr lang="en-US" sz="2800" dirty="0">
                <a:latin typeface="Calibir"/>
              </a:rPr>
              <a:t>This is not just a slide presentation. It is a full predictive analytics project that you must present, explain, justify, and defend.</a:t>
            </a:r>
          </a:p>
          <a:p>
            <a:pPr>
              <a:lnSpc>
                <a:spcPct val="150000"/>
              </a:lnSpc>
            </a:pPr>
            <a:r>
              <a:rPr lang="en-US" sz="2800" dirty="0">
                <a:latin typeface="Calibir"/>
              </a:rPr>
              <a:t>Your group must:</a:t>
            </a:r>
          </a:p>
          <a:p>
            <a:pPr marL="914400" lvl="1" indent="-457200">
              <a:lnSpc>
                <a:spcPct val="150000"/>
              </a:lnSpc>
              <a:buFont typeface="Arial" panose="020B0604020202020204" pitchFamily="34" charset="0"/>
              <a:buChar char="•"/>
            </a:pPr>
            <a:r>
              <a:rPr lang="en-US" sz="2800" dirty="0">
                <a:latin typeface="Calibir"/>
              </a:rPr>
              <a:t>choose one real dataset </a:t>
            </a:r>
          </a:p>
          <a:p>
            <a:pPr marL="914400" lvl="1" indent="-457200">
              <a:lnSpc>
                <a:spcPct val="150000"/>
              </a:lnSpc>
              <a:buFont typeface="Arial" panose="020B0604020202020204" pitchFamily="34" charset="0"/>
              <a:buChar char="•"/>
            </a:pPr>
            <a:r>
              <a:rPr lang="en-US" sz="2800" dirty="0">
                <a:latin typeface="Calibir"/>
              </a:rPr>
              <a:t>define one clear predictive problem </a:t>
            </a:r>
          </a:p>
          <a:p>
            <a:pPr marL="914400" lvl="1" indent="-457200">
              <a:lnSpc>
                <a:spcPct val="150000"/>
              </a:lnSpc>
              <a:buFont typeface="Arial" panose="020B0604020202020204" pitchFamily="34" charset="0"/>
              <a:buChar char="•"/>
            </a:pPr>
            <a:r>
              <a:rPr lang="en-US" sz="2800" dirty="0">
                <a:latin typeface="Calibir"/>
              </a:rPr>
              <a:t>build two predictive models </a:t>
            </a:r>
          </a:p>
          <a:p>
            <a:pPr marL="914400" lvl="1" indent="-457200">
              <a:lnSpc>
                <a:spcPct val="150000"/>
              </a:lnSpc>
              <a:buFont typeface="Arial" panose="020B0604020202020204" pitchFamily="34" charset="0"/>
              <a:buChar char="•"/>
            </a:pPr>
            <a:r>
              <a:rPr lang="en-US" sz="2800" dirty="0">
                <a:latin typeface="Calibir"/>
              </a:rPr>
              <a:t>compare the models properly </a:t>
            </a:r>
          </a:p>
          <a:p>
            <a:pPr marL="914400" lvl="1" indent="-457200">
              <a:lnSpc>
                <a:spcPct val="150000"/>
              </a:lnSpc>
              <a:buFont typeface="Arial" panose="020B0604020202020204" pitchFamily="34" charset="0"/>
              <a:buChar char="•"/>
            </a:pPr>
            <a:r>
              <a:rPr lang="en-US" sz="2800" dirty="0">
                <a:latin typeface="Calibir"/>
              </a:rPr>
              <a:t>explain preprocessing and modelling decisions</a:t>
            </a:r>
          </a:p>
        </p:txBody>
      </p:sp>
      <p:pic>
        <p:nvPicPr>
          <p:cNvPr id="4" name="object 3">
            <a:extLst>
              <a:ext uri="{FF2B5EF4-FFF2-40B4-BE49-F238E27FC236}">
                <a16:creationId xmlns:a16="http://schemas.microsoft.com/office/drawing/2014/main" id="{0A8DA876-19AE-086B-CEC4-3F9309C073F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8D999C35-D593-CA94-774D-1C93D888B6D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35543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E032-FE68-4F58-1365-BEA2A4FD79A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5E5CA805-ADAC-0889-0E6D-2418C8EB1A9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C4F0B61-7315-8078-4718-5E04A8934B25}"/>
              </a:ext>
            </a:extLst>
          </p:cNvPr>
          <p:cNvSpPr txBox="1"/>
          <p:nvPr/>
        </p:nvSpPr>
        <p:spPr>
          <a:xfrm>
            <a:off x="0" y="583684"/>
            <a:ext cx="12191999" cy="2610843"/>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generate business insights </a:t>
            </a:r>
          </a:p>
          <a:p>
            <a:pPr marL="914400" lvl="1" indent="-457200">
              <a:lnSpc>
                <a:spcPct val="150000"/>
              </a:lnSpc>
              <a:buFont typeface="Arial" panose="020B0604020202020204" pitchFamily="34" charset="0"/>
              <a:buChar char="•"/>
            </a:pPr>
            <a:r>
              <a:rPr lang="en-US" sz="2800" dirty="0">
                <a:latin typeface="Calibir"/>
              </a:rPr>
              <a:t>discuss ethics and bias </a:t>
            </a:r>
          </a:p>
          <a:p>
            <a:pPr marL="914400" lvl="1" indent="-457200">
              <a:lnSpc>
                <a:spcPct val="150000"/>
              </a:lnSpc>
              <a:buFont typeface="Arial" panose="020B0604020202020204" pitchFamily="34" charset="0"/>
              <a:buChar char="•"/>
            </a:pPr>
            <a:r>
              <a:rPr lang="en-US" sz="2800" dirty="0">
                <a:latin typeface="Calibir"/>
              </a:rPr>
              <a:t>reflect on limitations and lessons learned </a:t>
            </a:r>
          </a:p>
          <a:p>
            <a:pPr marL="914400" lvl="1" indent="-457200">
              <a:lnSpc>
                <a:spcPct val="150000"/>
              </a:lnSpc>
              <a:buFont typeface="Arial" panose="020B0604020202020204" pitchFamily="34" charset="0"/>
              <a:buChar char="•"/>
            </a:pPr>
            <a:r>
              <a:rPr lang="en-US" sz="2800" dirty="0">
                <a:latin typeface="Calibir"/>
              </a:rPr>
              <a:t>present the whole project clearly in class</a:t>
            </a:r>
          </a:p>
        </p:txBody>
      </p:sp>
      <p:pic>
        <p:nvPicPr>
          <p:cNvPr id="4" name="object 3">
            <a:extLst>
              <a:ext uri="{FF2B5EF4-FFF2-40B4-BE49-F238E27FC236}">
                <a16:creationId xmlns:a16="http://schemas.microsoft.com/office/drawing/2014/main" id="{20B24C0D-BCFB-71EF-AB38-064DCA33987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589577C-70A8-0A68-6867-3722B2243F5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7464737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53DEB-0901-821C-7208-9C9A116B65E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8217E91-9B86-B52E-8A60-4E149B10CE7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A738E89-DF9C-0EFC-6443-F5F822370773}"/>
              </a:ext>
            </a:extLst>
          </p:cNvPr>
          <p:cNvSpPr txBox="1"/>
          <p:nvPr/>
        </p:nvSpPr>
        <p:spPr>
          <a:xfrm>
            <a:off x="1" y="830917"/>
            <a:ext cx="12191999" cy="5196166"/>
          </a:xfrm>
          <a:prstGeom prst="rect">
            <a:avLst/>
          </a:prstGeom>
          <a:noFill/>
        </p:spPr>
        <p:txBody>
          <a:bodyPr wrap="square">
            <a:spAutoFit/>
          </a:bodyPr>
          <a:lstStyle/>
          <a:p>
            <a:pPr>
              <a:lnSpc>
                <a:spcPct val="150000"/>
              </a:lnSpc>
            </a:pPr>
            <a:r>
              <a:rPr lang="en-US" sz="2800" dirty="0">
                <a:latin typeface="Calibir"/>
              </a:rPr>
              <a:t>You are also expected to show evidence of actual work, especially:</a:t>
            </a:r>
          </a:p>
          <a:p>
            <a:pPr marL="914400" lvl="1" indent="-457200">
              <a:lnSpc>
                <a:spcPct val="150000"/>
              </a:lnSpc>
              <a:buFont typeface="Arial" panose="020B0604020202020204" pitchFamily="34" charset="0"/>
              <a:buChar char="•"/>
            </a:pPr>
            <a:r>
              <a:rPr lang="en-US" sz="2800" dirty="0">
                <a:latin typeface="Calibir"/>
              </a:rPr>
              <a:t>preprocessing screenshots </a:t>
            </a:r>
          </a:p>
          <a:p>
            <a:pPr marL="914400" lvl="1" indent="-457200">
              <a:lnSpc>
                <a:spcPct val="150000"/>
              </a:lnSpc>
              <a:buFont typeface="Arial" panose="020B0604020202020204" pitchFamily="34" charset="0"/>
              <a:buChar char="•"/>
            </a:pPr>
            <a:r>
              <a:rPr lang="en-US" sz="2800" dirty="0">
                <a:latin typeface="Calibir"/>
              </a:rPr>
              <a:t>model training screenshots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evaluation screenshots </a:t>
            </a:r>
          </a:p>
          <a:p>
            <a:pPr marL="914400" lvl="1" indent="-457200">
              <a:lnSpc>
                <a:spcPct val="150000"/>
              </a:lnSpc>
              <a:buFont typeface="Arial" panose="020B0604020202020204" pitchFamily="34" charset="0"/>
              <a:buChar char="•"/>
            </a:pPr>
            <a:r>
              <a:rPr lang="en-US" sz="2800" dirty="0">
                <a:latin typeface="Calibir"/>
              </a:rPr>
              <a:t>code/notebook </a:t>
            </a:r>
          </a:p>
          <a:p>
            <a:pPr marL="914400" lvl="1" indent="-457200">
              <a:lnSpc>
                <a:spcPct val="150000"/>
              </a:lnSpc>
              <a:buFont typeface="Arial" panose="020B0604020202020204" pitchFamily="34" charset="0"/>
              <a:buChar char="•"/>
            </a:pPr>
            <a:r>
              <a:rPr lang="en-US" sz="2800" dirty="0">
                <a:latin typeface="Calibir"/>
              </a:rPr>
              <a:t>dataset link </a:t>
            </a:r>
          </a:p>
          <a:p>
            <a:pPr>
              <a:lnSpc>
                <a:spcPct val="150000"/>
              </a:lnSpc>
            </a:pPr>
            <a:r>
              <a:rPr lang="en-US" sz="2800" dirty="0">
                <a:latin typeface="Calibir"/>
              </a:rPr>
              <a:t>This means you must do both the technical work and the explanation work.</a:t>
            </a:r>
          </a:p>
        </p:txBody>
      </p:sp>
      <p:pic>
        <p:nvPicPr>
          <p:cNvPr id="4" name="object 3">
            <a:extLst>
              <a:ext uri="{FF2B5EF4-FFF2-40B4-BE49-F238E27FC236}">
                <a16:creationId xmlns:a16="http://schemas.microsoft.com/office/drawing/2014/main" id="{51812DE7-9291-170A-7A4A-DF02889C171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1682E67-069B-DBBC-2D7B-EC9118069FD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4568599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9458-0083-2F9F-83D4-91972075536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146E294E-2B30-BF83-7C56-57544E73A87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A56985-6D62-3909-1AB2-880CF98A2DCE}"/>
              </a:ext>
            </a:extLst>
          </p:cNvPr>
          <p:cNvSpPr txBox="1"/>
          <p:nvPr/>
        </p:nvSpPr>
        <p:spPr>
          <a:xfrm>
            <a:off x="1" y="830917"/>
            <a:ext cx="12191999" cy="5196166"/>
          </a:xfrm>
          <a:prstGeom prst="rect">
            <a:avLst/>
          </a:prstGeom>
          <a:noFill/>
        </p:spPr>
        <p:txBody>
          <a:bodyPr wrap="square">
            <a:spAutoFit/>
          </a:bodyPr>
          <a:lstStyle/>
          <a:p>
            <a:pPr>
              <a:lnSpc>
                <a:spcPct val="150000"/>
              </a:lnSpc>
            </a:pPr>
            <a:r>
              <a:rPr lang="en-US" sz="2800" b="1" dirty="0">
                <a:latin typeface="Calibir"/>
              </a:rPr>
              <a:t>2. What you must submit</a:t>
            </a:r>
          </a:p>
          <a:p>
            <a:pPr>
              <a:lnSpc>
                <a:spcPct val="150000"/>
              </a:lnSpc>
            </a:pPr>
            <a:r>
              <a:rPr lang="en-US" sz="2800" dirty="0">
                <a:latin typeface="Calibir"/>
              </a:rPr>
              <a:t>You must submit:</a:t>
            </a:r>
          </a:p>
          <a:p>
            <a:pPr marL="971550" lvl="1" indent="-514350">
              <a:lnSpc>
                <a:spcPct val="150000"/>
              </a:lnSpc>
              <a:buFont typeface="+mj-lt"/>
              <a:buAutoNum type="arabicPeriod"/>
            </a:pPr>
            <a:r>
              <a:rPr lang="en-US" sz="2800" b="1" dirty="0">
                <a:latin typeface="Calibir"/>
              </a:rPr>
              <a:t>PowerPoint slides (.pptx)</a:t>
            </a:r>
            <a:br>
              <a:rPr lang="en-US" sz="2800" dirty="0">
                <a:latin typeface="Calibir"/>
              </a:rPr>
            </a:br>
            <a:r>
              <a:rPr lang="en-US" sz="2800" dirty="0">
                <a:latin typeface="Calibir"/>
              </a:rPr>
              <a:t>For the in-class presentation. </a:t>
            </a:r>
          </a:p>
          <a:p>
            <a:pPr marL="971550" lvl="1" indent="-514350">
              <a:lnSpc>
                <a:spcPct val="150000"/>
              </a:lnSpc>
              <a:buFont typeface="+mj-lt"/>
              <a:buAutoNum type="arabicPeriod"/>
            </a:pPr>
            <a:r>
              <a:rPr lang="en-US" sz="2800" b="1" dirty="0">
                <a:latin typeface="Calibir"/>
              </a:rPr>
              <a:t>Written report (.docx)</a:t>
            </a:r>
            <a:br>
              <a:rPr lang="en-US" sz="2800" dirty="0">
                <a:latin typeface="Calibir"/>
              </a:rPr>
            </a:br>
            <a:r>
              <a:rPr lang="en-US" sz="2800" dirty="0">
                <a:latin typeface="Calibir"/>
              </a:rPr>
              <a:t>Explains the full project in detail. </a:t>
            </a:r>
          </a:p>
          <a:p>
            <a:pPr marL="971550" lvl="1" indent="-514350">
              <a:lnSpc>
                <a:spcPct val="150000"/>
              </a:lnSpc>
              <a:buFont typeface="+mj-lt"/>
              <a:buAutoNum type="arabicPeriod"/>
            </a:pPr>
            <a:r>
              <a:rPr lang="en-US" sz="2800" b="1" dirty="0">
                <a:latin typeface="Calibir"/>
              </a:rPr>
              <a:t>Python notebook/script (.</a:t>
            </a:r>
            <a:r>
              <a:rPr lang="en-US" sz="2800" b="1" dirty="0" err="1">
                <a:latin typeface="Calibir"/>
              </a:rPr>
              <a:t>ipynb</a:t>
            </a:r>
            <a:r>
              <a:rPr lang="en-US" sz="2800" b="1" dirty="0">
                <a:latin typeface="Calibir"/>
              </a:rPr>
              <a:t> or .</a:t>
            </a:r>
            <a:r>
              <a:rPr lang="en-US" sz="2800" b="1" dirty="0" err="1">
                <a:latin typeface="Calibir"/>
              </a:rPr>
              <a:t>py</a:t>
            </a:r>
            <a:r>
              <a:rPr lang="en-US" sz="2800" b="1" dirty="0">
                <a:latin typeface="Calibir"/>
              </a:rPr>
              <a:t>)</a:t>
            </a:r>
            <a:br>
              <a:rPr lang="en-US" sz="2800" dirty="0">
                <a:latin typeface="Calibir"/>
              </a:rPr>
            </a:br>
            <a:r>
              <a:rPr lang="en-US" sz="2800" dirty="0">
                <a:latin typeface="Calibir"/>
              </a:rPr>
              <a:t>Your actual implementation.</a:t>
            </a:r>
          </a:p>
        </p:txBody>
      </p:sp>
      <p:pic>
        <p:nvPicPr>
          <p:cNvPr id="4" name="object 3">
            <a:extLst>
              <a:ext uri="{FF2B5EF4-FFF2-40B4-BE49-F238E27FC236}">
                <a16:creationId xmlns:a16="http://schemas.microsoft.com/office/drawing/2014/main" id="{5DEEBFD0-A538-1184-9918-8165FA33161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F15C855-A776-9F49-0206-F16FCCB5401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29536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3E22-1586-2702-E9CB-9805B642BAE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9496555-190D-90C3-61D7-93B65EA9A27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3B1BF23-5C57-42BC-172D-F98BC7CD5714}"/>
              </a:ext>
            </a:extLst>
          </p:cNvPr>
          <p:cNvSpPr txBox="1"/>
          <p:nvPr/>
        </p:nvSpPr>
        <p:spPr>
          <a:xfrm>
            <a:off x="1" y="1154082"/>
            <a:ext cx="12191999" cy="4549835"/>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4"/>
            </a:pPr>
            <a:r>
              <a:rPr lang="en-US" altLang="en-US" sz="2800" b="1" dirty="0">
                <a:latin typeface="Calibir"/>
              </a:rPr>
              <a:t>Screenshots</a:t>
            </a:r>
            <a:r>
              <a:rPr lang="en-US" altLang="en-US" sz="2800" dirty="0">
                <a:latin typeface="Calibir"/>
              </a:rPr>
              <a:t> of: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preprocessing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model training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parameter settings </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output/evaluation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Dataset link</a:t>
            </a:r>
            <a:br>
              <a:rPr lang="en-US" altLang="en-US" sz="2800" dirty="0">
                <a:latin typeface="Calibir"/>
              </a:rPr>
            </a:br>
            <a:r>
              <a:rPr lang="en-US" altLang="en-US" sz="2800" dirty="0">
                <a:latin typeface="Calibir"/>
              </a:rPr>
              <a:t>The exact source link. </a:t>
            </a:r>
          </a:p>
        </p:txBody>
      </p:sp>
      <p:pic>
        <p:nvPicPr>
          <p:cNvPr id="4" name="object 3">
            <a:extLst>
              <a:ext uri="{FF2B5EF4-FFF2-40B4-BE49-F238E27FC236}">
                <a16:creationId xmlns:a16="http://schemas.microsoft.com/office/drawing/2014/main" id="{019ADC5A-A72E-A230-248C-0A9D337A8927}"/>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782C3348-E8BB-734E-A1C4-99B085B636E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56203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D58FC-8120-DF2C-5C46-D9671D1E79F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548CE6C-CCBA-03F0-F7F4-8B011BFB0B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C3DBB55-32AB-6828-CC22-E4513462BDA5}"/>
              </a:ext>
            </a:extLst>
          </p:cNvPr>
          <p:cNvSpPr txBox="1"/>
          <p:nvPr/>
        </p:nvSpPr>
        <p:spPr>
          <a:xfrm>
            <a:off x="1" y="1154082"/>
            <a:ext cx="12191999" cy="1964512"/>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Group contribution sheet</a:t>
            </a:r>
            <a:r>
              <a:rPr lang="en-US" altLang="en-US" sz="2800" dirty="0">
                <a:latin typeface="Calibir"/>
              </a:rPr>
              <a:t>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References</a:t>
            </a:r>
            <a:r>
              <a:rPr lang="en-US" altLang="en-US" sz="2800" dirty="0">
                <a:latin typeface="Calibir"/>
              </a:rPr>
              <a:t> in </a:t>
            </a:r>
            <a:r>
              <a:rPr lang="en-US" altLang="en-US" sz="2800" b="1" dirty="0">
                <a:latin typeface="Calibir"/>
              </a:rPr>
              <a:t>Holmes Adapted Harvard</a:t>
            </a:r>
            <a:r>
              <a:rPr lang="en-US" altLang="en-US" sz="2800" dirty="0">
                <a:latin typeface="Calibir"/>
              </a:rPr>
              <a:t> </a:t>
            </a:r>
          </a:p>
          <a:p>
            <a:pPr marL="514350" lvl="0" indent="-514350" eaLnBrk="0" fontAlgn="base" hangingPunct="0">
              <a:lnSpc>
                <a:spcPct val="150000"/>
              </a:lnSpc>
              <a:spcBef>
                <a:spcPct val="0"/>
              </a:spcBef>
              <a:spcAft>
                <a:spcPct val="0"/>
              </a:spcAft>
              <a:buFont typeface="+mj-lt"/>
              <a:buAutoNum type="arabicPeriod" startAt="5"/>
            </a:pPr>
            <a:r>
              <a:rPr lang="en-US" altLang="en-US" sz="2800" b="1" dirty="0">
                <a:latin typeface="Calibir"/>
              </a:rPr>
              <a:t>Assignment cover sheet</a:t>
            </a:r>
            <a:r>
              <a:rPr lang="en-US" altLang="en-US" sz="2800" dirty="0">
                <a:latin typeface="Calibir"/>
              </a:rPr>
              <a:t> </a:t>
            </a:r>
          </a:p>
        </p:txBody>
      </p:sp>
      <p:pic>
        <p:nvPicPr>
          <p:cNvPr id="4" name="object 3">
            <a:extLst>
              <a:ext uri="{FF2B5EF4-FFF2-40B4-BE49-F238E27FC236}">
                <a16:creationId xmlns:a16="http://schemas.microsoft.com/office/drawing/2014/main" id="{89FBAA31-4CEE-1B8E-359C-11B15FE6C10F}"/>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39157233-82AE-AF6B-3B7B-DC7495EA576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572890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96164-93EC-2024-5791-493CA7B63DF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A5524EB-7148-946D-A987-4B8ADCC4A2C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A9D0DFF-0501-58A4-DD2F-5860FF0C711B}"/>
              </a:ext>
            </a:extLst>
          </p:cNvPr>
          <p:cNvSpPr txBox="1"/>
          <p:nvPr/>
        </p:nvSpPr>
        <p:spPr>
          <a:xfrm>
            <a:off x="0" y="941812"/>
            <a:ext cx="12191999" cy="5842497"/>
          </a:xfrm>
          <a:prstGeom prst="rect">
            <a:avLst/>
          </a:prstGeom>
          <a:noFill/>
        </p:spPr>
        <p:txBody>
          <a:bodyPr wrap="square">
            <a:spAutoFit/>
          </a:bodyPr>
          <a:lstStyle/>
          <a:p>
            <a:pPr>
              <a:lnSpc>
                <a:spcPct val="150000"/>
              </a:lnSpc>
            </a:pPr>
            <a:r>
              <a:rPr lang="en-US" sz="2800" b="1" dirty="0">
                <a:latin typeface="Calibir"/>
              </a:rPr>
              <a:t>3. Recommended structure of the whole project</a:t>
            </a:r>
          </a:p>
          <a:p>
            <a:pPr>
              <a:lnSpc>
                <a:spcPct val="150000"/>
              </a:lnSpc>
            </a:pPr>
            <a:r>
              <a:rPr lang="en-US" sz="2800" dirty="0">
                <a:latin typeface="Calibir"/>
              </a:rPr>
              <a:t>A strong project usually follows this order:</a:t>
            </a:r>
          </a:p>
          <a:p>
            <a:pPr>
              <a:lnSpc>
                <a:spcPct val="150000"/>
              </a:lnSpc>
            </a:pPr>
            <a:r>
              <a:rPr lang="en-US" sz="2800" dirty="0">
                <a:latin typeface="Calibir"/>
              </a:rPr>
              <a:t>Select dataset </a:t>
            </a:r>
          </a:p>
          <a:p>
            <a:pPr marL="971550" lvl="1" indent="-514350">
              <a:lnSpc>
                <a:spcPct val="150000"/>
              </a:lnSpc>
              <a:buFont typeface="+mj-lt"/>
              <a:buAutoNum type="arabicPeriod"/>
            </a:pPr>
            <a:r>
              <a:rPr lang="en-US" sz="2800" dirty="0">
                <a:latin typeface="Calibir"/>
              </a:rPr>
              <a:t>Define business/predictive problem </a:t>
            </a:r>
          </a:p>
          <a:p>
            <a:pPr marL="971550" lvl="1" indent="-514350">
              <a:lnSpc>
                <a:spcPct val="150000"/>
              </a:lnSpc>
              <a:buFont typeface="+mj-lt"/>
              <a:buAutoNum type="arabicPeriod"/>
            </a:pPr>
            <a:r>
              <a:rPr lang="en-US" sz="2800" dirty="0">
                <a:latin typeface="Calibir"/>
              </a:rPr>
              <a:t>Understand the variables </a:t>
            </a:r>
          </a:p>
          <a:p>
            <a:pPr marL="971550" lvl="1" indent="-514350">
              <a:lnSpc>
                <a:spcPct val="150000"/>
              </a:lnSpc>
              <a:buFont typeface="+mj-lt"/>
              <a:buAutoNum type="arabicPeriod"/>
            </a:pPr>
            <a:r>
              <a:rPr lang="en-US" sz="2800" dirty="0">
                <a:latin typeface="Calibir"/>
              </a:rPr>
              <a:t>Clean and preprocess data </a:t>
            </a:r>
          </a:p>
          <a:p>
            <a:pPr marL="971550" lvl="1" indent="-514350">
              <a:lnSpc>
                <a:spcPct val="150000"/>
              </a:lnSpc>
              <a:buFont typeface="+mj-lt"/>
              <a:buAutoNum type="arabicPeriod"/>
            </a:pPr>
            <a:r>
              <a:rPr lang="en-US" sz="2800" dirty="0">
                <a:latin typeface="Calibir"/>
              </a:rPr>
              <a:t>Select target variable </a:t>
            </a:r>
          </a:p>
          <a:p>
            <a:pPr marL="971550" lvl="1" indent="-514350">
              <a:lnSpc>
                <a:spcPct val="150000"/>
              </a:lnSpc>
              <a:buFont typeface="+mj-lt"/>
              <a:buAutoNum type="arabicPeriod"/>
            </a:pPr>
            <a:r>
              <a:rPr lang="en-US" sz="2800" dirty="0">
                <a:latin typeface="Calibir"/>
              </a:rPr>
              <a:t>Choose two models </a:t>
            </a:r>
          </a:p>
          <a:p>
            <a:pPr marL="971550" lvl="1" indent="-514350">
              <a:lnSpc>
                <a:spcPct val="150000"/>
              </a:lnSpc>
              <a:buFont typeface="+mj-lt"/>
              <a:buAutoNum type="arabicPeriod"/>
            </a:pPr>
            <a:r>
              <a:rPr lang="en-US" sz="2800" dirty="0">
                <a:latin typeface="Calibir"/>
              </a:rPr>
              <a:t>Train both models</a:t>
            </a:r>
          </a:p>
        </p:txBody>
      </p:sp>
      <p:pic>
        <p:nvPicPr>
          <p:cNvPr id="4" name="object 3">
            <a:extLst>
              <a:ext uri="{FF2B5EF4-FFF2-40B4-BE49-F238E27FC236}">
                <a16:creationId xmlns:a16="http://schemas.microsoft.com/office/drawing/2014/main" id="{43173999-CCBA-9B5A-2E3D-45415605EA7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BB34E78D-EA4B-3209-B63D-2DDD6BFFB14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950609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2E56-C33C-1357-54E0-833D9728199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638B8F8-2110-5F76-94DF-35D4E2D1257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300F196-45B0-B316-81FD-CDD34C33FAC3}"/>
              </a:ext>
            </a:extLst>
          </p:cNvPr>
          <p:cNvSpPr txBox="1"/>
          <p:nvPr/>
        </p:nvSpPr>
        <p:spPr>
          <a:xfrm>
            <a:off x="0" y="941812"/>
            <a:ext cx="12191999" cy="4549835"/>
          </a:xfrm>
          <a:prstGeom prst="rect">
            <a:avLst/>
          </a:prstGeom>
          <a:noFill/>
        </p:spPr>
        <p:txBody>
          <a:bodyPr wrap="square">
            <a:spAutoFit/>
          </a:bodyPr>
          <a:lstStyle/>
          <a:p>
            <a:pPr marL="971550" lvl="1" indent="-514350">
              <a:lnSpc>
                <a:spcPct val="150000"/>
              </a:lnSpc>
              <a:buFont typeface="+mj-lt"/>
              <a:buAutoNum type="arabicPeriod" startAt="7"/>
            </a:pPr>
            <a:r>
              <a:rPr lang="en-US" sz="2800" dirty="0">
                <a:latin typeface="Calibir"/>
              </a:rPr>
              <a:t>Evaluate both models </a:t>
            </a:r>
          </a:p>
          <a:p>
            <a:pPr marL="971550" lvl="1" indent="-514350">
              <a:lnSpc>
                <a:spcPct val="150000"/>
              </a:lnSpc>
              <a:buFont typeface="+mj-lt"/>
              <a:buAutoNum type="arabicPeriod" startAt="7"/>
            </a:pPr>
            <a:r>
              <a:rPr lang="en-US" sz="2800" dirty="0">
                <a:latin typeface="Calibir"/>
              </a:rPr>
              <a:t>Compare results </a:t>
            </a:r>
          </a:p>
          <a:p>
            <a:pPr marL="971550" lvl="1" indent="-514350">
              <a:lnSpc>
                <a:spcPct val="150000"/>
              </a:lnSpc>
              <a:buFont typeface="+mj-lt"/>
              <a:buAutoNum type="arabicPeriod" startAt="7"/>
            </a:pPr>
            <a:r>
              <a:rPr lang="en-US" sz="2800" dirty="0">
                <a:latin typeface="Calibir"/>
              </a:rPr>
              <a:t>Select best final model </a:t>
            </a:r>
          </a:p>
          <a:p>
            <a:pPr marL="971550" lvl="1" indent="-514350">
              <a:lnSpc>
                <a:spcPct val="150000"/>
              </a:lnSpc>
              <a:buFont typeface="+mj-lt"/>
              <a:buAutoNum type="arabicPeriod" startAt="7"/>
            </a:pPr>
            <a:r>
              <a:rPr lang="en-US" sz="2800" dirty="0">
                <a:latin typeface="Calibir"/>
              </a:rPr>
              <a:t>Generate business insights </a:t>
            </a:r>
          </a:p>
          <a:p>
            <a:pPr marL="971550" lvl="1" indent="-514350">
              <a:lnSpc>
                <a:spcPct val="150000"/>
              </a:lnSpc>
              <a:buFont typeface="+mj-lt"/>
              <a:buAutoNum type="arabicPeriod" startAt="7"/>
            </a:pPr>
            <a:r>
              <a:rPr lang="en-US" sz="2800" dirty="0">
                <a:latin typeface="Calibir"/>
              </a:rPr>
              <a:t>Discuss ethics and bias </a:t>
            </a:r>
          </a:p>
          <a:p>
            <a:pPr marL="971550" lvl="1" indent="-514350">
              <a:lnSpc>
                <a:spcPct val="150000"/>
              </a:lnSpc>
              <a:buFont typeface="+mj-lt"/>
              <a:buAutoNum type="arabicPeriod" startAt="7"/>
            </a:pPr>
            <a:r>
              <a:rPr lang="en-US" sz="2800" dirty="0">
                <a:latin typeface="Calibir"/>
              </a:rPr>
              <a:t>Reflect on limitations and lessons learned </a:t>
            </a:r>
          </a:p>
          <a:p>
            <a:pPr marL="971550" lvl="1" indent="-514350">
              <a:lnSpc>
                <a:spcPct val="150000"/>
              </a:lnSpc>
              <a:buFont typeface="+mj-lt"/>
              <a:buAutoNum type="arabicPeriod" startAt="7"/>
            </a:pPr>
            <a:r>
              <a:rPr lang="en-US" sz="2800" dirty="0">
                <a:latin typeface="Calibir"/>
              </a:rPr>
              <a:t>Prepare report, slides, screenshots, code, references</a:t>
            </a:r>
          </a:p>
        </p:txBody>
      </p:sp>
      <p:pic>
        <p:nvPicPr>
          <p:cNvPr id="4" name="object 3">
            <a:extLst>
              <a:ext uri="{FF2B5EF4-FFF2-40B4-BE49-F238E27FC236}">
                <a16:creationId xmlns:a16="http://schemas.microsoft.com/office/drawing/2014/main" id="{E54ADCB8-E1F4-2B19-EB6E-6C71BD2496A1}"/>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0D04100-2D45-551D-F358-9EAA494172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76562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D3F59-BB18-6125-B8DF-74EE77D81E7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17CC503-423A-BE10-5F20-519B7FAD65B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006CDD3-F7DA-F93D-AB46-64A3B536F3AB}"/>
              </a:ext>
            </a:extLst>
          </p:cNvPr>
          <p:cNvSpPr txBox="1"/>
          <p:nvPr/>
        </p:nvSpPr>
        <p:spPr>
          <a:xfrm>
            <a:off x="0" y="941812"/>
            <a:ext cx="12191999" cy="5842497"/>
          </a:xfrm>
          <a:prstGeom prst="rect">
            <a:avLst/>
          </a:prstGeom>
          <a:noFill/>
        </p:spPr>
        <p:txBody>
          <a:bodyPr wrap="square">
            <a:spAutoFit/>
          </a:bodyPr>
          <a:lstStyle/>
          <a:p>
            <a:pPr>
              <a:lnSpc>
                <a:spcPct val="150000"/>
              </a:lnSpc>
            </a:pPr>
            <a:r>
              <a:rPr lang="en-US" sz="2800" b="1" dirty="0">
                <a:latin typeface="Calibir"/>
              </a:rPr>
              <a:t>4. Step-by-step guideline</a:t>
            </a:r>
          </a:p>
          <a:p>
            <a:pPr>
              <a:lnSpc>
                <a:spcPct val="150000"/>
              </a:lnSpc>
            </a:pPr>
            <a:r>
              <a:rPr lang="en-US" sz="2800" b="1" dirty="0">
                <a:latin typeface="Calibir"/>
              </a:rPr>
              <a:t>Step 1: Read the task carefully and divide team roles</a:t>
            </a:r>
          </a:p>
          <a:p>
            <a:pPr>
              <a:lnSpc>
                <a:spcPct val="150000"/>
              </a:lnSpc>
            </a:pPr>
            <a:r>
              <a:rPr lang="en-US" sz="2800" dirty="0">
                <a:latin typeface="Calibir"/>
              </a:rPr>
              <a:t>Before touching the dataset, make sure everyone understands the marking criteria.</a:t>
            </a:r>
          </a:p>
          <a:p>
            <a:pPr>
              <a:lnSpc>
                <a:spcPct val="150000"/>
              </a:lnSpc>
            </a:pPr>
            <a:r>
              <a:rPr lang="en-US" sz="2800" dirty="0">
                <a:latin typeface="Calibir"/>
              </a:rPr>
              <a:t>Suggested roles:</a:t>
            </a:r>
          </a:p>
          <a:p>
            <a:pPr marL="914400" lvl="1" indent="-457200">
              <a:lnSpc>
                <a:spcPct val="150000"/>
              </a:lnSpc>
              <a:buFont typeface="Arial" panose="020B0604020202020204" pitchFamily="34" charset="0"/>
              <a:buChar char="•"/>
            </a:pPr>
            <a:r>
              <a:rPr lang="en-US" sz="2800" b="1" dirty="0">
                <a:latin typeface="Calibir"/>
              </a:rPr>
              <a:t>Member 1:</a:t>
            </a:r>
            <a:r>
              <a:rPr lang="en-US" sz="2800" dirty="0">
                <a:latin typeface="Calibir"/>
              </a:rPr>
              <a:t> problem framing, literature/theory, assumptions </a:t>
            </a:r>
          </a:p>
          <a:p>
            <a:pPr marL="914400" lvl="1" indent="-457200">
              <a:lnSpc>
                <a:spcPct val="150000"/>
              </a:lnSpc>
              <a:buFont typeface="Arial" panose="020B0604020202020204" pitchFamily="34" charset="0"/>
              <a:buChar char="•"/>
            </a:pPr>
            <a:r>
              <a:rPr lang="en-US" sz="2800" b="1" dirty="0">
                <a:latin typeface="Calibir"/>
              </a:rPr>
              <a:t>Member 2:</a:t>
            </a:r>
            <a:r>
              <a:rPr lang="en-US" sz="2800" dirty="0">
                <a:latin typeface="Calibir"/>
              </a:rPr>
              <a:t> preprocessing and feature engineering </a:t>
            </a:r>
          </a:p>
          <a:p>
            <a:pPr marL="914400" lvl="1" indent="-457200">
              <a:lnSpc>
                <a:spcPct val="150000"/>
              </a:lnSpc>
              <a:buFont typeface="Arial" panose="020B0604020202020204" pitchFamily="34" charset="0"/>
              <a:buChar char="•"/>
            </a:pPr>
            <a:r>
              <a:rPr lang="en-US" sz="2800" b="1" dirty="0">
                <a:latin typeface="Calibir"/>
              </a:rPr>
              <a:t>Member 3:</a:t>
            </a:r>
            <a:r>
              <a:rPr lang="en-US" sz="2800" dirty="0">
                <a:latin typeface="Calibir"/>
              </a:rPr>
              <a:t> model 1 development and evaluation </a:t>
            </a:r>
          </a:p>
          <a:p>
            <a:pPr marL="914400" lvl="1" indent="-457200">
              <a:lnSpc>
                <a:spcPct val="150000"/>
              </a:lnSpc>
              <a:buFont typeface="Arial" panose="020B0604020202020204" pitchFamily="34" charset="0"/>
              <a:buChar char="•"/>
            </a:pPr>
            <a:r>
              <a:rPr lang="en-US" sz="2800" b="1" dirty="0">
                <a:latin typeface="Calibir"/>
              </a:rPr>
              <a:t>Member 4:</a:t>
            </a:r>
            <a:r>
              <a:rPr lang="en-US" sz="2800" dirty="0">
                <a:latin typeface="Calibir"/>
              </a:rPr>
              <a:t> model 2 development, comparison, ethics, reflection </a:t>
            </a:r>
          </a:p>
          <a:p>
            <a:pPr marL="914400" lvl="1" indent="-457200">
              <a:lnSpc>
                <a:spcPct val="150000"/>
              </a:lnSpc>
              <a:buFont typeface="Arial" panose="020B0604020202020204" pitchFamily="34" charset="0"/>
              <a:buChar char="•"/>
            </a:pPr>
            <a:r>
              <a:rPr lang="en-US" sz="2800" dirty="0">
                <a:latin typeface="Calibir"/>
              </a:rPr>
              <a:t>All members: presentation speaking and Q&amp;A</a:t>
            </a:r>
          </a:p>
        </p:txBody>
      </p:sp>
      <p:pic>
        <p:nvPicPr>
          <p:cNvPr id="4" name="object 3">
            <a:extLst>
              <a:ext uri="{FF2B5EF4-FFF2-40B4-BE49-F238E27FC236}">
                <a16:creationId xmlns:a16="http://schemas.microsoft.com/office/drawing/2014/main" id="{FE6E2831-6684-AB59-DE94-82615FD2893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A4D01C5-2945-B5A3-1E86-6325602ECD9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9096200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A398-79E3-9663-944D-55C6463E656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CB5945D-F68B-CC18-E57C-504518DBFC1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DC56586-5A22-1803-823B-90930B6B7971}"/>
              </a:ext>
            </a:extLst>
          </p:cNvPr>
          <p:cNvSpPr txBox="1"/>
          <p:nvPr/>
        </p:nvSpPr>
        <p:spPr>
          <a:xfrm>
            <a:off x="0" y="1579171"/>
            <a:ext cx="12191999" cy="1964512"/>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Do not let only one student do the coding. Since the lecturer may ask questions to verify understanding, every member should understand the full workflow.</a:t>
            </a:r>
          </a:p>
        </p:txBody>
      </p:sp>
      <p:pic>
        <p:nvPicPr>
          <p:cNvPr id="4" name="object 3">
            <a:extLst>
              <a:ext uri="{FF2B5EF4-FFF2-40B4-BE49-F238E27FC236}">
                <a16:creationId xmlns:a16="http://schemas.microsoft.com/office/drawing/2014/main" id="{DEE0F596-2C84-BD7B-768E-E4D2514B5182}"/>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C6C5269D-D4E5-D9DC-5F68-55681C79A1A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802304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50D1-7E20-1240-1C60-83BC2F8D809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F4C0D15-00D8-C0EB-9ADF-811EF504086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3010963-AE10-C637-0AE0-207ED5D1ECC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051263A-0F60-5D4D-4A37-F040EE474344}"/>
              </a:ext>
            </a:extLst>
          </p:cNvPr>
          <p:cNvSpPr txBox="1"/>
          <p:nvPr/>
        </p:nvSpPr>
        <p:spPr>
          <a:xfrm>
            <a:off x="0" y="1280284"/>
            <a:ext cx="12191999" cy="4549835"/>
          </a:xfrm>
          <a:prstGeom prst="rect">
            <a:avLst/>
          </a:prstGeom>
          <a:noFill/>
        </p:spPr>
        <p:txBody>
          <a:bodyPr wrap="square">
            <a:spAutoFit/>
          </a:bodyPr>
          <a:lstStyle/>
          <a:p>
            <a:pPr>
              <a:lnSpc>
                <a:spcPct val="150000"/>
              </a:lnSpc>
            </a:pPr>
            <a:r>
              <a:rPr lang="en-US" sz="2800" b="1" dirty="0">
                <a:latin typeface="Calibir"/>
              </a:rPr>
              <a:t>Step 2: Choose one dataset and define the predictive problem</a:t>
            </a:r>
          </a:p>
          <a:p>
            <a:pPr>
              <a:lnSpc>
                <a:spcPct val="150000"/>
              </a:lnSpc>
            </a:pPr>
            <a:r>
              <a:rPr lang="en-US" sz="2800" dirty="0">
                <a:latin typeface="Calibir"/>
              </a:rPr>
              <a:t>You must choose one dataset from the recommended list or another approved one.</a:t>
            </a:r>
          </a:p>
          <a:p>
            <a:pPr>
              <a:lnSpc>
                <a:spcPct val="150000"/>
              </a:lnSpc>
            </a:pPr>
            <a:r>
              <a:rPr lang="en-US" sz="2800" dirty="0">
                <a:latin typeface="Calibir"/>
              </a:rPr>
              <a:t>Examples of predictive problems:</a:t>
            </a:r>
          </a:p>
          <a:p>
            <a:pPr marL="914400" lvl="1" indent="-457200">
              <a:lnSpc>
                <a:spcPct val="150000"/>
              </a:lnSpc>
              <a:buFont typeface="Arial" panose="020B0604020202020204" pitchFamily="34" charset="0"/>
              <a:buChar char="•"/>
            </a:pPr>
            <a:r>
              <a:rPr lang="en-US" sz="2800" dirty="0">
                <a:latin typeface="Calibir"/>
              </a:rPr>
              <a:t>Heart Disease Dataset</a:t>
            </a:r>
            <a:br>
              <a:rPr lang="en-US" sz="2800" dirty="0">
                <a:latin typeface="Calibir"/>
              </a:rPr>
            </a:br>
            <a:r>
              <a:rPr lang="en-US" sz="2800" dirty="0">
                <a:latin typeface="Calibir"/>
              </a:rPr>
              <a:t>Predict whether a patient has heart disease.</a:t>
            </a:r>
            <a:br>
              <a:rPr lang="en-US" sz="2800" dirty="0">
                <a:latin typeface="Calibir"/>
              </a:rPr>
            </a:br>
            <a:r>
              <a:rPr lang="en-US" sz="2800" dirty="0">
                <a:latin typeface="Calibir"/>
              </a:rPr>
              <a:t>This is a classification problem. </a:t>
            </a:r>
          </a:p>
        </p:txBody>
      </p:sp>
      <p:sp>
        <p:nvSpPr>
          <p:cNvPr id="7" name="object 2">
            <a:extLst>
              <a:ext uri="{FF2B5EF4-FFF2-40B4-BE49-F238E27FC236}">
                <a16:creationId xmlns:a16="http://schemas.microsoft.com/office/drawing/2014/main" id="{2E75E3A0-8134-C515-2CF6-34B97AB0CF0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442160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54B2-79E0-978D-9586-06FE054B44C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CDACF26-6B9B-C792-DB77-0F4EFD46A1D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0D7D913-0839-0B3F-6388-929597488A0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F989C3E-0D46-9291-29FD-40D1FF25D650}"/>
              </a:ext>
            </a:extLst>
          </p:cNvPr>
          <p:cNvSpPr txBox="1"/>
          <p:nvPr/>
        </p:nvSpPr>
        <p:spPr>
          <a:xfrm>
            <a:off x="0" y="583684"/>
            <a:ext cx="12191999" cy="6133859"/>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200" dirty="0">
                <a:latin typeface="Calibir"/>
              </a:rPr>
              <a:t>IBM HR Attrition Dataset</a:t>
            </a:r>
            <a:br>
              <a:rPr lang="en-US" sz="2200" dirty="0">
                <a:latin typeface="Calibir"/>
              </a:rPr>
            </a:br>
            <a:r>
              <a:rPr lang="en-US" sz="2200" dirty="0">
                <a:latin typeface="Calibir"/>
              </a:rPr>
              <a:t>Predict whether an employee will leave the company.</a:t>
            </a:r>
            <a:br>
              <a:rPr lang="en-US" sz="2200" dirty="0">
                <a:latin typeface="Calibir"/>
              </a:rPr>
            </a:br>
            <a:r>
              <a:rPr lang="en-US" sz="2200" dirty="0">
                <a:latin typeface="Calibir"/>
              </a:rPr>
              <a:t>This is a classification problem. </a:t>
            </a:r>
          </a:p>
          <a:p>
            <a:pPr marL="914400" lvl="1" indent="-457200">
              <a:lnSpc>
                <a:spcPct val="150000"/>
              </a:lnSpc>
              <a:buFont typeface="Arial" panose="020B0604020202020204" pitchFamily="34" charset="0"/>
              <a:buChar char="•"/>
            </a:pPr>
            <a:r>
              <a:rPr lang="en-US" sz="2200" dirty="0">
                <a:latin typeface="Calibir"/>
              </a:rPr>
              <a:t>Walmart Sales Forecasting</a:t>
            </a:r>
            <a:br>
              <a:rPr lang="en-US" sz="2200" dirty="0">
                <a:latin typeface="Calibir"/>
              </a:rPr>
            </a:br>
            <a:r>
              <a:rPr lang="en-US" sz="2200" dirty="0">
                <a:latin typeface="Calibir"/>
              </a:rPr>
              <a:t>Predict future weekly sales.</a:t>
            </a:r>
            <a:br>
              <a:rPr lang="en-US" sz="2200" dirty="0">
                <a:latin typeface="Calibir"/>
              </a:rPr>
            </a:br>
            <a:r>
              <a:rPr lang="en-US" sz="2200" dirty="0">
                <a:latin typeface="Calibir"/>
              </a:rPr>
              <a:t>This is a regression problem. </a:t>
            </a:r>
          </a:p>
          <a:p>
            <a:pPr marL="914400" lvl="1" indent="-457200">
              <a:lnSpc>
                <a:spcPct val="150000"/>
              </a:lnSpc>
              <a:buFont typeface="Arial" panose="020B0604020202020204" pitchFamily="34" charset="0"/>
              <a:buChar char="•"/>
            </a:pPr>
            <a:r>
              <a:rPr lang="en-US" sz="2200" dirty="0">
                <a:latin typeface="Calibir"/>
              </a:rPr>
              <a:t>Automobile Price Dataset</a:t>
            </a:r>
            <a:br>
              <a:rPr lang="en-US" sz="2200" dirty="0">
                <a:latin typeface="Calibir"/>
              </a:rPr>
            </a:br>
            <a:r>
              <a:rPr lang="en-US" sz="2200" dirty="0">
                <a:latin typeface="Calibir"/>
              </a:rPr>
              <a:t>Predict a car’s price based on features.</a:t>
            </a:r>
            <a:br>
              <a:rPr lang="en-US" sz="2200" dirty="0">
                <a:latin typeface="Calibir"/>
              </a:rPr>
            </a:br>
            <a:r>
              <a:rPr lang="en-US" sz="2200" dirty="0">
                <a:latin typeface="Calibir"/>
              </a:rPr>
              <a:t>This is a regression problem. </a:t>
            </a:r>
          </a:p>
          <a:p>
            <a:pPr marL="914400" lvl="1" indent="-457200">
              <a:lnSpc>
                <a:spcPct val="150000"/>
              </a:lnSpc>
              <a:buFont typeface="Arial" panose="020B0604020202020204" pitchFamily="34" charset="0"/>
              <a:buChar char="•"/>
            </a:pPr>
            <a:r>
              <a:rPr lang="en-US" sz="2200" dirty="0">
                <a:latin typeface="Calibir"/>
              </a:rPr>
              <a:t>Telco Customer Churn</a:t>
            </a:r>
            <a:br>
              <a:rPr lang="en-US" sz="2200" dirty="0">
                <a:latin typeface="Calibir"/>
              </a:rPr>
            </a:br>
            <a:r>
              <a:rPr lang="en-US" sz="2200" dirty="0">
                <a:latin typeface="Calibir"/>
              </a:rPr>
              <a:t>Predict whether a customer will churn.</a:t>
            </a:r>
            <a:br>
              <a:rPr lang="en-US" sz="2200" dirty="0">
                <a:latin typeface="Calibir"/>
              </a:rPr>
            </a:br>
            <a:r>
              <a:rPr lang="en-US" sz="2200" dirty="0">
                <a:latin typeface="Calibir"/>
              </a:rPr>
              <a:t>This is a classification problem.</a:t>
            </a:r>
          </a:p>
        </p:txBody>
      </p:sp>
      <p:sp>
        <p:nvSpPr>
          <p:cNvPr id="7" name="object 2">
            <a:extLst>
              <a:ext uri="{FF2B5EF4-FFF2-40B4-BE49-F238E27FC236}">
                <a16:creationId xmlns:a16="http://schemas.microsoft.com/office/drawing/2014/main" id="{C4A7D40D-4898-916E-DE05-5F5A81042BE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344151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3E8E-D4B6-A3E4-4D15-F2696EED33F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EBCBF54-DBB2-CCF0-B62E-2AF0C372708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D82E000-9946-98C8-06C5-65363B6051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3AC22A5-BFA6-0641-75BC-8B69EF5A1FD5}"/>
              </a:ext>
            </a:extLst>
          </p:cNvPr>
          <p:cNvSpPr txBox="1"/>
          <p:nvPr/>
        </p:nvSpPr>
        <p:spPr>
          <a:xfrm>
            <a:off x="0" y="583684"/>
            <a:ext cx="12191999" cy="3903504"/>
          </a:xfrm>
          <a:prstGeom prst="rect">
            <a:avLst/>
          </a:prstGeom>
          <a:noFill/>
        </p:spPr>
        <p:txBody>
          <a:bodyPr wrap="square">
            <a:spAutoFit/>
          </a:bodyPr>
          <a:lstStyle/>
          <a:p>
            <a:pPr>
              <a:lnSpc>
                <a:spcPct val="150000"/>
              </a:lnSpc>
            </a:pPr>
            <a:r>
              <a:rPr lang="en-US" sz="2800" b="1" dirty="0">
                <a:latin typeface="Calibir"/>
              </a:rPr>
              <a:t>What to write</a:t>
            </a:r>
          </a:p>
          <a:p>
            <a:pPr>
              <a:lnSpc>
                <a:spcPct val="150000"/>
              </a:lnSpc>
            </a:pPr>
            <a:r>
              <a:rPr lang="en-US" sz="2800" dirty="0">
                <a:latin typeface="Calibir"/>
              </a:rPr>
              <a:t>You should clearly state:</a:t>
            </a:r>
          </a:p>
          <a:p>
            <a:pPr marL="914400" lvl="1" indent="-457200">
              <a:lnSpc>
                <a:spcPct val="150000"/>
              </a:lnSpc>
              <a:buFont typeface="Arial" panose="020B0604020202020204" pitchFamily="34" charset="0"/>
              <a:buChar char="•"/>
            </a:pPr>
            <a:r>
              <a:rPr lang="en-US" sz="2800" dirty="0">
                <a:latin typeface="Calibir"/>
              </a:rPr>
              <a:t>what the dataset is </a:t>
            </a:r>
          </a:p>
          <a:p>
            <a:pPr marL="914400" lvl="1" indent="-457200">
              <a:lnSpc>
                <a:spcPct val="150000"/>
              </a:lnSpc>
              <a:buFont typeface="Arial" panose="020B0604020202020204" pitchFamily="34" charset="0"/>
              <a:buChar char="•"/>
            </a:pPr>
            <a:r>
              <a:rPr lang="en-US" sz="2800" dirty="0">
                <a:latin typeface="Calibir"/>
              </a:rPr>
              <a:t>what the target variable is </a:t>
            </a:r>
          </a:p>
          <a:p>
            <a:pPr marL="914400" lvl="1" indent="-457200">
              <a:lnSpc>
                <a:spcPct val="150000"/>
              </a:lnSpc>
              <a:buFont typeface="Arial" panose="020B0604020202020204" pitchFamily="34" charset="0"/>
              <a:buChar char="•"/>
            </a:pPr>
            <a:r>
              <a:rPr lang="en-US" sz="2800" dirty="0">
                <a:latin typeface="Calibir"/>
              </a:rPr>
              <a:t>why the problem matters in real life </a:t>
            </a:r>
          </a:p>
          <a:p>
            <a:pPr marL="914400" lvl="1" indent="-457200">
              <a:lnSpc>
                <a:spcPct val="150000"/>
              </a:lnSpc>
              <a:buFont typeface="Arial" panose="020B0604020202020204" pitchFamily="34" charset="0"/>
              <a:buChar char="•"/>
            </a:pPr>
            <a:r>
              <a:rPr lang="en-US" sz="2800" dirty="0">
                <a:latin typeface="Calibir"/>
              </a:rPr>
              <a:t>why predictive analytics is useful for this problem</a:t>
            </a:r>
          </a:p>
        </p:txBody>
      </p:sp>
      <p:sp>
        <p:nvSpPr>
          <p:cNvPr id="7" name="object 2">
            <a:extLst>
              <a:ext uri="{FF2B5EF4-FFF2-40B4-BE49-F238E27FC236}">
                <a16:creationId xmlns:a16="http://schemas.microsoft.com/office/drawing/2014/main" id="{3BC30E5A-260E-9B41-3757-A4A512BA168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48730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E7DE-25CD-0337-C43B-74A69CEE2E4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E0CCCE1-D580-56A6-7451-D69180ABE2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4203519-A911-5DF2-C127-3D2C1EAC314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6D4CCDD-4DDC-5913-5E79-03C15401D702}"/>
              </a:ext>
            </a:extLst>
          </p:cNvPr>
          <p:cNvSpPr txBox="1"/>
          <p:nvPr/>
        </p:nvSpPr>
        <p:spPr>
          <a:xfrm>
            <a:off x="0" y="583684"/>
            <a:ext cx="12191999" cy="5196166"/>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“Using the IBM HR Attrition dataset, this project aims to predict whether an employee is likely to leave the company. Early prediction of attrition can help HR departments reduce turnover, improve retention strategies, and lower recruitment costs.”</a:t>
            </a:r>
          </a:p>
          <a:p>
            <a:pPr>
              <a:lnSpc>
                <a:spcPct val="150000"/>
              </a:lnSpc>
            </a:pPr>
            <a:r>
              <a:rPr lang="en-US" sz="2800" b="1" dirty="0">
                <a:latin typeface="Calibir"/>
              </a:rPr>
              <a:t>Common mistake</a:t>
            </a:r>
          </a:p>
          <a:p>
            <a:pPr>
              <a:lnSpc>
                <a:spcPct val="150000"/>
              </a:lnSpc>
            </a:pPr>
            <a:r>
              <a:rPr lang="en-US" sz="2800" dirty="0">
                <a:latin typeface="Calibir"/>
              </a:rPr>
              <a:t>Students often describe the dataset but do not clearly define the predictive target.</a:t>
            </a:r>
            <a:br>
              <a:rPr lang="en-US" sz="2800" dirty="0">
                <a:latin typeface="Calibir"/>
              </a:rPr>
            </a:br>
            <a:r>
              <a:rPr lang="en-US" sz="2800" dirty="0">
                <a:latin typeface="Calibir"/>
              </a:rPr>
              <a:t>That loses marks.</a:t>
            </a:r>
          </a:p>
        </p:txBody>
      </p:sp>
      <p:sp>
        <p:nvSpPr>
          <p:cNvPr id="7" name="object 2">
            <a:extLst>
              <a:ext uri="{FF2B5EF4-FFF2-40B4-BE49-F238E27FC236}">
                <a16:creationId xmlns:a16="http://schemas.microsoft.com/office/drawing/2014/main" id="{49143ED9-559C-E88F-453D-BE64F95C17A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039727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32B-DEAB-6434-1FE0-32E002B5BC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0600F63-FBC1-75BE-FD41-CB751AE1911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0E92F50-58F3-AD96-DB09-A3093C6E31E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926018E-FCDB-5C3E-444D-45D131D5792F}"/>
              </a:ext>
            </a:extLst>
          </p:cNvPr>
          <p:cNvSpPr txBox="1"/>
          <p:nvPr/>
        </p:nvSpPr>
        <p:spPr>
          <a:xfrm>
            <a:off x="0" y="583684"/>
            <a:ext cx="12191999" cy="6488828"/>
          </a:xfrm>
          <a:prstGeom prst="rect">
            <a:avLst/>
          </a:prstGeom>
          <a:noFill/>
        </p:spPr>
        <p:txBody>
          <a:bodyPr wrap="square">
            <a:spAutoFit/>
          </a:bodyPr>
          <a:lstStyle/>
          <a:p>
            <a:pPr>
              <a:lnSpc>
                <a:spcPct val="150000"/>
              </a:lnSpc>
            </a:pPr>
            <a:r>
              <a:rPr lang="en-US" sz="2800" b="1" dirty="0">
                <a:latin typeface="Calibir"/>
              </a:rPr>
              <a:t>Step 3: Understand the dataset deeply</a:t>
            </a:r>
          </a:p>
          <a:p>
            <a:pPr>
              <a:lnSpc>
                <a:spcPct val="150000"/>
              </a:lnSpc>
            </a:pPr>
            <a:r>
              <a:rPr lang="en-US" sz="2800" dirty="0">
                <a:latin typeface="Calibir"/>
              </a:rPr>
              <a:t>You need to show that you understand:</a:t>
            </a:r>
          </a:p>
          <a:p>
            <a:pPr marL="914400" lvl="1" indent="-457200">
              <a:lnSpc>
                <a:spcPct val="150000"/>
              </a:lnSpc>
              <a:buFont typeface="Arial" panose="020B0604020202020204" pitchFamily="34" charset="0"/>
              <a:buChar char="•"/>
            </a:pPr>
            <a:r>
              <a:rPr lang="en-US" sz="2800" dirty="0">
                <a:latin typeface="Calibir"/>
              </a:rPr>
              <a:t>number of rows and columns </a:t>
            </a:r>
          </a:p>
          <a:p>
            <a:pPr marL="914400" lvl="1" indent="-457200">
              <a:lnSpc>
                <a:spcPct val="150000"/>
              </a:lnSpc>
              <a:buFont typeface="Arial" panose="020B0604020202020204" pitchFamily="34" charset="0"/>
              <a:buChar char="•"/>
            </a:pPr>
            <a:r>
              <a:rPr lang="en-US" sz="2800" dirty="0">
                <a:latin typeface="Calibir"/>
              </a:rPr>
              <a:t>variable names </a:t>
            </a:r>
          </a:p>
          <a:p>
            <a:pPr marL="914400" lvl="1" indent="-457200">
              <a:lnSpc>
                <a:spcPct val="150000"/>
              </a:lnSpc>
              <a:buFont typeface="Arial" panose="020B0604020202020204" pitchFamily="34" charset="0"/>
              <a:buChar char="•"/>
            </a:pPr>
            <a:r>
              <a:rPr lang="en-US" sz="2800" dirty="0">
                <a:latin typeface="Calibir"/>
              </a:rPr>
              <a:t>variable types </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outliers </a:t>
            </a:r>
          </a:p>
          <a:p>
            <a:pPr marL="914400" lvl="1" indent="-457200">
              <a:lnSpc>
                <a:spcPct val="150000"/>
              </a:lnSpc>
              <a:buFont typeface="Arial" panose="020B0604020202020204" pitchFamily="34" charset="0"/>
              <a:buChar char="•"/>
            </a:pPr>
            <a:r>
              <a:rPr lang="en-US" sz="2800" dirty="0">
                <a:latin typeface="Calibir"/>
              </a:rPr>
              <a:t>class imbalance </a:t>
            </a:r>
          </a:p>
          <a:p>
            <a:pPr marL="914400" lvl="1" indent="-457200">
              <a:lnSpc>
                <a:spcPct val="150000"/>
              </a:lnSpc>
              <a:buFont typeface="Arial" panose="020B0604020202020204" pitchFamily="34" charset="0"/>
              <a:buChar char="•"/>
            </a:pPr>
            <a:r>
              <a:rPr lang="en-US" sz="2800" dirty="0">
                <a:latin typeface="Calibir"/>
              </a:rPr>
              <a:t>irrelevant features</a:t>
            </a:r>
          </a:p>
        </p:txBody>
      </p:sp>
      <p:sp>
        <p:nvSpPr>
          <p:cNvPr id="7" name="object 2">
            <a:extLst>
              <a:ext uri="{FF2B5EF4-FFF2-40B4-BE49-F238E27FC236}">
                <a16:creationId xmlns:a16="http://schemas.microsoft.com/office/drawing/2014/main" id="{EA0B742F-A988-0188-CED8-3F45A0E3AEA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152530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94CB5-6940-6063-3455-2393540713D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C1A72DC-DEE0-9EF4-0892-8BA7ED7B8E0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1192FFB-4CBB-BA0B-2EC2-DD8D83F4AA3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FFDC151-260B-AE4A-13C1-EB3C990AE51C}"/>
              </a:ext>
            </a:extLst>
          </p:cNvPr>
          <p:cNvSpPr txBox="1"/>
          <p:nvPr/>
        </p:nvSpPr>
        <p:spPr>
          <a:xfrm>
            <a:off x="0" y="583684"/>
            <a:ext cx="12191999" cy="5196166"/>
          </a:xfrm>
          <a:prstGeom prst="rect">
            <a:avLst/>
          </a:prstGeom>
          <a:noFill/>
        </p:spPr>
        <p:txBody>
          <a:bodyPr wrap="square">
            <a:spAutoFit/>
          </a:bodyPr>
          <a:lstStyle/>
          <a:p>
            <a:pPr>
              <a:lnSpc>
                <a:spcPct val="150000"/>
              </a:lnSpc>
            </a:pPr>
            <a:r>
              <a:rPr lang="en-US" sz="2800" b="1" dirty="0">
                <a:latin typeface="Calibir"/>
              </a:rPr>
              <a:t>What to do</a:t>
            </a:r>
          </a:p>
          <a:p>
            <a:pPr>
              <a:lnSpc>
                <a:spcPct val="150000"/>
              </a:lnSpc>
            </a:pPr>
            <a:r>
              <a:rPr lang="en-US" sz="2800" dirty="0">
                <a:latin typeface="Calibir"/>
              </a:rPr>
              <a:t>In Python, inspect the dataset using things like:</a:t>
            </a:r>
          </a:p>
          <a:p>
            <a:pPr marL="914400" lvl="1" indent="-457200">
              <a:lnSpc>
                <a:spcPct val="150000"/>
              </a:lnSpc>
              <a:buFont typeface="Arial" panose="020B0604020202020204" pitchFamily="34" charset="0"/>
              <a:buChar char="•"/>
            </a:pPr>
            <a:r>
              <a:rPr lang="en-US" sz="2800" dirty="0">
                <a:latin typeface="Calibir"/>
              </a:rPr>
              <a:t>.head() </a:t>
            </a:r>
          </a:p>
          <a:p>
            <a:pPr marL="914400" lvl="1" indent="-457200">
              <a:lnSpc>
                <a:spcPct val="150000"/>
              </a:lnSpc>
              <a:buFont typeface="Arial" panose="020B0604020202020204" pitchFamily="34" charset="0"/>
              <a:buChar char="•"/>
            </a:pPr>
            <a:r>
              <a:rPr lang="en-US" sz="2800" dirty="0">
                <a:latin typeface="Calibir"/>
              </a:rPr>
              <a:t>.info() </a:t>
            </a:r>
          </a:p>
          <a:p>
            <a:pPr marL="914400" lvl="1" indent="-457200">
              <a:lnSpc>
                <a:spcPct val="150000"/>
              </a:lnSpc>
              <a:buFont typeface="Arial" panose="020B0604020202020204" pitchFamily="34" charset="0"/>
              <a:buChar char="•"/>
            </a:pPr>
            <a:r>
              <a:rPr lang="en-US" sz="2800" dirty="0">
                <a:latin typeface="Calibir"/>
              </a:rPr>
              <a:t>.describe() </a:t>
            </a:r>
          </a:p>
          <a:p>
            <a:pPr marL="914400" lvl="1" indent="-457200">
              <a:lnSpc>
                <a:spcPct val="150000"/>
              </a:lnSpc>
              <a:buFont typeface="Arial" panose="020B0604020202020204" pitchFamily="34" charset="0"/>
              <a:buChar char="•"/>
            </a:pPr>
            <a:r>
              <a:rPr lang="en-US" sz="2800" dirty="0">
                <a:latin typeface="Calibir"/>
              </a:rPr>
              <a:t>missing value counts </a:t>
            </a:r>
          </a:p>
          <a:p>
            <a:pPr marL="914400" lvl="1" indent="-457200">
              <a:lnSpc>
                <a:spcPct val="150000"/>
              </a:lnSpc>
              <a:buFont typeface="Arial" panose="020B0604020202020204" pitchFamily="34" charset="0"/>
              <a:buChar char="•"/>
            </a:pPr>
            <a:r>
              <a:rPr lang="en-US" sz="2800" dirty="0">
                <a:latin typeface="Calibir"/>
              </a:rPr>
              <a:t>duplicate checks </a:t>
            </a:r>
          </a:p>
          <a:p>
            <a:pPr marL="914400" lvl="1" indent="-457200">
              <a:lnSpc>
                <a:spcPct val="150000"/>
              </a:lnSpc>
              <a:buFont typeface="Arial" panose="020B0604020202020204" pitchFamily="34" charset="0"/>
              <a:buChar char="•"/>
            </a:pPr>
            <a:r>
              <a:rPr lang="en-US" sz="2800" dirty="0">
                <a:latin typeface="Calibir"/>
              </a:rPr>
              <a:t>value counts for target variable</a:t>
            </a:r>
          </a:p>
        </p:txBody>
      </p:sp>
      <p:sp>
        <p:nvSpPr>
          <p:cNvPr id="7" name="object 2">
            <a:extLst>
              <a:ext uri="{FF2B5EF4-FFF2-40B4-BE49-F238E27FC236}">
                <a16:creationId xmlns:a16="http://schemas.microsoft.com/office/drawing/2014/main" id="{CA01BB13-DCC5-A52B-30EC-D32E253A458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38324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1C54-1287-6E51-0F7C-E81DEC3CC1D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33D51A9-0425-8CDE-182B-79AF95253D2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6627D18-659E-8B48-8C7D-30F5E5D3503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2360977-85CF-0C36-E63E-998B34CF11B7}"/>
              </a:ext>
            </a:extLst>
          </p:cNvPr>
          <p:cNvSpPr txBox="1"/>
          <p:nvPr/>
        </p:nvSpPr>
        <p:spPr>
          <a:xfrm>
            <a:off x="0" y="583684"/>
            <a:ext cx="12191999" cy="3257174"/>
          </a:xfrm>
          <a:prstGeom prst="rect">
            <a:avLst/>
          </a:prstGeom>
          <a:noFill/>
        </p:spPr>
        <p:txBody>
          <a:bodyPr wrap="square">
            <a:spAutoFit/>
          </a:bodyPr>
          <a:lstStyle/>
          <a:p>
            <a:pPr>
              <a:lnSpc>
                <a:spcPct val="150000"/>
              </a:lnSpc>
            </a:pPr>
            <a:r>
              <a:rPr lang="en-US" sz="2800" b="1" dirty="0">
                <a:latin typeface="Calibir"/>
              </a:rPr>
              <a:t>What to include in the report</a:t>
            </a:r>
          </a:p>
          <a:p>
            <a:pPr marL="914400" lvl="1" indent="-457200">
              <a:lnSpc>
                <a:spcPct val="150000"/>
              </a:lnSpc>
              <a:buFont typeface="Arial" panose="020B0604020202020204" pitchFamily="34" charset="0"/>
              <a:buChar char="•"/>
            </a:pPr>
            <a:r>
              <a:rPr lang="en-US" sz="2800" dirty="0">
                <a:latin typeface="Calibir"/>
              </a:rPr>
              <a:t>source of the dataset </a:t>
            </a:r>
          </a:p>
          <a:p>
            <a:pPr marL="914400" lvl="1" indent="-457200">
              <a:lnSpc>
                <a:spcPct val="150000"/>
              </a:lnSpc>
              <a:buFont typeface="Arial" panose="020B0604020202020204" pitchFamily="34" charset="0"/>
              <a:buChar char="•"/>
            </a:pPr>
            <a:r>
              <a:rPr lang="en-US" sz="2800" dirty="0">
                <a:latin typeface="Calibir"/>
              </a:rPr>
              <a:t>variable descriptions </a:t>
            </a:r>
          </a:p>
          <a:p>
            <a:pPr marL="914400" lvl="1" indent="-457200">
              <a:lnSpc>
                <a:spcPct val="150000"/>
              </a:lnSpc>
              <a:buFont typeface="Arial" panose="020B0604020202020204" pitchFamily="34" charset="0"/>
              <a:buChar char="•"/>
            </a:pPr>
            <a:r>
              <a:rPr lang="en-US" sz="2800" dirty="0">
                <a:latin typeface="Calibir"/>
              </a:rPr>
              <a:t>target variable </a:t>
            </a:r>
          </a:p>
          <a:p>
            <a:pPr marL="914400" lvl="1" indent="-457200">
              <a:lnSpc>
                <a:spcPct val="150000"/>
              </a:lnSpc>
              <a:buFont typeface="Arial" panose="020B0604020202020204" pitchFamily="34" charset="0"/>
              <a:buChar char="•"/>
            </a:pPr>
            <a:r>
              <a:rPr lang="en-US" sz="2800" dirty="0">
                <a:latin typeface="Calibir"/>
              </a:rPr>
              <a:t>initial problems found</a:t>
            </a:r>
          </a:p>
        </p:txBody>
      </p:sp>
      <p:sp>
        <p:nvSpPr>
          <p:cNvPr id="7" name="object 2">
            <a:extLst>
              <a:ext uri="{FF2B5EF4-FFF2-40B4-BE49-F238E27FC236}">
                <a16:creationId xmlns:a16="http://schemas.microsoft.com/office/drawing/2014/main" id="{179C271A-991F-EB40-A671-894C49E443A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39092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12BB-7E72-78C4-7EE6-1E55598BCA9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2AF4998-3F32-4C5D-BF7B-FCF4D3B0652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76BBE85-72E9-B3C7-5854-7C38176643B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99B59CF-B1DA-235E-FC19-7ACA3AA239AD}"/>
              </a:ext>
            </a:extLst>
          </p:cNvPr>
          <p:cNvSpPr txBox="1"/>
          <p:nvPr/>
        </p:nvSpPr>
        <p:spPr>
          <a:xfrm>
            <a:off x="0" y="583684"/>
            <a:ext cx="12191999" cy="4549835"/>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A simple table of variables is useful:</a:t>
            </a:r>
          </a:p>
          <a:p>
            <a:pPr marL="914400" lvl="1" indent="-457200">
              <a:lnSpc>
                <a:spcPct val="150000"/>
              </a:lnSpc>
              <a:buFont typeface="Arial" panose="020B0604020202020204" pitchFamily="34" charset="0"/>
              <a:buChar char="•"/>
            </a:pPr>
            <a:r>
              <a:rPr lang="en-US" sz="2800" dirty="0">
                <a:latin typeface="Calibir"/>
              </a:rPr>
              <a:t>variable name </a:t>
            </a:r>
          </a:p>
          <a:p>
            <a:pPr marL="914400" lvl="1" indent="-457200">
              <a:lnSpc>
                <a:spcPct val="150000"/>
              </a:lnSpc>
              <a:buFont typeface="Arial" panose="020B0604020202020204" pitchFamily="34" charset="0"/>
              <a:buChar char="•"/>
            </a:pPr>
            <a:r>
              <a:rPr lang="en-US" sz="2800" dirty="0">
                <a:latin typeface="Calibir"/>
              </a:rPr>
              <a:t>type </a:t>
            </a:r>
          </a:p>
          <a:p>
            <a:pPr marL="914400" lvl="1" indent="-457200">
              <a:lnSpc>
                <a:spcPct val="150000"/>
              </a:lnSpc>
              <a:buFont typeface="Arial" panose="020B0604020202020204" pitchFamily="34" charset="0"/>
              <a:buChar char="•"/>
            </a:pPr>
            <a:r>
              <a:rPr lang="en-US" sz="2800" dirty="0">
                <a:latin typeface="Calibir"/>
              </a:rPr>
              <a:t>role in modelling </a:t>
            </a:r>
          </a:p>
          <a:p>
            <a:pPr marL="914400" lvl="1" indent="-457200">
              <a:lnSpc>
                <a:spcPct val="150000"/>
              </a:lnSpc>
              <a:buFont typeface="Arial" panose="020B0604020202020204" pitchFamily="34" charset="0"/>
              <a:buChar char="•"/>
            </a:pPr>
            <a:r>
              <a:rPr lang="en-US" sz="2800" dirty="0">
                <a:latin typeface="Calibir"/>
              </a:rPr>
              <a:t>issue found </a:t>
            </a:r>
          </a:p>
          <a:p>
            <a:pPr marL="914400" lvl="1" indent="-457200">
              <a:lnSpc>
                <a:spcPct val="150000"/>
              </a:lnSpc>
              <a:buFont typeface="Arial" panose="020B0604020202020204" pitchFamily="34" charset="0"/>
              <a:buChar char="•"/>
            </a:pPr>
            <a:r>
              <a:rPr lang="en-US" sz="2800" dirty="0">
                <a:latin typeface="Calibir"/>
              </a:rPr>
              <a:t>action taken</a:t>
            </a:r>
          </a:p>
        </p:txBody>
      </p:sp>
      <p:sp>
        <p:nvSpPr>
          <p:cNvPr id="7" name="object 2">
            <a:extLst>
              <a:ext uri="{FF2B5EF4-FFF2-40B4-BE49-F238E27FC236}">
                <a16:creationId xmlns:a16="http://schemas.microsoft.com/office/drawing/2014/main" id="{40960AC7-48FD-F77F-4A00-04963034F8F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126683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49707-5138-BDD9-4B71-4CF3739560D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9E9318B-9F12-7232-92C8-52EBAED9B8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9FD2CAB-3442-BA87-8E57-F06C1459D14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48C7924-5D64-CECB-8583-9225B56C9AAA}"/>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Step 4: Preprocess the dataset carefully and justify every step</a:t>
            </a:r>
          </a:p>
          <a:p>
            <a:pPr>
              <a:lnSpc>
                <a:spcPct val="150000"/>
              </a:lnSpc>
            </a:pPr>
            <a:r>
              <a:rPr lang="en-US" sz="2800" dirty="0">
                <a:latin typeface="Calibir"/>
              </a:rPr>
              <a:t>This section is worth a lot because the assignment specifically asks for critical preprocessing.</a:t>
            </a:r>
          </a:p>
          <a:p>
            <a:pPr>
              <a:lnSpc>
                <a:spcPct val="150000"/>
              </a:lnSpc>
            </a:pPr>
            <a:r>
              <a:rPr lang="en-US" sz="2800" dirty="0">
                <a:latin typeface="Calibir"/>
              </a:rPr>
              <a:t>You need to show:</a:t>
            </a:r>
          </a:p>
          <a:p>
            <a:pPr marL="914400" lvl="1" indent="-457200">
              <a:lnSpc>
                <a:spcPct val="150000"/>
              </a:lnSpc>
              <a:buFont typeface="Arial" panose="020B0604020202020204" pitchFamily="34" charset="0"/>
              <a:buChar char="•"/>
            </a:pPr>
            <a:r>
              <a:rPr lang="en-US" sz="2800" dirty="0">
                <a:latin typeface="Calibir"/>
              </a:rPr>
              <a:t>before vs after </a:t>
            </a:r>
          </a:p>
          <a:p>
            <a:pPr marL="914400" lvl="1" indent="-457200">
              <a:lnSpc>
                <a:spcPct val="150000"/>
              </a:lnSpc>
              <a:buFont typeface="Arial" panose="020B0604020202020204" pitchFamily="34" charset="0"/>
              <a:buChar char="•"/>
            </a:pPr>
            <a:r>
              <a:rPr lang="en-US" sz="2800" dirty="0">
                <a:latin typeface="Calibir"/>
              </a:rPr>
              <a:t>what issues existed </a:t>
            </a:r>
          </a:p>
          <a:p>
            <a:pPr marL="914400" lvl="1" indent="-457200">
              <a:lnSpc>
                <a:spcPct val="150000"/>
              </a:lnSpc>
              <a:buFont typeface="Arial" panose="020B0604020202020204" pitchFamily="34" charset="0"/>
              <a:buChar char="•"/>
            </a:pPr>
            <a:r>
              <a:rPr lang="en-US" sz="2800" dirty="0">
                <a:latin typeface="Calibir"/>
              </a:rPr>
              <a:t>what you changed </a:t>
            </a:r>
          </a:p>
          <a:p>
            <a:pPr marL="914400" lvl="1" indent="-457200">
              <a:lnSpc>
                <a:spcPct val="150000"/>
              </a:lnSpc>
              <a:buFont typeface="Arial" panose="020B0604020202020204" pitchFamily="34" charset="0"/>
              <a:buChar char="•"/>
            </a:pPr>
            <a:r>
              <a:rPr lang="en-US" sz="2800" dirty="0">
                <a:latin typeface="Calibir"/>
              </a:rPr>
              <a:t>why you changed it </a:t>
            </a:r>
          </a:p>
          <a:p>
            <a:pPr marL="914400" lvl="1" indent="-457200">
              <a:lnSpc>
                <a:spcPct val="150000"/>
              </a:lnSpc>
              <a:buFont typeface="Arial" panose="020B0604020202020204" pitchFamily="34" charset="0"/>
              <a:buChar char="•"/>
            </a:pPr>
            <a:r>
              <a:rPr lang="en-US" sz="2800" dirty="0">
                <a:latin typeface="Calibir"/>
              </a:rPr>
              <a:t>screenshots of the process</a:t>
            </a:r>
          </a:p>
        </p:txBody>
      </p:sp>
      <p:sp>
        <p:nvSpPr>
          <p:cNvPr id="7" name="object 2">
            <a:extLst>
              <a:ext uri="{FF2B5EF4-FFF2-40B4-BE49-F238E27FC236}">
                <a16:creationId xmlns:a16="http://schemas.microsoft.com/office/drawing/2014/main" id="{1356B2B7-8AC1-B4F8-BC06-5EABD9235AB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5561573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ED99-1F86-9676-F1E9-10417A92EA7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7FE7E06-1441-D72B-AC1B-C14BB42F64D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8443B05-B2AB-F3BF-F68E-58AEE04592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821AD4E-E457-F0A1-BF9E-20B755020A2A}"/>
              </a:ext>
            </a:extLst>
          </p:cNvPr>
          <p:cNvSpPr txBox="1"/>
          <p:nvPr/>
        </p:nvSpPr>
        <p:spPr>
          <a:xfrm>
            <a:off x="0" y="583684"/>
            <a:ext cx="12191999" cy="5842497"/>
          </a:xfrm>
          <a:prstGeom prst="rect">
            <a:avLst/>
          </a:prstGeom>
          <a:noFill/>
        </p:spPr>
        <p:txBody>
          <a:bodyPr wrap="square">
            <a:spAutoFit/>
          </a:bodyPr>
          <a:lstStyle/>
          <a:p>
            <a:pPr>
              <a:lnSpc>
                <a:spcPct val="150000"/>
              </a:lnSpc>
            </a:pPr>
            <a:r>
              <a:rPr lang="en-US" sz="2800" b="1" dirty="0">
                <a:latin typeface="Calibir"/>
              </a:rPr>
              <a:t>Typical preprocessing steps</a:t>
            </a:r>
          </a:p>
          <a:p>
            <a:pPr>
              <a:lnSpc>
                <a:spcPct val="150000"/>
              </a:lnSpc>
            </a:pPr>
            <a:r>
              <a:rPr lang="en-US" sz="2800" dirty="0">
                <a:latin typeface="Calibir"/>
              </a:rPr>
              <a:t>Depending on the dataset, you may need to:</a:t>
            </a:r>
          </a:p>
          <a:p>
            <a:pPr marL="914400" lvl="1" indent="-457200">
              <a:lnSpc>
                <a:spcPct val="150000"/>
              </a:lnSpc>
              <a:buFont typeface="Arial" panose="020B0604020202020204" pitchFamily="34" charset="0"/>
              <a:buChar char="•"/>
            </a:pPr>
            <a:r>
              <a:rPr lang="en-US" sz="2800" dirty="0">
                <a:latin typeface="Calibir"/>
              </a:rPr>
              <a:t>remove duplicates </a:t>
            </a:r>
          </a:p>
          <a:p>
            <a:pPr marL="914400" lvl="1" indent="-457200">
              <a:lnSpc>
                <a:spcPct val="150000"/>
              </a:lnSpc>
              <a:buFont typeface="Arial" panose="020B0604020202020204" pitchFamily="34" charset="0"/>
              <a:buChar char="•"/>
            </a:pPr>
            <a:r>
              <a:rPr lang="en-US" sz="2800" dirty="0">
                <a:latin typeface="Calibir"/>
              </a:rPr>
              <a:t>handle missing values </a:t>
            </a:r>
          </a:p>
          <a:p>
            <a:pPr marL="914400" lvl="1" indent="-457200">
              <a:lnSpc>
                <a:spcPct val="150000"/>
              </a:lnSpc>
              <a:buFont typeface="Arial" panose="020B0604020202020204" pitchFamily="34" charset="0"/>
              <a:buChar char="•"/>
            </a:pPr>
            <a:r>
              <a:rPr lang="en-US" sz="2800" dirty="0">
                <a:latin typeface="Calibir"/>
              </a:rPr>
              <a:t>encode categorical variables </a:t>
            </a:r>
          </a:p>
          <a:p>
            <a:pPr marL="914400" lvl="1" indent="-457200">
              <a:lnSpc>
                <a:spcPct val="150000"/>
              </a:lnSpc>
              <a:buFont typeface="Arial" panose="020B0604020202020204" pitchFamily="34" charset="0"/>
              <a:buChar char="•"/>
            </a:pPr>
            <a:r>
              <a:rPr lang="en-US" sz="2800" dirty="0">
                <a:latin typeface="Calibir"/>
              </a:rPr>
              <a:t>scale numerical features </a:t>
            </a:r>
          </a:p>
          <a:p>
            <a:pPr marL="914400" lvl="1" indent="-457200">
              <a:lnSpc>
                <a:spcPct val="150000"/>
              </a:lnSpc>
              <a:buFont typeface="Arial" panose="020B0604020202020204" pitchFamily="34" charset="0"/>
              <a:buChar char="•"/>
            </a:pPr>
            <a:r>
              <a:rPr lang="en-US" sz="2800" dirty="0">
                <a:latin typeface="Calibir"/>
              </a:rPr>
              <a:t>remove irrelevant columns </a:t>
            </a:r>
          </a:p>
          <a:p>
            <a:pPr marL="914400" lvl="1" indent="-457200">
              <a:lnSpc>
                <a:spcPct val="150000"/>
              </a:lnSpc>
              <a:buFont typeface="Arial" panose="020B0604020202020204" pitchFamily="34" charset="0"/>
              <a:buChar char="•"/>
            </a:pPr>
            <a:r>
              <a:rPr lang="en-US" sz="2800" dirty="0">
                <a:latin typeface="Calibir"/>
              </a:rPr>
              <a:t>fix inconsistent values </a:t>
            </a:r>
          </a:p>
          <a:p>
            <a:pPr marL="914400" lvl="1" indent="-457200">
              <a:lnSpc>
                <a:spcPct val="150000"/>
              </a:lnSpc>
              <a:buFont typeface="Arial" panose="020B0604020202020204" pitchFamily="34" charset="0"/>
              <a:buChar char="•"/>
            </a:pPr>
            <a:r>
              <a:rPr lang="en-US" sz="2800" dirty="0">
                <a:latin typeface="Calibir"/>
              </a:rPr>
              <a:t>detect and treat outliers</a:t>
            </a:r>
          </a:p>
        </p:txBody>
      </p:sp>
      <p:sp>
        <p:nvSpPr>
          <p:cNvPr id="7" name="object 2">
            <a:extLst>
              <a:ext uri="{FF2B5EF4-FFF2-40B4-BE49-F238E27FC236}">
                <a16:creationId xmlns:a16="http://schemas.microsoft.com/office/drawing/2014/main" id="{39D12532-9A3A-DEFF-3B55-3C3077809D2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6581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4905C-3432-93F2-EE99-212C043925E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A9723FD-CB00-DD7B-9594-FE993532251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369CEC2-CD3E-F138-CFF4-091EF1FB3E4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A8B4459-B847-3B52-6B61-2624ACD7B514}"/>
              </a:ext>
            </a:extLst>
          </p:cNvPr>
          <p:cNvSpPr txBox="1"/>
          <p:nvPr/>
        </p:nvSpPr>
        <p:spPr>
          <a:xfrm>
            <a:off x="0" y="583684"/>
            <a:ext cx="12191999"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create/select useful features </a:t>
            </a:r>
          </a:p>
          <a:p>
            <a:pPr marL="914400" lvl="1" indent="-457200">
              <a:lnSpc>
                <a:spcPct val="150000"/>
              </a:lnSpc>
              <a:buFont typeface="Arial" panose="020B0604020202020204" pitchFamily="34" charset="0"/>
              <a:buChar char="•"/>
            </a:pPr>
            <a:r>
              <a:rPr lang="en-US" sz="2800" dirty="0">
                <a:latin typeface="Calibir"/>
              </a:rPr>
              <a:t>split features and target </a:t>
            </a:r>
          </a:p>
          <a:p>
            <a:pPr marL="914400" lvl="1" indent="-457200">
              <a:lnSpc>
                <a:spcPct val="150000"/>
              </a:lnSpc>
              <a:buFont typeface="Arial" panose="020B0604020202020204" pitchFamily="34" charset="0"/>
              <a:buChar char="•"/>
            </a:pPr>
            <a:r>
              <a:rPr lang="en-US" sz="2800" dirty="0">
                <a:latin typeface="Calibir"/>
              </a:rPr>
              <a:t>train/test split</a:t>
            </a:r>
          </a:p>
        </p:txBody>
      </p:sp>
      <p:sp>
        <p:nvSpPr>
          <p:cNvPr id="7" name="object 2">
            <a:extLst>
              <a:ext uri="{FF2B5EF4-FFF2-40B4-BE49-F238E27FC236}">
                <a16:creationId xmlns:a16="http://schemas.microsoft.com/office/drawing/2014/main" id="{61E8516F-FE81-5652-AB95-CECF2E20366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1872524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B8B23-6184-3DD9-CAF7-1BC1DDAC6A1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203CA22-C999-1F27-20DB-B14365575438}"/>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477D6C2-BC99-7ACA-BAC9-E10E7D5C2E5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0800443-FCD9-3A49-57D2-2DA417A45872}"/>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Example justifications</a:t>
            </a:r>
          </a:p>
          <a:p>
            <a:pPr marL="914400" lvl="1" indent="-457200">
              <a:lnSpc>
                <a:spcPct val="150000"/>
              </a:lnSpc>
              <a:buFont typeface="Arial" panose="020B0604020202020204" pitchFamily="34" charset="0"/>
              <a:buChar char="•"/>
            </a:pPr>
            <a:r>
              <a:rPr lang="en-US" sz="2800" dirty="0">
                <a:latin typeface="Calibir"/>
              </a:rPr>
              <a:t>“Missing values in </a:t>
            </a:r>
            <a:r>
              <a:rPr lang="en-US" sz="2800" dirty="0" err="1">
                <a:latin typeface="Calibir"/>
              </a:rPr>
              <a:t>TotalCharges</a:t>
            </a:r>
            <a:r>
              <a:rPr lang="en-US" sz="2800" dirty="0">
                <a:latin typeface="Calibir"/>
              </a:rPr>
              <a:t> were removed because they were few and would not significantly reduce dataset quality.” </a:t>
            </a:r>
          </a:p>
          <a:p>
            <a:pPr marL="914400" lvl="1" indent="-457200">
              <a:lnSpc>
                <a:spcPct val="150000"/>
              </a:lnSpc>
              <a:buFont typeface="Arial" panose="020B0604020202020204" pitchFamily="34" charset="0"/>
              <a:buChar char="•"/>
            </a:pPr>
            <a:r>
              <a:rPr lang="en-US" sz="2800" dirty="0">
                <a:latin typeface="Calibir"/>
              </a:rPr>
              <a:t>“Categorical variables such as Gender and Contract were encoded numerically because most machine learning models require numeric input.” </a:t>
            </a:r>
          </a:p>
          <a:p>
            <a:pPr marL="914400" lvl="1" indent="-457200">
              <a:lnSpc>
                <a:spcPct val="150000"/>
              </a:lnSpc>
              <a:buFont typeface="Arial" panose="020B0604020202020204" pitchFamily="34" charset="0"/>
              <a:buChar char="•"/>
            </a:pPr>
            <a:r>
              <a:rPr lang="en-US" sz="2800" dirty="0">
                <a:latin typeface="Calibir"/>
              </a:rPr>
              <a:t>“Numerical features were </a:t>
            </a:r>
            <a:r>
              <a:rPr lang="en-US" sz="2800" dirty="0" err="1">
                <a:latin typeface="Calibir"/>
              </a:rPr>
              <a:t>standardised</a:t>
            </a:r>
            <a:r>
              <a:rPr lang="en-US" sz="2800" dirty="0">
                <a:latin typeface="Calibir"/>
              </a:rPr>
              <a:t> before logistic regression and KNN to ensure variables on different scales did not distort model performance.”</a:t>
            </a:r>
          </a:p>
        </p:txBody>
      </p:sp>
      <p:sp>
        <p:nvSpPr>
          <p:cNvPr id="7" name="object 2">
            <a:extLst>
              <a:ext uri="{FF2B5EF4-FFF2-40B4-BE49-F238E27FC236}">
                <a16:creationId xmlns:a16="http://schemas.microsoft.com/office/drawing/2014/main" id="{F733D085-28F1-1A53-594E-B7F3B9E3430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1404013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450C-A382-73A8-502B-97B8A9E130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4F86A74-F51B-8E6B-00C5-87ABB4C963D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A86B70E-F1BC-4663-B635-177A26BC290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37428D-2D56-C59A-5C40-1739ADDCE33C}"/>
              </a:ext>
            </a:extLst>
          </p:cNvPr>
          <p:cNvSpPr txBox="1"/>
          <p:nvPr/>
        </p:nvSpPr>
        <p:spPr>
          <a:xfrm>
            <a:off x="1" y="583684"/>
            <a:ext cx="10913806" cy="1318181"/>
          </a:xfrm>
          <a:prstGeom prst="rect">
            <a:avLst/>
          </a:prstGeom>
          <a:noFill/>
        </p:spPr>
        <p:txBody>
          <a:bodyPr wrap="square">
            <a:spAutoFit/>
          </a:bodyPr>
          <a:lstStyle/>
          <a:p>
            <a:pPr>
              <a:lnSpc>
                <a:spcPct val="150000"/>
              </a:lnSpc>
            </a:pPr>
            <a:r>
              <a:rPr lang="en-US" sz="2800" b="1" dirty="0">
                <a:latin typeface="Calibir"/>
              </a:rPr>
              <a:t>Before vs after comparison</a:t>
            </a:r>
          </a:p>
          <a:p>
            <a:pPr>
              <a:lnSpc>
                <a:spcPct val="150000"/>
              </a:lnSpc>
            </a:pPr>
            <a:r>
              <a:rPr lang="en-US" sz="2800" dirty="0">
                <a:latin typeface="Calibir"/>
              </a:rPr>
              <a:t>This can be a small comparison table:</a:t>
            </a:r>
          </a:p>
        </p:txBody>
      </p:sp>
      <p:sp>
        <p:nvSpPr>
          <p:cNvPr id="7" name="object 2">
            <a:extLst>
              <a:ext uri="{FF2B5EF4-FFF2-40B4-BE49-F238E27FC236}">
                <a16:creationId xmlns:a16="http://schemas.microsoft.com/office/drawing/2014/main" id="{B7FC33CD-2FE8-0097-22D2-2C1E0B89538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2" name="Table 1">
            <a:extLst>
              <a:ext uri="{FF2B5EF4-FFF2-40B4-BE49-F238E27FC236}">
                <a16:creationId xmlns:a16="http://schemas.microsoft.com/office/drawing/2014/main" id="{6285D2C2-77EB-E649-6DDE-69A9D3C9D0F6}"/>
              </a:ext>
            </a:extLst>
          </p:cNvPr>
          <p:cNvGraphicFramePr>
            <a:graphicFrameLocks noGrp="1"/>
          </p:cNvGraphicFramePr>
          <p:nvPr>
            <p:extLst>
              <p:ext uri="{D42A27DB-BD31-4B8C-83A1-F6EECF244321}">
                <p14:modId xmlns:p14="http://schemas.microsoft.com/office/powerpoint/2010/main" val="1429085673"/>
              </p:ext>
            </p:extLst>
          </p:nvPr>
        </p:nvGraphicFramePr>
        <p:xfrm>
          <a:off x="838200" y="2561427"/>
          <a:ext cx="10515600" cy="3326765"/>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728860058"/>
                    </a:ext>
                  </a:extLst>
                </a:gridCol>
                <a:gridCol w="3505200">
                  <a:extLst>
                    <a:ext uri="{9D8B030D-6E8A-4147-A177-3AD203B41FA5}">
                      <a16:colId xmlns:a16="http://schemas.microsoft.com/office/drawing/2014/main" val="3152248041"/>
                    </a:ext>
                  </a:extLst>
                </a:gridCol>
                <a:gridCol w="3505200">
                  <a:extLst>
                    <a:ext uri="{9D8B030D-6E8A-4147-A177-3AD203B41FA5}">
                      <a16:colId xmlns:a16="http://schemas.microsoft.com/office/drawing/2014/main" val="3360677872"/>
                    </a:ext>
                  </a:extLst>
                </a:gridCol>
              </a:tblGrid>
              <a:tr h="0">
                <a:tc>
                  <a:txBody>
                    <a:bodyPr/>
                    <a:lstStyle/>
                    <a:p>
                      <a:pPr>
                        <a:lnSpc>
                          <a:spcPct val="150000"/>
                        </a:lnSpc>
                        <a:buNone/>
                      </a:pPr>
                      <a:r>
                        <a:rPr lang="en-US" sz="2800" dirty="0">
                          <a:latin typeface="Calibir"/>
                        </a:rPr>
                        <a:t>Aspect</a:t>
                      </a:r>
                    </a:p>
                  </a:txBody>
                  <a:tcPr anchor="ctr">
                    <a:solidFill>
                      <a:schemeClr val="accent5">
                        <a:lumMod val="20000"/>
                        <a:lumOff val="80000"/>
                      </a:schemeClr>
                    </a:solidFill>
                  </a:tcPr>
                </a:tc>
                <a:tc>
                  <a:txBody>
                    <a:bodyPr/>
                    <a:lstStyle/>
                    <a:p>
                      <a:pPr>
                        <a:lnSpc>
                          <a:spcPct val="150000"/>
                        </a:lnSpc>
                        <a:buNone/>
                      </a:pPr>
                      <a:r>
                        <a:rPr lang="en-US" sz="2800" dirty="0">
                          <a:latin typeface="Calibir"/>
                        </a:rPr>
                        <a:t>Before preprocessing</a:t>
                      </a:r>
                    </a:p>
                  </a:txBody>
                  <a:tcPr anchor="ctr">
                    <a:solidFill>
                      <a:schemeClr val="accent5">
                        <a:lumMod val="20000"/>
                        <a:lumOff val="80000"/>
                      </a:schemeClr>
                    </a:solidFill>
                  </a:tcPr>
                </a:tc>
                <a:tc>
                  <a:txBody>
                    <a:bodyPr/>
                    <a:lstStyle/>
                    <a:p>
                      <a:pPr>
                        <a:lnSpc>
                          <a:spcPct val="150000"/>
                        </a:lnSpc>
                        <a:buNone/>
                      </a:pPr>
                      <a:r>
                        <a:rPr lang="en-US" sz="2800" dirty="0">
                          <a:latin typeface="Calibir"/>
                        </a:rPr>
                        <a:t>After preprocessing</a:t>
                      </a:r>
                    </a:p>
                  </a:txBody>
                  <a:tcPr anchor="ctr">
                    <a:solidFill>
                      <a:schemeClr val="accent5">
                        <a:lumMod val="20000"/>
                        <a:lumOff val="80000"/>
                      </a:schemeClr>
                    </a:solidFill>
                  </a:tcPr>
                </a:tc>
                <a:extLst>
                  <a:ext uri="{0D108BD9-81ED-4DB2-BD59-A6C34878D82A}">
                    <a16:rowId xmlns:a16="http://schemas.microsoft.com/office/drawing/2014/main" val="201902676"/>
                  </a:ext>
                </a:extLst>
              </a:tr>
              <a:tr h="0">
                <a:tc>
                  <a:txBody>
                    <a:bodyPr/>
                    <a:lstStyle/>
                    <a:p>
                      <a:pPr>
                        <a:lnSpc>
                          <a:spcPct val="150000"/>
                        </a:lnSpc>
                        <a:buNone/>
                      </a:pPr>
                      <a:r>
                        <a:rPr lang="en-US" sz="2800">
                          <a:latin typeface="Calibir"/>
                        </a:rPr>
                        <a:t>Missing values</a:t>
                      </a:r>
                    </a:p>
                  </a:txBody>
                  <a:tcPr anchor="ctr"/>
                </a:tc>
                <a:tc>
                  <a:txBody>
                    <a:bodyPr/>
                    <a:lstStyle/>
                    <a:p>
                      <a:pPr>
                        <a:lnSpc>
                          <a:spcPct val="150000"/>
                        </a:lnSpc>
                        <a:buNone/>
                      </a:pPr>
                      <a:r>
                        <a:rPr lang="en-US" sz="2800">
                          <a:latin typeface="Calibir"/>
                        </a:rPr>
                        <a:t>11 in TotalCharges</a:t>
                      </a:r>
                    </a:p>
                  </a:txBody>
                  <a:tcPr anchor="ctr"/>
                </a:tc>
                <a:tc>
                  <a:txBody>
                    <a:bodyPr/>
                    <a:lstStyle/>
                    <a:p>
                      <a:pPr>
                        <a:lnSpc>
                          <a:spcPct val="150000"/>
                        </a:lnSpc>
                        <a:buNone/>
                      </a:pPr>
                      <a:r>
                        <a:rPr lang="en-US" sz="2800" dirty="0">
                          <a:latin typeface="Calibir"/>
                        </a:rPr>
                        <a:t>0</a:t>
                      </a:r>
                    </a:p>
                  </a:txBody>
                  <a:tcPr anchor="ctr"/>
                </a:tc>
                <a:extLst>
                  <a:ext uri="{0D108BD9-81ED-4DB2-BD59-A6C34878D82A}">
                    <a16:rowId xmlns:a16="http://schemas.microsoft.com/office/drawing/2014/main" val="2002183513"/>
                  </a:ext>
                </a:extLst>
              </a:tr>
              <a:tr h="0">
                <a:tc>
                  <a:txBody>
                    <a:bodyPr/>
                    <a:lstStyle/>
                    <a:p>
                      <a:pPr>
                        <a:lnSpc>
                          <a:spcPct val="150000"/>
                        </a:lnSpc>
                        <a:buNone/>
                      </a:pPr>
                      <a:r>
                        <a:rPr lang="en-US" sz="2800">
                          <a:latin typeface="Calibir"/>
                        </a:rPr>
                        <a:t>Categorical variables</a:t>
                      </a:r>
                    </a:p>
                  </a:txBody>
                  <a:tcPr anchor="ctr"/>
                </a:tc>
                <a:tc>
                  <a:txBody>
                    <a:bodyPr/>
                    <a:lstStyle/>
                    <a:p>
                      <a:pPr>
                        <a:lnSpc>
                          <a:spcPct val="150000"/>
                        </a:lnSpc>
                        <a:buNone/>
                      </a:pPr>
                      <a:r>
                        <a:rPr lang="en-US" sz="2800">
                          <a:latin typeface="Calibir"/>
                        </a:rPr>
                        <a:t>Yes</a:t>
                      </a:r>
                    </a:p>
                  </a:txBody>
                  <a:tcPr anchor="ctr"/>
                </a:tc>
                <a:tc>
                  <a:txBody>
                    <a:bodyPr/>
                    <a:lstStyle/>
                    <a:p>
                      <a:pPr>
                        <a:lnSpc>
                          <a:spcPct val="150000"/>
                        </a:lnSpc>
                        <a:buNone/>
                      </a:pPr>
                      <a:r>
                        <a:rPr lang="en-US" sz="2800">
                          <a:latin typeface="Calibir"/>
                        </a:rPr>
                        <a:t>Encoded</a:t>
                      </a:r>
                    </a:p>
                  </a:txBody>
                  <a:tcPr anchor="ctr"/>
                </a:tc>
                <a:extLst>
                  <a:ext uri="{0D108BD9-81ED-4DB2-BD59-A6C34878D82A}">
                    <a16:rowId xmlns:a16="http://schemas.microsoft.com/office/drawing/2014/main" val="2226568940"/>
                  </a:ext>
                </a:extLst>
              </a:tr>
              <a:tr h="0">
                <a:tc>
                  <a:txBody>
                    <a:bodyPr/>
                    <a:lstStyle/>
                    <a:p>
                      <a:pPr>
                        <a:lnSpc>
                          <a:spcPct val="150000"/>
                        </a:lnSpc>
                        <a:buNone/>
                      </a:pPr>
                      <a:r>
                        <a:rPr lang="en-US" sz="2800">
                          <a:latin typeface="Calibir"/>
                        </a:rPr>
                        <a:t>Scale differences</a:t>
                      </a:r>
                    </a:p>
                  </a:txBody>
                  <a:tcPr anchor="ctr"/>
                </a:tc>
                <a:tc>
                  <a:txBody>
                    <a:bodyPr/>
                    <a:lstStyle/>
                    <a:p>
                      <a:pPr>
                        <a:lnSpc>
                          <a:spcPct val="150000"/>
                        </a:lnSpc>
                        <a:buNone/>
                      </a:pPr>
                      <a:r>
                        <a:rPr lang="en-US" sz="2800">
                          <a:latin typeface="Calibir"/>
                        </a:rPr>
                        <a:t>Large</a:t>
                      </a:r>
                    </a:p>
                  </a:txBody>
                  <a:tcPr anchor="ctr"/>
                </a:tc>
                <a:tc>
                  <a:txBody>
                    <a:bodyPr/>
                    <a:lstStyle/>
                    <a:p>
                      <a:pPr>
                        <a:lnSpc>
                          <a:spcPct val="150000"/>
                        </a:lnSpc>
                        <a:buNone/>
                      </a:pPr>
                      <a:r>
                        <a:rPr lang="en-US" sz="2800">
                          <a:latin typeface="Calibir"/>
                        </a:rPr>
                        <a:t>Standardised</a:t>
                      </a:r>
                    </a:p>
                  </a:txBody>
                  <a:tcPr anchor="ctr"/>
                </a:tc>
                <a:extLst>
                  <a:ext uri="{0D108BD9-81ED-4DB2-BD59-A6C34878D82A}">
                    <a16:rowId xmlns:a16="http://schemas.microsoft.com/office/drawing/2014/main" val="2925389625"/>
                  </a:ext>
                </a:extLst>
              </a:tr>
              <a:tr h="0">
                <a:tc>
                  <a:txBody>
                    <a:bodyPr/>
                    <a:lstStyle/>
                    <a:p>
                      <a:pPr>
                        <a:lnSpc>
                          <a:spcPct val="150000"/>
                        </a:lnSpc>
                        <a:buNone/>
                      </a:pPr>
                      <a:r>
                        <a:rPr lang="en-US" sz="2800">
                          <a:latin typeface="Calibir"/>
                        </a:rPr>
                        <a:t>Duplicate rows</a:t>
                      </a:r>
                    </a:p>
                  </a:txBody>
                  <a:tcPr anchor="ctr"/>
                </a:tc>
                <a:tc>
                  <a:txBody>
                    <a:bodyPr/>
                    <a:lstStyle/>
                    <a:p>
                      <a:pPr>
                        <a:lnSpc>
                          <a:spcPct val="150000"/>
                        </a:lnSpc>
                        <a:buNone/>
                      </a:pPr>
                      <a:r>
                        <a:rPr lang="en-US" sz="2800">
                          <a:latin typeface="Calibir"/>
                        </a:rPr>
                        <a:t>5</a:t>
                      </a:r>
                    </a:p>
                  </a:txBody>
                  <a:tcPr anchor="ctr"/>
                </a:tc>
                <a:tc>
                  <a:txBody>
                    <a:bodyPr/>
                    <a:lstStyle/>
                    <a:p>
                      <a:pPr>
                        <a:lnSpc>
                          <a:spcPct val="150000"/>
                        </a:lnSpc>
                        <a:buNone/>
                      </a:pPr>
                      <a:r>
                        <a:rPr lang="en-US" sz="2800" dirty="0">
                          <a:latin typeface="Calibir"/>
                        </a:rPr>
                        <a:t>0</a:t>
                      </a:r>
                    </a:p>
                  </a:txBody>
                  <a:tcPr anchor="ctr"/>
                </a:tc>
                <a:extLst>
                  <a:ext uri="{0D108BD9-81ED-4DB2-BD59-A6C34878D82A}">
                    <a16:rowId xmlns:a16="http://schemas.microsoft.com/office/drawing/2014/main" val="2787770021"/>
                  </a:ext>
                </a:extLst>
              </a:tr>
            </a:tbl>
          </a:graphicData>
        </a:graphic>
      </p:graphicFrame>
    </p:spTree>
    <p:extLst>
      <p:ext uri="{BB962C8B-B14F-4D97-AF65-F5344CB8AC3E}">
        <p14:creationId xmlns:p14="http://schemas.microsoft.com/office/powerpoint/2010/main" val="41683961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D897-0895-113F-500F-F4516728B77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64ABCEC-F146-A776-D9C1-4F5DD144789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F03E094-1700-0FFF-F865-A797FFCAACA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695B209-6D5B-285E-2032-4B9ADC8F8C2D}"/>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Common mistakes</a:t>
            </a:r>
          </a:p>
          <a:p>
            <a:pPr marL="914400" lvl="1" indent="-457200">
              <a:lnSpc>
                <a:spcPct val="150000"/>
              </a:lnSpc>
              <a:buFont typeface="Arial" panose="020B0604020202020204" pitchFamily="34" charset="0"/>
              <a:buChar char="•"/>
            </a:pPr>
            <a:r>
              <a:rPr lang="en-US" sz="2800" dirty="0">
                <a:latin typeface="Calibir"/>
              </a:rPr>
              <a:t>listing preprocessing steps without justification </a:t>
            </a:r>
          </a:p>
          <a:p>
            <a:pPr marL="914400" lvl="1" indent="-457200">
              <a:lnSpc>
                <a:spcPct val="150000"/>
              </a:lnSpc>
              <a:buFont typeface="Arial" panose="020B0604020202020204" pitchFamily="34" charset="0"/>
              <a:buChar char="•"/>
            </a:pPr>
            <a:r>
              <a:rPr lang="en-US" sz="2800" dirty="0">
                <a:latin typeface="Calibir"/>
              </a:rPr>
              <a:t>doing transformations but not explaining why </a:t>
            </a:r>
          </a:p>
          <a:p>
            <a:pPr marL="914400" lvl="1" indent="-457200">
              <a:lnSpc>
                <a:spcPct val="150000"/>
              </a:lnSpc>
              <a:buFont typeface="Arial" panose="020B0604020202020204" pitchFamily="34" charset="0"/>
              <a:buChar char="•"/>
            </a:pPr>
            <a:r>
              <a:rPr lang="en-US" sz="2800" dirty="0">
                <a:latin typeface="Calibir"/>
              </a:rPr>
              <a:t>using too many unnecessary preprocessing actions </a:t>
            </a:r>
          </a:p>
          <a:p>
            <a:pPr marL="914400" lvl="1" indent="-457200">
              <a:lnSpc>
                <a:spcPct val="150000"/>
              </a:lnSpc>
              <a:buFont typeface="Arial" panose="020B0604020202020204" pitchFamily="34" charset="0"/>
              <a:buChar char="•"/>
            </a:pPr>
            <a:r>
              <a:rPr lang="en-US" sz="2800" dirty="0">
                <a:latin typeface="Calibir"/>
              </a:rPr>
              <a:t>forgetting screenshots </a:t>
            </a:r>
          </a:p>
          <a:p>
            <a:pPr marL="914400" lvl="1" indent="-457200">
              <a:lnSpc>
                <a:spcPct val="150000"/>
              </a:lnSpc>
              <a:buFont typeface="Arial" panose="020B0604020202020204" pitchFamily="34" charset="0"/>
              <a:buChar char="•"/>
            </a:pPr>
            <a:r>
              <a:rPr lang="en-US" sz="2800" dirty="0">
                <a:latin typeface="Calibir"/>
              </a:rPr>
              <a:t>not showing the transformed dataset</a:t>
            </a:r>
          </a:p>
        </p:txBody>
      </p:sp>
      <p:sp>
        <p:nvSpPr>
          <p:cNvPr id="7" name="object 2">
            <a:extLst>
              <a:ext uri="{FF2B5EF4-FFF2-40B4-BE49-F238E27FC236}">
                <a16:creationId xmlns:a16="http://schemas.microsoft.com/office/drawing/2014/main" id="{E6302924-88A4-3C6B-602E-970184DDD89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84789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F7399-78D2-B7BE-31F0-371B9EF49E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563E8E5-DBA8-775F-1324-92FBD8C927B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56DC7D-1B3E-AE87-2F4D-AAE8E6AEF6F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30784F8-A9C9-0EAF-9E44-B893334F453B}"/>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Step 5: Choose two predictive models</a:t>
            </a:r>
          </a:p>
          <a:p>
            <a:pPr>
              <a:lnSpc>
                <a:spcPct val="150000"/>
              </a:lnSpc>
            </a:pPr>
            <a:r>
              <a:rPr lang="en-US" sz="2800" dirty="0">
                <a:latin typeface="Calibir"/>
              </a:rPr>
              <a:t>You must build two models.</a:t>
            </a:r>
          </a:p>
          <a:p>
            <a:pPr>
              <a:lnSpc>
                <a:spcPct val="150000"/>
              </a:lnSpc>
            </a:pPr>
            <a:r>
              <a:rPr lang="en-US" sz="2800" dirty="0">
                <a:latin typeface="Calibir"/>
              </a:rPr>
              <a:t>At least one must be supervised.</a:t>
            </a:r>
          </a:p>
          <a:p>
            <a:pPr>
              <a:lnSpc>
                <a:spcPct val="150000"/>
              </a:lnSpc>
            </a:pPr>
            <a:r>
              <a:rPr lang="en-US" sz="2800" dirty="0">
                <a:latin typeface="Calibir"/>
              </a:rPr>
              <a:t>The second may be:</a:t>
            </a:r>
          </a:p>
          <a:p>
            <a:pPr marL="914400" lvl="1" indent="-457200">
              <a:lnSpc>
                <a:spcPct val="150000"/>
              </a:lnSpc>
              <a:buFont typeface="Arial" panose="020B0604020202020204" pitchFamily="34" charset="0"/>
              <a:buChar char="•"/>
            </a:pPr>
            <a:r>
              <a:rPr lang="en-US" sz="2800" dirty="0">
                <a:latin typeface="Calibir"/>
              </a:rPr>
              <a:t>another supervised model, or </a:t>
            </a:r>
          </a:p>
          <a:p>
            <a:pPr marL="914400" lvl="1" indent="-457200">
              <a:lnSpc>
                <a:spcPct val="150000"/>
              </a:lnSpc>
              <a:buFont typeface="Arial" panose="020B0604020202020204" pitchFamily="34" charset="0"/>
              <a:buChar char="•"/>
            </a:pPr>
            <a:r>
              <a:rPr lang="en-US" sz="2800" dirty="0">
                <a:latin typeface="Calibir"/>
              </a:rPr>
              <a:t>clustering, if clearly justified </a:t>
            </a:r>
          </a:p>
          <a:p>
            <a:pPr>
              <a:lnSpc>
                <a:spcPct val="150000"/>
              </a:lnSpc>
            </a:pPr>
            <a:r>
              <a:rPr lang="en-US" sz="2800" dirty="0">
                <a:latin typeface="Calibir"/>
              </a:rPr>
              <a:t>For most student groups, the safest choice is:</a:t>
            </a:r>
          </a:p>
          <a:p>
            <a:pPr marL="914400" lvl="1" indent="-457200">
              <a:lnSpc>
                <a:spcPct val="150000"/>
              </a:lnSpc>
              <a:buFont typeface="Arial" panose="020B0604020202020204" pitchFamily="34" charset="0"/>
              <a:buChar char="•"/>
            </a:pPr>
            <a:r>
              <a:rPr lang="en-US" sz="2800" dirty="0">
                <a:latin typeface="Calibir"/>
              </a:rPr>
              <a:t>two supervised models </a:t>
            </a:r>
          </a:p>
          <a:p>
            <a:pPr>
              <a:lnSpc>
                <a:spcPct val="150000"/>
              </a:lnSpc>
            </a:pPr>
            <a:r>
              <a:rPr lang="en-US" sz="2800" dirty="0">
                <a:latin typeface="Calibir"/>
              </a:rPr>
              <a:t>That makes comparison easier and usually fits the assignment better.</a:t>
            </a:r>
          </a:p>
        </p:txBody>
      </p:sp>
      <p:sp>
        <p:nvSpPr>
          <p:cNvPr id="7" name="object 2">
            <a:extLst>
              <a:ext uri="{FF2B5EF4-FFF2-40B4-BE49-F238E27FC236}">
                <a16:creationId xmlns:a16="http://schemas.microsoft.com/office/drawing/2014/main" id="{887E5B59-4A3D-97BB-6A3D-B6EA24F395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847666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55C59-8E82-EC50-4DCA-0868953CA1F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118D66C-2A4A-BFB2-0F1E-D107DF12327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61B56CB-BEE9-1435-3BAC-BABBC2FE199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135DF34-F786-38AB-6B9D-C68E5CC775F1}"/>
              </a:ext>
            </a:extLst>
          </p:cNvPr>
          <p:cNvSpPr txBox="1"/>
          <p:nvPr/>
        </p:nvSpPr>
        <p:spPr>
          <a:xfrm>
            <a:off x="1" y="583684"/>
            <a:ext cx="10913806" cy="5196166"/>
          </a:xfrm>
          <a:prstGeom prst="rect">
            <a:avLst/>
          </a:prstGeom>
          <a:noFill/>
        </p:spPr>
        <p:txBody>
          <a:bodyPr wrap="square">
            <a:spAutoFit/>
          </a:bodyPr>
          <a:lstStyle/>
          <a:p>
            <a:pPr>
              <a:lnSpc>
                <a:spcPct val="150000"/>
              </a:lnSpc>
            </a:pPr>
            <a:r>
              <a:rPr lang="en-US" sz="2800" b="1" dirty="0">
                <a:latin typeface="Calibir"/>
              </a:rPr>
              <a:t>5. Good model combinations</a:t>
            </a:r>
          </a:p>
          <a:p>
            <a:pPr>
              <a:lnSpc>
                <a:spcPct val="150000"/>
              </a:lnSpc>
            </a:pPr>
            <a:r>
              <a:rPr lang="en-US" sz="2800" b="1" dirty="0">
                <a:latin typeface="Calibir"/>
              </a:rPr>
              <a:t>For classification datasets</a:t>
            </a:r>
          </a:p>
          <a:p>
            <a:pPr>
              <a:lnSpc>
                <a:spcPct val="150000"/>
              </a:lnSpc>
            </a:pPr>
            <a:r>
              <a:rPr lang="en-US" sz="2800" dirty="0">
                <a:latin typeface="Calibir"/>
              </a:rPr>
              <a:t>Good combinations include:</a:t>
            </a:r>
          </a:p>
          <a:p>
            <a:pPr marL="914400" lvl="1" indent="-457200">
              <a:lnSpc>
                <a:spcPct val="150000"/>
              </a:lnSpc>
              <a:buFont typeface="Arial" panose="020B0604020202020204" pitchFamily="34" charset="0"/>
              <a:buChar char="•"/>
            </a:pPr>
            <a:r>
              <a:rPr lang="en-US" sz="2800" dirty="0">
                <a:latin typeface="Calibir"/>
              </a:rPr>
              <a:t>Logistic Regression vs Decision Tree </a:t>
            </a:r>
          </a:p>
          <a:p>
            <a:pPr marL="914400" lvl="1" indent="-457200">
              <a:lnSpc>
                <a:spcPct val="150000"/>
              </a:lnSpc>
              <a:buFont typeface="Arial" panose="020B0604020202020204" pitchFamily="34" charset="0"/>
              <a:buChar char="•"/>
            </a:pPr>
            <a:r>
              <a:rPr lang="en-US" sz="2800" dirty="0">
                <a:latin typeface="Calibir"/>
              </a:rPr>
              <a:t>Logistic Regression vs Random Forest </a:t>
            </a:r>
          </a:p>
          <a:p>
            <a:pPr marL="914400" lvl="1" indent="-457200">
              <a:lnSpc>
                <a:spcPct val="150000"/>
              </a:lnSpc>
              <a:buFont typeface="Arial" panose="020B0604020202020204" pitchFamily="34" charset="0"/>
              <a:buChar char="•"/>
            </a:pPr>
            <a:r>
              <a:rPr lang="en-US" sz="2800" dirty="0">
                <a:latin typeface="Calibir"/>
              </a:rPr>
              <a:t>Decision Tree vs Random Forest </a:t>
            </a:r>
          </a:p>
          <a:p>
            <a:pPr marL="914400" lvl="1" indent="-457200">
              <a:lnSpc>
                <a:spcPct val="150000"/>
              </a:lnSpc>
              <a:buFont typeface="Arial" panose="020B0604020202020204" pitchFamily="34" charset="0"/>
              <a:buChar char="•"/>
            </a:pPr>
            <a:r>
              <a:rPr lang="en-US" sz="2800" dirty="0">
                <a:latin typeface="Calibir"/>
              </a:rPr>
              <a:t>Logistic Regression vs KNN </a:t>
            </a:r>
          </a:p>
          <a:p>
            <a:pPr marL="914400" lvl="1" indent="-457200">
              <a:lnSpc>
                <a:spcPct val="150000"/>
              </a:lnSpc>
              <a:buFont typeface="Arial" panose="020B0604020202020204" pitchFamily="34" charset="0"/>
              <a:buChar char="•"/>
            </a:pPr>
            <a:r>
              <a:rPr lang="en-US" sz="2800" dirty="0">
                <a:latin typeface="Calibir"/>
              </a:rPr>
              <a:t>Naive Bayes vs Random Forest</a:t>
            </a:r>
          </a:p>
        </p:txBody>
      </p:sp>
      <p:sp>
        <p:nvSpPr>
          <p:cNvPr id="7" name="object 2">
            <a:extLst>
              <a:ext uri="{FF2B5EF4-FFF2-40B4-BE49-F238E27FC236}">
                <a16:creationId xmlns:a16="http://schemas.microsoft.com/office/drawing/2014/main" id="{885B51B5-BFA4-8864-B9B6-4A031AD3F22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644648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A0CE-2668-D816-B801-18C198CF7F6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D013126-FB89-D227-3CDA-2959A397D03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8EB8CCF-B417-9A93-7836-F0F17A0992D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4CBB3D-8E08-2704-FC4C-A6475B70C800}"/>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For regression datasets</a:t>
            </a:r>
          </a:p>
          <a:p>
            <a:pPr>
              <a:lnSpc>
                <a:spcPct val="150000"/>
              </a:lnSpc>
            </a:pPr>
            <a:r>
              <a:rPr lang="en-US" sz="2800" dirty="0">
                <a:latin typeface="Calibir"/>
              </a:rPr>
              <a:t>Good combinations include:</a:t>
            </a:r>
          </a:p>
          <a:p>
            <a:pPr marL="914400" lvl="1" indent="-457200">
              <a:lnSpc>
                <a:spcPct val="150000"/>
              </a:lnSpc>
              <a:buFont typeface="Arial" panose="020B0604020202020204" pitchFamily="34" charset="0"/>
              <a:buChar char="•"/>
            </a:pPr>
            <a:r>
              <a:rPr lang="en-US" sz="2800" dirty="0">
                <a:latin typeface="Calibir"/>
              </a:rPr>
              <a:t>Linear Regression vs Decision Tree Regressor </a:t>
            </a:r>
          </a:p>
          <a:p>
            <a:pPr marL="914400" lvl="1" indent="-457200">
              <a:lnSpc>
                <a:spcPct val="150000"/>
              </a:lnSpc>
              <a:buFont typeface="Arial" panose="020B0604020202020204" pitchFamily="34" charset="0"/>
              <a:buChar char="•"/>
            </a:pPr>
            <a:r>
              <a:rPr lang="en-US" sz="2800" dirty="0">
                <a:latin typeface="Calibir"/>
              </a:rPr>
              <a:t>Linear Regression vs Random Forest Regressor </a:t>
            </a:r>
          </a:p>
          <a:p>
            <a:pPr marL="914400" lvl="1" indent="-457200">
              <a:lnSpc>
                <a:spcPct val="150000"/>
              </a:lnSpc>
              <a:buFont typeface="Arial" panose="020B0604020202020204" pitchFamily="34" charset="0"/>
              <a:buChar char="•"/>
            </a:pPr>
            <a:r>
              <a:rPr lang="en-US" sz="2800" dirty="0">
                <a:latin typeface="Calibir"/>
              </a:rPr>
              <a:t>Linear Regression vs </a:t>
            </a:r>
            <a:r>
              <a:rPr lang="en-US" sz="2800" dirty="0" err="1">
                <a:latin typeface="Calibir"/>
              </a:rPr>
              <a:t>XGBoost</a:t>
            </a:r>
            <a:r>
              <a:rPr lang="en-US" sz="2800" dirty="0">
                <a:latin typeface="Calibir"/>
              </a:rPr>
              <a:t> Regressor </a:t>
            </a:r>
          </a:p>
          <a:p>
            <a:pPr marL="914400" lvl="1" indent="-457200">
              <a:lnSpc>
                <a:spcPct val="150000"/>
              </a:lnSpc>
              <a:buFont typeface="Arial" panose="020B0604020202020204" pitchFamily="34" charset="0"/>
              <a:buChar char="•"/>
            </a:pPr>
            <a:r>
              <a:rPr lang="en-US" sz="2800" dirty="0">
                <a:latin typeface="Calibir"/>
              </a:rPr>
              <a:t>Decision Tree Regressor vs Random Forest Regressor</a:t>
            </a:r>
          </a:p>
        </p:txBody>
      </p:sp>
      <p:sp>
        <p:nvSpPr>
          <p:cNvPr id="7" name="object 2">
            <a:extLst>
              <a:ext uri="{FF2B5EF4-FFF2-40B4-BE49-F238E27FC236}">
                <a16:creationId xmlns:a16="http://schemas.microsoft.com/office/drawing/2014/main" id="{F4B780BE-800F-AC3C-56A8-E4F5E1EBCB9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132598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D800-B1B4-290F-14DF-283156EC01F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BA96EBB-A074-6C5E-5CEF-C5200ADACE6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D065449-83CF-49B6-D576-091182825C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1382E6-4BDF-EA66-59F6-B316B3884ABA}"/>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Hint</a:t>
            </a:r>
          </a:p>
          <a:p>
            <a:pPr>
              <a:lnSpc>
                <a:spcPct val="150000"/>
              </a:lnSpc>
            </a:pPr>
            <a:r>
              <a:rPr lang="en-US" sz="2800" dirty="0">
                <a:latin typeface="Calibir"/>
              </a:rPr>
              <a:t>Choose models that are meaningfully different.</a:t>
            </a:r>
          </a:p>
          <a:p>
            <a:pPr>
              <a:lnSpc>
                <a:spcPct val="150000"/>
              </a:lnSpc>
            </a:pPr>
            <a:r>
              <a:rPr lang="en-US" sz="2800" dirty="0">
                <a:latin typeface="Calibir"/>
              </a:rPr>
              <a:t>For example:</a:t>
            </a:r>
          </a:p>
          <a:p>
            <a:pPr marL="914400" lvl="1" indent="-457200">
              <a:lnSpc>
                <a:spcPct val="150000"/>
              </a:lnSpc>
              <a:buFont typeface="Arial" panose="020B0604020202020204" pitchFamily="34" charset="0"/>
              <a:buChar char="•"/>
            </a:pPr>
            <a:r>
              <a:rPr lang="en-US" sz="2800" dirty="0">
                <a:latin typeface="Calibir"/>
              </a:rPr>
              <a:t>one simpler/interpretable model </a:t>
            </a:r>
          </a:p>
          <a:p>
            <a:pPr marL="914400" lvl="1" indent="-457200">
              <a:lnSpc>
                <a:spcPct val="150000"/>
              </a:lnSpc>
              <a:buFont typeface="Arial" panose="020B0604020202020204" pitchFamily="34" charset="0"/>
              <a:buChar char="•"/>
            </a:pPr>
            <a:r>
              <a:rPr lang="en-US" sz="2800" dirty="0">
                <a:latin typeface="Calibir"/>
              </a:rPr>
              <a:t>one more complex/high-performance model </a:t>
            </a:r>
          </a:p>
          <a:p>
            <a:pPr>
              <a:lnSpc>
                <a:spcPct val="150000"/>
              </a:lnSpc>
            </a:pPr>
            <a:r>
              <a:rPr lang="en-US" sz="2800" dirty="0">
                <a:latin typeface="Calibir"/>
              </a:rPr>
              <a:t>That gives you better discussion points.</a:t>
            </a:r>
          </a:p>
        </p:txBody>
      </p:sp>
      <p:sp>
        <p:nvSpPr>
          <p:cNvPr id="7" name="object 2">
            <a:extLst>
              <a:ext uri="{FF2B5EF4-FFF2-40B4-BE49-F238E27FC236}">
                <a16:creationId xmlns:a16="http://schemas.microsoft.com/office/drawing/2014/main" id="{FE6FDD04-677E-EF65-9BA5-BC4BF12483E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085378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3198B-8972-FAD6-BD0B-3EAAEC57FF0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7B8FD19-08B3-C604-7C5B-45D6DECB4B9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0D922CE-7601-809C-8DB3-978C3044E4D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6D07080-D582-13B2-B4C1-D0B2830764D4}"/>
              </a:ext>
            </a:extLst>
          </p:cNvPr>
          <p:cNvSpPr txBox="1"/>
          <p:nvPr/>
        </p:nvSpPr>
        <p:spPr>
          <a:xfrm>
            <a:off x="1" y="583684"/>
            <a:ext cx="10913806" cy="3903504"/>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For employee attrition:</a:t>
            </a:r>
          </a:p>
          <a:p>
            <a:pPr marL="914400" lvl="1" indent="-457200">
              <a:lnSpc>
                <a:spcPct val="150000"/>
              </a:lnSpc>
              <a:buFont typeface="Arial" panose="020B0604020202020204" pitchFamily="34" charset="0"/>
              <a:buChar char="•"/>
            </a:pPr>
            <a:r>
              <a:rPr lang="en-US" sz="2800" b="1" dirty="0">
                <a:latin typeface="Calibir"/>
              </a:rPr>
              <a:t>Model 1:</a:t>
            </a:r>
            <a:r>
              <a:rPr lang="en-US" sz="2800" dirty="0">
                <a:latin typeface="Calibir"/>
              </a:rPr>
              <a:t> Logistic Regression</a:t>
            </a:r>
            <a:br>
              <a:rPr lang="en-US" sz="2800" dirty="0">
                <a:latin typeface="Calibir"/>
              </a:rPr>
            </a:br>
            <a:r>
              <a:rPr lang="en-US" sz="2800" dirty="0">
                <a:latin typeface="Calibir"/>
              </a:rPr>
              <a:t>Easy to interpret, strong baseline </a:t>
            </a:r>
          </a:p>
          <a:p>
            <a:pPr marL="914400" lvl="1" indent="-457200">
              <a:lnSpc>
                <a:spcPct val="150000"/>
              </a:lnSpc>
              <a:buFont typeface="Arial" panose="020B0604020202020204" pitchFamily="34" charset="0"/>
              <a:buChar char="•"/>
            </a:pPr>
            <a:r>
              <a:rPr lang="en-US" sz="2800" b="1" dirty="0">
                <a:latin typeface="Calibir"/>
              </a:rPr>
              <a:t>Model 2:</a:t>
            </a:r>
            <a:r>
              <a:rPr lang="en-US" sz="2800" dirty="0">
                <a:latin typeface="Calibir"/>
              </a:rPr>
              <a:t> Random Forest</a:t>
            </a:r>
            <a:br>
              <a:rPr lang="en-US" sz="2800" dirty="0">
                <a:latin typeface="Calibir"/>
              </a:rPr>
            </a:br>
            <a:r>
              <a:rPr lang="en-US" sz="2800" dirty="0">
                <a:latin typeface="Calibir"/>
              </a:rPr>
              <a:t>Captures non-linear relationships, often higher predictive power</a:t>
            </a:r>
          </a:p>
        </p:txBody>
      </p:sp>
      <p:sp>
        <p:nvSpPr>
          <p:cNvPr id="7" name="object 2">
            <a:extLst>
              <a:ext uri="{FF2B5EF4-FFF2-40B4-BE49-F238E27FC236}">
                <a16:creationId xmlns:a16="http://schemas.microsoft.com/office/drawing/2014/main" id="{3F231D82-1F1D-0679-32F6-E1E6C1BD52D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874009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EC554-72D9-525E-7D5F-B8C6E8AC3BE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0701003-387F-9D09-FE51-09CB6DB5B9D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8C8646-335A-D10F-DABD-0D000A3D982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BB765B5-F426-7675-4284-C91AC4EF9946}"/>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Step 6: Explain statistical theory and model assumptions</a:t>
            </a:r>
          </a:p>
          <a:p>
            <a:pPr>
              <a:lnSpc>
                <a:spcPct val="150000"/>
              </a:lnSpc>
            </a:pPr>
            <a:r>
              <a:rPr lang="en-US" sz="2800" dirty="0">
                <a:latin typeface="Calibir"/>
              </a:rPr>
              <a:t>This section is often weak in student work.</a:t>
            </a:r>
          </a:p>
          <a:p>
            <a:pPr>
              <a:lnSpc>
                <a:spcPct val="150000"/>
              </a:lnSpc>
            </a:pPr>
            <a:r>
              <a:rPr lang="en-US" sz="2800" dirty="0">
                <a:latin typeface="Calibir"/>
              </a:rPr>
              <a:t>You are not only expected to run models. You must explain:</a:t>
            </a:r>
          </a:p>
          <a:p>
            <a:pPr marL="914400" lvl="1" indent="-457200">
              <a:lnSpc>
                <a:spcPct val="150000"/>
              </a:lnSpc>
              <a:buFont typeface="Arial" panose="020B0604020202020204" pitchFamily="34" charset="0"/>
              <a:buChar char="•"/>
            </a:pPr>
            <a:r>
              <a:rPr lang="en-US" sz="2800" dirty="0">
                <a:latin typeface="Calibir"/>
              </a:rPr>
              <a:t>how the model works conceptually </a:t>
            </a:r>
          </a:p>
          <a:p>
            <a:pPr marL="914400" lvl="1" indent="-457200">
              <a:lnSpc>
                <a:spcPct val="150000"/>
              </a:lnSpc>
              <a:buFont typeface="Arial" panose="020B0604020202020204" pitchFamily="34" charset="0"/>
              <a:buChar char="•"/>
            </a:pPr>
            <a:r>
              <a:rPr lang="en-US" sz="2800" dirty="0">
                <a:latin typeface="Calibir"/>
              </a:rPr>
              <a:t>what assumptions it relies on </a:t>
            </a:r>
          </a:p>
          <a:p>
            <a:pPr marL="914400" lvl="1" indent="-457200">
              <a:lnSpc>
                <a:spcPct val="150000"/>
              </a:lnSpc>
              <a:buFont typeface="Arial" panose="020B0604020202020204" pitchFamily="34" charset="0"/>
              <a:buChar char="•"/>
            </a:pPr>
            <a:r>
              <a:rPr lang="en-US" sz="2800" dirty="0">
                <a:latin typeface="Calibir"/>
              </a:rPr>
              <a:t>whether those assumptions are satisfied in your dataset </a:t>
            </a:r>
          </a:p>
          <a:p>
            <a:pPr marL="914400" lvl="1" indent="-457200">
              <a:lnSpc>
                <a:spcPct val="150000"/>
              </a:lnSpc>
              <a:buFont typeface="Arial" panose="020B0604020202020204" pitchFamily="34" charset="0"/>
              <a:buChar char="•"/>
            </a:pPr>
            <a:r>
              <a:rPr lang="en-US" sz="2800" dirty="0">
                <a:latin typeface="Calibir"/>
              </a:rPr>
              <a:t>what happens if assumptions are violated</a:t>
            </a:r>
          </a:p>
        </p:txBody>
      </p:sp>
      <p:sp>
        <p:nvSpPr>
          <p:cNvPr id="7" name="object 2">
            <a:extLst>
              <a:ext uri="{FF2B5EF4-FFF2-40B4-BE49-F238E27FC236}">
                <a16:creationId xmlns:a16="http://schemas.microsoft.com/office/drawing/2014/main" id="{D4202F22-5268-6CED-BD28-985FB40D63C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118776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37C9-D7F2-B3AA-A2D4-BAE9688B3D5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3107EFA-1668-3D45-4936-5F8B64118E4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C5FCA8D-AF81-614E-2FF4-4DDF2159C83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3538A9-A386-FF83-0BEF-EBAD34E1E16D}"/>
              </a:ext>
            </a:extLst>
          </p:cNvPr>
          <p:cNvSpPr txBox="1"/>
          <p:nvPr/>
        </p:nvSpPr>
        <p:spPr>
          <a:xfrm>
            <a:off x="1" y="583684"/>
            <a:ext cx="10913806" cy="6488828"/>
          </a:xfrm>
          <a:prstGeom prst="rect">
            <a:avLst/>
          </a:prstGeom>
          <a:noFill/>
        </p:spPr>
        <p:txBody>
          <a:bodyPr wrap="square">
            <a:spAutoFit/>
          </a:bodyPr>
          <a:lstStyle/>
          <a:p>
            <a:pPr>
              <a:lnSpc>
                <a:spcPct val="150000"/>
              </a:lnSpc>
            </a:pPr>
            <a:r>
              <a:rPr lang="en-US" sz="2800" b="1" dirty="0">
                <a:latin typeface="Calibir"/>
              </a:rPr>
              <a:t>Example: Logistic Regression</a:t>
            </a:r>
          </a:p>
          <a:p>
            <a:pPr>
              <a:lnSpc>
                <a:spcPct val="150000"/>
              </a:lnSpc>
            </a:pPr>
            <a:r>
              <a:rPr lang="en-US" sz="2800" dirty="0">
                <a:latin typeface="Calibir"/>
              </a:rPr>
              <a:t>Theory:</a:t>
            </a:r>
          </a:p>
          <a:p>
            <a:pPr marL="914400" lvl="1" indent="-457200">
              <a:lnSpc>
                <a:spcPct val="150000"/>
              </a:lnSpc>
              <a:buFont typeface="Arial" panose="020B0604020202020204" pitchFamily="34" charset="0"/>
              <a:buChar char="•"/>
            </a:pPr>
            <a:r>
              <a:rPr lang="en-US" sz="2800" dirty="0">
                <a:latin typeface="Calibir"/>
              </a:rPr>
              <a:t>predicts probability of class membership </a:t>
            </a:r>
          </a:p>
          <a:p>
            <a:pPr marL="914400" lvl="1" indent="-457200">
              <a:lnSpc>
                <a:spcPct val="150000"/>
              </a:lnSpc>
              <a:buFont typeface="Arial" panose="020B0604020202020204" pitchFamily="34" charset="0"/>
              <a:buChar char="•"/>
            </a:pPr>
            <a:r>
              <a:rPr lang="en-US" sz="2800" dirty="0">
                <a:latin typeface="Calibir"/>
              </a:rPr>
              <a:t>suitable for binary classification </a:t>
            </a:r>
          </a:p>
          <a:p>
            <a:pPr>
              <a:lnSpc>
                <a:spcPct val="150000"/>
              </a:lnSpc>
            </a:pPr>
            <a:r>
              <a:rPr lang="en-US" sz="2800" dirty="0">
                <a:latin typeface="Calibir"/>
              </a:rPr>
              <a:t>Assumptions:</a:t>
            </a:r>
          </a:p>
          <a:p>
            <a:pPr marL="914400" lvl="1" indent="-457200">
              <a:lnSpc>
                <a:spcPct val="150000"/>
              </a:lnSpc>
              <a:buFont typeface="Arial" panose="020B0604020202020204" pitchFamily="34" charset="0"/>
              <a:buChar char="•"/>
            </a:pPr>
            <a:r>
              <a:rPr lang="en-US" sz="2800" dirty="0">
                <a:latin typeface="Calibir"/>
              </a:rPr>
              <a:t>dependent variable is binary </a:t>
            </a:r>
          </a:p>
          <a:p>
            <a:pPr marL="914400" lvl="1" indent="-457200">
              <a:lnSpc>
                <a:spcPct val="150000"/>
              </a:lnSpc>
              <a:buFont typeface="Arial" panose="020B0604020202020204" pitchFamily="34" charset="0"/>
              <a:buChar char="•"/>
            </a:pPr>
            <a:r>
              <a:rPr lang="en-US" sz="2800" dirty="0">
                <a:latin typeface="Calibir"/>
              </a:rPr>
              <a:t>observations are independent </a:t>
            </a:r>
          </a:p>
          <a:p>
            <a:pPr marL="914400" lvl="1" indent="-457200">
              <a:lnSpc>
                <a:spcPct val="150000"/>
              </a:lnSpc>
              <a:buFont typeface="Arial" panose="020B0604020202020204" pitchFamily="34" charset="0"/>
              <a:buChar char="•"/>
            </a:pPr>
            <a:r>
              <a:rPr lang="en-US" sz="2800" dirty="0">
                <a:latin typeface="Calibir"/>
              </a:rPr>
              <a:t>limited multicollinearity </a:t>
            </a:r>
          </a:p>
          <a:p>
            <a:pPr marL="914400" lvl="1" indent="-457200">
              <a:lnSpc>
                <a:spcPct val="150000"/>
              </a:lnSpc>
              <a:buFont typeface="Arial" panose="020B0604020202020204" pitchFamily="34" charset="0"/>
              <a:buChar char="•"/>
            </a:pPr>
            <a:r>
              <a:rPr lang="en-US" sz="2800" dirty="0">
                <a:latin typeface="Calibir"/>
              </a:rPr>
              <a:t>linear relationship between predictors and log-odds </a:t>
            </a:r>
          </a:p>
          <a:p>
            <a:pPr marL="914400" lvl="1" indent="-457200">
              <a:lnSpc>
                <a:spcPct val="150000"/>
              </a:lnSpc>
              <a:buFont typeface="Arial" panose="020B0604020202020204" pitchFamily="34" charset="0"/>
              <a:buChar char="•"/>
            </a:pPr>
            <a:r>
              <a:rPr lang="en-US" sz="2800" dirty="0">
                <a:latin typeface="Calibir"/>
              </a:rPr>
              <a:t>sufficiently large sample size</a:t>
            </a:r>
          </a:p>
        </p:txBody>
      </p:sp>
      <p:sp>
        <p:nvSpPr>
          <p:cNvPr id="7" name="object 2">
            <a:extLst>
              <a:ext uri="{FF2B5EF4-FFF2-40B4-BE49-F238E27FC236}">
                <a16:creationId xmlns:a16="http://schemas.microsoft.com/office/drawing/2014/main" id="{6A18C480-7FB9-01B1-3948-AF078F5A380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629454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DE98-D635-A707-CEC2-B1204DB933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13A443D-4782-4397-211E-7C68090F297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F97A3A1-5E18-9B73-E7A8-E59264AEDEB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31211BC-D57A-7C83-C8ED-4DCF63FA7B7D}"/>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Example: Linear Regression</a:t>
            </a:r>
          </a:p>
          <a:p>
            <a:pPr>
              <a:lnSpc>
                <a:spcPct val="150000"/>
              </a:lnSpc>
            </a:pPr>
            <a:r>
              <a:rPr lang="en-US" sz="2800" dirty="0">
                <a:latin typeface="Calibir"/>
              </a:rPr>
              <a:t>Assumptions:</a:t>
            </a:r>
          </a:p>
          <a:p>
            <a:pPr marL="914400" lvl="1" indent="-457200">
              <a:lnSpc>
                <a:spcPct val="150000"/>
              </a:lnSpc>
              <a:buFont typeface="Arial" panose="020B0604020202020204" pitchFamily="34" charset="0"/>
              <a:buChar char="•"/>
            </a:pPr>
            <a:r>
              <a:rPr lang="en-US" sz="2800" dirty="0">
                <a:latin typeface="Calibir"/>
              </a:rPr>
              <a:t>linearity </a:t>
            </a:r>
          </a:p>
          <a:p>
            <a:pPr marL="914400" lvl="1" indent="-457200">
              <a:lnSpc>
                <a:spcPct val="150000"/>
              </a:lnSpc>
              <a:buFont typeface="Arial" panose="020B0604020202020204" pitchFamily="34" charset="0"/>
              <a:buChar char="•"/>
            </a:pPr>
            <a:r>
              <a:rPr lang="en-US" sz="2800" dirty="0">
                <a:latin typeface="Calibir"/>
              </a:rPr>
              <a:t>independence </a:t>
            </a:r>
          </a:p>
          <a:p>
            <a:pPr marL="914400" lvl="1" indent="-457200">
              <a:lnSpc>
                <a:spcPct val="150000"/>
              </a:lnSpc>
              <a:buFont typeface="Arial" panose="020B0604020202020204" pitchFamily="34" charset="0"/>
              <a:buChar char="•"/>
            </a:pPr>
            <a:r>
              <a:rPr lang="en-US" sz="2800" dirty="0">
                <a:latin typeface="Calibir"/>
              </a:rPr>
              <a:t>homoscedasticity </a:t>
            </a:r>
          </a:p>
          <a:p>
            <a:pPr marL="914400" lvl="1" indent="-457200">
              <a:lnSpc>
                <a:spcPct val="150000"/>
              </a:lnSpc>
              <a:buFont typeface="Arial" panose="020B0604020202020204" pitchFamily="34" charset="0"/>
              <a:buChar char="•"/>
            </a:pPr>
            <a:r>
              <a:rPr lang="en-US" sz="2800" dirty="0">
                <a:latin typeface="Calibir"/>
              </a:rPr>
              <a:t>normality of residuals </a:t>
            </a:r>
          </a:p>
          <a:p>
            <a:pPr marL="914400" lvl="1" indent="-457200">
              <a:lnSpc>
                <a:spcPct val="150000"/>
              </a:lnSpc>
              <a:buFont typeface="Arial" panose="020B0604020202020204" pitchFamily="34" charset="0"/>
              <a:buChar char="•"/>
            </a:pPr>
            <a:r>
              <a:rPr lang="en-US" sz="2800" dirty="0">
                <a:latin typeface="Calibir"/>
              </a:rPr>
              <a:t>no severe multicollinearity</a:t>
            </a:r>
          </a:p>
        </p:txBody>
      </p:sp>
      <p:sp>
        <p:nvSpPr>
          <p:cNvPr id="7" name="object 2">
            <a:extLst>
              <a:ext uri="{FF2B5EF4-FFF2-40B4-BE49-F238E27FC236}">
                <a16:creationId xmlns:a16="http://schemas.microsoft.com/office/drawing/2014/main" id="{772AC333-2FD4-AA61-05BC-1022D6EB412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5635161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9C27-2A64-19FC-78DF-C80DD301F31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001BF7B-A378-5C3E-1062-548AAC01F62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77D8E5C-06E9-37A8-D936-3CDD427BD8A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392345D-B521-6A5C-D82B-079C8F0A5412}"/>
              </a:ext>
            </a:extLst>
          </p:cNvPr>
          <p:cNvSpPr txBox="1"/>
          <p:nvPr/>
        </p:nvSpPr>
        <p:spPr>
          <a:xfrm>
            <a:off x="1" y="583684"/>
            <a:ext cx="10913806" cy="4549835"/>
          </a:xfrm>
          <a:prstGeom prst="rect">
            <a:avLst/>
          </a:prstGeom>
          <a:noFill/>
        </p:spPr>
        <p:txBody>
          <a:bodyPr wrap="square">
            <a:spAutoFit/>
          </a:bodyPr>
          <a:lstStyle/>
          <a:p>
            <a:pPr>
              <a:lnSpc>
                <a:spcPct val="150000"/>
              </a:lnSpc>
            </a:pPr>
            <a:r>
              <a:rPr lang="en-US" sz="2800" b="1" dirty="0">
                <a:latin typeface="Calibir"/>
              </a:rPr>
              <a:t>Example: Decision Tree / Random Forest</a:t>
            </a:r>
          </a:p>
          <a:p>
            <a:pPr>
              <a:lnSpc>
                <a:spcPct val="150000"/>
              </a:lnSpc>
            </a:pPr>
            <a:r>
              <a:rPr lang="en-US" sz="2800" dirty="0">
                <a:latin typeface="Calibir"/>
              </a:rPr>
              <a:t>These have fewer strict statistical assumptions than linear or logistic regression, but you should still discuss:</a:t>
            </a:r>
          </a:p>
          <a:p>
            <a:pPr marL="914400" lvl="1" indent="-457200">
              <a:lnSpc>
                <a:spcPct val="150000"/>
              </a:lnSpc>
              <a:buFont typeface="Arial" panose="020B0604020202020204" pitchFamily="34" charset="0"/>
              <a:buChar char="•"/>
            </a:pPr>
            <a:r>
              <a:rPr lang="en-US" sz="2800" dirty="0">
                <a:latin typeface="Calibir"/>
              </a:rPr>
              <a:t>sensitivity to overfitting </a:t>
            </a:r>
          </a:p>
          <a:p>
            <a:pPr marL="914400" lvl="1" indent="-457200">
              <a:lnSpc>
                <a:spcPct val="150000"/>
              </a:lnSpc>
              <a:buFont typeface="Arial" panose="020B0604020202020204" pitchFamily="34" charset="0"/>
              <a:buChar char="•"/>
            </a:pPr>
            <a:r>
              <a:rPr lang="en-US" sz="2800" dirty="0">
                <a:latin typeface="Calibir"/>
              </a:rPr>
              <a:t>effect of noisy features </a:t>
            </a:r>
          </a:p>
          <a:p>
            <a:pPr marL="914400" lvl="1" indent="-457200">
              <a:lnSpc>
                <a:spcPct val="150000"/>
              </a:lnSpc>
              <a:buFont typeface="Arial" panose="020B0604020202020204" pitchFamily="34" charset="0"/>
              <a:buChar char="•"/>
            </a:pPr>
            <a:r>
              <a:rPr lang="en-US" sz="2800" dirty="0">
                <a:latin typeface="Calibir"/>
              </a:rPr>
              <a:t>importance of parameter tuning </a:t>
            </a:r>
          </a:p>
          <a:p>
            <a:pPr marL="914400" lvl="1" indent="-457200">
              <a:lnSpc>
                <a:spcPct val="150000"/>
              </a:lnSpc>
              <a:buFont typeface="Arial" panose="020B0604020202020204" pitchFamily="34" charset="0"/>
              <a:buChar char="•"/>
            </a:pPr>
            <a:r>
              <a:rPr lang="en-US" sz="2800" dirty="0">
                <a:latin typeface="Calibir"/>
              </a:rPr>
              <a:t>effect of class imbalance</a:t>
            </a:r>
          </a:p>
        </p:txBody>
      </p:sp>
      <p:sp>
        <p:nvSpPr>
          <p:cNvPr id="7" name="object 2">
            <a:extLst>
              <a:ext uri="{FF2B5EF4-FFF2-40B4-BE49-F238E27FC236}">
                <a16:creationId xmlns:a16="http://schemas.microsoft.com/office/drawing/2014/main" id="{F4A2AECE-909F-62BC-1C21-5FB508EDDB0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041927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FF35C-681D-ECB7-837B-BB2A5C71C88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3326A29-3F92-9135-AB2C-4C461F15E00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5A140F5-7D72-EC16-249B-DD25063F35E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D97E83E-897A-6066-4256-7C1260B2F924}"/>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What lecturers want here</a:t>
            </a:r>
          </a:p>
          <a:p>
            <a:pPr>
              <a:lnSpc>
                <a:spcPct val="150000"/>
              </a:lnSpc>
            </a:pPr>
            <a:r>
              <a:rPr lang="en-US" sz="2800" dirty="0">
                <a:latin typeface="Calibir"/>
              </a:rPr>
              <a:t>Not just “the assumptions are met.”</a:t>
            </a:r>
            <a:br>
              <a:rPr lang="en-US" sz="2800" dirty="0">
                <a:latin typeface="Calibir"/>
              </a:rPr>
            </a:br>
            <a:r>
              <a:rPr lang="en-US" sz="2800" dirty="0">
                <a:latin typeface="Calibir"/>
              </a:rPr>
              <a:t>They want evidence.</a:t>
            </a:r>
          </a:p>
          <a:p>
            <a:pPr>
              <a:lnSpc>
                <a:spcPct val="150000"/>
              </a:lnSpc>
            </a:pPr>
            <a:r>
              <a:rPr lang="en-US" sz="2800" b="1" dirty="0">
                <a:latin typeface="Calibir"/>
              </a:rPr>
              <a:t>Evidence examples</a:t>
            </a:r>
          </a:p>
          <a:p>
            <a:pPr marL="914400" lvl="1" indent="-457200">
              <a:lnSpc>
                <a:spcPct val="150000"/>
              </a:lnSpc>
              <a:buFont typeface="Arial" panose="020B0604020202020204" pitchFamily="34" charset="0"/>
              <a:buChar char="•"/>
            </a:pPr>
            <a:r>
              <a:rPr lang="en-US" sz="2800" dirty="0">
                <a:latin typeface="Calibir"/>
              </a:rPr>
              <a:t>correlation heatmap for multicollinearity </a:t>
            </a:r>
          </a:p>
          <a:p>
            <a:pPr marL="914400" lvl="1" indent="-457200">
              <a:lnSpc>
                <a:spcPct val="150000"/>
              </a:lnSpc>
              <a:buFont typeface="Arial" panose="020B0604020202020204" pitchFamily="34" charset="0"/>
              <a:buChar char="•"/>
            </a:pPr>
            <a:r>
              <a:rPr lang="en-US" sz="2800" dirty="0">
                <a:latin typeface="Calibir"/>
              </a:rPr>
              <a:t>class distribution chart </a:t>
            </a:r>
          </a:p>
          <a:p>
            <a:pPr marL="914400" lvl="1" indent="-457200">
              <a:lnSpc>
                <a:spcPct val="150000"/>
              </a:lnSpc>
              <a:buFont typeface="Arial" panose="020B0604020202020204" pitchFamily="34" charset="0"/>
              <a:buChar char="•"/>
            </a:pPr>
            <a:r>
              <a:rPr lang="en-US" sz="2800" dirty="0">
                <a:latin typeface="Calibir"/>
              </a:rPr>
              <a:t>residual plot for regression </a:t>
            </a:r>
          </a:p>
          <a:p>
            <a:pPr marL="914400" lvl="1" indent="-457200">
              <a:lnSpc>
                <a:spcPct val="150000"/>
              </a:lnSpc>
              <a:buFont typeface="Arial" panose="020B0604020202020204" pitchFamily="34" charset="0"/>
              <a:buChar char="•"/>
            </a:pPr>
            <a:r>
              <a:rPr lang="en-US" sz="2800" dirty="0">
                <a:latin typeface="Calibir"/>
              </a:rPr>
              <a:t>feature distribution checks </a:t>
            </a:r>
          </a:p>
          <a:p>
            <a:pPr marL="914400" lvl="1" indent="-457200">
              <a:lnSpc>
                <a:spcPct val="150000"/>
              </a:lnSpc>
              <a:buFont typeface="Arial" panose="020B0604020202020204" pitchFamily="34" charset="0"/>
              <a:buChar char="•"/>
            </a:pPr>
            <a:r>
              <a:rPr lang="en-US" sz="2800" dirty="0">
                <a:latin typeface="Calibir"/>
              </a:rPr>
              <a:t>train/test performance differences for overfitting</a:t>
            </a:r>
          </a:p>
        </p:txBody>
      </p:sp>
      <p:sp>
        <p:nvSpPr>
          <p:cNvPr id="7" name="object 2">
            <a:extLst>
              <a:ext uri="{FF2B5EF4-FFF2-40B4-BE49-F238E27FC236}">
                <a16:creationId xmlns:a16="http://schemas.microsoft.com/office/drawing/2014/main" id="{43E256DF-C035-E6C4-4E68-479E198AFB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403854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2E940-47E0-E97B-72D9-2600AE169F4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6061484-AECB-1071-387D-5419F556844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04A360E-ABA6-3A3A-BCE5-C737872EB02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7960443-B02E-51E4-5C16-6601C8E89B05}"/>
              </a:ext>
            </a:extLst>
          </p:cNvPr>
          <p:cNvSpPr txBox="1"/>
          <p:nvPr/>
        </p:nvSpPr>
        <p:spPr>
          <a:xfrm>
            <a:off x="1" y="583684"/>
            <a:ext cx="10913806" cy="1964512"/>
          </a:xfrm>
          <a:prstGeom prst="rect">
            <a:avLst/>
          </a:prstGeom>
          <a:noFill/>
        </p:spPr>
        <p:txBody>
          <a:bodyPr wrap="square">
            <a:spAutoFit/>
          </a:bodyPr>
          <a:lstStyle/>
          <a:p>
            <a:pPr>
              <a:lnSpc>
                <a:spcPct val="150000"/>
              </a:lnSpc>
            </a:pPr>
            <a:r>
              <a:rPr lang="en-US" sz="2800" b="1" dirty="0">
                <a:latin typeface="Calibir"/>
              </a:rPr>
              <a:t>Common mistake</a:t>
            </a:r>
          </a:p>
          <a:p>
            <a:pPr>
              <a:lnSpc>
                <a:spcPct val="150000"/>
              </a:lnSpc>
            </a:pPr>
            <a:r>
              <a:rPr lang="en-US" sz="2800" dirty="0">
                <a:latin typeface="Calibir"/>
              </a:rPr>
              <a:t>Students describe assumptions from theory but never test or discuss them using their own dataset.</a:t>
            </a:r>
          </a:p>
        </p:txBody>
      </p:sp>
      <p:sp>
        <p:nvSpPr>
          <p:cNvPr id="7" name="object 2">
            <a:extLst>
              <a:ext uri="{FF2B5EF4-FFF2-40B4-BE49-F238E27FC236}">
                <a16:creationId xmlns:a16="http://schemas.microsoft.com/office/drawing/2014/main" id="{3B6ABDDE-76EF-7380-287D-43772EBA82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824205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583B-49BE-5732-2D51-B4B0D98B413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3CD6F51-3C2B-D4B3-AC7C-EA463CAD109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C8BE811-A679-674E-965C-FFDF81A9879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1F52D0B-568D-273C-9149-256C6791F102}"/>
              </a:ext>
            </a:extLst>
          </p:cNvPr>
          <p:cNvSpPr txBox="1"/>
          <p:nvPr/>
        </p:nvSpPr>
        <p:spPr>
          <a:xfrm>
            <a:off x="1" y="583684"/>
            <a:ext cx="10913806" cy="5842497"/>
          </a:xfrm>
          <a:prstGeom prst="rect">
            <a:avLst/>
          </a:prstGeom>
          <a:noFill/>
        </p:spPr>
        <p:txBody>
          <a:bodyPr wrap="square">
            <a:spAutoFit/>
          </a:bodyPr>
          <a:lstStyle/>
          <a:p>
            <a:pPr>
              <a:lnSpc>
                <a:spcPct val="150000"/>
              </a:lnSpc>
            </a:pPr>
            <a:r>
              <a:rPr lang="en-US" sz="2800" b="1" dirty="0">
                <a:latin typeface="Calibir"/>
              </a:rPr>
              <a:t>Step 7: Train both models and document the process</a:t>
            </a:r>
          </a:p>
          <a:p>
            <a:pPr>
              <a:lnSpc>
                <a:spcPct val="150000"/>
              </a:lnSpc>
            </a:pPr>
            <a:r>
              <a:rPr lang="en-US" sz="2800" dirty="0">
                <a:latin typeface="Calibir"/>
              </a:rPr>
              <a:t>You must show model development clearly.</a:t>
            </a:r>
          </a:p>
          <a:p>
            <a:pPr>
              <a:lnSpc>
                <a:spcPct val="150000"/>
              </a:lnSpc>
            </a:pPr>
            <a:r>
              <a:rPr lang="en-US" sz="2800" b="1" dirty="0">
                <a:latin typeface="Calibir"/>
              </a:rPr>
              <a:t>Include:</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chosen features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training workflow </a:t>
            </a:r>
          </a:p>
          <a:p>
            <a:pPr marL="914400" lvl="1" indent="-457200">
              <a:lnSpc>
                <a:spcPct val="150000"/>
              </a:lnSpc>
              <a:buFont typeface="Arial" panose="020B0604020202020204" pitchFamily="34" charset="0"/>
              <a:buChar char="•"/>
            </a:pPr>
            <a:r>
              <a:rPr lang="en-US" sz="2800" dirty="0">
                <a:latin typeface="Calibir"/>
              </a:rPr>
              <a:t>screenshots of training code/output </a:t>
            </a:r>
          </a:p>
          <a:p>
            <a:pPr marL="914400" lvl="1" indent="-457200">
              <a:lnSpc>
                <a:spcPct val="150000"/>
              </a:lnSpc>
              <a:buFont typeface="Arial" panose="020B0604020202020204" pitchFamily="34" charset="0"/>
              <a:buChar char="•"/>
            </a:pPr>
            <a:r>
              <a:rPr lang="en-US" sz="2800" dirty="0">
                <a:latin typeface="Calibir"/>
              </a:rPr>
              <a:t>implementation decisions</a:t>
            </a:r>
          </a:p>
        </p:txBody>
      </p:sp>
      <p:sp>
        <p:nvSpPr>
          <p:cNvPr id="7" name="object 2">
            <a:extLst>
              <a:ext uri="{FF2B5EF4-FFF2-40B4-BE49-F238E27FC236}">
                <a16:creationId xmlns:a16="http://schemas.microsoft.com/office/drawing/2014/main" id="{89A95735-ADEC-01BC-08F5-08F8276651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7015780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7DA3E-A7EE-A3B6-06C3-9D07996FB3F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DB3FFAB-C744-2F4F-73A7-168BF15587C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77E73B9-6503-30BA-A36B-10989CF8945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4F54B5C-F151-B4A7-CF20-C34DBEF85368}"/>
              </a:ext>
            </a:extLst>
          </p:cNvPr>
          <p:cNvSpPr txBox="1"/>
          <p:nvPr/>
        </p:nvSpPr>
        <p:spPr>
          <a:xfrm>
            <a:off x="1" y="583684"/>
            <a:ext cx="10913806" cy="5196166"/>
          </a:xfrm>
          <a:prstGeom prst="rect">
            <a:avLst/>
          </a:prstGeom>
          <a:noFill/>
        </p:spPr>
        <p:txBody>
          <a:bodyPr wrap="square">
            <a:spAutoFit/>
          </a:bodyPr>
          <a:lstStyle/>
          <a:p>
            <a:pPr>
              <a:lnSpc>
                <a:spcPct val="150000"/>
              </a:lnSpc>
            </a:pPr>
            <a:r>
              <a:rPr lang="en-US" sz="2800" b="1" dirty="0">
                <a:latin typeface="Calibir"/>
              </a:rPr>
              <a:t>Example things to explain</a:t>
            </a:r>
          </a:p>
          <a:p>
            <a:pPr marL="914400" lvl="1" indent="-457200">
              <a:lnSpc>
                <a:spcPct val="150000"/>
              </a:lnSpc>
              <a:buFont typeface="Arial" panose="020B0604020202020204" pitchFamily="34" charset="0"/>
              <a:buChar char="•"/>
            </a:pPr>
            <a:r>
              <a:rPr lang="en-US" sz="2800" dirty="0">
                <a:latin typeface="Calibir"/>
              </a:rPr>
              <a:t>Why use 80/20 split? </a:t>
            </a:r>
          </a:p>
          <a:p>
            <a:pPr marL="914400" lvl="1" indent="-457200">
              <a:lnSpc>
                <a:spcPct val="150000"/>
              </a:lnSpc>
              <a:buFont typeface="Arial" panose="020B0604020202020204" pitchFamily="34" charset="0"/>
              <a:buChar char="•"/>
            </a:pPr>
            <a:r>
              <a:rPr lang="en-US" sz="2800" dirty="0">
                <a:latin typeface="Calibir"/>
              </a:rPr>
              <a:t>Why choose </a:t>
            </a:r>
            <a:r>
              <a:rPr lang="en-US" sz="2800" dirty="0" err="1">
                <a:latin typeface="Calibir"/>
              </a:rPr>
              <a:t>max_depth</a:t>
            </a:r>
            <a:r>
              <a:rPr lang="en-US" sz="2800" dirty="0">
                <a:latin typeface="Calibir"/>
              </a:rPr>
              <a:t>=5 in Decision Tree? </a:t>
            </a:r>
          </a:p>
          <a:p>
            <a:pPr marL="914400" lvl="1" indent="-457200">
              <a:lnSpc>
                <a:spcPct val="150000"/>
              </a:lnSpc>
              <a:buFont typeface="Arial" panose="020B0604020202020204" pitchFamily="34" charset="0"/>
              <a:buChar char="•"/>
            </a:pPr>
            <a:r>
              <a:rPr lang="en-US" sz="2800" dirty="0">
                <a:latin typeface="Calibir"/>
              </a:rPr>
              <a:t>Why use </a:t>
            </a:r>
            <a:r>
              <a:rPr lang="en-US" sz="2800" dirty="0" err="1">
                <a:latin typeface="Calibir"/>
              </a:rPr>
              <a:t>standardisation</a:t>
            </a:r>
            <a:r>
              <a:rPr lang="en-US" sz="2800" dirty="0">
                <a:latin typeface="Calibir"/>
              </a:rPr>
              <a:t> before Logistic Regression? </a:t>
            </a:r>
          </a:p>
          <a:p>
            <a:pPr marL="914400" lvl="1" indent="-457200">
              <a:lnSpc>
                <a:spcPct val="150000"/>
              </a:lnSpc>
              <a:buFont typeface="Arial" panose="020B0604020202020204" pitchFamily="34" charset="0"/>
              <a:buChar char="•"/>
            </a:pPr>
            <a:r>
              <a:rPr lang="en-US" sz="2800" dirty="0">
                <a:latin typeface="Calibir"/>
              </a:rPr>
              <a:t>Why use random state for reproducibility? </a:t>
            </a:r>
          </a:p>
          <a:p>
            <a:pPr>
              <a:lnSpc>
                <a:spcPct val="150000"/>
              </a:lnSpc>
            </a:pPr>
            <a:r>
              <a:rPr lang="en-US" sz="2800" b="1" dirty="0">
                <a:latin typeface="Calibir"/>
              </a:rPr>
              <a:t>Hint</a:t>
            </a:r>
          </a:p>
          <a:p>
            <a:pPr>
              <a:lnSpc>
                <a:spcPct val="150000"/>
              </a:lnSpc>
            </a:pPr>
            <a:r>
              <a:rPr lang="en-US" sz="2800" dirty="0">
                <a:latin typeface="Calibir"/>
              </a:rPr>
              <a:t>Take screenshots while working, not at the end.</a:t>
            </a:r>
            <a:br>
              <a:rPr lang="en-US" sz="2800" dirty="0">
                <a:latin typeface="Calibir"/>
              </a:rPr>
            </a:br>
            <a:r>
              <a:rPr lang="en-US" sz="2800" dirty="0">
                <a:latin typeface="Calibir"/>
              </a:rPr>
              <a:t>Students often forget and then have weak evidence later.</a:t>
            </a:r>
          </a:p>
        </p:txBody>
      </p:sp>
      <p:sp>
        <p:nvSpPr>
          <p:cNvPr id="7" name="object 2">
            <a:extLst>
              <a:ext uri="{FF2B5EF4-FFF2-40B4-BE49-F238E27FC236}">
                <a16:creationId xmlns:a16="http://schemas.microsoft.com/office/drawing/2014/main" id="{870892A4-DD71-8D69-9116-16CBDAF5EEC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900640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EC094-2F1D-6EC9-16E9-50F7E5A7BCB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0AFAFB3-EABE-2D1A-A485-34331C81D83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E889588-C7FF-01A7-30F5-C63E7B81E37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118C462-DB90-8104-3558-0B939D4C2D32}"/>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Step 8: Evaluate both models properly</a:t>
            </a:r>
          </a:p>
          <a:p>
            <a:pPr>
              <a:lnSpc>
                <a:spcPct val="150000"/>
              </a:lnSpc>
            </a:pPr>
            <a:r>
              <a:rPr lang="en-US" sz="2800" dirty="0">
                <a:latin typeface="Calibir"/>
              </a:rPr>
              <a:t>Use the right metrics for your problem type.</a:t>
            </a:r>
          </a:p>
          <a:p>
            <a:pPr>
              <a:lnSpc>
                <a:spcPct val="150000"/>
              </a:lnSpc>
            </a:pPr>
            <a:r>
              <a:rPr lang="en-US" sz="2800" b="1" dirty="0">
                <a:latin typeface="Calibir"/>
              </a:rPr>
              <a:t>For classification</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accuracy </a:t>
            </a:r>
          </a:p>
          <a:p>
            <a:pPr marL="914400" lvl="1" indent="-457200">
              <a:lnSpc>
                <a:spcPct val="150000"/>
              </a:lnSpc>
              <a:buFont typeface="Arial" panose="020B0604020202020204" pitchFamily="34" charset="0"/>
              <a:buChar char="•"/>
            </a:pPr>
            <a:r>
              <a:rPr lang="en-US" sz="2800" dirty="0">
                <a:latin typeface="Calibir"/>
              </a:rPr>
              <a:t>precision </a:t>
            </a:r>
          </a:p>
          <a:p>
            <a:pPr marL="914400" lvl="1" indent="-457200">
              <a:lnSpc>
                <a:spcPct val="150000"/>
              </a:lnSpc>
              <a:buFont typeface="Arial" panose="020B0604020202020204" pitchFamily="34" charset="0"/>
              <a:buChar char="•"/>
            </a:pPr>
            <a:r>
              <a:rPr lang="en-US" sz="2800" dirty="0">
                <a:latin typeface="Calibir"/>
              </a:rPr>
              <a:t>recall </a:t>
            </a:r>
          </a:p>
          <a:p>
            <a:pPr marL="914400" lvl="1" indent="-457200">
              <a:lnSpc>
                <a:spcPct val="150000"/>
              </a:lnSpc>
              <a:buFont typeface="Arial" panose="020B0604020202020204" pitchFamily="34" charset="0"/>
              <a:buChar char="•"/>
            </a:pPr>
            <a:r>
              <a:rPr lang="en-US" sz="2800" dirty="0">
                <a:latin typeface="Calibir"/>
              </a:rPr>
              <a:t>F1-score </a:t>
            </a:r>
          </a:p>
          <a:p>
            <a:pPr marL="914400" lvl="1" indent="-457200">
              <a:lnSpc>
                <a:spcPct val="150000"/>
              </a:lnSpc>
              <a:buFont typeface="Arial" panose="020B0604020202020204" pitchFamily="34" charset="0"/>
              <a:buChar char="•"/>
            </a:pPr>
            <a:r>
              <a:rPr lang="en-US" sz="2800" dirty="0">
                <a:latin typeface="Calibir"/>
              </a:rPr>
              <a:t>confusion matrix </a:t>
            </a:r>
          </a:p>
          <a:p>
            <a:pPr marL="914400" lvl="1" indent="-457200">
              <a:lnSpc>
                <a:spcPct val="150000"/>
              </a:lnSpc>
              <a:buFont typeface="Arial" panose="020B0604020202020204" pitchFamily="34" charset="0"/>
              <a:buChar char="•"/>
            </a:pPr>
            <a:r>
              <a:rPr lang="en-US" sz="2800" dirty="0">
                <a:latin typeface="Calibir"/>
              </a:rPr>
              <a:t>ROC-AUC if appropriate</a:t>
            </a:r>
          </a:p>
        </p:txBody>
      </p:sp>
      <p:sp>
        <p:nvSpPr>
          <p:cNvPr id="7" name="object 2">
            <a:extLst>
              <a:ext uri="{FF2B5EF4-FFF2-40B4-BE49-F238E27FC236}">
                <a16:creationId xmlns:a16="http://schemas.microsoft.com/office/drawing/2014/main" id="{5BF2ECA3-F874-36EB-F14D-24D4EA6822C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9950697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B2AB-20AE-AE19-897D-AA178F82A58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953B367-E580-BFF2-9B04-AE129A162DB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24C0C1-3B59-D243-403C-A10E2F0E3E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D38BA04-438B-8B9D-3218-316247AE316F}"/>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For regression</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R² </a:t>
            </a:r>
          </a:p>
          <a:p>
            <a:pPr marL="914400" lvl="1" indent="-457200">
              <a:lnSpc>
                <a:spcPct val="150000"/>
              </a:lnSpc>
              <a:buFont typeface="Arial" panose="020B0604020202020204" pitchFamily="34" charset="0"/>
              <a:buChar char="•"/>
            </a:pPr>
            <a:r>
              <a:rPr lang="en-US" sz="2800" dirty="0">
                <a:latin typeface="Calibir"/>
              </a:rPr>
              <a:t>RMSE </a:t>
            </a:r>
          </a:p>
          <a:p>
            <a:pPr marL="914400" lvl="1" indent="-457200">
              <a:lnSpc>
                <a:spcPct val="150000"/>
              </a:lnSpc>
              <a:buFont typeface="Arial" panose="020B0604020202020204" pitchFamily="34" charset="0"/>
              <a:buChar char="•"/>
            </a:pPr>
            <a:r>
              <a:rPr lang="en-US" sz="2800" dirty="0">
                <a:latin typeface="Calibir"/>
              </a:rPr>
              <a:t>MAE </a:t>
            </a:r>
          </a:p>
          <a:p>
            <a:pPr marL="914400" lvl="1" indent="-457200">
              <a:lnSpc>
                <a:spcPct val="150000"/>
              </a:lnSpc>
              <a:buFont typeface="Arial" panose="020B0604020202020204" pitchFamily="34" charset="0"/>
              <a:buChar char="•"/>
            </a:pPr>
            <a:r>
              <a:rPr lang="en-US" sz="2800" dirty="0">
                <a:latin typeface="Calibir"/>
              </a:rPr>
              <a:t>MSE </a:t>
            </a:r>
          </a:p>
          <a:p>
            <a:pPr>
              <a:lnSpc>
                <a:spcPct val="150000"/>
              </a:lnSpc>
            </a:pPr>
            <a:r>
              <a:rPr lang="en-US" sz="2800" dirty="0">
                <a:latin typeface="Calibir"/>
              </a:rPr>
              <a:t>Important</a:t>
            </a:r>
          </a:p>
          <a:p>
            <a:pPr>
              <a:lnSpc>
                <a:spcPct val="150000"/>
              </a:lnSpc>
            </a:pPr>
            <a:r>
              <a:rPr lang="en-US" sz="2800" dirty="0">
                <a:latin typeface="Calibir"/>
              </a:rPr>
              <a:t>Do not rely on only one metric.</a:t>
            </a:r>
          </a:p>
          <a:p>
            <a:pPr>
              <a:lnSpc>
                <a:spcPct val="150000"/>
              </a:lnSpc>
            </a:pPr>
            <a:r>
              <a:rPr lang="en-US" sz="2800" dirty="0">
                <a:latin typeface="Calibir"/>
              </a:rPr>
              <a:t>For example, in churn or disease prediction, accuracy alone is not enough, especially if the classes are imbalanced.</a:t>
            </a:r>
          </a:p>
        </p:txBody>
      </p:sp>
      <p:sp>
        <p:nvSpPr>
          <p:cNvPr id="7" name="object 2">
            <a:extLst>
              <a:ext uri="{FF2B5EF4-FFF2-40B4-BE49-F238E27FC236}">
                <a16:creationId xmlns:a16="http://schemas.microsoft.com/office/drawing/2014/main" id="{FB94EA9A-B96E-D93D-272D-37690590EF2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016466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E586-5A25-1AA5-4299-A9FABEC38DF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AA0EC05-BC21-B833-2E36-C878ECC9F6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FAFEF66-3D1C-A816-FCBE-C54BA2BEE5E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BAEE051-8193-F29E-15E6-8335930819EC}"/>
              </a:ext>
            </a:extLst>
          </p:cNvPr>
          <p:cNvSpPr txBox="1"/>
          <p:nvPr/>
        </p:nvSpPr>
        <p:spPr>
          <a:xfrm>
            <a:off x="1" y="509944"/>
            <a:ext cx="10913806" cy="3257174"/>
          </a:xfrm>
          <a:prstGeom prst="rect">
            <a:avLst/>
          </a:prstGeom>
          <a:noFill/>
        </p:spPr>
        <p:txBody>
          <a:bodyPr wrap="square">
            <a:spAutoFit/>
          </a:bodyPr>
          <a:lstStyle/>
          <a:p>
            <a:pPr>
              <a:lnSpc>
                <a:spcPct val="150000"/>
              </a:lnSpc>
            </a:pPr>
            <a:r>
              <a:rPr lang="en-US" sz="2800" b="1" dirty="0">
                <a:latin typeface="Calibir"/>
              </a:rPr>
              <a:t>Example discussion</a:t>
            </a:r>
          </a:p>
          <a:p>
            <a:pPr>
              <a:lnSpc>
                <a:spcPct val="150000"/>
              </a:lnSpc>
            </a:pPr>
            <a:r>
              <a:rPr lang="en-US" sz="2800" dirty="0">
                <a:latin typeface="Calibir"/>
              </a:rPr>
              <a:t>“Although Model B achieved slightly higher accuracy, Model A had better recall. Since missing a high-risk employee is more costly for HR decision-making, recall was considered more important.”</a:t>
            </a:r>
          </a:p>
          <a:p>
            <a:pPr>
              <a:lnSpc>
                <a:spcPct val="150000"/>
              </a:lnSpc>
            </a:pPr>
            <a:r>
              <a:rPr lang="en-US" sz="2800" dirty="0">
                <a:latin typeface="Calibir"/>
              </a:rPr>
              <a:t>That kind of reasoning is strong.</a:t>
            </a:r>
          </a:p>
        </p:txBody>
      </p:sp>
      <p:sp>
        <p:nvSpPr>
          <p:cNvPr id="7" name="object 2">
            <a:extLst>
              <a:ext uri="{FF2B5EF4-FFF2-40B4-BE49-F238E27FC236}">
                <a16:creationId xmlns:a16="http://schemas.microsoft.com/office/drawing/2014/main" id="{C23F408E-38C1-E830-3624-E9606A72F3C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3110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30E0-3559-5B15-1ABE-110477B5EC7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BCBDF95-7D60-0CFD-E1AD-4A750AA8473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7680F288-CC23-AF41-8230-EFB7A3EADA8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C5296B8-0E4E-1C64-3808-9533EEAA8A53}"/>
              </a:ext>
            </a:extLst>
          </p:cNvPr>
          <p:cNvSpPr txBox="1"/>
          <p:nvPr/>
        </p:nvSpPr>
        <p:spPr>
          <a:xfrm>
            <a:off x="1" y="509944"/>
            <a:ext cx="10913806" cy="1964512"/>
          </a:xfrm>
          <a:prstGeom prst="rect">
            <a:avLst/>
          </a:prstGeom>
          <a:noFill/>
        </p:spPr>
        <p:txBody>
          <a:bodyPr wrap="square">
            <a:spAutoFit/>
          </a:bodyPr>
          <a:lstStyle/>
          <a:p>
            <a:pPr>
              <a:lnSpc>
                <a:spcPct val="150000"/>
              </a:lnSpc>
            </a:pPr>
            <a:r>
              <a:rPr lang="en-US" sz="2800" b="1" dirty="0">
                <a:latin typeface="Calibir"/>
              </a:rPr>
              <a:t>Step 9: Create a clear comparison table</a:t>
            </a:r>
          </a:p>
          <a:p>
            <a:pPr>
              <a:lnSpc>
                <a:spcPct val="150000"/>
              </a:lnSpc>
            </a:pPr>
            <a:r>
              <a:rPr lang="en-US" sz="2800" dirty="0">
                <a:latin typeface="Calibir"/>
              </a:rPr>
              <a:t>This is required.</a:t>
            </a:r>
          </a:p>
          <a:p>
            <a:pPr>
              <a:lnSpc>
                <a:spcPct val="150000"/>
              </a:lnSpc>
            </a:pPr>
            <a:r>
              <a:rPr lang="en-US" sz="2800" b="1" dirty="0">
                <a:latin typeface="Calibir"/>
              </a:rPr>
              <a:t>Example classification comparison table</a:t>
            </a:r>
          </a:p>
        </p:txBody>
      </p:sp>
      <p:sp>
        <p:nvSpPr>
          <p:cNvPr id="7" name="object 2">
            <a:extLst>
              <a:ext uri="{FF2B5EF4-FFF2-40B4-BE49-F238E27FC236}">
                <a16:creationId xmlns:a16="http://schemas.microsoft.com/office/drawing/2014/main" id="{CA2273EB-97D1-8FA3-3834-7E7AD6F4691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2" name="Table 1">
            <a:extLst>
              <a:ext uri="{FF2B5EF4-FFF2-40B4-BE49-F238E27FC236}">
                <a16:creationId xmlns:a16="http://schemas.microsoft.com/office/drawing/2014/main" id="{5D230CBD-341C-4EF2-72B9-8CCCEA630B59}"/>
              </a:ext>
            </a:extLst>
          </p:cNvPr>
          <p:cNvGraphicFramePr>
            <a:graphicFrameLocks noGrp="1"/>
          </p:cNvGraphicFramePr>
          <p:nvPr>
            <p:extLst>
              <p:ext uri="{D42A27DB-BD31-4B8C-83A1-F6EECF244321}">
                <p14:modId xmlns:p14="http://schemas.microsoft.com/office/powerpoint/2010/main" val="2331508118"/>
              </p:ext>
            </p:extLst>
          </p:nvPr>
        </p:nvGraphicFramePr>
        <p:xfrm>
          <a:off x="838200" y="3103385"/>
          <a:ext cx="10515600" cy="362712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638395743"/>
                    </a:ext>
                  </a:extLst>
                </a:gridCol>
                <a:gridCol w="3505200">
                  <a:extLst>
                    <a:ext uri="{9D8B030D-6E8A-4147-A177-3AD203B41FA5}">
                      <a16:colId xmlns:a16="http://schemas.microsoft.com/office/drawing/2014/main" val="1340192771"/>
                    </a:ext>
                  </a:extLst>
                </a:gridCol>
                <a:gridCol w="3505200">
                  <a:extLst>
                    <a:ext uri="{9D8B030D-6E8A-4147-A177-3AD203B41FA5}">
                      <a16:colId xmlns:a16="http://schemas.microsoft.com/office/drawing/2014/main" val="3668840156"/>
                    </a:ext>
                  </a:extLst>
                </a:gridCol>
              </a:tblGrid>
              <a:tr h="0">
                <a:tc>
                  <a:txBody>
                    <a:bodyPr/>
                    <a:lstStyle/>
                    <a:p>
                      <a:pPr>
                        <a:buNone/>
                      </a:pPr>
                      <a:r>
                        <a:rPr lang="en-US" sz="2800" dirty="0">
                          <a:latin typeface="Calibir"/>
                        </a:rPr>
                        <a:t>Metric</a:t>
                      </a:r>
                    </a:p>
                  </a:txBody>
                  <a:tcPr anchor="ctr">
                    <a:solidFill>
                      <a:schemeClr val="accent5">
                        <a:lumMod val="20000"/>
                        <a:lumOff val="80000"/>
                      </a:schemeClr>
                    </a:solidFill>
                  </a:tcPr>
                </a:tc>
                <a:tc>
                  <a:txBody>
                    <a:bodyPr/>
                    <a:lstStyle/>
                    <a:p>
                      <a:pPr>
                        <a:buNone/>
                      </a:pPr>
                      <a:r>
                        <a:rPr lang="en-US" sz="2800" dirty="0">
                          <a:latin typeface="Calibir"/>
                        </a:rPr>
                        <a:t>Logistic Regression</a:t>
                      </a:r>
                    </a:p>
                  </a:txBody>
                  <a:tcPr anchor="ctr">
                    <a:solidFill>
                      <a:schemeClr val="accent5">
                        <a:lumMod val="20000"/>
                        <a:lumOff val="80000"/>
                      </a:schemeClr>
                    </a:solidFill>
                  </a:tcPr>
                </a:tc>
                <a:tc>
                  <a:txBody>
                    <a:bodyPr/>
                    <a:lstStyle/>
                    <a:p>
                      <a:pPr>
                        <a:buNone/>
                      </a:pPr>
                      <a:r>
                        <a:rPr lang="en-US" sz="2800" dirty="0">
                          <a:latin typeface="Calibir"/>
                        </a:rPr>
                        <a:t>Random Forest</a:t>
                      </a:r>
                    </a:p>
                  </a:txBody>
                  <a:tcPr anchor="ctr">
                    <a:solidFill>
                      <a:schemeClr val="accent5">
                        <a:lumMod val="20000"/>
                        <a:lumOff val="80000"/>
                      </a:schemeClr>
                    </a:solidFill>
                  </a:tcPr>
                </a:tc>
                <a:extLst>
                  <a:ext uri="{0D108BD9-81ED-4DB2-BD59-A6C34878D82A}">
                    <a16:rowId xmlns:a16="http://schemas.microsoft.com/office/drawing/2014/main" val="2651177502"/>
                  </a:ext>
                </a:extLst>
              </a:tr>
              <a:tr h="0">
                <a:tc>
                  <a:txBody>
                    <a:bodyPr/>
                    <a:lstStyle/>
                    <a:p>
                      <a:pPr>
                        <a:buNone/>
                      </a:pPr>
                      <a:r>
                        <a:rPr lang="en-US" sz="2800">
                          <a:latin typeface="Calibir"/>
                        </a:rPr>
                        <a:t>Accuracy</a:t>
                      </a:r>
                    </a:p>
                  </a:txBody>
                  <a:tcPr anchor="ctr"/>
                </a:tc>
                <a:tc>
                  <a:txBody>
                    <a:bodyPr/>
                    <a:lstStyle/>
                    <a:p>
                      <a:pPr>
                        <a:buNone/>
                      </a:pPr>
                      <a:r>
                        <a:rPr lang="en-US" sz="2800">
                          <a:latin typeface="Calibir"/>
                        </a:rPr>
                        <a:t>0.81</a:t>
                      </a:r>
                    </a:p>
                  </a:txBody>
                  <a:tcPr anchor="ctr"/>
                </a:tc>
                <a:tc>
                  <a:txBody>
                    <a:bodyPr/>
                    <a:lstStyle/>
                    <a:p>
                      <a:pPr>
                        <a:buNone/>
                      </a:pPr>
                      <a:r>
                        <a:rPr lang="en-US" sz="2800">
                          <a:latin typeface="Calibir"/>
                        </a:rPr>
                        <a:t>0.85</a:t>
                      </a:r>
                    </a:p>
                  </a:txBody>
                  <a:tcPr anchor="ctr"/>
                </a:tc>
                <a:extLst>
                  <a:ext uri="{0D108BD9-81ED-4DB2-BD59-A6C34878D82A}">
                    <a16:rowId xmlns:a16="http://schemas.microsoft.com/office/drawing/2014/main" val="3616513876"/>
                  </a:ext>
                </a:extLst>
              </a:tr>
              <a:tr h="0">
                <a:tc>
                  <a:txBody>
                    <a:bodyPr/>
                    <a:lstStyle/>
                    <a:p>
                      <a:pPr>
                        <a:buNone/>
                      </a:pPr>
                      <a:r>
                        <a:rPr lang="en-US" sz="2800">
                          <a:latin typeface="Calibir"/>
                        </a:rPr>
                        <a:t>Precision</a:t>
                      </a:r>
                    </a:p>
                  </a:txBody>
                  <a:tcPr anchor="ctr"/>
                </a:tc>
                <a:tc>
                  <a:txBody>
                    <a:bodyPr/>
                    <a:lstStyle/>
                    <a:p>
                      <a:pPr>
                        <a:buNone/>
                      </a:pPr>
                      <a:r>
                        <a:rPr lang="en-US" sz="2800">
                          <a:latin typeface="Calibir"/>
                        </a:rPr>
                        <a:t>0.73</a:t>
                      </a:r>
                    </a:p>
                  </a:txBody>
                  <a:tcPr anchor="ctr"/>
                </a:tc>
                <a:tc>
                  <a:txBody>
                    <a:bodyPr/>
                    <a:lstStyle/>
                    <a:p>
                      <a:pPr>
                        <a:buNone/>
                      </a:pPr>
                      <a:r>
                        <a:rPr lang="en-US" sz="2800">
                          <a:latin typeface="Calibir"/>
                        </a:rPr>
                        <a:t>0.79</a:t>
                      </a:r>
                    </a:p>
                  </a:txBody>
                  <a:tcPr anchor="ctr"/>
                </a:tc>
                <a:extLst>
                  <a:ext uri="{0D108BD9-81ED-4DB2-BD59-A6C34878D82A}">
                    <a16:rowId xmlns:a16="http://schemas.microsoft.com/office/drawing/2014/main" val="2717697581"/>
                  </a:ext>
                </a:extLst>
              </a:tr>
              <a:tr h="0">
                <a:tc>
                  <a:txBody>
                    <a:bodyPr/>
                    <a:lstStyle/>
                    <a:p>
                      <a:pPr>
                        <a:buNone/>
                      </a:pPr>
                      <a:r>
                        <a:rPr lang="en-US" sz="2800">
                          <a:latin typeface="Calibir"/>
                        </a:rPr>
                        <a:t>Recall</a:t>
                      </a:r>
                    </a:p>
                  </a:txBody>
                  <a:tcPr anchor="ctr"/>
                </a:tc>
                <a:tc>
                  <a:txBody>
                    <a:bodyPr/>
                    <a:lstStyle/>
                    <a:p>
                      <a:pPr>
                        <a:buNone/>
                      </a:pPr>
                      <a:r>
                        <a:rPr lang="en-US" sz="2800">
                          <a:latin typeface="Calibir"/>
                        </a:rPr>
                        <a:t>0.68</a:t>
                      </a:r>
                    </a:p>
                  </a:txBody>
                  <a:tcPr anchor="ctr"/>
                </a:tc>
                <a:tc>
                  <a:txBody>
                    <a:bodyPr/>
                    <a:lstStyle/>
                    <a:p>
                      <a:pPr>
                        <a:buNone/>
                      </a:pPr>
                      <a:r>
                        <a:rPr lang="en-US" sz="2800">
                          <a:latin typeface="Calibir"/>
                        </a:rPr>
                        <a:t>0.74</a:t>
                      </a:r>
                    </a:p>
                  </a:txBody>
                  <a:tcPr anchor="ctr"/>
                </a:tc>
                <a:extLst>
                  <a:ext uri="{0D108BD9-81ED-4DB2-BD59-A6C34878D82A}">
                    <a16:rowId xmlns:a16="http://schemas.microsoft.com/office/drawing/2014/main" val="2135976409"/>
                  </a:ext>
                </a:extLst>
              </a:tr>
              <a:tr h="0">
                <a:tc>
                  <a:txBody>
                    <a:bodyPr/>
                    <a:lstStyle/>
                    <a:p>
                      <a:pPr>
                        <a:buNone/>
                      </a:pPr>
                      <a:r>
                        <a:rPr lang="en-US" sz="2800">
                          <a:latin typeface="Calibir"/>
                        </a:rPr>
                        <a:t>F1-score</a:t>
                      </a:r>
                    </a:p>
                  </a:txBody>
                  <a:tcPr anchor="ctr"/>
                </a:tc>
                <a:tc>
                  <a:txBody>
                    <a:bodyPr/>
                    <a:lstStyle/>
                    <a:p>
                      <a:pPr>
                        <a:buNone/>
                      </a:pPr>
                      <a:r>
                        <a:rPr lang="en-US" sz="2800">
                          <a:latin typeface="Calibir"/>
                        </a:rPr>
                        <a:t>0.70</a:t>
                      </a:r>
                    </a:p>
                  </a:txBody>
                  <a:tcPr anchor="ctr"/>
                </a:tc>
                <a:tc>
                  <a:txBody>
                    <a:bodyPr/>
                    <a:lstStyle/>
                    <a:p>
                      <a:pPr>
                        <a:buNone/>
                      </a:pPr>
                      <a:r>
                        <a:rPr lang="en-US" sz="2800">
                          <a:latin typeface="Calibir"/>
                        </a:rPr>
                        <a:t>0.76</a:t>
                      </a:r>
                    </a:p>
                  </a:txBody>
                  <a:tcPr anchor="ctr"/>
                </a:tc>
                <a:extLst>
                  <a:ext uri="{0D108BD9-81ED-4DB2-BD59-A6C34878D82A}">
                    <a16:rowId xmlns:a16="http://schemas.microsoft.com/office/drawing/2014/main" val="2614180860"/>
                  </a:ext>
                </a:extLst>
              </a:tr>
              <a:tr h="0">
                <a:tc>
                  <a:txBody>
                    <a:bodyPr/>
                    <a:lstStyle/>
                    <a:p>
                      <a:pPr>
                        <a:buNone/>
                      </a:pPr>
                      <a:r>
                        <a:rPr lang="en-US" sz="2800">
                          <a:latin typeface="Calibir"/>
                        </a:rPr>
                        <a:t>Overfitting risk</a:t>
                      </a:r>
                    </a:p>
                  </a:txBody>
                  <a:tcPr anchor="ctr"/>
                </a:tc>
                <a:tc>
                  <a:txBody>
                    <a:bodyPr/>
                    <a:lstStyle/>
                    <a:p>
                      <a:pPr>
                        <a:buNone/>
                      </a:pPr>
                      <a:r>
                        <a:rPr lang="en-US" sz="2800">
                          <a:latin typeface="Calibir"/>
                        </a:rPr>
                        <a:t>Low</a:t>
                      </a:r>
                    </a:p>
                  </a:txBody>
                  <a:tcPr anchor="ctr"/>
                </a:tc>
                <a:tc>
                  <a:txBody>
                    <a:bodyPr/>
                    <a:lstStyle/>
                    <a:p>
                      <a:pPr>
                        <a:buNone/>
                      </a:pPr>
                      <a:r>
                        <a:rPr lang="en-US" sz="2800">
                          <a:latin typeface="Calibir"/>
                        </a:rPr>
                        <a:t>Medium</a:t>
                      </a:r>
                    </a:p>
                  </a:txBody>
                  <a:tcPr anchor="ctr"/>
                </a:tc>
                <a:extLst>
                  <a:ext uri="{0D108BD9-81ED-4DB2-BD59-A6C34878D82A}">
                    <a16:rowId xmlns:a16="http://schemas.microsoft.com/office/drawing/2014/main" val="2353430466"/>
                  </a:ext>
                </a:extLst>
              </a:tr>
              <a:tr h="0">
                <a:tc>
                  <a:txBody>
                    <a:bodyPr/>
                    <a:lstStyle/>
                    <a:p>
                      <a:pPr>
                        <a:buNone/>
                      </a:pPr>
                      <a:r>
                        <a:rPr lang="en-US" sz="2800">
                          <a:latin typeface="Calibir"/>
                        </a:rPr>
                        <a:t>Interpretability</a:t>
                      </a:r>
                    </a:p>
                  </a:txBody>
                  <a:tcPr anchor="ctr"/>
                </a:tc>
                <a:tc>
                  <a:txBody>
                    <a:bodyPr/>
                    <a:lstStyle/>
                    <a:p>
                      <a:pPr>
                        <a:buNone/>
                      </a:pPr>
                      <a:r>
                        <a:rPr lang="en-US" sz="2800">
                          <a:latin typeface="Calibir"/>
                        </a:rPr>
                        <a:t>High</a:t>
                      </a:r>
                    </a:p>
                  </a:txBody>
                  <a:tcPr anchor="ctr"/>
                </a:tc>
                <a:tc>
                  <a:txBody>
                    <a:bodyPr/>
                    <a:lstStyle/>
                    <a:p>
                      <a:pPr>
                        <a:buNone/>
                      </a:pPr>
                      <a:r>
                        <a:rPr lang="en-US" sz="2800" dirty="0">
                          <a:latin typeface="Calibir"/>
                        </a:rPr>
                        <a:t>Medium</a:t>
                      </a:r>
                    </a:p>
                  </a:txBody>
                  <a:tcPr anchor="ctr"/>
                </a:tc>
                <a:extLst>
                  <a:ext uri="{0D108BD9-81ED-4DB2-BD59-A6C34878D82A}">
                    <a16:rowId xmlns:a16="http://schemas.microsoft.com/office/drawing/2014/main" val="2456794033"/>
                  </a:ext>
                </a:extLst>
              </a:tr>
            </a:tbl>
          </a:graphicData>
        </a:graphic>
      </p:graphicFrame>
    </p:spTree>
    <p:extLst>
      <p:ext uri="{BB962C8B-B14F-4D97-AF65-F5344CB8AC3E}">
        <p14:creationId xmlns:p14="http://schemas.microsoft.com/office/powerpoint/2010/main" val="17852464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AA30-2309-C06A-9AF1-94583F33D6F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52AB328-411F-F2A1-C736-A2FB768B00E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2CF0D0F-656A-0093-65F8-863D1BA08ED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6F95225-C25C-7A40-8E9C-C6A501633DAF}"/>
              </a:ext>
            </a:extLst>
          </p:cNvPr>
          <p:cNvSpPr txBox="1"/>
          <p:nvPr/>
        </p:nvSpPr>
        <p:spPr>
          <a:xfrm>
            <a:off x="1" y="509944"/>
            <a:ext cx="10913806" cy="675441"/>
          </a:xfrm>
          <a:prstGeom prst="rect">
            <a:avLst/>
          </a:prstGeom>
          <a:noFill/>
        </p:spPr>
        <p:txBody>
          <a:bodyPr wrap="square">
            <a:spAutoFit/>
          </a:bodyPr>
          <a:lstStyle/>
          <a:p>
            <a:pPr>
              <a:lnSpc>
                <a:spcPct val="150000"/>
              </a:lnSpc>
            </a:pPr>
            <a:r>
              <a:rPr lang="en-US" sz="2800" dirty="0">
                <a:latin typeface="Calibir"/>
              </a:rPr>
              <a:t>Example regression comparison table</a:t>
            </a:r>
            <a:endParaRPr lang="en-US" sz="2800" b="1" dirty="0">
              <a:latin typeface="Calibir"/>
            </a:endParaRPr>
          </a:p>
        </p:txBody>
      </p:sp>
      <p:sp>
        <p:nvSpPr>
          <p:cNvPr id="7" name="object 2">
            <a:extLst>
              <a:ext uri="{FF2B5EF4-FFF2-40B4-BE49-F238E27FC236}">
                <a16:creationId xmlns:a16="http://schemas.microsoft.com/office/drawing/2014/main" id="{A4B82C72-6ADA-8FFE-4399-74D52197523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graphicFrame>
        <p:nvGraphicFramePr>
          <p:cNvPr id="3" name="Table 2">
            <a:extLst>
              <a:ext uri="{FF2B5EF4-FFF2-40B4-BE49-F238E27FC236}">
                <a16:creationId xmlns:a16="http://schemas.microsoft.com/office/drawing/2014/main" id="{E1EB2D61-5862-B2BB-7A8C-67EF019AC56E}"/>
              </a:ext>
            </a:extLst>
          </p:cNvPr>
          <p:cNvGraphicFramePr>
            <a:graphicFrameLocks noGrp="1"/>
          </p:cNvGraphicFramePr>
          <p:nvPr>
            <p:extLst>
              <p:ext uri="{D42A27DB-BD31-4B8C-83A1-F6EECF244321}">
                <p14:modId xmlns:p14="http://schemas.microsoft.com/office/powerpoint/2010/main" val="3843642393"/>
              </p:ext>
            </p:extLst>
          </p:nvPr>
        </p:nvGraphicFramePr>
        <p:xfrm>
          <a:off x="838200" y="2018105"/>
          <a:ext cx="10515600" cy="353568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689764068"/>
                    </a:ext>
                  </a:extLst>
                </a:gridCol>
                <a:gridCol w="3505200">
                  <a:extLst>
                    <a:ext uri="{9D8B030D-6E8A-4147-A177-3AD203B41FA5}">
                      <a16:colId xmlns:a16="http://schemas.microsoft.com/office/drawing/2014/main" val="2221105562"/>
                    </a:ext>
                  </a:extLst>
                </a:gridCol>
                <a:gridCol w="3505200">
                  <a:extLst>
                    <a:ext uri="{9D8B030D-6E8A-4147-A177-3AD203B41FA5}">
                      <a16:colId xmlns:a16="http://schemas.microsoft.com/office/drawing/2014/main" val="1610361430"/>
                    </a:ext>
                  </a:extLst>
                </a:gridCol>
              </a:tblGrid>
              <a:tr h="0">
                <a:tc>
                  <a:txBody>
                    <a:bodyPr/>
                    <a:lstStyle/>
                    <a:p>
                      <a:pPr>
                        <a:buNone/>
                      </a:pPr>
                      <a:r>
                        <a:rPr lang="en-US" sz="2800" dirty="0">
                          <a:latin typeface="Calibir"/>
                        </a:rPr>
                        <a:t>Metric</a:t>
                      </a:r>
                    </a:p>
                  </a:txBody>
                  <a:tcPr anchor="ctr">
                    <a:solidFill>
                      <a:schemeClr val="accent5">
                        <a:lumMod val="20000"/>
                        <a:lumOff val="80000"/>
                      </a:schemeClr>
                    </a:solidFill>
                  </a:tcPr>
                </a:tc>
                <a:tc>
                  <a:txBody>
                    <a:bodyPr/>
                    <a:lstStyle/>
                    <a:p>
                      <a:pPr>
                        <a:buNone/>
                      </a:pPr>
                      <a:r>
                        <a:rPr lang="en-US" sz="2800" dirty="0">
                          <a:latin typeface="Calibir"/>
                        </a:rPr>
                        <a:t>Linear Regression</a:t>
                      </a:r>
                    </a:p>
                  </a:txBody>
                  <a:tcPr anchor="ctr">
                    <a:solidFill>
                      <a:schemeClr val="accent5">
                        <a:lumMod val="20000"/>
                        <a:lumOff val="80000"/>
                      </a:schemeClr>
                    </a:solidFill>
                  </a:tcPr>
                </a:tc>
                <a:tc>
                  <a:txBody>
                    <a:bodyPr/>
                    <a:lstStyle/>
                    <a:p>
                      <a:pPr>
                        <a:buNone/>
                      </a:pPr>
                      <a:r>
                        <a:rPr lang="en-US" sz="2800" dirty="0">
                          <a:latin typeface="Calibir"/>
                        </a:rPr>
                        <a:t>Random Forest Regressor</a:t>
                      </a:r>
                    </a:p>
                  </a:txBody>
                  <a:tcPr anchor="ctr">
                    <a:solidFill>
                      <a:schemeClr val="accent5">
                        <a:lumMod val="20000"/>
                        <a:lumOff val="80000"/>
                      </a:schemeClr>
                    </a:solidFill>
                  </a:tcPr>
                </a:tc>
                <a:extLst>
                  <a:ext uri="{0D108BD9-81ED-4DB2-BD59-A6C34878D82A}">
                    <a16:rowId xmlns:a16="http://schemas.microsoft.com/office/drawing/2014/main" val="3932130701"/>
                  </a:ext>
                </a:extLst>
              </a:tr>
              <a:tr h="0">
                <a:tc>
                  <a:txBody>
                    <a:bodyPr/>
                    <a:lstStyle/>
                    <a:p>
                      <a:pPr>
                        <a:buNone/>
                      </a:pPr>
                      <a:r>
                        <a:rPr lang="en-US" sz="2800">
                          <a:latin typeface="Calibir"/>
                        </a:rPr>
                        <a:t>R²</a:t>
                      </a:r>
                    </a:p>
                  </a:txBody>
                  <a:tcPr anchor="ctr"/>
                </a:tc>
                <a:tc>
                  <a:txBody>
                    <a:bodyPr/>
                    <a:lstStyle/>
                    <a:p>
                      <a:pPr>
                        <a:buNone/>
                      </a:pPr>
                      <a:r>
                        <a:rPr lang="en-US" sz="2800">
                          <a:latin typeface="Calibir"/>
                        </a:rPr>
                        <a:t>0.71</a:t>
                      </a:r>
                    </a:p>
                  </a:txBody>
                  <a:tcPr anchor="ctr"/>
                </a:tc>
                <a:tc>
                  <a:txBody>
                    <a:bodyPr/>
                    <a:lstStyle/>
                    <a:p>
                      <a:pPr>
                        <a:buNone/>
                      </a:pPr>
                      <a:r>
                        <a:rPr lang="en-US" sz="2800">
                          <a:latin typeface="Calibir"/>
                        </a:rPr>
                        <a:t>0.84</a:t>
                      </a:r>
                    </a:p>
                  </a:txBody>
                  <a:tcPr anchor="ctr"/>
                </a:tc>
                <a:extLst>
                  <a:ext uri="{0D108BD9-81ED-4DB2-BD59-A6C34878D82A}">
                    <a16:rowId xmlns:a16="http://schemas.microsoft.com/office/drawing/2014/main" val="2296084139"/>
                  </a:ext>
                </a:extLst>
              </a:tr>
              <a:tr h="0">
                <a:tc>
                  <a:txBody>
                    <a:bodyPr/>
                    <a:lstStyle/>
                    <a:p>
                      <a:pPr>
                        <a:buNone/>
                      </a:pPr>
                      <a:r>
                        <a:rPr lang="en-US" sz="2800">
                          <a:latin typeface="Calibir"/>
                        </a:rPr>
                        <a:t>RMSE</a:t>
                      </a:r>
                    </a:p>
                  </a:txBody>
                  <a:tcPr anchor="ctr"/>
                </a:tc>
                <a:tc>
                  <a:txBody>
                    <a:bodyPr/>
                    <a:lstStyle/>
                    <a:p>
                      <a:pPr>
                        <a:buNone/>
                      </a:pPr>
                      <a:r>
                        <a:rPr lang="en-US" sz="2800">
                          <a:latin typeface="Calibir"/>
                        </a:rPr>
                        <a:t>4200</a:t>
                      </a:r>
                    </a:p>
                  </a:txBody>
                  <a:tcPr anchor="ctr"/>
                </a:tc>
                <a:tc>
                  <a:txBody>
                    <a:bodyPr/>
                    <a:lstStyle/>
                    <a:p>
                      <a:pPr>
                        <a:buNone/>
                      </a:pPr>
                      <a:r>
                        <a:rPr lang="en-US" sz="2800">
                          <a:latin typeface="Calibir"/>
                        </a:rPr>
                        <a:t>2800</a:t>
                      </a:r>
                    </a:p>
                  </a:txBody>
                  <a:tcPr anchor="ctr"/>
                </a:tc>
                <a:extLst>
                  <a:ext uri="{0D108BD9-81ED-4DB2-BD59-A6C34878D82A}">
                    <a16:rowId xmlns:a16="http://schemas.microsoft.com/office/drawing/2014/main" val="2000032796"/>
                  </a:ext>
                </a:extLst>
              </a:tr>
              <a:tr h="0">
                <a:tc>
                  <a:txBody>
                    <a:bodyPr/>
                    <a:lstStyle/>
                    <a:p>
                      <a:pPr>
                        <a:buNone/>
                      </a:pPr>
                      <a:r>
                        <a:rPr lang="en-US" sz="2800">
                          <a:latin typeface="Calibir"/>
                        </a:rPr>
                        <a:t>MAE</a:t>
                      </a:r>
                    </a:p>
                  </a:txBody>
                  <a:tcPr anchor="ctr"/>
                </a:tc>
                <a:tc>
                  <a:txBody>
                    <a:bodyPr/>
                    <a:lstStyle/>
                    <a:p>
                      <a:pPr>
                        <a:buNone/>
                      </a:pPr>
                      <a:r>
                        <a:rPr lang="en-US" sz="2800">
                          <a:latin typeface="Calibir"/>
                        </a:rPr>
                        <a:t>3100</a:t>
                      </a:r>
                    </a:p>
                  </a:txBody>
                  <a:tcPr anchor="ctr"/>
                </a:tc>
                <a:tc>
                  <a:txBody>
                    <a:bodyPr/>
                    <a:lstStyle/>
                    <a:p>
                      <a:pPr>
                        <a:buNone/>
                      </a:pPr>
                      <a:r>
                        <a:rPr lang="en-US" sz="2800">
                          <a:latin typeface="Calibir"/>
                        </a:rPr>
                        <a:t>1900</a:t>
                      </a:r>
                    </a:p>
                  </a:txBody>
                  <a:tcPr anchor="ctr"/>
                </a:tc>
                <a:extLst>
                  <a:ext uri="{0D108BD9-81ED-4DB2-BD59-A6C34878D82A}">
                    <a16:rowId xmlns:a16="http://schemas.microsoft.com/office/drawing/2014/main" val="4041530426"/>
                  </a:ext>
                </a:extLst>
              </a:tr>
              <a:tr h="0">
                <a:tc>
                  <a:txBody>
                    <a:bodyPr/>
                    <a:lstStyle/>
                    <a:p>
                      <a:pPr>
                        <a:buNone/>
                      </a:pPr>
                      <a:r>
                        <a:rPr lang="en-US" sz="2800">
                          <a:latin typeface="Calibir"/>
                        </a:rPr>
                        <a:t>Overfitting risk</a:t>
                      </a:r>
                    </a:p>
                  </a:txBody>
                  <a:tcPr anchor="ctr"/>
                </a:tc>
                <a:tc>
                  <a:txBody>
                    <a:bodyPr/>
                    <a:lstStyle/>
                    <a:p>
                      <a:pPr>
                        <a:buNone/>
                      </a:pPr>
                      <a:r>
                        <a:rPr lang="en-US" sz="2800">
                          <a:latin typeface="Calibir"/>
                        </a:rPr>
                        <a:t>Low</a:t>
                      </a:r>
                    </a:p>
                  </a:txBody>
                  <a:tcPr anchor="ctr"/>
                </a:tc>
                <a:tc>
                  <a:txBody>
                    <a:bodyPr/>
                    <a:lstStyle/>
                    <a:p>
                      <a:pPr>
                        <a:buNone/>
                      </a:pPr>
                      <a:r>
                        <a:rPr lang="en-US" sz="2800">
                          <a:latin typeface="Calibir"/>
                        </a:rPr>
                        <a:t>Medium</a:t>
                      </a:r>
                    </a:p>
                  </a:txBody>
                  <a:tcPr anchor="ctr"/>
                </a:tc>
                <a:extLst>
                  <a:ext uri="{0D108BD9-81ED-4DB2-BD59-A6C34878D82A}">
                    <a16:rowId xmlns:a16="http://schemas.microsoft.com/office/drawing/2014/main" val="2008680214"/>
                  </a:ext>
                </a:extLst>
              </a:tr>
              <a:tr h="0">
                <a:tc>
                  <a:txBody>
                    <a:bodyPr/>
                    <a:lstStyle/>
                    <a:p>
                      <a:pPr>
                        <a:buNone/>
                      </a:pPr>
                      <a:r>
                        <a:rPr lang="en-US" sz="2800">
                          <a:latin typeface="Calibir"/>
                        </a:rPr>
                        <a:t>Interpretability</a:t>
                      </a:r>
                    </a:p>
                  </a:txBody>
                  <a:tcPr anchor="ctr"/>
                </a:tc>
                <a:tc>
                  <a:txBody>
                    <a:bodyPr/>
                    <a:lstStyle/>
                    <a:p>
                      <a:pPr>
                        <a:buNone/>
                      </a:pPr>
                      <a:r>
                        <a:rPr lang="en-US" sz="2800">
                          <a:latin typeface="Calibir"/>
                        </a:rPr>
                        <a:t>High</a:t>
                      </a:r>
                    </a:p>
                  </a:txBody>
                  <a:tcPr anchor="ctr"/>
                </a:tc>
                <a:tc>
                  <a:txBody>
                    <a:bodyPr/>
                    <a:lstStyle/>
                    <a:p>
                      <a:pPr>
                        <a:buNone/>
                      </a:pPr>
                      <a:r>
                        <a:rPr lang="en-US" sz="2800" dirty="0">
                          <a:latin typeface="Calibir"/>
                        </a:rPr>
                        <a:t>Lower</a:t>
                      </a:r>
                    </a:p>
                  </a:txBody>
                  <a:tcPr anchor="ctr"/>
                </a:tc>
                <a:extLst>
                  <a:ext uri="{0D108BD9-81ED-4DB2-BD59-A6C34878D82A}">
                    <a16:rowId xmlns:a16="http://schemas.microsoft.com/office/drawing/2014/main" val="3205364667"/>
                  </a:ext>
                </a:extLst>
              </a:tr>
            </a:tbl>
          </a:graphicData>
        </a:graphic>
      </p:graphicFrame>
    </p:spTree>
    <p:extLst>
      <p:ext uri="{BB962C8B-B14F-4D97-AF65-F5344CB8AC3E}">
        <p14:creationId xmlns:p14="http://schemas.microsoft.com/office/powerpoint/2010/main" val="33016273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557DD-65A6-6650-A5A6-82D0BB7A411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1A21499-6EF6-EB50-8AF0-39389019AB9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4387F31-22E6-AE12-25FF-D049181B447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A13BFE3-EB8A-DFDB-63A5-55EB521DF010}"/>
              </a:ext>
            </a:extLst>
          </p:cNvPr>
          <p:cNvSpPr txBox="1"/>
          <p:nvPr/>
        </p:nvSpPr>
        <p:spPr>
          <a:xfrm>
            <a:off x="1" y="509944"/>
            <a:ext cx="10913806" cy="3257174"/>
          </a:xfrm>
          <a:prstGeom prst="rect">
            <a:avLst/>
          </a:prstGeom>
          <a:noFill/>
        </p:spPr>
        <p:txBody>
          <a:bodyPr wrap="square">
            <a:spAutoFit/>
          </a:bodyPr>
          <a:lstStyle/>
          <a:p>
            <a:pPr>
              <a:lnSpc>
                <a:spcPct val="150000"/>
              </a:lnSpc>
            </a:pPr>
            <a:r>
              <a:rPr lang="en-US" sz="2800" b="1" dirty="0">
                <a:latin typeface="Calibir"/>
              </a:rPr>
              <a:t>What to discuss</a:t>
            </a:r>
          </a:p>
          <a:p>
            <a:pPr marL="914400" lvl="1" indent="-457200">
              <a:lnSpc>
                <a:spcPct val="150000"/>
              </a:lnSpc>
              <a:buFont typeface="Arial" panose="020B0604020202020204" pitchFamily="34" charset="0"/>
              <a:buChar char="•"/>
            </a:pPr>
            <a:r>
              <a:rPr lang="en-US" sz="2800" dirty="0">
                <a:latin typeface="Calibir"/>
              </a:rPr>
              <a:t>which model performed better </a:t>
            </a:r>
          </a:p>
          <a:p>
            <a:pPr marL="914400" lvl="1" indent="-457200">
              <a:lnSpc>
                <a:spcPct val="150000"/>
              </a:lnSpc>
              <a:buFont typeface="Arial" panose="020B0604020202020204" pitchFamily="34" charset="0"/>
              <a:buChar char="•"/>
            </a:pPr>
            <a:r>
              <a:rPr lang="en-US" sz="2800" dirty="0">
                <a:latin typeface="Calibir"/>
              </a:rPr>
              <a:t>where each model was strong/weak </a:t>
            </a:r>
          </a:p>
          <a:p>
            <a:pPr marL="914400" lvl="1" indent="-457200">
              <a:lnSpc>
                <a:spcPct val="150000"/>
              </a:lnSpc>
              <a:buFont typeface="Arial" panose="020B0604020202020204" pitchFamily="34" charset="0"/>
              <a:buChar char="•"/>
            </a:pPr>
            <a:r>
              <a:rPr lang="en-US" sz="2800" dirty="0">
                <a:latin typeface="Calibir"/>
              </a:rPr>
              <a:t>overfitting or underfitting </a:t>
            </a:r>
          </a:p>
          <a:p>
            <a:pPr marL="914400" lvl="1" indent="-457200">
              <a:lnSpc>
                <a:spcPct val="150000"/>
              </a:lnSpc>
              <a:buFont typeface="Arial" panose="020B0604020202020204" pitchFamily="34" charset="0"/>
              <a:buChar char="•"/>
            </a:pPr>
            <a:r>
              <a:rPr lang="en-US" sz="2800" dirty="0">
                <a:latin typeface="Calibir"/>
              </a:rPr>
              <a:t>why one model is finally chosen</a:t>
            </a:r>
          </a:p>
        </p:txBody>
      </p:sp>
      <p:sp>
        <p:nvSpPr>
          <p:cNvPr id="7" name="object 2">
            <a:extLst>
              <a:ext uri="{FF2B5EF4-FFF2-40B4-BE49-F238E27FC236}">
                <a16:creationId xmlns:a16="http://schemas.microsoft.com/office/drawing/2014/main" id="{BABCD863-2FAC-7856-8661-EDBF72132EB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253468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1E4B-B996-1079-F59A-CA605AC3078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2FCBDEF-DC0F-E181-9DDD-299037915C9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30C1251-D1F7-7A3D-E92D-7CA4FAB1C2C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6B59399-F2F0-2356-595D-AF8DB04CE4CB}"/>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Common mistake</a:t>
            </a:r>
          </a:p>
          <a:p>
            <a:pPr>
              <a:lnSpc>
                <a:spcPct val="150000"/>
              </a:lnSpc>
            </a:pPr>
            <a:r>
              <a:rPr lang="en-US" sz="2800" dirty="0">
                <a:latin typeface="Calibir"/>
              </a:rPr>
              <a:t>Students choose the best model only because it has the highest accuracy, without discussing:</a:t>
            </a:r>
          </a:p>
          <a:p>
            <a:pPr marL="914400" lvl="1" indent="-457200">
              <a:lnSpc>
                <a:spcPct val="150000"/>
              </a:lnSpc>
              <a:buFont typeface="Arial" panose="020B0604020202020204" pitchFamily="34" charset="0"/>
              <a:buChar char="•"/>
            </a:pPr>
            <a:r>
              <a:rPr lang="en-US" sz="2800" dirty="0">
                <a:latin typeface="Calibir"/>
              </a:rPr>
              <a:t>business context </a:t>
            </a:r>
          </a:p>
          <a:p>
            <a:pPr marL="914400" lvl="1" indent="-457200">
              <a:lnSpc>
                <a:spcPct val="150000"/>
              </a:lnSpc>
              <a:buFont typeface="Arial" panose="020B0604020202020204" pitchFamily="34" charset="0"/>
              <a:buChar char="•"/>
            </a:pPr>
            <a:r>
              <a:rPr lang="en-US" sz="2800" dirty="0">
                <a:latin typeface="Calibir"/>
              </a:rPr>
              <a:t>interpretability </a:t>
            </a:r>
          </a:p>
          <a:p>
            <a:pPr marL="914400" lvl="1" indent="-457200">
              <a:lnSpc>
                <a:spcPct val="150000"/>
              </a:lnSpc>
              <a:buFont typeface="Arial" panose="020B0604020202020204" pitchFamily="34" charset="0"/>
              <a:buChar char="•"/>
            </a:pPr>
            <a:r>
              <a:rPr lang="en-US" sz="2800" dirty="0">
                <a:latin typeface="Calibir"/>
              </a:rPr>
              <a:t>overfitting </a:t>
            </a:r>
          </a:p>
          <a:p>
            <a:pPr marL="914400" lvl="1" indent="-457200">
              <a:lnSpc>
                <a:spcPct val="150000"/>
              </a:lnSpc>
              <a:buFont typeface="Arial" panose="020B0604020202020204" pitchFamily="34" charset="0"/>
              <a:buChar char="•"/>
            </a:pPr>
            <a:r>
              <a:rPr lang="en-US" sz="2800" dirty="0">
                <a:latin typeface="Calibir"/>
              </a:rPr>
              <a:t>fairness </a:t>
            </a:r>
          </a:p>
          <a:p>
            <a:pPr marL="914400" lvl="1" indent="-457200">
              <a:lnSpc>
                <a:spcPct val="150000"/>
              </a:lnSpc>
              <a:buFont typeface="Arial" panose="020B0604020202020204" pitchFamily="34" charset="0"/>
              <a:buChar char="•"/>
            </a:pPr>
            <a:r>
              <a:rPr lang="en-US" sz="2800" dirty="0">
                <a:latin typeface="Calibir"/>
              </a:rPr>
              <a:t>recall/precision trade-off</a:t>
            </a:r>
          </a:p>
        </p:txBody>
      </p:sp>
      <p:sp>
        <p:nvSpPr>
          <p:cNvPr id="7" name="object 2">
            <a:extLst>
              <a:ext uri="{FF2B5EF4-FFF2-40B4-BE49-F238E27FC236}">
                <a16:creationId xmlns:a16="http://schemas.microsoft.com/office/drawing/2014/main" id="{26396D8A-0274-40F9-227A-9122E7D0AA9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3713652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B075-C25C-A172-50E6-893C2815CB5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C47FB4-E537-3D31-D8FA-B97D2A44846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EDAFFAF-3612-63CC-59AB-5E43832CFEA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33408A7-81A8-D465-8813-41AF3BFB902A}"/>
              </a:ext>
            </a:extLst>
          </p:cNvPr>
          <p:cNvSpPr txBox="1"/>
          <p:nvPr/>
        </p:nvSpPr>
        <p:spPr>
          <a:xfrm>
            <a:off x="1" y="509944"/>
            <a:ext cx="10913806" cy="5842497"/>
          </a:xfrm>
          <a:prstGeom prst="rect">
            <a:avLst/>
          </a:prstGeom>
          <a:noFill/>
        </p:spPr>
        <p:txBody>
          <a:bodyPr wrap="square">
            <a:spAutoFit/>
          </a:bodyPr>
          <a:lstStyle/>
          <a:p>
            <a:pPr>
              <a:lnSpc>
                <a:spcPct val="150000"/>
              </a:lnSpc>
            </a:pPr>
            <a:r>
              <a:rPr lang="en-US" sz="2800" b="1" dirty="0">
                <a:latin typeface="Calibir"/>
              </a:rPr>
              <a:t>Step 10: Generate business insights</a:t>
            </a:r>
          </a:p>
          <a:p>
            <a:pPr>
              <a:lnSpc>
                <a:spcPct val="150000"/>
              </a:lnSpc>
            </a:pPr>
            <a:r>
              <a:rPr lang="en-US" sz="2800" dirty="0">
                <a:latin typeface="Calibir"/>
              </a:rPr>
              <a:t>This section asks: “So what?”</a:t>
            </a:r>
          </a:p>
          <a:p>
            <a:pPr>
              <a:lnSpc>
                <a:spcPct val="150000"/>
              </a:lnSpc>
            </a:pPr>
            <a:r>
              <a:rPr lang="en-US" sz="2800" dirty="0">
                <a:latin typeface="Calibir"/>
              </a:rPr>
              <a:t>Model results must lead to useful conclusions.</a:t>
            </a:r>
          </a:p>
          <a:p>
            <a:pPr>
              <a:lnSpc>
                <a:spcPct val="150000"/>
              </a:lnSpc>
            </a:pPr>
            <a:r>
              <a:rPr lang="en-US" sz="2800" dirty="0">
                <a:latin typeface="Calibir"/>
              </a:rPr>
              <a:t>You need 3–5 actionable insights.</a:t>
            </a:r>
          </a:p>
          <a:p>
            <a:pPr>
              <a:lnSpc>
                <a:spcPct val="150000"/>
              </a:lnSpc>
            </a:pPr>
            <a:r>
              <a:rPr lang="en-US" sz="2800" dirty="0">
                <a:latin typeface="Calibir"/>
              </a:rPr>
              <a:t>Examples</a:t>
            </a:r>
          </a:p>
          <a:p>
            <a:pPr>
              <a:lnSpc>
                <a:spcPct val="150000"/>
              </a:lnSpc>
            </a:pPr>
            <a:r>
              <a:rPr lang="en-US" sz="2800" dirty="0">
                <a:latin typeface="Calibir"/>
              </a:rPr>
              <a:t>For churn:</a:t>
            </a:r>
          </a:p>
          <a:p>
            <a:pPr marL="914400" lvl="1" indent="-457200">
              <a:lnSpc>
                <a:spcPct val="150000"/>
              </a:lnSpc>
              <a:buFont typeface="Arial" panose="020B0604020202020204" pitchFamily="34" charset="0"/>
              <a:buChar char="•"/>
            </a:pPr>
            <a:r>
              <a:rPr lang="en-US" sz="2800" dirty="0">
                <a:latin typeface="Calibir"/>
              </a:rPr>
              <a:t>customers with month-to-month contracts are more likely to leave </a:t>
            </a:r>
          </a:p>
          <a:p>
            <a:pPr marL="914400" lvl="1" indent="-457200">
              <a:lnSpc>
                <a:spcPct val="150000"/>
              </a:lnSpc>
              <a:buFont typeface="Arial" panose="020B0604020202020204" pitchFamily="34" charset="0"/>
              <a:buChar char="•"/>
            </a:pPr>
            <a:r>
              <a:rPr lang="en-US" sz="2800" dirty="0">
                <a:latin typeface="Calibir"/>
              </a:rPr>
              <a:t>higher monthly charges are associated with churn </a:t>
            </a:r>
          </a:p>
          <a:p>
            <a:pPr marL="914400" lvl="1" indent="-457200">
              <a:lnSpc>
                <a:spcPct val="150000"/>
              </a:lnSpc>
              <a:buFont typeface="Arial" panose="020B0604020202020204" pitchFamily="34" charset="0"/>
              <a:buChar char="•"/>
            </a:pPr>
            <a:r>
              <a:rPr lang="en-US" sz="2800" dirty="0">
                <a:latin typeface="Calibir"/>
              </a:rPr>
              <a:t>long-term contracts reduce churn risk</a:t>
            </a:r>
          </a:p>
        </p:txBody>
      </p:sp>
      <p:sp>
        <p:nvSpPr>
          <p:cNvPr id="7" name="object 2">
            <a:extLst>
              <a:ext uri="{FF2B5EF4-FFF2-40B4-BE49-F238E27FC236}">
                <a16:creationId xmlns:a16="http://schemas.microsoft.com/office/drawing/2014/main" id="{DFC16845-C5D3-D5BB-9264-F6F12C94030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666578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88695-5056-AF34-AA89-142BFD0EA8B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6E10629-AA3C-3CE3-B111-0020930DE89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ADF156F-304E-6AE1-61C2-312938F5E60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36C974E-1F53-A11C-9307-4B9292E0A9BE}"/>
              </a:ext>
            </a:extLst>
          </p:cNvPr>
          <p:cNvSpPr txBox="1"/>
          <p:nvPr/>
        </p:nvSpPr>
        <p:spPr>
          <a:xfrm>
            <a:off x="1" y="509944"/>
            <a:ext cx="10913806" cy="4549835"/>
          </a:xfrm>
          <a:prstGeom prst="rect">
            <a:avLst/>
          </a:prstGeom>
          <a:noFill/>
        </p:spPr>
        <p:txBody>
          <a:bodyPr wrap="square">
            <a:spAutoFit/>
          </a:bodyPr>
          <a:lstStyle/>
          <a:p>
            <a:pPr>
              <a:lnSpc>
                <a:spcPct val="150000"/>
              </a:lnSpc>
            </a:pPr>
            <a:r>
              <a:rPr lang="en-US" sz="2800" dirty="0">
                <a:latin typeface="Calibir"/>
              </a:rPr>
              <a:t>For HR attrition:</a:t>
            </a:r>
          </a:p>
          <a:p>
            <a:pPr marL="914400" lvl="1" indent="-457200">
              <a:lnSpc>
                <a:spcPct val="150000"/>
              </a:lnSpc>
              <a:buFont typeface="Arial" panose="020B0604020202020204" pitchFamily="34" charset="0"/>
              <a:buChar char="•"/>
            </a:pPr>
            <a:r>
              <a:rPr lang="en-US" sz="2800" dirty="0">
                <a:latin typeface="Calibir"/>
              </a:rPr>
              <a:t>overtime strongly increases attrition likelihood </a:t>
            </a:r>
          </a:p>
          <a:p>
            <a:pPr marL="914400" lvl="1" indent="-457200">
              <a:lnSpc>
                <a:spcPct val="150000"/>
              </a:lnSpc>
              <a:buFont typeface="Arial" panose="020B0604020202020204" pitchFamily="34" charset="0"/>
              <a:buChar char="•"/>
            </a:pPr>
            <a:r>
              <a:rPr lang="en-US" sz="2800" dirty="0">
                <a:latin typeface="Calibir"/>
              </a:rPr>
              <a:t>low job satisfaction relates to employee departure </a:t>
            </a:r>
          </a:p>
          <a:p>
            <a:pPr marL="914400" lvl="1" indent="-457200">
              <a:lnSpc>
                <a:spcPct val="150000"/>
              </a:lnSpc>
              <a:buFont typeface="Arial" panose="020B0604020202020204" pitchFamily="34" charset="0"/>
              <a:buChar char="•"/>
            </a:pPr>
            <a:r>
              <a:rPr lang="en-US" sz="2800" dirty="0">
                <a:latin typeface="Calibir"/>
              </a:rPr>
              <a:t>certain job roles show higher turnover rates </a:t>
            </a:r>
          </a:p>
          <a:p>
            <a:pPr>
              <a:lnSpc>
                <a:spcPct val="150000"/>
              </a:lnSpc>
            </a:pPr>
            <a:r>
              <a:rPr lang="en-US" sz="2800" dirty="0">
                <a:latin typeface="Calibir"/>
              </a:rPr>
              <a:t>For heart disease:</a:t>
            </a:r>
          </a:p>
          <a:p>
            <a:pPr marL="914400" lvl="1" indent="-457200">
              <a:lnSpc>
                <a:spcPct val="150000"/>
              </a:lnSpc>
              <a:buFont typeface="Arial" panose="020B0604020202020204" pitchFamily="34" charset="0"/>
              <a:buChar char="•"/>
            </a:pPr>
            <a:r>
              <a:rPr lang="en-US" sz="2800" dirty="0">
                <a:latin typeface="Calibir"/>
              </a:rPr>
              <a:t>chest pain type and cholesterol may influence prediction </a:t>
            </a:r>
          </a:p>
          <a:p>
            <a:pPr marL="914400" lvl="1" indent="-457200">
              <a:lnSpc>
                <a:spcPct val="150000"/>
              </a:lnSpc>
              <a:buFont typeface="Arial" panose="020B0604020202020204" pitchFamily="34" charset="0"/>
              <a:buChar char="•"/>
            </a:pPr>
            <a:r>
              <a:rPr lang="en-US" sz="2800" dirty="0">
                <a:latin typeface="Calibir"/>
              </a:rPr>
              <a:t>age and max heart rate may be important predictors</a:t>
            </a:r>
          </a:p>
        </p:txBody>
      </p:sp>
      <p:sp>
        <p:nvSpPr>
          <p:cNvPr id="7" name="object 2">
            <a:extLst>
              <a:ext uri="{FF2B5EF4-FFF2-40B4-BE49-F238E27FC236}">
                <a16:creationId xmlns:a16="http://schemas.microsoft.com/office/drawing/2014/main" id="{A0BB5BA4-856B-F806-94CA-A0B01A58C84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9941441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B554-C89A-8ACA-5556-F031EEA9248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7DF4A23-0334-91DB-38E0-636C4D23ECF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511AE17-DB3E-471F-1ADF-2AB0DD2F22E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55F4ACE-E571-C16F-7EFC-800EBF20D015}"/>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Make them actionable</a:t>
            </a:r>
          </a:p>
          <a:p>
            <a:pPr>
              <a:lnSpc>
                <a:spcPct val="150000"/>
              </a:lnSpc>
            </a:pPr>
            <a:r>
              <a:rPr lang="en-US" sz="2800" dirty="0">
                <a:latin typeface="Calibir"/>
              </a:rPr>
              <a:t>Not just:</a:t>
            </a:r>
            <a:br>
              <a:rPr lang="en-US" sz="2800" dirty="0">
                <a:latin typeface="Calibir"/>
              </a:rPr>
            </a:br>
            <a:r>
              <a:rPr lang="en-US" sz="2800" dirty="0">
                <a:latin typeface="Calibir"/>
              </a:rPr>
              <a:t>“Overtime is important.”</a:t>
            </a:r>
          </a:p>
          <a:p>
            <a:pPr>
              <a:lnSpc>
                <a:spcPct val="150000"/>
              </a:lnSpc>
            </a:pPr>
            <a:r>
              <a:rPr lang="en-US" sz="2800" dirty="0">
                <a:latin typeface="Calibir"/>
              </a:rPr>
              <a:t>Better:</a:t>
            </a:r>
            <a:br>
              <a:rPr lang="en-US" sz="2800" dirty="0">
                <a:latin typeface="Calibir"/>
              </a:rPr>
            </a:br>
            <a:r>
              <a:rPr lang="en-US" sz="2800" dirty="0">
                <a:latin typeface="Calibir"/>
              </a:rPr>
              <a:t>“Employees working overtime were predicted to have higher attrition risk. HR can reduce attrition by monitoring workloads and implementing workload balancing in high-risk departments.”</a:t>
            </a:r>
          </a:p>
          <a:p>
            <a:pPr>
              <a:lnSpc>
                <a:spcPct val="150000"/>
              </a:lnSpc>
            </a:pPr>
            <a:r>
              <a:rPr lang="en-US" sz="2800" dirty="0">
                <a:latin typeface="Calibir"/>
              </a:rPr>
              <a:t>That is business value.</a:t>
            </a:r>
          </a:p>
        </p:txBody>
      </p:sp>
      <p:sp>
        <p:nvSpPr>
          <p:cNvPr id="7" name="object 2">
            <a:extLst>
              <a:ext uri="{FF2B5EF4-FFF2-40B4-BE49-F238E27FC236}">
                <a16:creationId xmlns:a16="http://schemas.microsoft.com/office/drawing/2014/main" id="{8F2A6D14-EE6F-B88D-18CE-F7075CC592A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6584899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B142-A319-F8B7-276F-0FB7E966833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4A8E7A2-2415-166B-5456-DEF5EECB18E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572E6BA-BBC9-5E2A-3857-8098C2DB60A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FD384D4-959D-0703-D6C0-2651048F1E35}"/>
              </a:ext>
            </a:extLst>
          </p:cNvPr>
          <p:cNvSpPr txBox="1"/>
          <p:nvPr/>
        </p:nvSpPr>
        <p:spPr>
          <a:xfrm>
            <a:off x="1" y="509944"/>
            <a:ext cx="10913806" cy="6133859"/>
          </a:xfrm>
          <a:prstGeom prst="rect">
            <a:avLst/>
          </a:prstGeom>
          <a:noFill/>
        </p:spPr>
        <p:txBody>
          <a:bodyPr wrap="square">
            <a:spAutoFit/>
          </a:bodyPr>
          <a:lstStyle/>
          <a:p>
            <a:pPr>
              <a:lnSpc>
                <a:spcPct val="150000"/>
              </a:lnSpc>
            </a:pPr>
            <a:r>
              <a:rPr lang="en-US" sz="2200" b="1" dirty="0">
                <a:latin typeface="Calibir"/>
              </a:rPr>
              <a:t>Step 11: </a:t>
            </a:r>
            <a:r>
              <a:rPr lang="en-US" sz="2200" b="1" dirty="0" err="1">
                <a:latin typeface="Calibir"/>
              </a:rPr>
              <a:t>Analyse</a:t>
            </a:r>
            <a:r>
              <a:rPr lang="en-US" sz="2200" b="1" dirty="0">
                <a:latin typeface="Calibir"/>
              </a:rPr>
              <a:t> ethics and bias</a:t>
            </a:r>
          </a:p>
          <a:p>
            <a:pPr>
              <a:lnSpc>
                <a:spcPct val="150000"/>
              </a:lnSpc>
            </a:pPr>
            <a:r>
              <a:rPr lang="en-US" sz="2200" dirty="0">
                <a:latin typeface="Calibir"/>
              </a:rPr>
              <a:t>This section is short in marks but often important during Q&amp;A.</a:t>
            </a:r>
          </a:p>
          <a:p>
            <a:pPr>
              <a:lnSpc>
                <a:spcPct val="150000"/>
              </a:lnSpc>
            </a:pPr>
            <a:r>
              <a:rPr lang="en-US" sz="2200" dirty="0">
                <a:latin typeface="Calibir"/>
              </a:rPr>
              <a:t>You must identify dataset-specific risks.</a:t>
            </a:r>
          </a:p>
          <a:p>
            <a:pPr>
              <a:lnSpc>
                <a:spcPct val="150000"/>
              </a:lnSpc>
            </a:pPr>
            <a:r>
              <a:rPr lang="en-US" sz="2200" dirty="0">
                <a:latin typeface="Calibir"/>
              </a:rPr>
              <a:t>Examples:</a:t>
            </a:r>
          </a:p>
          <a:p>
            <a:pPr marL="800100" lvl="1" indent="-342900">
              <a:lnSpc>
                <a:spcPct val="150000"/>
              </a:lnSpc>
              <a:buFont typeface="Arial" panose="020B0604020202020204" pitchFamily="34" charset="0"/>
              <a:buChar char="•"/>
            </a:pPr>
            <a:r>
              <a:rPr lang="en-US" sz="2200" dirty="0">
                <a:latin typeface="Calibir"/>
              </a:rPr>
              <a:t>gender bias </a:t>
            </a:r>
          </a:p>
          <a:p>
            <a:pPr marL="800100" lvl="1" indent="-342900">
              <a:lnSpc>
                <a:spcPct val="150000"/>
              </a:lnSpc>
              <a:buFont typeface="Arial" panose="020B0604020202020204" pitchFamily="34" charset="0"/>
              <a:buChar char="•"/>
            </a:pPr>
            <a:r>
              <a:rPr lang="en-US" sz="2200" dirty="0">
                <a:latin typeface="Calibir"/>
              </a:rPr>
              <a:t>age bias </a:t>
            </a:r>
          </a:p>
          <a:p>
            <a:pPr marL="800100" lvl="1" indent="-342900">
              <a:lnSpc>
                <a:spcPct val="150000"/>
              </a:lnSpc>
              <a:buFont typeface="Arial" panose="020B0604020202020204" pitchFamily="34" charset="0"/>
              <a:buChar char="•"/>
            </a:pPr>
            <a:r>
              <a:rPr lang="en-US" sz="2200" dirty="0">
                <a:latin typeface="Calibir"/>
              </a:rPr>
              <a:t>income bias </a:t>
            </a:r>
          </a:p>
          <a:p>
            <a:pPr marL="800100" lvl="1" indent="-342900">
              <a:lnSpc>
                <a:spcPct val="150000"/>
              </a:lnSpc>
              <a:buFont typeface="Arial" panose="020B0604020202020204" pitchFamily="34" charset="0"/>
              <a:buChar char="•"/>
            </a:pPr>
            <a:r>
              <a:rPr lang="en-US" sz="2200" dirty="0">
                <a:latin typeface="Calibir"/>
              </a:rPr>
              <a:t>employment bias </a:t>
            </a:r>
          </a:p>
          <a:p>
            <a:pPr marL="800100" lvl="1" indent="-342900">
              <a:lnSpc>
                <a:spcPct val="150000"/>
              </a:lnSpc>
              <a:buFont typeface="Arial" panose="020B0604020202020204" pitchFamily="34" charset="0"/>
              <a:buChar char="•"/>
            </a:pPr>
            <a:r>
              <a:rPr lang="en-US" sz="2200" dirty="0">
                <a:latin typeface="Calibir"/>
              </a:rPr>
              <a:t>health bias </a:t>
            </a:r>
          </a:p>
          <a:p>
            <a:pPr marL="800100" lvl="1" indent="-342900">
              <a:lnSpc>
                <a:spcPct val="150000"/>
              </a:lnSpc>
              <a:buFont typeface="Arial" panose="020B0604020202020204" pitchFamily="34" charset="0"/>
              <a:buChar char="•"/>
            </a:pPr>
            <a:r>
              <a:rPr lang="en-US" sz="2200" dirty="0">
                <a:latin typeface="Calibir"/>
              </a:rPr>
              <a:t>sampling bias </a:t>
            </a:r>
          </a:p>
          <a:p>
            <a:pPr marL="800100" lvl="1" indent="-342900">
              <a:lnSpc>
                <a:spcPct val="150000"/>
              </a:lnSpc>
              <a:buFont typeface="Arial" panose="020B0604020202020204" pitchFamily="34" charset="0"/>
              <a:buChar char="•"/>
            </a:pPr>
            <a:r>
              <a:rPr lang="en-US" sz="2200" dirty="0">
                <a:latin typeface="Calibir"/>
              </a:rPr>
              <a:t>historical bias </a:t>
            </a:r>
          </a:p>
          <a:p>
            <a:pPr marL="800100" lvl="1" indent="-342900">
              <a:lnSpc>
                <a:spcPct val="150000"/>
              </a:lnSpc>
              <a:buFont typeface="Arial" panose="020B0604020202020204" pitchFamily="34" charset="0"/>
              <a:buChar char="•"/>
            </a:pPr>
            <a:r>
              <a:rPr lang="en-US" sz="2200" dirty="0">
                <a:latin typeface="Calibir"/>
              </a:rPr>
              <a:t>class imbalance bias</a:t>
            </a:r>
          </a:p>
        </p:txBody>
      </p:sp>
      <p:sp>
        <p:nvSpPr>
          <p:cNvPr id="7" name="object 2">
            <a:extLst>
              <a:ext uri="{FF2B5EF4-FFF2-40B4-BE49-F238E27FC236}">
                <a16:creationId xmlns:a16="http://schemas.microsoft.com/office/drawing/2014/main" id="{A45D96C8-4599-8D6E-6C11-181B12493FD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030665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E3762-1D20-17F3-DE44-3EBA144B11C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8A217E0-6EE1-B0B1-920F-5213656F5BC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A20A69-0D34-437B-AC1E-74DEA956EAB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4BA516C-BE96-5B84-2B62-9F90FFFD540C}"/>
              </a:ext>
            </a:extLst>
          </p:cNvPr>
          <p:cNvSpPr txBox="1"/>
          <p:nvPr/>
        </p:nvSpPr>
        <p:spPr>
          <a:xfrm>
            <a:off x="1" y="509944"/>
            <a:ext cx="10913806" cy="6031908"/>
          </a:xfrm>
          <a:prstGeom prst="rect">
            <a:avLst/>
          </a:prstGeom>
          <a:noFill/>
        </p:spPr>
        <p:txBody>
          <a:bodyPr wrap="square">
            <a:spAutoFit/>
          </a:bodyPr>
          <a:lstStyle/>
          <a:p>
            <a:pPr>
              <a:lnSpc>
                <a:spcPct val="150000"/>
              </a:lnSpc>
            </a:pPr>
            <a:r>
              <a:rPr lang="en-US" sz="2600" b="1" dirty="0">
                <a:latin typeface="Calibir"/>
              </a:rPr>
              <a:t>Example</a:t>
            </a:r>
          </a:p>
          <a:p>
            <a:pPr>
              <a:lnSpc>
                <a:spcPct val="150000"/>
              </a:lnSpc>
            </a:pPr>
            <a:r>
              <a:rPr lang="en-US" sz="2600" dirty="0">
                <a:latin typeface="Calibir"/>
              </a:rPr>
              <a:t>In HR attrition:</a:t>
            </a:r>
          </a:p>
          <a:p>
            <a:pPr marL="914400" lvl="1" indent="-457200">
              <a:lnSpc>
                <a:spcPct val="150000"/>
              </a:lnSpc>
              <a:buFont typeface="Arial" panose="020B0604020202020204" pitchFamily="34" charset="0"/>
              <a:buChar char="•"/>
            </a:pPr>
            <a:r>
              <a:rPr lang="en-US" sz="2600" dirty="0">
                <a:latin typeface="Calibir"/>
              </a:rPr>
              <a:t>age may disadvantage younger or older workers </a:t>
            </a:r>
          </a:p>
          <a:p>
            <a:pPr marL="914400" lvl="1" indent="-457200">
              <a:lnSpc>
                <a:spcPct val="150000"/>
              </a:lnSpc>
              <a:buFont typeface="Arial" panose="020B0604020202020204" pitchFamily="34" charset="0"/>
              <a:buChar char="•"/>
            </a:pPr>
            <a:r>
              <a:rPr lang="en-US" sz="2600" dirty="0">
                <a:latin typeface="Calibir"/>
              </a:rPr>
              <a:t>gender may indirectly influence predictions </a:t>
            </a:r>
          </a:p>
          <a:p>
            <a:pPr marL="914400" lvl="1" indent="-457200">
              <a:lnSpc>
                <a:spcPct val="150000"/>
              </a:lnSpc>
              <a:buFont typeface="Arial" panose="020B0604020202020204" pitchFamily="34" charset="0"/>
              <a:buChar char="•"/>
            </a:pPr>
            <a:r>
              <a:rPr lang="en-US" sz="2600" dirty="0">
                <a:latin typeface="Calibir"/>
              </a:rPr>
              <a:t>income and job role may reflect structural inequities </a:t>
            </a:r>
          </a:p>
          <a:p>
            <a:pPr>
              <a:lnSpc>
                <a:spcPct val="150000"/>
              </a:lnSpc>
            </a:pPr>
            <a:r>
              <a:rPr lang="en-US" sz="2600" b="1" dirty="0">
                <a:latin typeface="Calibir"/>
              </a:rPr>
              <a:t>What to include</a:t>
            </a:r>
          </a:p>
          <a:p>
            <a:pPr marL="914400" lvl="1" indent="-457200">
              <a:lnSpc>
                <a:spcPct val="150000"/>
              </a:lnSpc>
              <a:buFont typeface="Arial" panose="020B0604020202020204" pitchFamily="34" charset="0"/>
              <a:buChar char="•"/>
            </a:pPr>
            <a:r>
              <a:rPr lang="en-US" sz="2600" dirty="0">
                <a:latin typeface="Calibir"/>
              </a:rPr>
              <a:t>which variables may create bias </a:t>
            </a:r>
          </a:p>
          <a:p>
            <a:pPr marL="914400" lvl="1" indent="-457200">
              <a:lnSpc>
                <a:spcPct val="150000"/>
              </a:lnSpc>
              <a:buFont typeface="Arial" panose="020B0604020202020204" pitchFamily="34" charset="0"/>
              <a:buChar char="•"/>
            </a:pPr>
            <a:r>
              <a:rPr lang="en-US" sz="2600" dirty="0">
                <a:latin typeface="Calibir"/>
              </a:rPr>
              <a:t>how bias affects outcomes </a:t>
            </a:r>
          </a:p>
          <a:p>
            <a:pPr marL="914400" lvl="1" indent="-457200">
              <a:lnSpc>
                <a:spcPct val="150000"/>
              </a:lnSpc>
              <a:buFont typeface="Arial" panose="020B0604020202020204" pitchFamily="34" charset="0"/>
              <a:buChar char="•"/>
            </a:pPr>
            <a:r>
              <a:rPr lang="en-US" sz="2600" dirty="0">
                <a:latin typeface="Calibir"/>
              </a:rPr>
              <a:t>real examples from the dataset </a:t>
            </a:r>
          </a:p>
          <a:p>
            <a:pPr marL="914400" lvl="1" indent="-457200">
              <a:lnSpc>
                <a:spcPct val="150000"/>
              </a:lnSpc>
              <a:buFont typeface="Arial" panose="020B0604020202020204" pitchFamily="34" charset="0"/>
              <a:buChar char="•"/>
            </a:pPr>
            <a:r>
              <a:rPr lang="en-US" sz="2600" dirty="0">
                <a:latin typeface="Calibir"/>
              </a:rPr>
              <a:t>mitigation strategies</a:t>
            </a:r>
          </a:p>
        </p:txBody>
      </p:sp>
      <p:sp>
        <p:nvSpPr>
          <p:cNvPr id="7" name="object 2">
            <a:extLst>
              <a:ext uri="{FF2B5EF4-FFF2-40B4-BE49-F238E27FC236}">
                <a16:creationId xmlns:a16="http://schemas.microsoft.com/office/drawing/2014/main" id="{3E3F26BD-773B-1916-78F8-6424FC88D4E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6765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59AF-C659-0975-81BB-87B5059FD4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C1B4920-9250-C839-CBFB-EED6FFD5E6B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C137F52-C8AB-390D-EDE3-0E31977B080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7385DF6-DE99-64D2-C26F-2D3778CFD3B7}"/>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Good mitigation ideas</a:t>
            </a:r>
          </a:p>
          <a:p>
            <a:pPr marL="914400" lvl="1" indent="-457200">
              <a:lnSpc>
                <a:spcPct val="150000"/>
              </a:lnSpc>
              <a:buFont typeface="Arial" panose="020B0604020202020204" pitchFamily="34" charset="0"/>
              <a:buChar char="•"/>
            </a:pPr>
            <a:r>
              <a:rPr lang="en-US" sz="2800" dirty="0">
                <a:latin typeface="Calibir"/>
              </a:rPr>
              <a:t>remove sensitive or proxy variables if justified </a:t>
            </a:r>
          </a:p>
          <a:p>
            <a:pPr marL="914400" lvl="1" indent="-457200">
              <a:lnSpc>
                <a:spcPct val="150000"/>
              </a:lnSpc>
              <a:buFont typeface="Arial" panose="020B0604020202020204" pitchFamily="34" charset="0"/>
              <a:buChar char="•"/>
            </a:pPr>
            <a:r>
              <a:rPr lang="en-US" sz="2800" dirty="0">
                <a:latin typeface="Calibir"/>
              </a:rPr>
              <a:t>compare model performance across groups </a:t>
            </a:r>
          </a:p>
          <a:p>
            <a:pPr marL="914400" lvl="1" indent="-457200">
              <a:lnSpc>
                <a:spcPct val="150000"/>
              </a:lnSpc>
              <a:buFont typeface="Arial" panose="020B0604020202020204" pitchFamily="34" charset="0"/>
              <a:buChar char="•"/>
            </a:pPr>
            <a:r>
              <a:rPr lang="en-US" sz="2800" dirty="0">
                <a:latin typeface="Calibir"/>
              </a:rPr>
              <a:t>rebalance the classes </a:t>
            </a:r>
          </a:p>
          <a:p>
            <a:pPr marL="914400" lvl="1" indent="-457200">
              <a:lnSpc>
                <a:spcPct val="150000"/>
              </a:lnSpc>
              <a:buFont typeface="Arial" panose="020B0604020202020204" pitchFamily="34" charset="0"/>
              <a:buChar char="•"/>
            </a:pPr>
            <a:r>
              <a:rPr lang="en-US" sz="2800" dirty="0">
                <a:latin typeface="Calibir"/>
              </a:rPr>
              <a:t>use fairness-aware evaluation </a:t>
            </a:r>
          </a:p>
          <a:p>
            <a:pPr marL="914400" lvl="1" indent="-457200">
              <a:lnSpc>
                <a:spcPct val="150000"/>
              </a:lnSpc>
              <a:buFont typeface="Arial" panose="020B0604020202020204" pitchFamily="34" charset="0"/>
              <a:buChar char="•"/>
            </a:pPr>
            <a:r>
              <a:rPr lang="en-US" sz="2800" dirty="0">
                <a:latin typeface="Calibir"/>
              </a:rPr>
              <a:t>human review for final decisions </a:t>
            </a:r>
          </a:p>
          <a:p>
            <a:pPr marL="914400" lvl="1" indent="-457200">
              <a:lnSpc>
                <a:spcPct val="150000"/>
              </a:lnSpc>
              <a:buFont typeface="Arial" panose="020B0604020202020204" pitchFamily="34" charset="0"/>
              <a:buChar char="•"/>
            </a:pPr>
            <a:r>
              <a:rPr lang="en-US" sz="2800" dirty="0">
                <a:latin typeface="Calibir"/>
              </a:rPr>
              <a:t>transparent reporting of model limitations </a:t>
            </a:r>
          </a:p>
          <a:p>
            <a:pPr>
              <a:lnSpc>
                <a:spcPct val="150000"/>
              </a:lnSpc>
            </a:pPr>
            <a:r>
              <a:rPr lang="en-US" sz="2800" b="1" dirty="0">
                <a:latin typeface="Calibir"/>
              </a:rPr>
              <a:t>Common mistake</a:t>
            </a:r>
          </a:p>
          <a:p>
            <a:pPr>
              <a:lnSpc>
                <a:spcPct val="150000"/>
              </a:lnSpc>
            </a:pPr>
            <a:r>
              <a:rPr lang="en-US" sz="2800" dirty="0">
                <a:latin typeface="Calibir"/>
              </a:rPr>
              <a:t>Students write generic ethics statements such as “AI can be biased” without linking them to their actual variables</a:t>
            </a:r>
          </a:p>
        </p:txBody>
      </p:sp>
      <p:sp>
        <p:nvSpPr>
          <p:cNvPr id="7" name="object 2">
            <a:extLst>
              <a:ext uri="{FF2B5EF4-FFF2-40B4-BE49-F238E27FC236}">
                <a16:creationId xmlns:a16="http://schemas.microsoft.com/office/drawing/2014/main" id="{5620D521-E1A4-A575-161C-E282F527EF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6303377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51B9-F619-FDD9-E179-A004913BD96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303FBC6-216F-FDB3-8244-7F4C36791E9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CADB166-DE7A-6036-07F3-5E36259C164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CA72EE6-4E4E-D582-3257-C808F6F984D5}"/>
              </a:ext>
            </a:extLst>
          </p:cNvPr>
          <p:cNvSpPr txBox="1"/>
          <p:nvPr/>
        </p:nvSpPr>
        <p:spPr>
          <a:xfrm>
            <a:off x="1" y="509944"/>
            <a:ext cx="10913806" cy="6380593"/>
          </a:xfrm>
          <a:prstGeom prst="rect">
            <a:avLst/>
          </a:prstGeom>
          <a:noFill/>
        </p:spPr>
        <p:txBody>
          <a:bodyPr wrap="square">
            <a:spAutoFit/>
          </a:bodyPr>
          <a:lstStyle/>
          <a:p>
            <a:pPr>
              <a:lnSpc>
                <a:spcPct val="150000"/>
              </a:lnSpc>
            </a:pPr>
            <a:r>
              <a:rPr lang="en-US" sz="2500" b="1" dirty="0">
                <a:latin typeface="Calibir"/>
              </a:rPr>
              <a:t>Step 12: Write reflection and learning</a:t>
            </a:r>
          </a:p>
          <a:p>
            <a:pPr>
              <a:lnSpc>
                <a:spcPct val="150000"/>
              </a:lnSpc>
            </a:pPr>
            <a:r>
              <a:rPr lang="en-US" sz="2500" dirty="0">
                <a:latin typeface="Calibir"/>
              </a:rPr>
              <a:t>This is where you show maturity and critical thinking.</a:t>
            </a:r>
          </a:p>
          <a:p>
            <a:pPr>
              <a:lnSpc>
                <a:spcPct val="150000"/>
              </a:lnSpc>
            </a:pPr>
            <a:r>
              <a:rPr lang="en-US" sz="2500" b="1" dirty="0">
                <a:latin typeface="Calibir"/>
              </a:rPr>
              <a:t>Discuss:</a:t>
            </a:r>
          </a:p>
          <a:p>
            <a:pPr marL="800100" lvl="1" indent="-342900">
              <a:lnSpc>
                <a:spcPct val="150000"/>
              </a:lnSpc>
              <a:buFont typeface="Arial" panose="020B0604020202020204" pitchFamily="34" charset="0"/>
              <a:buChar char="•"/>
            </a:pPr>
            <a:r>
              <a:rPr lang="en-US" sz="2500" dirty="0">
                <a:latin typeface="Calibir"/>
              </a:rPr>
              <a:t>challenges faced </a:t>
            </a:r>
          </a:p>
          <a:p>
            <a:pPr marL="800100" lvl="1" indent="-342900">
              <a:lnSpc>
                <a:spcPct val="150000"/>
              </a:lnSpc>
              <a:buFont typeface="Arial" panose="020B0604020202020204" pitchFamily="34" charset="0"/>
              <a:buChar char="•"/>
            </a:pPr>
            <a:r>
              <a:rPr lang="en-US" sz="2500" dirty="0">
                <a:latin typeface="Calibir"/>
              </a:rPr>
              <a:t>what worked well </a:t>
            </a:r>
          </a:p>
          <a:p>
            <a:pPr marL="800100" lvl="1" indent="-342900">
              <a:lnSpc>
                <a:spcPct val="150000"/>
              </a:lnSpc>
              <a:buFont typeface="Arial" panose="020B0604020202020204" pitchFamily="34" charset="0"/>
              <a:buChar char="•"/>
            </a:pPr>
            <a:r>
              <a:rPr lang="en-US" sz="2500" dirty="0">
                <a:latin typeface="Calibir"/>
              </a:rPr>
              <a:t>what did not work well </a:t>
            </a:r>
          </a:p>
          <a:p>
            <a:pPr marL="800100" lvl="1" indent="-342900">
              <a:lnSpc>
                <a:spcPct val="150000"/>
              </a:lnSpc>
              <a:buFont typeface="Arial" panose="020B0604020202020204" pitchFamily="34" charset="0"/>
              <a:buChar char="•"/>
            </a:pPr>
            <a:r>
              <a:rPr lang="en-US" sz="2500" dirty="0">
                <a:latin typeface="Calibir"/>
              </a:rPr>
              <a:t>dataset limitations </a:t>
            </a:r>
          </a:p>
          <a:p>
            <a:pPr marL="800100" lvl="1" indent="-342900">
              <a:lnSpc>
                <a:spcPct val="150000"/>
              </a:lnSpc>
              <a:buFont typeface="Arial" panose="020B0604020202020204" pitchFamily="34" charset="0"/>
              <a:buChar char="•"/>
            </a:pPr>
            <a:r>
              <a:rPr lang="en-US" sz="2500" dirty="0">
                <a:latin typeface="Calibir"/>
              </a:rPr>
              <a:t>model limitations </a:t>
            </a:r>
          </a:p>
          <a:p>
            <a:pPr marL="800100" lvl="1" indent="-342900">
              <a:lnSpc>
                <a:spcPct val="150000"/>
              </a:lnSpc>
              <a:buFont typeface="Arial" panose="020B0604020202020204" pitchFamily="34" charset="0"/>
              <a:buChar char="•"/>
            </a:pPr>
            <a:r>
              <a:rPr lang="en-US" sz="2500" dirty="0">
                <a:latin typeface="Calibir"/>
              </a:rPr>
              <a:t>lessons about tool usage </a:t>
            </a:r>
          </a:p>
          <a:p>
            <a:pPr marL="800100" lvl="1" indent="-342900">
              <a:lnSpc>
                <a:spcPct val="150000"/>
              </a:lnSpc>
              <a:buFont typeface="Arial" panose="020B0604020202020204" pitchFamily="34" charset="0"/>
              <a:buChar char="•"/>
            </a:pPr>
            <a:r>
              <a:rPr lang="en-US" sz="2500" dirty="0">
                <a:latin typeface="Calibir"/>
              </a:rPr>
              <a:t>lessons about model selection </a:t>
            </a:r>
          </a:p>
          <a:p>
            <a:pPr marL="800100" lvl="1" indent="-342900">
              <a:lnSpc>
                <a:spcPct val="150000"/>
              </a:lnSpc>
              <a:buFont typeface="Arial" panose="020B0604020202020204" pitchFamily="34" charset="0"/>
              <a:buChar char="•"/>
            </a:pPr>
            <a:r>
              <a:rPr lang="en-US" sz="2500" dirty="0">
                <a:latin typeface="Calibir"/>
              </a:rPr>
              <a:t>future improvements</a:t>
            </a:r>
          </a:p>
        </p:txBody>
      </p:sp>
      <p:sp>
        <p:nvSpPr>
          <p:cNvPr id="7" name="object 2">
            <a:extLst>
              <a:ext uri="{FF2B5EF4-FFF2-40B4-BE49-F238E27FC236}">
                <a16:creationId xmlns:a16="http://schemas.microsoft.com/office/drawing/2014/main" id="{924B445E-ED51-B660-341D-063D55D3E3F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88756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04DB-4ED2-05B9-7618-38332ED72E9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89B1405-50CB-7B9A-3A01-3F14311D84B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6CF18BF-DAD8-FB0D-1C57-2A271DDBBF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436A937-7011-A910-288F-637836551E39}"/>
              </a:ext>
            </a:extLst>
          </p:cNvPr>
          <p:cNvSpPr txBox="1"/>
          <p:nvPr/>
        </p:nvSpPr>
        <p:spPr>
          <a:xfrm>
            <a:off x="1" y="509944"/>
            <a:ext cx="10913806" cy="6488828"/>
          </a:xfrm>
          <a:prstGeom prst="rect">
            <a:avLst/>
          </a:prstGeom>
          <a:noFill/>
        </p:spPr>
        <p:txBody>
          <a:bodyPr wrap="square">
            <a:spAutoFit/>
          </a:bodyPr>
          <a:lstStyle/>
          <a:p>
            <a:pPr>
              <a:lnSpc>
                <a:spcPct val="150000"/>
              </a:lnSpc>
            </a:pPr>
            <a:r>
              <a:rPr lang="en-US" sz="2800" b="1" dirty="0">
                <a:latin typeface="Calibir"/>
              </a:rPr>
              <a:t>Example points</a:t>
            </a:r>
          </a:p>
          <a:p>
            <a:pPr marL="914400" lvl="1" indent="-457200">
              <a:lnSpc>
                <a:spcPct val="150000"/>
              </a:lnSpc>
              <a:buFont typeface="Arial" panose="020B0604020202020204" pitchFamily="34" charset="0"/>
              <a:buChar char="•"/>
            </a:pPr>
            <a:r>
              <a:rPr lang="en-US" sz="2800" dirty="0">
                <a:latin typeface="Calibir"/>
              </a:rPr>
              <a:t>missing values reduced usable data </a:t>
            </a:r>
          </a:p>
          <a:p>
            <a:pPr marL="914400" lvl="1" indent="-457200">
              <a:lnSpc>
                <a:spcPct val="150000"/>
              </a:lnSpc>
              <a:buFont typeface="Arial" panose="020B0604020202020204" pitchFamily="34" charset="0"/>
              <a:buChar char="•"/>
            </a:pPr>
            <a:r>
              <a:rPr lang="en-US" sz="2800" dirty="0">
                <a:latin typeface="Calibir"/>
              </a:rPr>
              <a:t>class imbalance affected recall </a:t>
            </a:r>
          </a:p>
          <a:p>
            <a:pPr marL="914400" lvl="1" indent="-457200">
              <a:lnSpc>
                <a:spcPct val="150000"/>
              </a:lnSpc>
              <a:buFont typeface="Arial" panose="020B0604020202020204" pitchFamily="34" charset="0"/>
              <a:buChar char="•"/>
            </a:pPr>
            <a:r>
              <a:rPr lang="en-US" sz="2800" dirty="0">
                <a:latin typeface="Calibir"/>
              </a:rPr>
              <a:t>one model was easy to interpret but less accurate </a:t>
            </a:r>
          </a:p>
          <a:p>
            <a:pPr marL="914400" lvl="1" indent="-457200">
              <a:lnSpc>
                <a:spcPct val="150000"/>
              </a:lnSpc>
              <a:buFont typeface="Arial" panose="020B0604020202020204" pitchFamily="34" charset="0"/>
              <a:buChar char="•"/>
            </a:pPr>
            <a:r>
              <a:rPr lang="en-US" sz="2800" dirty="0">
                <a:latin typeface="Calibir"/>
              </a:rPr>
              <a:t>preprocessing quality strongly affected results </a:t>
            </a:r>
          </a:p>
          <a:p>
            <a:pPr marL="914400" lvl="1" indent="-457200">
              <a:lnSpc>
                <a:spcPct val="150000"/>
              </a:lnSpc>
              <a:buFont typeface="Arial" panose="020B0604020202020204" pitchFamily="34" charset="0"/>
              <a:buChar char="•"/>
            </a:pPr>
            <a:r>
              <a:rPr lang="en-US" sz="2800" dirty="0">
                <a:latin typeface="Calibir"/>
              </a:rPr>
              <a:t>better hyperparameter tuning could improve performance </a:t>
            </a:r>
          </a:p>
          <a:p>
            <a:pPr marL="914400" lvl="1" indent="-457200">
              <a:lnSpc>
                <a:spcPct val="150000"/>
              </a:lnSpc>
              <a:buFont typeface="Arial" panose="020B0604020202020204" pitchFamily="34" charset="0"/>
              <a:buChar char="•"/>
            </a:pPr>
            <a:r>
              <a:rPr lang="en-US" sz="2800" dirty="0">
                <a:latin typeface="Calibir"/>
              </a:rPr>
              <a:t>more data or feature engineering may improve results </a:t>
            </a:r>
          </a:p>
          <a:p>
            <a:pPr>
              <a:lnSpc>
                <a:spcPct val="150000"/>
              </a:lnSpc>
            </a:pPr>
            <a:r>
              <a:rPr lang="en-US" sz="2800" dirty="0">
                <a:latin typeface="Calibir"/>
              </a:rPr>
              <a:t>Common mistake</a:t>
            </a:r>
          </a:p>
          <a:p>
            <a:pPr>
              <a:lnSpc>
                <a:spcPct val="150000"/>
              </a:lnSpc>
            </a:pPr>
            <a:r>
              <a:rPr lang="en-US" sz="2800" dirty="0">
                <a:latin typeface="Calibir"/>
              </a:rPr>
              <a:t>Students write reflection as a summary. Reflection should be critical, not just descriptive.</a:t>
            </a:r>
          </a:p>
        </p:txBody>
      </p:sp>
      <p:sp>
        <p:nvSpPr>
          <p:cNvPr id="7" name="object 2">
            <a:extLst>
              <a:ext uri="{FF2B5EF4-FFF2-40B4-BE49-F238E27FC236}">
                <a16:creationId xmlns:a16="http://schemas.microsoft.com/office/drawing/2014/main" id="{7D15AC6A-8810-89B8-D3F0-C939096FE71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61175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84B3-5735-1C1E-23B1-CB3DCBCF33E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20EA27F-5022-4D80-AA9B-E8583A9E416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F97DCAD-78AC-D560-BD5D-C867B744D2E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D9A2A95-EE2A-954A-551F-0DAC0C0BD58B}"/>
              </a:ext>
            </a:extLst>
          </p:cNvPr>
          <p:cNvSpPr txBox="1"/>
          <p:nvPr/>
        </p:nvSpPr>
        <p:spPr>
          <a:xfrm>
            <a:off x="1" y="509944"/>
            <a:ext cx="10913806" cy="5196166"/>
          </a:xfrm>
          <a:prstGeom prst="rect">
            <a:avLst/>
          </a:prstGeom>
          <a:noFill/>
        </p:spPr>
        <p:txBody>
          <a:bodyPr wrap="square">
            <a:spAutoFit/>
          </a:bodyPr>
          <a:lstStyle/>
          <a:p>
            <a:pPr>
              <a:lnSpc>
                <a:spcPct val="150000"/>
              </a:lnSpc>
            </a:pPr>
            <a:r>
              <a:rPr lang="en-US" sz="2800" b="1" dirty="0">
                <a:latin typeface="Calibir"/>
              </a:rPr>
              <a:t>6. Suggested report structure</a:t>
            </a:r>
          </a:p>
          <a:p>
            <a:pPr>
              <a:lnSpc>
                <a:spcPct val="150000"/>
              </a:lnSpc>
            </a:pPr>
            <a:r>
              <a:rPr lang="en-US" sz="2800" dirty="0">
                <a:latin typeface="Calibir"/>
              </a:rPr>
              <a:t>You can use this structure for the written report:</a:t>
            </a:r>
          </a:p>
          <a:p>
            <a:pPr>
              <a:lnSpc>
                <a:spcPct val="150000"/>
              </a:lnSpc>
            </a:pPr>
            <a:r>
              <a:rPr lang="en-US" sz="2800" b="1" dirty="0">
                <a:latin typeface="Calibir"/>
              </a:rPr>
              <a:t>Title page</a:t>
            </a:r>
          </a:p>
          <a:p>
            <a:pPr marL="914400" lvl="1" indent="-457200">
              <a:lnSpc>
                <a:spcPct val="150000"/>
              </a:lnSpc>
              <a:buFont typeface="Arial" panose="020B0604020202020204" pitchFamily="34" charset="0"/>
              <a:buChar char="•"/>
            </a:pPr>
            <a:r>
              <a:rPr lang="en-US" sz="2800" dirty="0">
                <a:latin typeface="Calibir"/>
              </a:rPr>
              <a:t>unit code and title </a:t>
            </a:r>
          </a:p>
          <a:p>
            <a:pPr marL="914400" lvl="1" indent="-457200">
              <a:lnSpc>
                <a:spcPct val="150000"/>
              </a:lnSpc>
              <a:buFont typeface="Arial" panose="020B0604020202020204" pitchFamily="34" charset="0"/>
              <a:buChar char="•"/>
            </a:pPr>
            <a:r>
              <a:rPr lang="en-US" sz="2800" dirty="0">
                <a:latin typeface="Calibir"/>
              </a:rPr>
              <a:t>assignment title </a:t>
            </a:r>
          </a:p>
          <a:p>
            <a:pPr marL="914400" lvl="1" indent="-457200">
              <a:lnSpc>
                <a:spcPct val="150000"/>
              </a:lnSpc>
              <a:buFont typeface="Arial" panose="020B0604020202020204" pitchFamily="34" charset="0"/>
              <a:buChar char="•"/>
            </a:pPr>
            <a:r>
              <a:rPr lang="en-US" sz="2800" dirty="0">
                <a:latin typeface="Calibir"/>
              </a:rPr>
              <a:t>group number </a:t>
            </a:r>
          </a:p>
          <a:p>
            <a:pPr marL="914400" lvl="1" indent="-457200">
              <a:lnSpc>
                <a:spcPct val="150000"/>
              </a:lnSpc>
              <a:buFont typeface="Arial" panose="020B0604020202020204" pitchFamily="34" charset="0"/>
              <a:buChar char="•"/>
            </a:pPr>
            <a:r>
              <a:rPr lang="en-US" sz="2800" dirty="0">
                <a:latin typeface="Calibir"/>
              </a:rPr>
              <a:t>student names and IDs </a:t>
            </a:r>
          </a:p>
          <a:p>
            <a:pPr marL="914400" lvl="1" indent="-457200">
              <a:lnSpc>
                <a:spcPct val="150000"/>
              </a:lnSpc>
              <a:buFont typeface="Arial" panose="020B0604020202020204" pitchFamily="34" charset="0"/>
              <a:buChar char="•"/>
            </a:pPr>
            <a:r>
              <a:rPr lang="en-US" sz="2800" dirty="0">
                <a:latin typeface="Calibir"/>
              </a:rPr>
              <a:t>submission date</a:t>
            </a:r>
          </a:p>
        </p:txBody>
      </p:sp>
      <p:sp>
        <p:nvSpPr>
          <p:cNvPr id="7" name="object 2">
            <a:extLst>
              <a:ext uri="{FF2B5EF4-FFF2-40B4-BE49-F238E27FC236}">
                <a16:creationId xmlns:a16="http://schemas.microsoft.com/office/drawing/2014/main" id="{D4843450-99AE-765F-D4A5-DBE4B226715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0452878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CABF3-FC6C-8A5E-05A6-F0DDF11AC34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38C5A92-C9EB-5472-B416-0BEF825800F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BC33FE5-F88B-CF48-46B2-315E22F634B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259EEBD-4B25-D5A6-8939-6009BB7C107A}"/>
              </a:ext>
            </a:extLst>
          </p:cNvPr>
          <p:cNvSpPr txBox="1"/>
          <p:nvPr/>
        </p:nvSpPr>
        <p:spPr>
          <a:xfrm>
            <a:off x="0" y="818157"/>
            <a:ext cx="10913806" cy="2610843"/>
          </a:xfrm>
          <a:prstGeom prst="rect">
            <a:avLst/>
          </a:prstGeom>
          <a:noFill/>
        </p:spPr>
        <p:txBody>
          <a:bodyPr wrap="square">
            <a:spAutoFit/>
          </a:bodyPr>
          <a:lstStyle/>
          <a:p>
            <a:pPr>
              <a:lnSpc>
                <a:spcPct val="150000"/>
              </a:lnSpc>
            </a:pPr>
            <a:r>
              <a:rPr lang="en-US" sz="2800" b="1" dirty="0">
                <a:latin typeface="Calibir"/>
              </a:rPr>
              <a:t>1. Introduction</a:t>
            </a:r>
          </a:p>
          <a:p>
            <a:pPr marL="914400" lvl="1" indent="-457200">
              <a:lnSpc>
                <a:spcPct val="150000"/>
              </a:lnSpc>
              <a:buFont typeface="Arial" panose="020B0604020202020204" pitchFamily="34" charset="0"/>
              <a:buChar char="•"/>
            </a:pPr>
            <a:r>
              <a:rPr lang="en-US" sz="2800" dirty="0">
                <a:latin typeface="Calibir"/>
              </a:rPr>
              <a:t>background of the problem </a:t>
            </a:r>
          </a:p>
          <a:p>
            <a:pPr marL="914400" lvl="1" indent="-457200">
              <a:lnSpc>
                <a:spcPct val="150000"/>
              </a:lnSpc>
              <a:buFont typeface="Arial" panose="020B0604020202020204" pitchFamily="34" charset="0"/>
              <a:buChar char="•"/>
            </a:pPr>
            <a:r>
              <a:rPr lang="en-US" sz="2800" dirty="0">
                <a:latin typeface="Calibir"/>
              </a:rPr>
              <a:t>dataset selected </a:t>
            </a:r>
          </a:p>
          <a:p>
            <a:pPr marL="914400" lvl="1" indent="-457200">
              <a:lnSpc>
                <a:spcPct val="150000"/>
              </a:lnSpc>
              <a:buFont typeface="Arial" panose="020B0604020202020204" pitchFamily="34" charset="0"/>
              <a:buChar char="•"/>
            </a:pPr>
            <a:r>
              <a:rPr lang="en-US" sz="2800" dirty="0">
                <a:latin typeface="Calibir"/>
              </a:rPr>
              <a:t>predictive objective</a:t>
            </a:r>
          </a:p>
        </p:txBody>
      </p:sp>
      <p:sp>
        <p:nvSpPr>
          <p:cNvPr id="7" name="object 2">
            <a:extLst>
              <a:ext uri="{FF2B5EF4-FFF2-40B4-BE49-F238E27FC236}">
                <a16:creationId xmlns:a16="http://schemas.microsoft.com/office/drawing/2014/main" id="{0AE513EA-61BB-E3DD-FA41-5B4F6AFA16F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416095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F651A-8542-27C3-4F9D-4C6944FBBF4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2B3F5F0B-3A97-4EDF-4337-D3E82008E82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CBBE802-8EA8-3A26-5F17-C7A97AFC8F5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4F395CA-FB34-8AAC-82AF-65173BAC7D9B}"/>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2. Problem Framing and Technique Justification</a:t>
            </a:r>
          </a:p>
          <a:p>
            <a:pPr marL="914400" lvl="1" indent="-457200">
              <a:lnSpc>
                <a:spcPct val="150000"/>
              </a:lnSpc>
              <a:buFont typeface="Arial" panose="020B0604020202020204" pitchFamily="34" charset="0"/>
              <a:buChar char="•"/>
            </a:pPr>
            <a:r>
              <a:rPr lang="en-US" sz="2800" dirty="0">
                <a:latin typeface="Calibir"/>
              </a:rPr>
              <a:t>real-world problem </a:t>
            </a:r>
          </a:p>
          <a:p>
            <a:pPr marL="914400" lvl="1" indent="-457200">
              <a:lnSpc>
                <a:spcPct val="150000"/>
              </a:lnSpc>
              <a:buFont typeface="Arial" panose="020B0604020202020204" pitchFamily="34" charset="0"/>
              <a:buChar char="•"/>
            </a:pPr>
            <a:r>
              <a:rPr lang="en-US" sz="2800" dirty="0">
                <a:latin typeface="Calibir"/>
              </a:rPr>
              <a:t>why predictive analytics is useful </a:t>
            </a:r>
          </a:p>
          <a:p>
            <a:pPr marL="914400" lvl="1" indent="-457200">
              <a:lnSpc>
                <a:spcPct val="150000"/>
              </a:lnSpc>
              <a:buFont typeface="Arial" panose="020B0604020202020204" pitchFamily="34" charset="0"/>
              <a:buChar char="•"/>
            </a:pPr>
            <a:r>
              <a:rPr lang="en-US" sz="2800" dirty="0">
                <a:latin typeface="Calibir"/>
              </a:rPr>
              <a:t>comparison of two techniques </a:t>
            </a:r>
          </a:p>
          <a:p>
            <a:pPr marL="914400" lvl="1" indent="-457200">
              <a:lnSpc>
                <a:spcPct val="150000"/>
              </a:lnSpc>
              <a:buFont typeface="Arial" panose="020B0604020202020204" pitchFamily="34" charset="0"/>
              <a:buChar char="•"/>
            </a:pPr>
            <a:r>
              <a:rPr lang="en-US" sz="2800" dirty="0">
                <a:latin typeface="Calibir"/>
              </a:rPr>
              <a:t>final modelling plan</a:t>
            </a:r>
          </a:p>
        </p:txBody>
      </p:sp>
      <p:sp>
        <p:nvSpPr>
          <p:cNvPr id="7" name="object 2">
            <a:extLst>
              <a:ext uri="{FF2B5EF4-FFF2-40B4-BE49-F238E27FC236}">
                <a16:creationId xmlns:a16="http://schemas.microsoft.com/office/drawing/2014/main" id="{BD212996-FD7A-BBCB-3626-D260EC481A5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443581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7067-3C90-5D87-51F1-3FCBFFC9734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7765C3F-EFC7-8361-58FE-A3E33B4825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BCD96D8-9833-A4DF-FF69-6A73A929AC5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4BBA20B-D38F-8B5D-D4AA-CE94A780A153}"/>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3. Dataset Understanding</a:t>
            </a:r>
          </a:p>
          <a:p>
            <a:pPr marL="914400" lvl="1" indent="-457200">
              <a:lnSpc>
                <a:spcPct val="150000"/>
              </a:lnSpc>
              <a:buFont typeface="Arial" panose="020B0604020202020204" pitchFamily="34" charset="0"/>
              <a:buChar char="•"/>
            </a:pPr>
            <a:r>
              <a:rPr lang="en-US" sz="2800" dirty="0">
                <a:latin typeface="Calibir"/>
              </a:rPr>
              <a:t>source and dataset link </a:t>
            </a:r>
          </a:p>
          <a:p>
            <a:pPr marL="914400" lvl="1" indent="-457200">
              <a:lnSpc>
                <a:spcPct val="150000"/>
              </a:lnSpc>
              <a:buFont typeface="Arial" panose="020B0604020202020204" pitchFamily="34" charset="0"/>
              <a:buChar char="•"/>
            </a:pPr>
            <a:r>
              <a:rPr lang="en-US" sz="2800" dirty="0">
                <a:latin typeface="Calibir"/>
              </a:rPr>
              <a:t>features and target </a:t>
            </a:r>
          </a:p>
          <a:p>
            <a:pPr marL="914400" lvl="1" indent="-457200">
              <a:lnSpc>
                <a:spcPct val="150000"/>
              </a:lnSpc>
              <a:buFont typeface="Arial" panose="020B0604020202020204" pitchFamily="34" charset="0"/>
              <a:buChar char="•"/>
            </a:pPr>
            <a:r>
              <a:rPr lang="en-US" sz="2800" dirty="0">
                <a:latin typeface="Calibir"/>
              </a:rPr>
              <a:t>data types and summary </a:t>
            </a:r>
          </a:p>
          <a:p>
            <a:pPr marL="914400" lvl="1" indent="-457200">
              <a:lnSpc>
                <a:spcPct val="150000"/>
              </a:lnSpc>
              <a:buFont typeface="Arial" panose="020B0604020202020204" pitchFamily="34" charset="0"/>
              <a:buChar char="•"/>
            </a:pPr>
            <a:r>
              <a:rPr lang="en-US" sz="2800" dirty="0">
                <a:latin typeface="Calibir"/>
              </a:rPr>
              <a:t>issues identified</a:t>
            </a:r>
          </a:p>
        </p:txBody>
      </p:sp>
      <p:sp>
        <p:nvSpPr>
          <p:cNvPr id="7" name="object 2">
            <a:extLst>
              <a:ext uri="{FF2B5EF4-FFF2-40B4-BE49-F238E27FC236}">
                <a16:creationId xmlns:a16="http://schemas.microsoft.com/office/drawing/2014/main" id="{F8B12DC4-2639-F74B-AE50-FAA7AFE904D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73758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57E5C-EF03-CF6D-DBCD-05B60BB27D3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F74F695-84B8-E766-9807-98CE4A3241C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8EA842E-78E3-7519-EFE1-BE09FDDC87E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C23438B-0BD2-363E-F813-08B61430D85B}"/>
              </a:ext>
            </a:extLst>
          </p:cNvPr>
          <p:cNvSpPr txBox="1"/>
          <p:nvPr/>
        </p:nvSpPr>
        <p:spPr>
          <a:xfrm>
            <a:off x="0" y="818157"/>
            <a:ext cx="10913806" cy="5196166"/>
          </a:xfrm>
          <a:prstGeom prst="rect">
            <a:avLst/>
          </a:prstGeom>
          <a:noFill/>
        </p:spPr>
        <p:txBody>
          <a:bodyPr wrap="square">
            <a:spAutoFit/>
          </a:bodyPr>
          <a:lstStyle/>
          <a:p>
            <a:pPr>
              <a:lnSpc>
                <a:spcPct val="150000"/>
              </a:lnSpc>
            </a:pPr>
            <a:r>
              <a:rPr lang="en-US" sz="2800" b="1" dirty="0">
                <a:latin typeface="Calibir"/>
              </a:rPr>
              <a:t>4. Data Preprocessing</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encoding </a:t>
            </a:r>
          </a:p>
          <a:p>
            <a:pPr marL="914400" lvl="1" indent="-457200">
              <a:lnSpc>
                <a:spcPct val="150000"/>
              </a:lnSpc>
              <a:buFont typeface="Arial" panose="020B0604020202020204" pitchFamily="34" charset="0"/>
              <a:buChar char="•"/>
            </a:pPr>
            <a:r>
              <a:rPr lang="en-US" sz="2800" dirty="0">
                <a:latin typeface="Calibir"/>
              </a:rPr>
              <a:t>scaling </a:t>
            </a:r>
          </a:p>
          <a:p>
            <a:pPr marL="914400" lvl="1" indent="-457200">
              <a:lnSpc>
                <a:spcPct val="150000"/>
              </a:lnSpc>
              <a:buFont typeface="Arial" panose="020B0604020202020204" pitchFamily="34" charset="0"/>
              <a:buChar char="•"/>
            </a:pPr>
            <a:r>
              <a:rPr lang="en-US" sz="2800" dirty="0">
                <a:latin typeface="Calibir"/>
              </a:rPr>
              <a:t>feature selection </a:t>
            </a:r>
          </a:p>
          <a:p>
            <a:pPr marL="914400" lvl="1" indent="-457200">
              <a:lnSpc>
                <a:spcPct val="150000"/>
              </a:lnSpc>
              <a:buFont typeface="Arial" panose="020B0604020202020204" pitchFamily="34" charset="0"/>
              <a:buChar char="•"/>
            </a:pPr>
            <a:r>
              <a:rPr lang="en-US" sz="2800" dirty="0">
                <a:latin typeface="Calibir"/>
              </a:rPr>
              <a:t>before vs after comparison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5345C0D7-11DF-B711-F203-1D1D6B05EF5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0576802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6EFB-72D1-7CCE-CCB8-E5ED0F6481D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96A53F-F5F3-B2BA-199A-4C294B78C41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5E04129-2229-70EC-A509-B56AA322880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39FF7EF-B56A-BA8A-AF3B-05650B44D794}"/>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5. Statistical Theory and Assumption Validation</a:t>
            </a:r>
          </a:p>
          <a:p>
            <a:pPr marL="914400" lvl="1" indent="-457200">
              <a:lnSpc>
                <a:spcPct val="150000"/>
              </a:lnSpc>
              <a:buFont typeface="Arial" panose="020B0604020202020204" pitchFamily="34" charset="0"/>
              <a:buChar char="•"/>
            </a:pPr>
            <a:r>
              <a:rPr lang="en-US" sz="2800" dirty="0">
                <a:latin typeface="Calibir"/>
              </a:rPr>
              <a:t>theory behind each model </a:t>
            </a:r>
          </a:p>
          <a:p>
            <a:pPr marL="914400" lvl="1" indent="-457200">
              <a:lnSpc>
                <a:spcPct val="150000"/>
              </a:lnSpc>
              <a:buFont typeface="Arial" panose="020B0604020202020204" pitchFamily="34" charset="0"/>
              <a:buChar char="•"/>
            </a:pPr>
            <a:r>
              <a:rPr lang="en-US" sz="2800" dirty="0">
                <a:latin typeface="Calibir"/>
              </a:rPr>
              <a:t>assumptions </a:t>
            </a:r>
          </a:p>
          <a:p>
            <a:pPr marL="914400" lvl="1" indent="-457200">
              <a:lnSpc>
                <a:spcPct val="150000"/>
              </a:lnSpc>
              <a:buFont typeface="Arial" panose="020B0604020202020204" pitchFamily="34" charset="0"/>
              <a:buChar char="•"/>
            </a:pPr>
            <a:r>
              <a:rPr lang="en-US" sz="2800" dirty="0">
                <a:latin typeface="Calibir"/>
              </a:rPr>
              <a:t>evidence of whether assumptions hold </a:t>
            </a:r>
          </a:p>
          <a:p>
            <a:pPr marL="914400" lvl="1" indent="-457200">
              <a:lnSpc>
                <a:spcPct val="150000"/>
              </a:lnSpc>
              <a:buFont typeface="Arial" panose="020B0604020202020204" pitchFamily="34" charset="0"/>
              <a:buChar char="•"/>
            </a:pPr>
            <a:r>
              <a:rPr lang="en-US" sz="2800" dirty="0">
                <a:latin typeface="Calibir"/>
              </a:rPr>
              <a:t>implications</a:t>
            </a:r>
          </a:p>
        </p:txBody>
      </p:sp>
      <p:sp>
        <p:nvSpPr>
          <p:cNvPr id="7" name="object 2">
            <a:extLst>
              <a:ext uri="{FF2B5EF4-FFF2-40B4-BE49-F238E27FC236}">
                <a16:creationId xmlns:a16="http://schemas.microsoft.com/office/drawing/2014/main" id="{3F3786B6-5882-0FFC-D22A-F4A4FC80B7B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036565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90BF-D7EB-1430-2772-4D5F5C81E66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D40C2B6-881A-9611-0009-8B3E9411AEE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F93F68C-833F-5411-648A-DB38A05EEEA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9BC765B-FB76-7099-8F70-6A169FC0738C}"/>
              </a:ext>
            </a:extLst>
          </p:cNvPr>
          <p:cNvSpPr txBox="1"/>
          <p:nvPr/>
        </p:nvSpPr>
        <p:spPr>
          <a:xfrm>
            <a:off x="0" y="818157"/>
            <a:ext cx="10913806" cy="4549835"/>
          </a:xfrm>
          <a:prstGeom prst="rect">
            <a:avLst/>
          </a:prstGeom>
          <a:noFill/>
        </p:spPr>
        <p:txBody>
          <a:bodyPr wrap="square">
            <a:spAutoFit/>
          </a:bodyPr>
          <a:lstStyle/>
          <a:p>
            <a:pPr>
              <a:lnSpc>
                <a:spcPct val="150000"/>
              </a:lnSpc>
            </a:pPr>
            <a:r>
              <a:rPr lang="en-US" sz="2800" b="1" dirty="0">
                <a:latin typeface="Calibir"/>
              </a:rPr>
              <a:t>6. Model Development</a:t>
            </a:r>
          </a:p>
          <a:p>
            <a:pPr marL="914400" lvl="1" indent="-457200">
              <a:lnSpc>
                <a:spcPct val="150000"/>
              </a:lnSpc>
              <a:buFont typeface="Arial" panose="020B0604020202020204" pitchFamily="34" charset="0"/>
              <a:buChar char="•"/>
            </a:pPr>
            <a:r>
              <a:rPr lang="en-US" sz="2800" dirty="0">
                <a:latin typeface="Calibir"/>
              </a:rPr>
              <a:t>workflow </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training process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tools used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4A489C9D-4C95-A943-0EA2-D36B1022E89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1418296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7D54-693A-CE36-0DEA-DA7A5EECEEE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BA53F2E-DA0A-EA63-3A8A-8B777188E97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1162408-D987-0F63-07AE-A7B7AED9D47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E54A13C-1737-7CED-19E3-7BC16F8D9CA0}"/>
              </a:ext>
            </a:extLst>
          </p:cNvPr>
          <p:cNvSpPr txBox="1"/>
          <p:nvPr/>
        </p:nvSpPr>
        <p:spPr>
          <a:xfrm>
            <a:off x="0" y="818157"/>
            <a:ext cx="10913806" cy="3903504"/>
          </a:xfrm>
          <a:prstGeom prst="rect">
            <a:avLst/>
          </a:prstGeom>
          <a:noFill/>
        </p:spPr>
        <p:txBody>
          <a:bodyPr wrap="square">
            <a:spAutoFit/>
          </a:bodyPr>
          <a:lstStyle/>
          <a:p>
            <a:pPr>
              <a:lnSpc>
                <a:spcPct val="150000"/>
              </a:lnSpc>
            </a:pPr>
            <a:r>
              <a:rPr lang="en-US" sz="2800" b="1" dirty="0">
                <a:latin typeface="Calibir"/>
              </a:rPr>
              <a:t>7. Model Evaluation and Comparison</a:t>
            </a:r>
          </a:p>
          <a:p>
            <a:pPr marL="914400" lvl="1" indent="-457200">
              <a:lnSpc>
                <a:spcPct val="150000"/>
              </a:lnSpc>
              <a:buFont typeface="Arial" panose="020B0604020202020204" pitchFamily="34" charset="0"/>
              <a:buChar char="•"/>
            </a:pPr>
            <a:r>
              <a:rPr lang="en-US" sz="2800" dirty="0">
                <a:latin typeface="Calibir"/>
              </a:rPr>
              <a:t>metrics for both models </a:t>
            </a:r>
          </a:p>
          <a:p>
            <a:pPr marL="914400" lvl="1" indent="-457200">
              <a:lnSpc>
                <a:spcPct val="150000"/>
              </a:lnSpc>
              <a:buFont typeface="Arial" panose="020B0604020202020204" pitchFamily="34" charset="0"/>
              <a:buChar char="•"/>
            </a:pPr>
            <a:r>
              <a:rPr lang="en-US" sz="2800" dirty="0">
                <a:latin typeface="Calibir"/>
              </a:rPr>
              <a:t>tables/figures </a:t>
            </a:r>
          </a:p>
          <a:p>
            <a:pPr marL="914400" lvl="1" indent="-457200">
              <a:lnSpc>
                <a:spcPct val="150000"/>
              </a:lnSpc>
              <a:buFont typeface="Arial" panose="020B0604020202020204" pitchFamily="34" charset="0"/>
              <a:buChar char="•"/>
            </a:pPr>
            <a:r>
              <a:rPr lang="en-US" sz="2800" dirty="0">
                <a:latin typeface="Calibir"/>
              </a:rPr>
              <a:t>confusion matrix or regression metrics </a:t>
            </a:r>
          </a:p>
          <a:p>
            <a:pPr marL="914400" lvl="1" indent="-457200">
              <a:lnSpc>
                <a:spcPct val="150000"/>
              </a:lnSpc>
              <a:buFont typeface="Arial" panose="020B0604020202020204" pitchFamily="34" charset="0"/>
              <a:buChar char="•"/>
            </a:pPr>
            <a:r>
              <a:rPr lang="en-US" sz="2800" dirty="0">
                <a:latin typeface="Calibir"/>
              </a:rPr>
              <a:t>overfitting/underfitting discussion </a:t>
            </a:r>
          </a:p>
          <a:p>
            <a:pPr marL="914400" lvl="1" indent="-457200">
              <a:lnSpc>
                <a:spcPct val="150000"/>
              </a:lnSpc>
              <a:buFont typeface="Arial" panose="020B0604020202020204" pitchFamily="34" charset="0"/>
              <a:buChar char="•"/>
            </a:pPr>
            <a:r>
              <a:rPr lang="en-US" sz="2800" dirty="0">
                <a:latin typeface="Calibir"/>
              </a:rPr>
              <a:t>final model selection</a:t>
            </a:r>
          </a:p>
        </p:txBody>
      </p:sp>
      <p:sp>
        <p:nvSpPr>
          <p:cNvPr id="7" name="object 2">
            <a:extLst>
              <a:ext uri="{FF2B5EF4-FFF2-40B4-BE49-F238E27FC236}">
                <a16:creationId xmlns:a16="http://schemas.microsoft.com/office/drawing/2014/main" id="{06583A67-DC99-83E8-4103-2DCC67CF4EBE}"/>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7761907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4DB79-61B2-35AA-EE45-7BF4766E903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60B2DDB-39F7-2034-61BA-A19CD778E4C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06F9CEC3-7FCF-0503-EC88-9081CBB346A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5F7FD4A-1079-AB04-D5DB-C7C28BAEA6DC}"/>
              </a:ext>
            </a:extLst>
          </p:cNvPr>
          <p:cNvSpPr txBox="1"/>
          <p:nvPr/>
        </p:nvSpPr>
        <p:spPr>
          <a:xfrm>
            <a:off x="0" y="818157"/>
            <a:ext cx="10913806" cy="4549835"/>
          </a:xfrm>
          <a:prstGeom prst="rect">
            <a:avLst/>
          </a:prstGeom>
          <a:noFill/>
        </p:spPr>
        <p:txBody>
          <a:bodyPr wrap="square">
            <a:spAutoFit/>
          </a:bodyPr>
          <a:lstStyle/>
          <a:p>
            <a:pPr>
              <a:lnSpc>
                <a:spcPct val="150000"/>
              </a:lnSpc>
            </a:pPr>
            <a:r>
              <a:rPr lang="en-US" sz="2800" b="1" dirty="0">
                <a:latin typeface="Calibir"/>
              </a:rPr>
              <a:t>8. Insights and Business Value</a:t>
            </a:r>
          </a:p>
          <a:p>
            <a:pPr marL="914400" lvl="1" indent="-457200">
              <a:lnSpc>
                <a:spcPct val="150000"/>
              </a:lnSpc>
              <a:buFont typeface="Arial" panose="020B0604020202020204" pitchFamily="34" charset="0"/>
              <a:buChar char="•"/>
            </a:pPr>
            <a:r>
              <a:rPr lang="en-US" sz="2800" dirty="0">
                <a:latin typeface="Calibir"/>
              </a:rPr>
              <a:t>3–5 actionable insights </a:t>
            </a:r>
          </a:p>
          <a:p>
            <a:pPr marL="914400" lvl="1" indent="-457200">
              <a:lnSpc>
                <a:spcPct val="150000"/>
              </a:lnSpc>
              <a:buFont typeface="Arial" panose="020B0604020202020204" pitchFamily="34" charset="0"/>
              <a:buChar char="•"/>
            </a:pPr>
            <a:r>
              <a:rPr lang="en-US" sz="2800" dirty="0">
                <a:latin typeface="Calibir"/>
              </a:rPr>
              <a:t>business relevance </a:t>
            </a:r>
          </a:p>
          <a:p>
            <a:pPr>
              <a:lnSpc>
                <a:spcPct val="150000"/>
              </a:lnSpc>
            </a:pPr>
            <a:r>
              <a:rPr lang="en-US" sz="2800" b="1" dirty="0">
                <a:latin typeface="Calibir"/>
              </a:rPr>
              <a:t>9. Ethical and Bias Analysis</a:t>
            </a:r>
          </a:p>
          <a:p>
            <a:pPr marL="914400" lvl="1" indent="-457200">
              <a:lnSpc>
                <a:spcPct val="150000"/>
              </a:lnSpc>
              <a:buFont typeface="Arial" panose="020B0604020202020204" pitchFamily="34" charset="0"/>
              <a:buChar char="•"/>
            </a:pPr>
            <a:r>
              <a:rPr lang="en-US" sz="2800" dirty="0">
                <a:latin typeface="Calibir"/>
              </a:rPr>
              <a:t>dataset-specific ethical risks </a:t>
            </a:r>
          </a:p>
          <a:p>
            <a:pPr marL="914400" lvl="1" indent="-457200">
              <a:lnSpc>
                <a:spcPct val="150000"/>
              </a:lnSpc>
              <a:buFont typeface="Arial" panose="020B0604020202020204" pitchFamily="34" charset="0"/>
              <a:buChar char="•"/>
            </a:pPr>
            <a:r>
              <a:rPr lang="en-US" sz="2800" dirty="0">
                <a:latin typeface="Calibir"/>
              </a:rPr>
              <a:t>examples </a:t>
            </a:r>
          </a:p>
          <a:p>
            <a:pPr marL="914400" lvl="1" indent="-457200">
              <a:lnSpc>
                <a:spcPct val="150000"/>
              </a:lnSpc>
              <a:buFont typeface="Arial" panose="020B0604020202020204" pitchFamily="34" charset="0"/>
              <a:buChar char="•"/>
            </a:pPr>
            <a:r>
              <a:rPr lang="en-US" sz="2800" dirty="0">
                <a:latin typeface="Calibir"/>
              </a:rPr>
              <a:t>mitigation strategies</a:t>
            </a:r>
          </a:p>
        </p:txBody>
      </p:sp>
      <p:sp>
        <p:nvSpPr>
          <p:cNvPr id="7" name="object 2">
            <a:extLst>
              <a:ext uri="{FF2B5EF4-FFF2-40B4-BE49-F238E27FC236}">
                <a16:creationId xmlns:a16="http://schemas.microsoft.com/office/drawing/2014/main" id="{86FC99F8-893A-B4C6-93B2-1F8E038F1B7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729950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9306-F389-0ECE-D75A-941A444113C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5189AD5-3673-4328-DEDF-7E09E2071F9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E0E0C61-B763-01CC-9A0D-FAC464CE241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2B6417D-5AED-1636-3BAE-6A667C556552}"/>
              </a:ext>
            </a:extLst>
          </p:cNvPr>
          <p:cNvSpPr txBox="1"/>
          <p:nvPr/>
        </p:nvSpPr>
        <p:spPr>
          <a:xfrm>
            <a:off x="0" y="818157"/>
            <a:ext cx="10913806" cy="5196166"/>
          </a:xfrm>
          <a:prstGeom prst="rect">
            <a:avLst/>
          </a:prstGeom>
          <a:noFill/>
        </p:spPr>
        <p:txBody>
          <a:bodyPr wrap="square">
            <a:spAutoFit/>
          </a:bodyPr>
          <a:lstStyle/>
          <a:p>
            <a:pPr>
              <a:lnSpc>
                <a:spcPct val="150000"/>
              </a:lnSpc>
            </a:pPr>
            <a:r>
              <a:rPr lang="en-US" sz="2800" b="1" dirty="0">
                <a:latin typeface="Calibir"/>
              </a:rPr>
              <a:t>10. Reflection and Learning</a:t>
            </a:r>
          </a:p>
          <a:p>
            <a:pPr marL="914400" lvl="1" indent="-457200">
              <a:lnSpc>
                <a:spcPct val="150000"/>
              </a:lnSpc>
              <a:buFont typeface="Arial" panose="020B0604020202020204" pitchFamily="34" charset="0"/>
              <a:buChar char="•"/>
            </a:pPr>
            <a:r>
              <a:rPr lang="en-US" sz="2800" dirty="0">
                <a:latin typeface="Calibir"/>
              </a:rPr>
              <a:t>challenges </a:t>
            </a:r>
          </a:p>
          <a:p>
            <a:pPr marL="914400" lvl="1" indent="-457200">
              <a:lnSpc>
                <a:spcPct val="150000"/>
              </a:lnSpc>
              <a:buFont typeface="Arial" panose="020B0604020202020204" pitchFamily="34" charset="0"/>
              <a:buChar char="•"/>
            </a:pPr>
            <a:r>
              <a:rPr lang="en-US" sz="2800" dirty="0">
                <a:latin typeface="Calibir"/>
              </a:rPr>
              <a:t>limitations </a:t>
            </a:r>
          </a:p>
          <a:p>
            <a:pPr marL="914400" lvl="1" indent="-457200">
              <a:lnSpc>
                <a:spcPct val="150000"/>
              </a:lnSpc>
              <a:buFont typeface="Arial" panose="020B0604020202020204" pitchFamily="34" charset="0"/>
              <a:buChar char="•"/>
            </a:pPr>
            <a:r>
              <a:rPr lang="en-US" sz="2800" dirty="0">
                <a:latin typeface="Calibir"/>
              </a:rPr>
              <a:t>lessons learned </a:t>
            </a:r>
          </a:p>
          <a:p>
            <a:pPr marL="914400" lvl="1" indent="-457200">
              <a:lnSpc>
                <a:spcPct val="150000"/>
              </a:lnSpc>
              <a:buFont typeface="Arial" panose="020B0604020202020204" pitchFamily="34" charset="0"/>
              <a:buChar char="•"/>
            </a:pPr>
            <a:r>
              <a:rPr lang="en-US" sz="2800" dirty="0">
                <a:latin typeface="Calibir"/>
              </a:rPr>
              <a:t>future improvements </a:t>
            </a:r>
          </a:p>
          <a:p>
            <a:pPr>
              <a:lnSpc>
                <a:spcPct val="150000"/>
              </a:lnSpc>
            </a:pPr>
            <a:r>
              <a:rPr lang="en-US" sz="2800" b="1" dirty="0">
                <a:latin typeface="Calibir"/>
              </a:rPr>
              <a:t>References</a:t>
            </a:r>
          </a:p>
          <a:p>
            <a:pPr marL="914400" lvl="1" indent="-457200">
              <a:lnSpc>
                <a:spcPct val="150000"/>
              </a:lnSpc>
              <a:buFont typeface="Arial" panose="020B0604020202020204" pitchFamily="34" charset="0"/>
              <a:buChar char="•"/>
            </a:pPr>
            <a:r>
              <a:rPr lang="en-US" sz="2800" dirty="0">
                <a:latin typeface="Calibir"/>
              </a:rPr>
              <a:t>Holmes Adapted Harvard </a:t>
            </a:r>
          </a:p>
          <a:p>
            <a:pPr marL="914400" lvl="1" indent="-457200">
              <a:lnSpc>
                <a:spcPct val="150000"/>
              </a:lnSpc>
              <a:buFont typeface="Arial" panose="020B0604020202020204" pitchFamily="34" charset="0"/>
              <a:buChar char="•"/>
            </a:pPr>
            <a:r>
              <a:rPr lang="en-US" sz="2800" dirty="0">
                <a:latin typeface="Calibir"/>
              </a:rPr>
              <a:t>on a separate page titled References</a:t>
            </a:r>
          </a:p>
        </p:txBody>
      </p:sp>
      <p:sp>
        <p:nvSpPr>
          <p:cNvPr id="7" name="object 2">
            <a:extLst>
              <a:ext uri="{FF2B5EF4-FFF2-40B4-BE49-F238E27FC236}">
                <a16:creationId xmlns:a16="http://schemas.microsoft.com/office/drawing/2014/main" id="{FBB88D23-0E58-15E6-8F59-BEEB9259EBF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949673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A8BD-2F8B-4E5B-1855-9801C1F0F83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980CE47-51AE-5315-7A36-346048F7E63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B609C16-289C-713B-FE71-33D951AB29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854B700-3F33-7F7E-CB70-32F68EEF31FB}"/>
              </a:ext>
            </a:extLst>
          </p:cNvPr>
          <p:cNvSpPr txBox="1"/>
          <p:nvPr/>
        </p:nvSpPr>
        <p:spPr>
          <a:xfrm>
            <a:off x="0" y="818157"/>
            <a:ext cx="10913806" cy="3257174"/>
          </a:xfrm>
          <a:prstGeom prst="rect">
            <a:avLst/>
          </a:prstGeom>
          <a:noFill/>
        </p:spPr>
        <p:txBody>
          <a:bodyPr wrap="square">
            <a:spAutoFit/>
          </a:bodyPr>
          <a:lstStyle/>
          <a:p>
            <a:pPr>
              <a:lnSpc>
                <a:spcPct val="150000"/>
              </a:lnSpc>
            </a:pPr>
            <a:r>
              <a:rPr lang="en-US" sz="2800" b="1" dirty="0">
                <a:latin typeface="Calibir"/>
              </a:rPr>
              <a:t>Appendices</a:t>
            </a:r>
          </a:p>
          <a:p>
            <a:pPr marL="914400" lvl="1" indent="-457200">
              <a:lnSpc>
                <a:spcPct val="150000"/>
              </a:lnSpc>
              <a:buFont typeface="Arial" panose="020B0604020202020204" pitchFamily="34" charset="0"/>
              <a:buChar char="•"/>
            </a:pPr>
            <a:r>
              <a:rPr lang="en-US" sz="2800" dirty="0">
                <a:latin typeface="Calibir"/>
              </a:rPr>
              <a:t>screenshots </a:t>
            </a:r>
          </a:p>
          <a:p>
            <a:pPr marL="914400" lvl="1" indent="-457200">
              <a:lnSpc>
                <a:spcPct val="150000"/>
              </a:lnSpc>
              <a:buFont typeface="Arial" panose="020B0604020202020204" pitchFamily="34" charset="0"/>
              <a:buChar char="•"/>
            </a:pPr>
            <a:r>
              <a:rPr lang="en-US" sz="2800" dirty="0">
                <a:latin typeface="Calibir"/>
              </a:rPr>
              <a:t>extra outputs </a:t>
            </a:r>
          </a:p>
          <a:p>
            <a:pPr marL="914400" lvl="1" indent="-457200">
              <a:lnSpc>
                <a:spcPct val="150000"/>
              </a:lnSpc>
              <a:buFont typeface="Arial" panose="020B0604020202020204" pitchFamily="34" charset="0"/>
              <a:buChar char="•"/>
            </a:pPr>
            <a:r>
              <a:rPr lang="en-US" sz="2800" dirty="0">
                <a:latin typeface="Calibir"/>
              </a:rPr>
              <a:t>code snippets if needed </a:t>
            </a:r>
          </a:p>
          <a:p>
            <a:pPr marL="914400" lvl="1" indent="-457200">
              <a:lnSpc>
                <a:spcPct val="150000"/>
              </a:lnSpc>
              <a:buFont typeface="Arial" panose="020B0604020202020204" pitchFamily="34" charset="0"/>
              <a:buChar char="•"/>
            </a:pPr>
            <a:r>
              <a:rPr lang="en-US" sz="2800" dirty="0">
                <a:latin typeface="Calibir"/>
              </a:rPr>
              <a:t>contribution summary if not separate</a:t>
            </a:r>
          </a:p>
        </p:txBody>
      </p:sp>
      <p:sp>
        <p:nvSpPr>
          <p:cNvPr id="7" name="object 2">
            <a:extLst>
              <a:ext uri="{FF2B5EF4-FFF2-40B4-BE49-F238E27FC236}">
                <a16:creationId xmlns:a16="http://schemas.microsoft.com/office/drawing/2014/main" id="{D84BA7EB-8F9C-B175-A6AF-4B0A1E0166A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9686057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76A23-C198-EBAC-6C05-ED2D216388F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E1D3146-E691-FED5-6CEA-D13FE713CD1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114B21A-7490-1687-4381-7435E5AE8A4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B19826F-CFF3-C1B5-1F56-79AFE7B6FAF6}"/>
              </a:ext>
            </a:extLst>
          </p:cNvPr>
          <p:cNvSpPr txBox="1"/>
          <p:nvPr/>
        </p:nvSpPr>
        <p:spPr>
          <a:xfrm>
            <a:off x="0" y="369172"/>
            <a:ext cx="10913806" cy="6488828"/>
          </a:xfrm>
          <a:prstGeom prst="rect">
            <a:avLst/>
          </a:prstGeom>
          <a:noFill/>
        </p:spPr>
        <p:txBody>
          <a:bodyPr wrap="square">
            <a:spAutoFit/>
          </a:bodyPr>
          <a:lstStyle/>
          <a:p>
            <a:pPr>
              <a:lnSpc>
                <a:spcPct val="150000"/>
              </a:lnSpc>
            </a:pPr>
            <a:r>
              <a:rPr lang="en-US" sz="2800" b="1" dirty="0">
                <a:latin typeface="Calibir"/>
              </a:rPr>
              <a:t>7. Suggested presentation structure</a:t>
            </a:r>
          </a:p>
          <a:p>
            <a:pPr>
              <a:lnSpc>
                <a:spcPct val="150000"/>
              </a:lnSpc>
            </a:pPr>
            <a:r>
              <a:rPr lang="en-US" sz="2800" dirty="0">
                <a:latin typeface="Calibir"/>
              </a:rPr>
              <a:t>For a 30–35 minute presentation:</a:t>
            </a:r>
          </a:p>
          <a:p>
            <a:pPr>
              <a:lnSpc>
                <a:spcPct val="150000"/>
              </a:lnSpc>
            </a:pPr>
            <a:r>
              <a:rPr lang="en-US" sz="2800" b="1" dirty="0">
                <a:latin typeface="Calibir"/>
              </a:rPr>
              <a:t>Slide 1: Title slide</a:t>
            </a:r>
          </a:p>
          <a:p>
            <a:pPr marL="914400" lvl="1" indent="-457200">
              <a:lnSpc>
                <a:spcPct val="150000"/>
              </a:lnSpc>
              <a:buFont typeface="Arial" panose="020B0604020202020204" pitchFamily="34" charset="0"/>
              <a:buChar char="•"/>
            </a:pPr>
            <a:r>
              <a:rPr lang="en-US" sz="2800" dirty="0">
                <a:latin typeface="Calibir"/>
              </a:rPr>
              <a:t>group members </a:t>
            </a:r>
          </a:p>
          <a:p>
            <a:pPr marL="914400" lvl="1" indent="-457200">
              <a:lnSpc>
                <a:spcPct val="150000"/>
              </a:lnSpc>
              <a:buFont typeface="Arial" panose="020B0604020202020204" pitchFamily="34" charset="0"/>
              <a:buChar char="•"/>
            </a:pPr>
            <a:r>
              <a:rPr lang="en-US" sz="2800" dirty="0">
                <a:latin typeface="Calibir"/>
              </a:rPr>
              <a:t>dataset </a:t>
            </a:r>
          </a:p>
          <a:p>
            <a:pPr marL="914400" lvl="1" indent="-457200">
              <a:lnSpc>
                <a:spcPct val="150000"/>
              </a:lnSpc>
              <a:buFont typeface="Arial" panose="020B0604020202020204" pitchFamily="34" charset="0"/>
              <a:buChar char="•"/>
            </a:pPr>
            <a:r>
              <a:rPr lang="en-US" sz="2800" dirty="0">
                <a:latin typeface="Calibir"/>
              </a:rPr>
              <a:t>topic </a:t>
            </a:r>
          </a:p>
          <a:p>
            <a:pPr>
              <a:lnSpc>
                <a:spcPct val="150000"/>
              </a:lnSpc>
            </a:pPr>
            <a:r>
              <a:rPr lang="en-US" sz="2800" b="1" dirty="0">
                <a:latin typeface="Calibir"/>
              </a:rPr>
              <a:t>Slide 2: Project overview</a:t>
            </a:r>
          </a:p>
          <a:p>
            <a:pPr marL="914400" lvl="1" indent="-457200">
              <a:lnSpc>
                <a:spcPct val="150000"/>
              </a:lnSpc>
              <a:buFont typeface="Arial" panose="020B0604020202020204" pitchFamily="34" charset="0"/>
              <a:buChar char="•"/>
            </a:pPr>
            <a:r>
              <a:rPr lang="en-US" sz="2800" dirty="0">
                <a:latin typeface="Calibir"/>
              </a:rPr>
              <a:t>objective </a:t>
            </a:r>
          </a:p>
          <a:p>
            <a:pPr marL="914400" lvl="1" indent="-457200">
              <a:lnSpc>
                <a:spcPct val="150000"/>
              </a:lnSpc>
              <a:buFont typeface="Arial" panose="020B0604020202020204" pitchFamily="34" charset="0"/>
              <a:buChar char="•"/>
            </a:pPr>
            <a:r>
              <a:rPr lang="en-US" sz="2800" dirty="0">
                <a:latin typeface="Calibir"/>
              </a:rPr>
              <a:t>predictive problem </a:t>
            </a:r>
          </a:p>
          <a:p>
            <a:pPr marL="914400" lvl="1" indent="-457200">
              <a:lnSpc>
                <a:spcPct val="150000"/>
              </a:lnSpc>
              <a:buFont typeface="Arial" panose="020B0604020202020204" pitchFamily="34" charset="0"/>
              <a:buChar char="•"/>
            </a:pPr>
            <a:r>
              <a:rPr lang="en-US" sz="2800" dirty="0">
                <a:latin typeface="Calibir"/>
              </a:rPr>
              <a:t>models used</a:t>
            </a:r>
          </a:p>
        </p:txBody>
      </p:sp>
      <p:sp>
        <p:nvSpPr>
          <p:cNvPr id="7" name="object 2">
            <a:extLst>
              <a:ext uri="{FF2B5EF4-FFF2-40B4-BE49-F238E27FC236}">
                <a16:creationId xmlns:a16="http://schemas.microsoft.com/office/drawing/2014/main" id="{B495F334-886E-79FD-5C94-98E7542AE9B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53767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430A-65C5-19B8-0404-849B0339A7D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88CC300-EE84-AE74-1FD0-6F5E5F2852E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6AB31123-1E8A-D735-D23D-50A3486F10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3533A1E-FFC9-75C0-09BA-CA020DC34D49}"/>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Slide 3: Dataset overview</a:t>
            </a:r>
          </a:p>
          <a:p>
            <a:pPr marL="914400" lvl="1" indent="-457200">
              <a:lnSpc>
                <a:spcPct val="150000"/>
              </a:lnSpc>
              <a:buFont typeface="Arial" panose="020B0604020202020204" pitchFamily="34" charset="0"/>
              <a:buChar char="•"/>
            </a:pPr>
            <a:r>
              <a:rPr lang="en-US" sz="2800" dirty="0">
                <a:latin typeface="Calibir"/>
              </a:rPr>
              <a:t>source </a:t>
            </a:r>
          </a:p>
          <a:p>
            <a:pPr marL="914400" lvl="1" indent="-457200">
              <a:lnSpc>
                <a:spcPct val="150000"/>
              </a:lnSpc>
              <a:buFont typeface="Arial" panose="020B0604020202020204" pitchFamily="34" charset="0"/>
              <a:buChar char="•"/>
            </a:pPr>
            <a:r>
              <a:rPr lang="en-US" sz="2800" dirty="0">
                <a:latin typeface="Calibir"/>
              </a:rPr>
              <a:t>variables </a:t>
            </a:r>
          </a:p>
          <a:p>
            <a:pPr marL="914400" lvl="1" indent="-457200">
              <a:lnSpc>
                <a:spcPct val="150000"/>
              </a:lnSpc>
              <a:buFont typeface="Arial" panose="020B0604020202020204" pitchFamily="34" charset="0"/>
              <a:buChar char="•"/>
            </a:pPr>
            <a:r>
              <a:rPr lang="en-US" sz="2800" dirty="0">
                <a:latin typeface="Calibir"/>
              </a:rPr>
              <a:t>target variable </a:t>
            </a:r>
          </a:p>
          <a:p>
            <a:pPr>
              <a:lnSpc>
                <a:spcPct val="150000"/>
              </a:lnSpc>
            </a:pPr>
            <a:r>
              <a:rPr lang="en-US" sz="2800" b="1" dirty="0">
                <a:latin typeface="Calibir"/>
              </a:rPr>
              <a:t>Slide 4: Data issues found</a:t>
            </a:r>
          </a:p>
          <a:p>
            <a:pPr marL="914400" lvl="1" indent="-457200">
              <a:lnSpc>
                <a:spcPct val="150000"/>
              </a:lnSpc>
              <a:buFont typeface="Arial" panose="020B0604020202020204" pitchFamily="34" charset="0"/>
              <a:buChar char="•"/>
            </a:pPr>
            <a:r>
              <a:rPr lang="en-US" sz="2800" dirty="0">
                <a:latin typeface="Calibir"/>
              </a:rPr>
              <a:t>missing values </a:t>
            </a:r>
          </a:p>
          <a:p>
            <a:pPr marL="914400" lvl="1" indent="-457200">
              <a:lnSpc>
                <a:spcPct val="150000"/>
              </a:lnSpc>
              <a:buFont typeface="Arial" panose="020B0604020202020204" pitchFamily="34" charset="0"/>
              <a:buChar char="•"/>
            </a:pPr>
            <a:r>
              <a:rPr lang="en-US" sz="2800" dirty="0">
                <a:latin typeface="Calibir"/>
              </a:rPr>
              <a:t>duplicates </a:t>
            </a:r>
          </a:p>
          <a:p>
            <a:pPr marL="914400" lvl="1" indent="-457200">
              <a:lnSpc>
                <a:spcPct val="150000"/>
              </a:lnSpc>
              <a:buFont typeface="Arial" panose="020B0604020202020204" pitchFamily="34" charset="0"/>
              <a:buChar char="•"/>
            </a:pPr>
            <a:r>
              <a:rPr lang="en-US" sz="2800" dirty="0">
                <a:latin typeface="Calibir"/>
              </a:rPr>
              <a:t>imbalance </a:t>
            </a:r>
          </a:p>
          <a:p>
            <a:pPr marL="914400" lvl="1" indent="-457200">
              <a:lnSpc>
                <a:spcPct val="150000"/>
              </a:lnSpc>
              <a:buFont typeface="Arial" panose="020B0604020202020204" pitchFamily="34" charset="0"/>
              <a:buChar char="•"/>
            </a:pPr>
            <a:r>
              <a:rPr lang="en-US" sz="2800" dirty="0">
                <a:latin typeface="Calibir"/>
              </a:rPr>
              <a:t>irrelevant columns</a:t>
            </a:r>
          </a:p>
        </p:txBody>
      </p:sp>
      <p:sp>
        <p:nvSpPr>
          <p:cNvPr id="7" name="object 2">
            <a:extLst>
              <a:ext uri="{FF2B5EF4-FFF2-40B4-BE49-F238E27FC236}">
                <a16:creationId xmlns:a16="http://schemas.microsoft.com/office/drawing/2014/main" id="{927410C0-6015-6069-43F2-7C3C20667CE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798547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31E8-0966-5081-E266-24AFBBF395C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4A8C7D9-D236-C078-B079-CD4A3C9AA9D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D2BD6A16-C765-39B3-64D3-A247AE33EA3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14A6FC9-37A0-4376-9B06-9F6BEAB44089}"/>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Slide 5: Preprocessing steps</a:t>
            </a:r>
          </a:p>
          <a:p>
            <a:pPr marL="914400" lvl="1" indent="-457200">
              <a:lnSpc>
                <a:spcPct val="150000"/>
              </a:lnSpc>
              <a:buFont typeface="Arial" panose="020B0604020202020204" pitchFamily="34" charset="0"/>
              <a:buChar char="•"/>
            </a:pPr>
            <a:r>
              <a:rPr lang="en-US" sz="2800" dirty="0">
                <a:latin typeface="Calibir"/>
              </a:rPr>
              <a:t>before vs after </a:t>
            </a:r>
          </a:p>
          <a:p>
            <a:pPr marL="914400" lvl="1" indent="-457200">
              <a:lnSpc>
                <a:spcPct val="150000"/>
              </a:lnSpc>
              <a:buFont typeface="Arial" panose="020B0604020202020204" pitchFamily="34" charset="0"/>
              <a:buChar char="•"/>
            </a:pPr>
            <a:r>
              <a:rPr lang="en-US" sz="2800" dirty="0">
                <a:latin typeface="Calibir"/>
              </a:rPr>
              <a:t>screenshots </a:t>
            </a:r>
          </a:p>
          <a:p>
            <a:pPr>
              <a:lnSpc>
                <a:spcPct val="150000"/>
              </a:lnSpc>
            </a:pPr>
            <a:r>
              <a:rPr lang="en-US" sz="2800" b="1" dirty="0">
                <a:latin typeface="Calibir"/>
              </a:rPr>
              <a:t>Slide 6: Model 1</a:t>
            </a:r>
          </a:p>
          <a:p>
            <a:pPr marL="914400" lvl="1" indent="-457200">
              <a:lnSpc>
                <a:spcPct val="150000"/>
              </a:lnSpc>
              <a:buFont typeface="Arial" panose="020B0604020202020204" pitchFamily="34" charset="0"/>
              <a:buChar char="•"/>
            </a:pPr>
            <a:r>
              <a:rPr lang="en-US" sz="2800" dirty="0">
                <a:latin typeface="Calibir"/>
              </a:rPr>
              <a:t>model explanation </a:t>
            </a:r>
          </a:p>
          <a:p>
            <a:pPr marL="914400" lvl="1" indent="-457200">
              <a:lnSpc>
                <a:spcPct val="150000"/>
              </a:lnSpc>
              <a:buFont typeface="Arial" panose="020B0604020202020204" pitchFamily="34" charset="0"/>
              <a:buChar char="•"/>
            </a:pPr>
            <a:r>
              <a:rPr lang="en-US" sz="2800" dirty="0">
                <a:latin typeface="Calibir"/>
              </a:rPr>
              <a:t>why chosen </a:t>
            </a:r>
          </a:p>
          <a:p>
            <a:pPr marL="914400" lvl="1" indent="-457200">
              <a:lnSpc>
                <a:spcPct val="150000"/>
              </a:lnSpc>
              <a:buFont typeface="Arial" panose="020B0604020202020204" pitchFamily="34" charset="0"/>
              <a:buChar char="•"/>
            </a:pPr>
            <a:r>
              <a:rPr lang="en-US" sz="2800" dirty="0">
                <a:latin typeface="Calibir"/>
              </a:rPr>
              <a:t>assumptions</a:t>
            </a:r>
          </a:p>
        </p:txBody>
      </p:sp>
      <p:sp>
        <p:nvSpPr>
          <p:cNvPr id="7" name="object 2">
            <a:extLst>
              <a:ext uri="{FF2B5EF4-FFF2-40B4-BE49-F238E27FC236}">
                <a16:creationId xmlns:a16="http://schemas.microsoft.com/office/drawing/2014/main" id="{7FD0BE20-CEA4-C48C-9DA5-D91AD8CB6F7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941033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D325-C67C-51E4-428D-4993A00F274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4A6A860-95EF-345C-B530-138B6EEB175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D6FB108-8390-AF2C-D451-C8C28DF0C6F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089E418-4231-0582-D921-D2483C549A2F}"/>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Slide 7: Model 2</a:t>
            </a:r>
          </a:p>
          <a:p>
            <a:pPr marL="914400" lvl="1" indent="-457200">
              <a:lnSpc>
                <a:spcPct val="150000"/>
              </a:lnSpc>
              <a:buFont typeface="Arial" panose="020B0604020202020204" pitchFamily="34" charset="0"/>
              <a:buChar char="•"/>
            </a:pPr>
            <a:r>
              <a:rPr lang="en-US" sz="2800" dirty="0">
                <a:latin typeface="Calibir"/>
              </a:rPr>
              <a:t>model explanation </a:t>
            </a:r>
          </a:p>
          <a:p>
            <a:pPr marL="914400" lvl="1" indent="-457200">
              <a:lnSpc>
                <a:spcPct val="150000"/>
              </a:lnSpc>
              <a:buFont typeface="Arial" panose="020B0604020202020204" pitchFamily="34" charset="0"/>
              <a:buChar char="•"/>
            </a:pPr>
            <a:r>
              <a:rPr lang="en-US" sz="2800" dirty="0">
                <a:latin typeface="Calibir"/>
              </a:rPr>
              <a:t>why chosen </a:t>
            </a:r>
          </a:p>
          <a:p>
            <a:pPr marL="914400" lvl="1" indent="-457200">
              <a:lnSpc>
                <a:spcPct val="150000"/>
              </a:lnSpc>
              <a:buFont typeface="Arial" panose="020B0604020202020204" pitchFamily="34" charset="0"/>
              <a:buChar char="•"/>
            </a:pPr>
            <a:r>
              <a:rPr lang="en-US" sz="2800" dirty="0">
                <a:latin typeface="Calibir"/>
              </a:rPr>
              <a:t>assumptions </a:t>
            </a:r>
          </a:p>
          <a:p>
            <a:pPr>
              <a:lnSpc>
                <a:spcPct val="150000"/>
              </a:lnSpc>
            </a:pPr>
            <a:r>
              <a:rPr lang="en-US" sz="2800" b="1" dirty="0">
                <a:latin typeface="Calibir"/>
              </a:rPr>
              <a:t>Slide 8: Training workflow</a:t>
            </a:r>
          </a:p>
          <a:p>
            <a:pPr marL="914400" lvl="1" indent="-457200">
              <a:lnSpc>
                <a:spcPct val="150000"/>
              </a:lnSpc>
              <a:buFont typeface="Arial" panose="020B0604020202020204" pitchFamily="34" charset="0"/>
              <a:buChar char="•"/>
            </a:pPr>
            <a:r>
              <a:rPr lang="en-US" sz="2800" dirty="0">
                <a:latin typeface="Calibir"/>
              </a:rPr>
              <a:t>tools </a:t>
            </a:r>
          </a:p>
          <a:p>
            <a:pPr marL="914400" lvl="1" indent="-457200">
              <a:lnSpc>
                <a:spcPct val="150000"/>
              </a:lnSpc>
              <a:buFont typeface="Arial" panose="020B0604020202020204" pitchFamily="34" charset="0"/>
              <a:buChar char="•"/>
            </a:pPr>
            <a:r>
              <a:rPr lang="en-US" sz="2800" dirty="0">
                <a:latin typeface="Calibir"/>
              </a:rPr>
              <a:t>train/test split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screenshots</a:t>
            </a:r>
          </a:p>
        </p:txBody>
      </p:sp>
      <p:sp>
        <p:nvSpPr>
          <p:cNvPr id="7" name="object 2">
            <a:extLst>
              <a:ext uri="{FF2B5EF4-FFF2-40B4-BE49-F238E27FC236}">
                <a16:creationId xmlns:a16="http://schemas.microsoft.com/office/drawing/2014/main" id="{C1252782-C4D5-AE4A-DDC2-01A7A6F1324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904688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D4A1B-86B0-7391-1CA3-F5F55B7CC6A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539A63B-7B42-7A36-690A-5C54F903901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4D95EF5-FEE1-3043-2F1C-E6B8FC8938E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141BE81-0A47-5602-FAA6-C55ED528007D}"/>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Slide 9: Evaluation results</a:t>
            </a:r>
          </a:p>
          <a:p>
            <a:pPr marL="914400" lvl="1" indent="-457200">
              <a:lnSpc>
                <a:spcPct val="150000"/>
              </a:lnSpc>
              <a:buFont typeface="Arial" panose="020B0604020202020204" pitchFamily="34" charset="0"/>
              <a:buChar char="•"/>
            </a:pPr>
            <a:r>
              <a:rPr lang="en-US" sz="2800" dirty="0">
                <a:latin typeface="Calibir"/>
              </a:rPr>
              <a:t>metrics </a:t>
            </a:r>
          </a:p>
          <a:p>
            <a:pPr marL="914400" lvl="1" indent="-457200">
              <a:lnSpc>
                <a:spcPct val="150000"/>
              </a:lnSpc>
              <a:buFont typeface="Arial" panose="020B0604020202020204" pitchFamily="34" charset="0"/>
              <a:buChar char="•"/>
            </a:pPr>
            <a:r>
              <a:rPr lang="en-US" sz="2800" dirty="0">
                <a:latin typeface="Calibir"/>
              </a:rPr>
              <a:t>charts/tables </a:t>
            </a:r>
          </a:p>
          <a:p>
            <a:pPr marL="914400" lvl="1" indent="-457200">
              <a:lnSpc>
                <a:spcPct val="150000"/>
              </a:lnSpc>
              <a:buFont typeface="Arial" panose="020B0604020202020204" pitchFamily="34" charset="0"/>
              <a:buChar char="•"/>
            </a:pPr>
            <a:r>
              <a:rPr lang="en-US" sz="2800" dirty="0">
                <a:latin typeface="Calibir"/>
              </a:rPr>
              <a:t>confusion matrix if classification </a:t>
            </a:r>
          </a:p>
          <a:p>
            <a:pPr>
              <a:lnSpc>
                <a:spcPct val="150000"/>
              </a:lnSpc>
            </a:pPr>
            <a:r>
              <a:rPr lang="en-US" sz="2800" b="1" dirty="0">
                <a:latin typeface="Calibir"/>
              </a:rPr>
              <a:t>Slide 10: Comparison table</a:t>
            </a:r>
          </a:p>
          <a:p>
            <a:pPr marL="914400" lvl="1" indent="-457200">
              <a:lnSpc>
                <a:spcPct val="150000"/>
              </a:lnSpc>
              <a:buFont typeface="Arial" panose="020B0604020202020204" pitchFamily="34" charset="0"/>
              <a:buChar char="•"/>
            </a:pPr>
            <a:r>
              <a:rPr lang="en-US" sz="2800" dirty="0">
                <a:latin typeface="Calibir"/>
              </a:rPr>
              <a:t>direct side-by-side comparison</a:t>
            </a:r>
          </a:p>
        </p:txBody>
      </p:sp>
      <p:sp>
        <p:nvSpPr>
          <p:cNvPr id="7" name="object 2">
            <a:extLst>
              <a:ext uri="{FF2B5EF4-FFF2-40B4-BE49-F238E27FC236}">
                <a16:creationId xmlns:a16="http://schemas.microsoft.com/office/drawing/2014/main" id="{86172EE7-631F-D569-275B-4787A9C4412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8394001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8A732-3687-22A4-18C3-FB8ADDEB75F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41DF9F7-B2A8-46BC-71C9-7BEEF515042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ADB8752-6796-D2F3-1DDA-680CD2F6A20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DE895A8-B121-C483-7D2C-9180AC22A154}"/>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Slide 11: Final model choice</a:t>
            </a:r>
          </a:p>
          <a:p>
            <a:pPr marL="914400" lvl="1" indent="-457200">
              <a:lnSpc>
                <a:spcPct val="150000"/>
              </a:lnSpc>
              <a:buFont typeface="Arial" panose="020B0604020202020204" pitchFamily="34" charset="0"/>
              <a:buChar char="•"/>
            </a:pPr>
            <a:r>
              <a:rPr lang="en-US" sz="2800" dirty="0">
                <a:latin typeface="Calibir"/>
              </a:rPr>
              <a:t>why selected </a:t>
            </a:r>
          </a:p>
          <a:p>
            <a:pPr marL="914400" lvl="1" indent="-457200">
              <a:lnSpc>
                <a:spcPct val="150000"/>
              </a:lnSpc>
              <a:buFont typeface="Arial" panose="020B0604020202020204" pitchFamily="34" charset="0"/>
              <a:buChar char="•"/>
            </a:pPr>
            <a:r>
              <a:rPr lang="en-US" sz="2800" dirty="0">
                <a:latin typeface="Calibir"/>
              </a:rPr>
              <a:t>trade-offs </a:t>
            </a:r>
          </a:p>
          <a:p>
            <a:pPr>
              <a:lnSpc>
                <a:spcPct val="150000"/>
              </a:lnSpc>
            </a:pPr>
            <a:r>
              <a:rPr lang="en-US" sz="2800" b="1" dirty="0">
                <a:latin typeface="Calibir"/>
              </a:rPr>
              <a:t>Slide 12: Business insights</a:t>
            </a:r>
          </a:p>
          <a:p>
            <a:pPr marL="914400" lvl="1" indent="-457200">
              <a:lnSpc>
                <a:spcPct val="150000"/>
              </a:lnSpc>
              <a:buFont typeface="Arial" panose="020B0604020202020204" pitchFamily="34" charset="0"/>
              <a:buChar char="•"/>
            </a:pPr>
            <a:r>
              <a:rPr lang="en-US" sz="2800" dirty="0">
                <a:latin typeface="Calibir"/>
              </a:rPr>
              <a:t>3–5 insights</a:t>
            </a:r>
          </a:p>
        </p:txBody>
      </p:sp>
      <p:sp>
        <p:nvSpPr>
          <p:cNvPr id="7" name="object 2">
            <a:extLst>
              <a:ext uri="{FF2B5EF4-FFF2-40B4-BE49-F238E27FC236}">
                <a16:creationId xmlns:a16="http://schemas.microsoft.com/office/drawing/2014/main" id="{73D8DE30-2A26-31F7-26A1-9B733CB511E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9595666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3DEA7-8544-9662-2862-1A8175B08F0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4747C73-EB10-A69F-C6C1-103AE139CDB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1E52677-FDB3-5A21-DAA6-D943DF599E7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1BA0824-58BC-A246-94B8-878F4CBEA9F9}"/>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Slide 13: Ethics and bias</a:t>
            </a:r>
          </a:p>
          <a:p>
            <a:pPr marL="914400" lvl="1" indent="-457200">
              <a:lnSpc>
                <a:spcPct val="150000"/>
              </a:lnSpc>
              <a:buFont typeface="Arial" panose="020B0604020202020204" pitchFamily="34" charset="0"/>
              <a:buChar char="•"/>
            </a:pPr>
            <a:r>
              <a:rPr lang="en-US" sz="2800" dirty="0">
                <a:latin typeface="Calibir"/>
              </a:rPr>
              <a:t>real examples from variables </a:t>
            </a:r>
          </a:p>
          <a:p>
            <a:pPr marL="914400" lvl="1" indent="-457200">
              <a:lnSpc>
                <a:spcPct val="150000"/>
              </a:lnSpc>
              <a:buFont typeface="Arial" panose="020B0604020202020204" pitchFamily="34" charset="0"/>
              <a:buChar char="•"/>
            </a:pPr>
            <a:r>
              <a:rPr lang="en-US" sz="2800" dirty="0">
                <a:latin typeface="Calibir"/>
              </a:rPr>
              <a:t>mitigation </a:t>
            </a:r>
          </a:p>
          <a:p>
            <a:pPr>
              <a:lnSpc>
                <a:spcPct val="150000"/>
              </a:lnSpc>
            </a:pPr>
            <a:r>
              <a:rPr lang="en-US" sz="2800" b="1" dirty="0">
                <a:latin typeface="Calibir"/>
              </a:rPr>
              <a:t>Slide 14: Reflection</a:t>
            </a:r>
          </a:p>
          <a:p>
            <a:pPr marL="914400" lvl="1" indent="-457200">
              <a:lnSpc>
                <a:spcPct val="150000"/>
              </a:lnSpc>
              <a:buFont typeface="Arial" panose="020B0604020202020204" pitchFamily="34" charset="0"/>
              <a:buChar char="•"/>
            </a:pPr>
            <a:r>
              <a:rPr lang="en-US" sz="2800" dirty="0">
                <a:latin typeface="Calibir"/>
              </a:rPr>
              <a:t>challenges </a:t>
            </a:r>
          </a:p>
          <a:p>
            <a:pPr marL="914400" lvl="1" indent="-457200">
              <a:lnSpc>
                <a:spcPct val="150000"/>
              </a:lnSpc>
              <a:buFont typeface="Arial" panose="020B0604020202020204" pitchFamily="34" charset="0"/>
              <a:buChar char="•"/>
            </a:pPr>
            <a:r>
              <a:rPr lang="en-US" sz="2800" dirty="0">
                <a:latin typeface="Calibir"/>
              </a:rPr>
              <a:t>lessons learned </a:t>
            </a:r>
          </a:p>
          <a:p>
            <a:pPr marL="914400" lvl="1" indent="-457200">
              <a:lnSpc>
                <a:spcPct val="150000"/>
              </a:lnSpc>
              <a:buFont typeface="Arial" panose="020B0604020202020204" pitchFamily="34" charset="0"/>
              <a:buChar char="•"/>
            </a:pPr>
            <a:r>
              <a:rPr lang="en-US" sz="2800" dirty="0">
                <a:latin typeface="Calibir"/>
              </a:rPr>
              <a:t>future improvements</a:t>
            </a:r>
          </a:p>
        </p:txBody>
      </p:sp>
      <p:sp>
        <p:nvSpPr>
          <p:cNvPr id="7" name="object 2">
            <a:extLst>
              <a:ext uri="{FF2B5EF4-FFF2-40B4-BE49-F238E27FC236}">
                <a16:creationId xmlns:a16="http://schemas.microsoft.com/office/drawing/2014/main" id="{82C748A0-33AB-91FF-846B-1DC6C79C706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7755843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AA9C-8577-E2EF-F562-17224E104D8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B28448B-C39E-F041-7B7F-F00834AA005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F1905FD-979B-228D-DBC8-11664B39482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35A3052-8A78-107F-752B-8DEF62570656}"/>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Slide 15: Conclusion and Q&amp;A</a:t>
            </a:r>
          </a:p>
          <a:p>
            <a:pPr>
              <a:lnSpc>
                <a:spcPct val="150000"/>
              </a:lnSpc>
            </a:pPr>
            <a:r>
              <a:rPr lang="en-US" sz="2800" b="1" dirty="0">
                <a:latin typeface="Calibir"/>
              </a:rPr>
              <a:t>Presentation tip</a:t>
            </a:r>
          </a:p>
          <a:p>
            <a:pPr>
              <a:lnSpc>
                <a:spcPct val="150000"/>
              </a:lnSpc>
            </a:pPr>
            <a:r>
              <a:rPr lang="en-US" sz="2800" dirty="0">
                <a:latin typeface="Calibir"/>
              </a:rPr>
              <a:t>Do not put too much text on slides.</a:t>
            </a:r>
            <a:br>
              <a:rPr lang="en-US" sz="2800" dirty="0">
                <a:latin typeface="Calibir"/>
              </a:rPr>
            </a:br>
            <a:r>
              <a:rPr lang="en-US" sz="2800" dirty="0">
                <a:latin typeface="Calibir"/>
              </a:rPr>
              <a:t>Slides should support speaking, not replace it.</a:t>
            </a:r>
          </a:p>
        </p:txBody>
      </p:sp>
      <p:sp>
        <p:nvSpPr>
          <p:cNvPr id="7" name="object 2">
            <a:extLst>
              <a:ext uri="{FF2B5EF4-FFF2-40B4-BE49-F238E27FC236}">
                <a16:creationId xmlns:a16="http://schemas.microsoft.com/office/drawing/2014/main" id="{93A2FB98-61B2-DB70-13DF-810E87E8278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295698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CB587-9C6B-F73D-9380-D73975D9D63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D6ADCCC-81D3-80A9-C887-5463A397853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1D97372-4DD6-AEB1-FC10-7CAC11CC932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70E6EA7-C67E-3AAB-40AC-5EEF45F8DCC1}"/>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8. Example project idea</a:t>
            </a:r>
          </a:p>
          <a:p>
            <a:pPr>
              <a:lnSpc>
                <a:spcPct val="150000"/>
              </a:lnSpc>
            </a:pPr>
            <a:r>
              <a:rPr lang="en-US" sz="2800" dirty="0">
                <a:latin typeface="Calibir"/>
              </a:rPr>
              <a:t>Here is one full example.</a:t>
            </a:r>
          </a:p>
          <a:p>
            <a:pPr>
              <a:lnSpc>
                <a:spcPct val="150000"/>
              </a:lnSpc>
            </a:pPr>
            <a:r>
              <a:rPr lang="en-US" sz="2800" b="1" dirty="0">
                <a:latin typeface="Calibir"/>
              </a:rPr>
              <a:t>Example dataset</a:t>
            </a:r>
          </a:p>
          <a:p>
            <a:pPr>
              <a:lnSpc>
                <a:spcPct val="150000"/>
              </a:lnSpc>
            </a:pPr>
            <a:r>
              <a:rPr lang="en-US" sz="2800" b="1" dirty="0">
                <a:latin typeface="Calibir"/>
              </a:rPr>
              <a:t>IBM HR Attrition Dataset</a:t>
            </a:r>
            <a:endParaRPr lang="en-US" sz="2800" dirty="0">
              <a:latin typeface="Calibir"/>
            </a:endParaRPr>
          </a:p>
          <a:p>
            <a:pPr>
              <a:lnSpc>
                <a:spcPct val="150000"/>
              </a:lnSpc>
            </a:pPr>
            <a:r>
              <a:rPr lang="en-US" sz="2800" b="1" dirty="0">
                <a:latin typeface="Calibir"/>
              </a:rPr>
              <a:t>Predictive problem</a:t>
            </a:r>
          </a:p>
          <a:p>
            <a:pPr>
              <a:lnSpc>
                <a:spcPct val="150000"/>
              </a:lnSpc>
            </a:pPr>
            <a:r>
              <a:rPr lang="en-US" sz="2800" dirty="0">
                <a:latin typeface="Calibir"/>
              </a:rPr>
              <a:t>Predict whether an employee will leave the company.</a:t>
            </a:r>
          </a:p>
        </p:txBody>
      </p:sp>
      <p:sp>
        <p:nvSpPr>
          <p:cNvPr id="7" name="object 2">
            <a:extLst>
              <a:ext uri="{FF2B5EF4-FFF2-40B4-BE49-F238E27FC236}">
                <a16:creationId xmlns:a16="http://schemas.microsoft.com/office/drawing/2014/main" id="{81DB8E86-F09F-0CF2-60FE-4182D0B66E1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6210553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3101-A28E-1663-98AF-D0A1FFF1F80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C790A80-A413-9E16-BF8B-5356B4C01DF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60F7F3A-6ED5-CDB9-BFC1-17BB3E7C942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812F24F-B8F6-DC56-CB60-41068EF8DF10}"/>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Model 1</a:t>
            </a:r>
          </a:p>
          <a:p>
            <a:pPr>
              <a:lnSpc>
                <a:spcPct val="150000"/>
              </a:lnSpc>
            </a:pPr>
            <a:r>
              <a:rPr lang="en-US" sz="2800" b="1" dirty="0">
                <a:latin typeface="Calibir"/>
              </a:rPr>
              <a:t>Logistic Regression</a:t>
            </a: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good baseline model </a:t>
            </a:r>
          </a:p>
          <a:p>
            <a:pPr marL="914400" lvl="1" indent="-457200">
              <a:lnSpc>
                <a:spcPct val="150000"/>
              </a:lnSpc>
              <a:buFont typeface="Arial" panose="020B0604020202020204" pitchFamily="34" charset="0"/>
              <a:buChar char="•"/>
            </a:pPr>
            <a:r>
              <a:rPr lang="en-US" sz="2800" dirty="0">
                <a:latin typeface="Calibir"/>
              </a:rPr>
              <a:t>interpretable </a:t>
            </a:r>
          </a:p>
          <a:p>
            <a:pPr marL="914400" lvl="1" indent="-457200">
              <a:lnSpc>
                <a:spcPct val="150000"/>
              </a:lnSpc>
              <a:buFont typeface="Arial" panose="020B0604020202020204" pitchFamily="34" charset="0"/>
              <a:buChar char="•"/>
            </a:pPr>
            <a:r>
              <a:rPr lang="en-US" sz="2800" dirty="0">
                <a:latin typeface="Calibir"/>
              </a:rPr>
              <a:t>suitable for binary classification</a:t>
            </a:r>
          </a:p>
        </p:txBody>
      </p:sp>
      <p:sp>
        <p:nvSpPr>
          <p:cNvPr id="7" name="object 2">
            <a:extLst>
              <a:ext uri="{FF2B5EF4-FFF2-40B4-BE49-F238E27FC236}">
                <a16:creationId xmlns:a16="http://schemas.microsoft.com/office/drawing/2014/main" id="{4AA7B134-35CB-5977-B165-94ACDF9BAFD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272207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09F4-2B79-89A3-F916-3AD55372F57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CB5B263-7752-2EDF-172D-073BE632CAB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C0CA9F0-D00B-B854-B6AD-1797D08C1D2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F544ED1-31D3-D7A1-DA32-F012EEB35C6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Model 2</a:t>
            </a:r>
          </a:p>
          <a:p>
            <a:pPr>
              <a:lnSpc>
                <a:spcPct val="150000"/>
              </a:lnSpc>
            </a:pPr>
            <a:r>
              <a:rPr lang="en-US" sz="2800" b="1" dirty="0">
                <a:latin typeface="Calibir"/>
              </a:rPr>
              <a:t>Random Forest Classifier</a:t>
            </a:r>
            <a:endParaRPr lang="en-US" sz="2800" dirty="0">
              <a:latin typeface="Calibir"/>
            </a:endParaRP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handles non-linear patterns </a:t>
            </a:r>
          </a:p>
          <a:p>
            <a:pPr marL="914400" lvl="1" indent="-457200">
              <a:lnSpc>
                <a:spcPct val="150000"/>
              </a:lnSpc>
              <a:buFont typeface="Arial" panose="020B0604020202020204" pitchFamily="34" charset="0"/>
              <a:buChar char="•"/>
            </a:pPr>
            <a:r>
              <a:rPr lang="en-US" sz="2800" dirty="0">
                <a:latin typeface="Calibir"/>
              </a:rPr>
              <a:t>often gives stronger prediction performance </a:t>
            </a:r>
          </a:p>
          <a:p>
            <a:pPr marL="914400" lvl="1" indent="-457200">
              <a:lnSpc>
                <a:spcPct val="150000"/>
              </a:lnSpc>
              <a:buFont typeface="Arial" panose="020B0604020202020204" pitchFamily="34" charset="0"/>
              <a:buChar char="•"/>
            </a:pPr>
            <a:r>
              <a:rPr lang="en-US" sz="2800" dirty="0">
                <a:latin typeface="Calibir"/>
              </a:rPr>
              <a:t>useful for feature importance</a:t>
            </a:r>
          </a:p>
        </p:txBody>
      </p:sp>
      <p:sp>
        <p:nvSpPr>
          <p:cNvPr id="7" name="object 2">
            <a:extLst>
              <a:ext uri="{FF2B5EF4-FFF2-40B4-BE49-F238E27FC236}">
                <a16:creationId xmlns:a16="http://schemas.microsoft.com/office/drawing/2014/main" id="{04BCB384-3315-28AA-3ED7-476F992411E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2607816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23AE2-322E-BFD3-D7B3-74C2D241F1E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92BE702-7FD5-8579-5AE1-A58685C04A8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E211168-937F-32D1-99D7-9B55D8F81AC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AF4F857-AF3D-7D84-C147-847E218D54C9}"/>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Preprocessing example</a:t>
            </a:r>
          </a:p>
          <a:p>
            <a:pPr marL="914400" lvl="1" indent="-457200">
              <a:lnSpc>
                <a:spcPct val="150000"/>
              </a:lnSpc>
              <a:buFont typeface="Arial" panose="020B0604020202020204" pitchFamily="34" charset="0"/>
              <a:buChar char="•"/>
            </a:pPr>
            <a:r>
              <a:rPr lang="en-US" sz="2800" dirty="0">
                <a:latin typeface="Calibir"/>
              </a:rPr>
              <a:t>remove unnecessary employee ID field </a:t>
            </a:r>
          </a:p>
          <a:p>
            <a:pPr marL="914400" lvl="1" indent="-457200">
              <a:lnSpc>
                <a:spcPct val="150000"/>
              </a:lnSpc>
              <a:buFont typeface="Arial" panose="020B0604020202020204" pitchFamily="34" charset="0"/>
              <a:buChar char="•"/>
            </a:pPr>
            <a:r>
              <a:rPr lang="en-US" sz="2800" dirty="0">
                <a:latin typeface="Calibir"/>
              </a:rPr>
              <a:t>encode categorical variables </a:t>
            </a:r>
          </a:p>
          <a:p>
            <a:pPr marL="914400" lvl="1" indent="-457200">
              <a:lnSpc>
                <a:spcPct val="150000"/>
              </a:lnSpc>
              <a:buFont typeface="Arial" panose="020B0604020202020204" pitchFamily="34" charset="0"/>
              <a:buChar char="•"/>
            </a:pPr>
            <a:r>
              <a:rPr lang="en-US" sz="2800" dirty="0" err="1">
                <a:latin typeface="Calibir"/>
              </a:rPr>
              <a:t>standardise</a:t>
            </a:r>
            <a:r>
              <a:rPr lang="en-US" sz="2800" dirty="0">
                <a:latin typeface="Calibir"/>
              </a:rPr>
              <a:t> numeric features for logistic regression </a:t>
            </a:r>
          </a:p>
          <a:p>
            <a:pPr marL="914400" lvl="1" indent="-457200">
              <a:lnSpc>
                <a:spcPct val="150000"/>
              </a:lnSpc>
              <a:buFont typeface="Arial" panose="020B0604020202020204" pitchFamily="34" charset="0"/>
              <a:buChar char="•"/>
            </a:pPr>
            <a:r>
              <a:rPr lang="en-US" sz="2800" dirty="0">
                <a:latin typeface="Calibir"/>
              </a:rPr>
              <a:t>split data into train and test sets </a:t>
            </a:r>
          </a:p>
          <a:p>
            <a:pPr marL="914400" lvl="1" indent="-457200">
              <a:lnSpc>
                <a:spcPct val="150000"/>
              </a:lnSpc>
              <a:buFont typeface="Arial" panose="020B0604020202020204" pitchFamily="34" charset="0"/>
              <a:buChar char="•"/>
            </a:pPr>
            <a:r>
              <a:rPr lang="en-US" sz="2800" dirty="0">
                <a:latin typeface="Calibir"/>
              </a:rPr>
              <a:t>examine imbalance in attrition class</a:t>
            </a:r>
          </a:p>
        </p:txBody>
      </p:sp>
      <p:sp>
        <p:nvSpPr>
          <p:cNvPr id="7" name="object 2">
            <a:extLst>
              <a:ext uri="{FF2B5EF4-FFF2-40B4-BE49-F238E27FC236}">
                <a16:creationId xmlns:a16="http://schemas.microsoft.com/office/drawing/2014/main" id="{192C0A1D-64F0-49AA-95FC-F009554A3A7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990318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53DE-D17B-7A16-97C5-BB405A9272D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24C66092-D7AC-8E6E-DA14-56A18A66410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593DEDC-AAEC-B5FC-F016-197719C1913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0140686-D1E9-B70B-22F0-A62A991A986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Evaluation metrics</a:t>
            </a:r>
          </a:p>
          <a:p>
            <a:pPr marL="914400" lvl="1" indent="-457200">
              <a:lnSpc>
                <a:spcPct val="150000"/>
              </a:lnSpc>
              <a:buFont typeface="Arial" panose="020B0604020202020204" pitchFamily="34" charset="0"/>
              <a:buChar char="•"/>
            </a:pPr>
            <a:r>
              <a:rPr lang="en-US" sz="2800" dirty="0">
                <a:latin typeface="Calibir"/>
              </a:rPr>
              <a:t>accuracy </a:t>
            </a:r>
          </a:p>
          <a:p>
            <a:pPr marL="914400" lvl="1" indent="-457200">
              <a:lnSpc>
                <a:spcPct val="150000"/>
              </a:lnSpc>
              <a:buFont typeface="Arial" panose="020B0604020202020204" pitchFamily="34" charset="0"/>
              <a:buChar char="•"/>
            </a:pPr>
            <a:r>
              <a:rPr lang="en-US" sz="2800" dirty="0">
                <a:latin typeface="Calibir"/>
              </a:rPr>
              <a:t>precision </a:t>
            </a:r>
          </a:p>
          <a:p>
            <a:pPr marL="914400" lvl="1" indent="-457200">
              <a:lnSpc>
                <a:spcPct val="150000"/>
              </a:lnSpc>
              <a:buFont typeface="Arial" panose="020B0604020202020204" pitchFamily="34" charset="0"/>
              <a:buChar char="•"/>
            </a:pPr>
            <a:r>
              <a:rPr lang="en-US" sz="2800" dirty="0">
                <a:latin typeface="Calibir"/>
              </a:rPr>
              <a:t>recall </a:t>
            </a:r>
          </a:p>
          <a:p>
            <a:pPr marL="914400" lvl="1" indent="-457200">
              <a:lnSpc>
                <a:spcPct val="150000"/>
              </a:lnSpc>
              <a:buFont typeface="Arial" panose="020B0604020202020204" pitchFamily="34" charset="0"/>
              <a:buChar char="•"/>
            </a:pPr>
            <a:r>
              <a:rPr lang="en-US" sz="2800" dirty="0">
                <a:latin typeface="Calibir"/>
              </a:rPr>
              <a:t>F1-score </a:t>
            </a:r>
          </a:p>
          <a:p>
            <a:pPr marL="914400" lvl="1" indent="-457200">
              <a:lnSpc>
                <a:spcPct val="150000"/>
              </a:lnSpc>
              <a:buFont typeface="Arial" panose="020B0604020202020204" pitchFamily="34" charset="0"/>
              <a:buChar char="•"/>
            </a:pPr>
            <a:r>
              <a:rPr lang="en-US" sz="2800" dirty="0">
                <a:latin typeface="Calibir"/>
              </a:rPr>
              <a:t>confusion matrix</a:t>
            </a:r>
          </a:p>
        </p:txBody>
      </p:sp>
      <p:sp>
        <p:nvSpPr>
          <p:cNvPr id="7" name="object 2">
            <a:extLst>
              <a:ext uri="{FF2B5EF4-FFF2-40B4-BE49-F238E27FC236}">
                <a16:creationId xmlns:a16="http://schemas.microsoft.com/office/drawing/2014/main" id="{F0AFAF3D-5CA2-827A-5B24-AA6DC524580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3537123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A2CF4-5405-56B9-D8CC-7A3F03A4B9E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A129C6E-897D-15F4-FC97-D2EFB59665E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D0F20FA-2EF5-E00E-6DA6-13E844B12F5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7A6E9C4-6A40-BA96-E46E-A8E6B7327DC0}"/>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Possible insights</a:t>
            </a:r>
          </a:p>
          <a:p>
            <a:pPr marL="914400" lvl="1" indent="-457200">
              <a:lnSpc>
                <a:spcPct val="150000"/>
              </a:lnSpc>
              <a:buFont typeface="Arial" panose="020B0604020202020204" pitchFamily="34" charset="0"/>
              <a:buChar char="•"/>
            </a:pPr>
            <a:r>
              <a:rPr lang="en-US" sz="2800" dirty="0">
                <a:latin typeface="Calibir"/>
              </a:rPr>
              <a:t>overtime strongly predicts attrition </a:t>
            </a:r>
          </a:p>
          <a:p>
            <a:pPr marL="914400" lvl="1" indent="-457200">
              <a:lnSpc>
                <a:spcPct val="150000"/>
              </a:lnSpc>
              <a:buFont typeface="Arial" panose="020B0604020202020204" pitchFamily="34" charset="0"/>
              <a:buChar char="•"/>
            </a:pPr>
            <a:r>
              <a:rPr lang="en-US" sz="2800" dirty="0">
                <a:latin typeface="Calibir"/>
              </a:rPr>
              <a:t>lower job satisfaction increases attrition risk </a:t>
            </a:r>
          </a:p>
          <a:p>
            <a:pPr marL="914400" lvl="1" indent="-457200">
              <a:lnSpc>
                <a:spcPct val="150000"/>
              </a:lnSpc>
              <a:buFont typeface="Arial" panose="020B0604020202020204" pitchFamily="34" charset="0"/>
              <a:buChar char="•"/>
            </a:pPr>
            <a:r>
              <a:rPr lang="en-US" sz="2800" dirty="0">
                <a:latin typeface="Calibir"/>
              </a:rPr>
              <a:t>income and years at company matter </a:t>
            </a:r>
          </a:p>
          <a:p>
            <a:pPr marL="914400" lvl="1" indent="-457200">
              <a:lnSpc>
                <a:spcPct val="150000"/>
              </a:lnSpc>
              <a:buFont typeface="Arial" panose="020B0604020202020204" pitchFamily="34" charset="0"/>
              <a:buChar char="•"/>
            </a:pPr>
            <a:r>
              <a:rPr lang="en-US" sz="2800" dirty="0">
                <a:latin typeface="Calibir"/>
              </a:rPr>
              <a:t>certain job roles have higher turnover risk</a:t>
            </a:r>
          </a:p>
        </p:txBody>
      </p:sp>
      <p:sp>
        <p:nvSpPr>
          <p:cNvPr id="7" name="object 2">
            <a:extLst>
              <a:ext uri="{FF2B5EF4-FFF2-40B4-BE49-F238E27FC236}">
                <a16:creationId xmlns:a16="http://schemas.microsoft.com/office/drawing/2014/main" id="{21C5A67B-2083-F2C6-2F58-67B166CFE11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729289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AB36B-452F-41B1-376D-58C15E35469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562C74C-C4DE-740C-1E99-9BED7FF3603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CCD3C07-06F9-879F-2CCA-0F640BD2902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168FEB1-8128-4C25-6FF8-D877BF824D3D}"/>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Ethics issues</a:t>
            </a:r>
          </a:p>
          <a:p>
            <a:pPr marL="914400" lvl="1" indent="-457200">
              <a:lnSpc>
                <a:spcPct val="150000"/>
              </a:lnSpc>
              <a:buFont typeface="Arial" panose="020B0604020202020204" pitchFamily="34" charset="0"/>
              <a:buChar char="•"/>
            </a:pPr>
            <a:r>
              <a:rPr lang="en-US" sz="2800" dirty="0">
                <a:latin typeface="Calibir"/>
              </a:rPr>
              <a:t>age and gender may create bias </a:t>
            </a:r>
          </a:p>
          <a:p>
            <a:pPr marL="914400" lvl="1" indent="-457200">
              <a:lnSpc>
                <a:spcPct val="150000"/>
              </a:lnSpc>
              <a:buFont typeface="Arial" panose="020B0604020202020204" pitchFamily="34" charset="0"/>
              <a:buChar char="•"/>
            </a:pPr>
            <a:r>
              <a:rPr lang="en-US" sz="2800" dirty="0">
                <a:latin typeface="Calibir"/>
              </a:rPr>
              <a:t>historical HR decisions may already contain bias </a:t>
            </a:r>
          </a:p>
          <a:p>
            <a:pPr marL="914400" lvl="1" indent="-457200">
              <a:lnSpc>
                <a:spcPct val="150000"/>
              </a:lnSpc>
              <a:buFont typeface="Arial" panose="020B0604020202020204" pitchFamily="34" charset="0"/>
              <a:buChar char="•"/>
            </a:pPr>
            <a:r>
              <a:rPr lang="en-US" sz="2800" dirty="0">
                <a:latin typeface="Calibir"/>
              </a:rPr>
              <a:t>model should support HR decision-making, not fully automate it</a:t>
            </a:r>
          </a:p>
        </p:txBody>
      </p:sp>
      <p:sp>
        <p:nvSpPr>
          <p:cNvPr id="7" name="object 2">
            <a:extLst>
              <a:ext uri="{FF2B5EF4-FFF2-40B4-BE49-F238E27FC236}">
                <a16:creationId xmlns:a16="http://schemas.microsoft.com/office/drawing/2014/main" id="{4913EC07-CFD1-6D8F-2CB7-D53A0BF2324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7781100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C9A15-DC4F-94A7-2CE6-072DBB57A22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AEEAC4B-3F46-1D87-DA74-982B2852D246}"/>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3FEB774-81E4-0476-F8B4-7EB47A80CDA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9E5D079-0F92-55DD-8DE6-44E8FBBDC229}"/>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Reflection</a:t>
            </a:r>
          </a:p>
          <a:p>
            <a:pPr marL="914400" lvl="1" indent="-457200">
              <a:lnSpc>
                <a:spcPct val="150000"/>
              </a:lnSpc>
              <a:buFont typeface="Arial" panose="020B0604020202020204" pitchFamily="34" charset="0"/>
              <a:buChar char="•"/>
            </a:pPr>
            <a:r>
              <a:rPr lang="en-US" sz="2800" dirty="0">
                <a:latin typeface="Calibir"/>
              </a:rPr>
              <a:t>Random Forest performed better but was less interpretable </a:t>
            </a:r>
          </a:p>
          <a:p>
            <a:pPr marL="914400" lvl="1" indent="-457200">
              <a:lnSpc>
                <a:spcPct val="150000"/>
              </a:lnSpc>
              <a:buFont typeface="Arial" panose="020B0604020202020204" pitchFamily="34" charset="0"/>
              <a:buChar char="•"/>
            </a:pPr>
            <a:r>
              <a:rPr lang="en-US" sz="2800" dirty="0">
                <a:latin typeface="Calibir"/>
              </a:rPr>
              <a:t>Logistic Regression was easier to explain </a:t>
            </a:r>
          </a:p>
          <a:p>
            <a:pPr marL="914400" lvl="1" indent="-457200">
              <a:lnSpc>
                <a:spcPct val="150000"/>
              </a:lnSpc>
              <a:buFont typeface="Arial" panose="020B0604020202020204" pitchFamily="34" charset="0"/>
              <a:buChar char="•"/>
            </a:pPr>
            <a:r>
              <a:rPr lang="en-US" sz="2800" dirty="0">
                <a:latin typeface="Calibir"/>
              </a:rPr>
              <a:t>More tuning and class-balancing could improve results</a:t>
            </a:r>
          </a:p>
        </p:txBody>
      </p:sp>
      <p:sp>
        <p:nvSpPr>
          <p:cNvPr id="7" name="object 2">
            <a:extLst>
              <a:ext uri="{FF2B5EF4-FFF2-40B4-BE49-F238E27FC236}">
                <a16:creationId xmlns:a16="http://schemas.microsoft.com/office/drawing/2014/main" id="{08FFBA43-331F-B077-6D7C-470D2A10FBB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8512257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A7D3C-2EAC-1CBD-E75C-AC1FD47703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8943FF72-B4DE-4A83-081C-FF4F3A62837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3F0A79E-9D77-8622-CA03-46C143D0B69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BD10AFD-8D5E-07AB-ECF6-0DC09459C758}"/>
              </a:ext>
            </a:extLst>
          </p:cNvPr>
          <p:cNvSpPr txBox="1"/>
          <p:nvPr/>
        </p:nvSpPr>
        <p:spPr>
          <a:xfrm>
            <a:off x="0" y="752630"/>
            <a:ext cx="10913806" cy="6133859"/>
          </a:xfrm>
          <a:prstGeom prst="rect">
            <a:avLst/>
          </a:prstGeom>
          <a:noFill/>
        </p:spPr>
        <p:txBody>
          <a:bodyPr wrap="square">
            <a:spAutoFit/>
          </a:bodyPr>
          <a:lstStyle/>
          <a:p>
            <a:pPr>
              <a:lnSpc>
                <a:spcPct val="150000"/>
              </a:lnSpc>
            </a:pPr>
            <a:r>
              <a:rPr lang="en-US" sz="2200" b="1" dirty="0">
                <a:latin typeface="Calibir"/>
              </a:rPr>
              <a:t>9. What to do</a:t>
            </a:r>
          </a:p>
          <a:p>
            <a:pPr>
              <a:lnSpc>
                <a:spcPct val="150000"/>
              </a:lnSpc>
            </a:pPr>
            <a:r>
              <a:rPr lang="en-US" sz="2200" b="1" dirty="0">
                <a:latin typeface="Calibir"/>
              </a:rPr>
              <a:t>Do this</a:t>
            </a:r>
          </a:p>
          <a:p>
            <a:pPr marL="800100" lvl="1" indent="-342900">
              <a:lnSpc>
                <a:spcPct val="150000"/>
              </a:lnSpc>
              <a:buFont typeface="Arial" panose="020B0604020202020204" pitchFamily="34" charset="0"/>
              <a:buChar char="•"/>
            </a:pPr>
            <a:r>
              <a:rPr lang="en-US" sz="2200" dirty="0">
                <a:latin typeface="Calibir"/>
              </a:rPr>
              <a:t>define one clear predictive problem </a:t>
            </a:r>
          </a:p>
          <a:p>
            <a:pPr marL="800100" lvl="1" indent="-342900">
              <a:lnSpc>
                <a:spcPct val="150000"/>
              </a:lnSpc>
              <a:buFont typeface="Arial" panose="020B0604020202020204" pitchFamily="34" charset="0"/>
              <a:buChar char="•"/>
            </a:pPr>
            <a:r>
              <a:rPr lang="en-US" sz="2200" dirty="0">
                <a:latin typeface="Calibir"/>
              </a:rPr>
              <a:t>choose two suitable models </a:t>
            </a:r>
          </a:p>
          <a:p>
            <a:pPr marL="800100" lvl="1" indent="-342900">
              <a:lnSpc>
                <a:spcPct val="150000"/>
              </a:lnSpc>
              <a:buFont typeface="Arial" panose="020B0604020202020204" pitchFamily="34" charset="0"/>
              <a:buChar char="•"/>
            </a:pPr>
            <a:r>
              <a:rPr lang="en-US" sz="2200" dirty="0">
                <a:latin typeface="Calibir"/>
              </a:rPr>
              <a:t>justify every preprocessing step </a:t>
            </a:r>
          </a:p>
          <a:p>
            <a:pPr marL="800100" lvl="1" indent="-342900">
              <a:lnSpc>
                <a:spcPct val="150000"/>
              </a:lnSpc>
              <a:buFont typeface="Arial" panose="020B0604020202020204" pitchFamily="34" charset="0"/>
              <a:buChar char="•"/>
            </a:pPr>
            <a:r>
              <a:rPr lang="en-US" sz="2200" dirty="0">
                <a:latin typeface="Calibir"/>
              </a:rPr>
              <a:t>explain assumptions with evidence </a:t>
            </a:r>
          </a:p>
          <a:p>
            <a:pPr marL="800100" lvl="1" indent="-342900">
              <a:lnSpc>
                <a:spcPct val="150000"/>
              </a:lnSpc>
              <a:buFont typeface="Arial" panose="020B0604020202020204" pitchFamily="34" charset="0"/>
              <a:buChar char="•"/>
            </a:pPr>
            <a:r>
              <a:rPr lang="en-US" sz="2200" dirty="0">
                <a:latin typeface="Calibir"/>
              </a:rPr>
              <a:t>compare models using proper metrics </a:t>
            </a:r>
          </a:p>
          <a:p>
            <a:pPr marL="800100" lvl="1" indent="-342900">
              <a:lnSpc>
                <a:spcPct val="150000"/>
              </a:lnSpc>
              <a:buFont typeface="Arial" panose="020B0604020202020204" pitchFamily="34" charset="0"/>
              <a:buChar char="•"/>
            </a:pPr>
            <a:r>
              <a:rPr lang="en-US" sz="2200" dirty="0">
                <a:latin typeface="Calibir"/>
              </a:rPr>
              <a:t>connect technical results to business value </a:t>
            </a:r>
          </a:p>
          <a:p>
            <a:pPr marL="800100" lvl="1" indent="-342900">
              <a:lnSpc>
                <a:spcPct val="150000"/>
              </a:lnSpc>
              <a:buFont typeface="Arial" panose="020B0604020202020204" pitchFamily="34" charset="0"/>
              <a:buChar char="•"/>
            </a:pPr>
            <a:r>
              <a:rPr lang="en-US" sz="2200" dirty="0">
                <a:latin typeface="Calibir"/>
              </a:rPr>
              <a:t>discuss ethics using real variables from your dataset </a:t>
            </a:r>
          </a:p>
          <a:p>
            <a:pPr marL="800100" lvl="1" indent="-342900">
              <a:lnSpc>
                <a:spcPct val="150000"/>
              </a:lnSpc>
              <a:buFont typeface="Arial" panose="020B0604020202020204" pitchFamily="34" charset="0"/>
              <a:buChar char="•"/>
            </a:pPr>
            <a:r>
              <a:rPr lang="en-US" sz="2200" dirty="0">
                <a:latin typeface="Calibir"/>
              </a:rPr>
              <a:t>keep screenshots as proof </a:t>
            </a:r>
          </a:p>
          <a:p>
            <a:pPr marL="800100" lvl="1" indent="-342900">
              <a:lnSpc>
                <a:spcPct val="150000"/>
              </a:lnSpc>
              <a:buFont typeface="Arial" panose="020B0604020202020204" pitchFamily="34" charset="0"/>
              <a:buChar char="•"/>
            </a:pPr>
            <a:r>
              <a:rPr lang="en-US" sz="2200" dirty="0">
                <a:latin typeface="Calibir"/>
              </a:rPr>
              <a:t>prepare all members for Q&amp;A </a:t>
            </a:r>
          </a:p>
          <a:p>
            <a:pPr marL="800100" lvl="1" indent="-342900">
              <a:lnSpc>
                <a:spcPct val="150000"/>
              </a:lnSpc>
              <a:buFont typeface="Arial" panose="020B0604020202020204" pitchFamily="34" charset="0"/>
              <a:buChar char="•"/>
            </a:pPr>
            <a:r>
              <a:rPr lang="en-US" sz="2200" dirty="0">
                <a:latin typeface="Calibir"/>
              </a:rPr>
              <a:t>follow Holmes Adapted Harvard carefully</a:t>
            </a:r>
          </a:p>
        </p:txBody>
      </p:sp>
      <p:sp>
        <p:nvSpPr>
          <p:cNvPr id="7" name="object 2">
            <a:extLst>
              <a:ext uri="{FF2B5EF4-FFF2-40B4-BE49-F238E27FC236}">
                <a16:creationId xmlns:a16="http://schemas.microsoft.com/office/drawing/2014/main" id="{EDF6A51B-53EB-CB10-1578-E975C1EE709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7228827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1481-F38D-6784-6981-A006BAAF3F6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62A9078-C38D-95E0-A6DB-FDF85265D6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A147DA2-3BAB-2A55-6C3E-51955BFB516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1F92BB8-CB4A-8CA5-07CD-D4DD7BCEC637}"/>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10. What to avoid</a:t>
            </a:r>
          </a:p>
          <a:p>
            <a:pPr>
              <a:lnSpc>
                <a:spcPct val="150000"/>
              </a:lnSpc>
            </a:pPr>
            <a:r>
              <a:rPr lang="en-US" sz="2800" b="1" dirty="0">
                <a:latin typeface="Calibir"/>
              </a:rPr>
              <a:t>Do not do this</a:t>
            </a:r>
          </a:p>
          <a:p>
            <a:pPr marL="800100" lvl="1" indent="-342900">
              <a:lnSpc>
                <a:spcPct val="150000"/>
              </a:lnSpc>
              <a:buFont typeface="Arial" panose="020B0604020202020204" pitchFamily="34" charset="0"/>
              <a:buChar char="•"/>
            </a:pPr>
            <a:r>
              <a:rPr lang="en-US" sz="2800" dirty="0">
                <a:latin typeface="Calibir"/>
              </a:rPr>
              <a:t>do not just describe the dataset without a predictive objective </a:t>
            </a:r>
          </a:p>
          <a:p>
            <a:pPr marL="800100" lvl="1" indent="-342900">
              <a:lnSpc>
                <a:spcPct val="150000"/>
              </a:lnSpc>
              <a:buFont typeface="Arial" panose="020B0604020202020204" pitchFamily="34" charset="0"/>
              <a:buChar char="•"/>
            </a:pPr>
            <a:r>
              <a:rPr lang="en-US" sz="2800" dirty="0">
                <a:latin typeface="Calibir"/>
              </a:rPr>
              <a:t>do not build only one model </a:t>
            </a:r>
          </a:p>
          <a:p>
            <a:pPr marL="800100" lvl="1" indent="-342900">
              <a:lnSpc>
                <a:spcPct val="150000"/>
              </a:lnSpc>
              <a:buFont typeface="Arial" panose="020B0604020202020204" pitchFamily="34" charset="0"/>
              <a:buChar char="•"/>
            </a:pPr>
            <a:r>
              <a:rPr lang="en-US" sz="2800" dirty="0">
                <a:latin typeface="Calibir"/>
              </a:rPr>
              <a:t>do not use a model without explaining why it suits the data </a:t>
            </a:r>
          </a:p>
          <a:p>
            <a:pPr marL="800100" lvl="1" indent="-342900">
              <a:lnSpc>
                <a:spcPct val="150000"/>
              </a:lnSpc>
              <a:buFont typeface="Arial" panose="020B0604020202020204" pitchFamily="34" charset="0"/>
              <a:buChar char="•"/>
            </a:pPr>
            <a:r>
              <a:rPr lang="en-US" sz="2800" dirty="0">
                <a:latin typeface="Calibir"/>
              </a:rPr>
              <a:t>do not list preprocessing steps without justification </a:t>
            </a:r>
          </a:p>
          <a:p>
            <a:pPr marL="800100" lvl="1" indent="-342900">
              <a:lnSpc>
                <a:spcPct val="150000"/>
              </a:lnSpc>
              <a:buFont typeface="Arial" panose="020B0604020202020204" pitchFamily="34" charset="0"/>
              <a:buChar char="•"/>
            </a:pPr>
            <a:r>
              <a:rPr lang="en-US" sz="2800" dirty="0">
                <a:latin typeface="Calibir"/>
              </a:rPr>
              <a:t>do not rely only on accuracy </a:t>
            </a:r>
          </a:p>
          <a:p>
            <a:pPr marL="800100" lvl="1" indent="-342900">
              <a:lnSpc>
                <a:spcPct val="150000"/>
              </a:lnSpc>
              <a:buFont typeface="Arial" panose="020B0604020202020204" pitchFamily="34" charset="0"/>
              <a:buChar char="•"/>
            </a:pPr>
            <a:r>
              <a:rPr lang="en-US" sz="2800" dirty="0">
                <a:latin typeface="Calibir"/>
              </a:rPr>
              <a:t>do not ignore overfitting/underfitting </a:t>
            </a:r>
          </a:p>
          <a:p>
            <a:pPr marL="800100" lvl="1" indent="-342900">
              <a:lnSpc>
                <a:spcPct val="150000"/>
              </a:lnSpc>
              <a:buFont typeface="Arial" panose="020B0604020202020204" pitchFamily="34" charset="0"/>
              <a:buChar char="•"/>
            </a:pPr>
            <a:r>
              <a:rPr lang="en-US" sz="2800" dirty="0">
                <a:latin typeface="Calibir"/>
              </a:rPr>
              <a:t>do not write generic ethics points with no dataset examples</a:t>
            </a:r>
          </a:p>
        </p:txBody>
      </p:sp>
      <p:sp>
        <p:nvSpPr>
          <p:cNvPr id="7" name="object 2">
            <a:extLst>
              <a:ext uri="{FF2B5EF4-FFF2-40B4-BE49-F238E27FC236}">
                <a16:creationId xmlns:a16="http://schemas.microsoft.com/office/drawing/2014/main" id="{97E5ED2A-EFCE-877A-5ACD-A52D38258F3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26596642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D3567-9389-2CCF-BE46-D3A525224B3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27A51C5-780B-E49E-4252-42C9BF75AD73}"/>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0B23BBD-09E9-ABFA-979C-5DEB2DB8979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54C02CF-6749-1567-A135-AB6262647103}"/>
              </a:ext>
            </a:extLst>
          </p:cNvPr>
          <p:cNvSpPr txBox="1"/>
          <p:nvPr/>
        </p:nvSpPr>
        <p:spPr>
          <a:xfrm>
            <a:off x="0" y="752630"/>
            <a:ext cx="10913806" cy="2610843"/>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en-US" sz="2800" dirty="0">
                <a:latin typeface="Calibir"/>
              </a:rPr>
              <a:t>do not read directly from slides </a:t>
            </a:r>
          </a:p>
          <a:p>
            <a:pPr marL="800100" lvl="1" indent="-342900">
              <a:lnSpc>
                <a:spcPct val="150000"/>
              </a:lnSpc>
              <a:buFont typeface="Arial" panose="020B0604020202020204" pitchFamily="34" charset="0"/>
              <a:buChar char="•"/>
            </a:pPr>
            <a:r>
              <a:rPr lang="en-US" sz="2800" dirty="0">
                <a:latin typeface="Calibir"/>
              </a:rPr>
              <a:t>do not submit in the wrong format </a:t>
            </a:r>
          </a:p>
          <a:p>
            <a:pPr marL="800100" lvl="1" indent="-342900">
              <a:lnSpc>
                <a:spcPct val="150000"/>
              </a:lnSpc>
              <a:buFont typeface="Arial" panose="020B0604020202020204" pitchFamily="34" charset="0"/>
              <a:buChar char="•"/>
            </a:pPr>
            <a:r>
              <a:rPr lang="en-US" sz="2800" dirty="0">
                <a:latin typeface="Calibir"/>
              </a:rPr>
              <a:t>do not forget cover sheet, references, or contribution sheet </a:t>
            </a:r>
          </a:p>
          <a:p>
            <a:pPr marL="800100" lvl="1" indent="-342900">
              <a:lnSpc>
                <a:spcPct val="150000"/>
              </a:lnSpc>
              <a:buFont typeface="Arial" panose="020B0604020202020204" pitchFamily="34" charset="0"/>
              <a:buChar char="•"/>
            </a:pPr>
            <a:r>
              <a:rPr lang="en-US" sz="2800" dirty="0">
                <a:latin typeface="Calibir"/>
              </a:rPr>
              <a:t>do not use fake citations or broken references</a:t>
            </a:r>
          </a:p>
        </p:txBody>
      </p:sp>
      <p:sp>
        <p:nvSpPr>
          <p:cNvPr id="7" name="object 2">
            <a:extLst>
              <a:ext uri="{FF2B5EF4-FFF2-40B4-BE49-F238E27FC236}">
                <a16:creationId xmlns:a16="http://schemas.microsoft.com/office/drawing/2014/main" id="{7C337B15-A21A-C5DD-AB23-51C3102DE10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701086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CA8F-1CE5-D202-78C3-2153A9439AA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037FE0B4-117C-2F8D-5C1A-5A25833628A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63594DA-B47F-BDE0-DC8D-7DA4D8ED1AB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961DAD1-753C-B852-A440-D2E0B4AAE967}"/>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11. Common mistakes students make</a:t>
            </a:r>
          </a:p>
          <a:p>
            <a:pPr>
              <a:lnSpc>
                <a:spcPct val="150000"/>
              </a:lnSpc>
            </a:pPr>
            <a:r>
              <a:rPr lang="en-US" sz="2800" dirty="0">
                <a:latin typeface="Calibir"/>
              </a:rPr>
              <a:t>These are the most common problems:</a:t>
            </a:r>
          </a:p>
          <a:p>
            <a:pPr>
              <a:lnSpc>
                <a:spcPct val="150000"/>
              </a:lnSpc>
            </a:pPr>
            <a:r>
              <a:rPr lang="en-US" sz="2800" b="1" dirty="0">
                <a:latin typeface="Calibir"/>
              </a:rPr>
              <a:t>1. Weak problem statement</a:t>
            </a:r>
          </a:p>
          <a:p>
            <a:pPr>
              <a:lnSpc>
                <a:spcPct val="150000"/>
              </a:lnSpc>
            </a:pPr>
            <a:r>
              <a:rPr lang="en-US" sz="2800" dirty="0">
                <a:latin typeface="Calibir"/>
              </a:rPr>
              <a:t>Students say, “We used the churn dataset,” but never clearly state:</a:t>
            </a:r>
          </a:p>
          <a:p>
            <a:pPr marL="914400" lvl="1" indent="-457200">
              <a:lnSpc>
                <a:spcPct val="150000"/>
              </a:lnSpc>
              <a:buFont typeface="Arial" panose="020B0604020202020204" pitchFamily="34" charset="0"/>
              <a:buChar char="•"/>
            </a:pPr>
            <a:r>
              <a:rPr lang="en-US" sz="2800" dirty="0">
                <a:latin typeface="Calibir"/>
              </a:rPr>
              <a:t>what is being predicted </a:t>
            </a:r>
          </a:p>
          <a:p>
            <a:pPr marL="914400" lvl="1" indent="-457200">
              <a:lnSpc>
                <a:spcPct val="150000"/>
              </a:lnSpc>
              <a:buFont typeface="Arial" panose="020B0604020202020204" pitchFamily="34" charset="0"/>
              <a:buChar char="•"/>
            </a:pPr>
            <a:r>
              <a:rPr lang="en-US" sz="2800" dirty="0">
                <a:latin typeface="Calibir"/>
              </a:rPr>
              <a:t>why it matters</a:t>
            </a:r>
          </a:p>
        </p:txBody>
      </p:sp>
      <p:sp>
        <p:nvSpPr>
          <p:cNvPr id="7" name="object 2">
            <a:extLst>
              <a:ext uri="{FF2B5EF4-FFF2-40B4-BE49-F238E27FC236}">
                <a16:creationId xmlns:a16="http://schemas.microsoft.com/office/drawing/2014/main" id="{645BCDB7-115C-7FB4-CC7C-061A4D08041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04945949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205F-11AE-68DB-E8D4-62859138AFE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82F108F-A76E-FBF3-190F-FD05656049B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459D42EB-2F6B-CC22-BBE6-4D7B97F036A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06217DD-D324-C0FA-802E-C586A037A5F2}"/>
              </a:ext>
            </a:extLst>
          </p:cNvPr>
          <p:cNvSpPr txBox="1"/>
          <p:nvPr/>
        </p:nvSpPr>
        <p:spPr>
          <a:xfrm>
            <a:off x="0" y="752630"/>
            <a:ext cx="10913806" cy="3257174"/>
          </a:xfrm>
          <a:prstGeom prst="rect">
            <a:avLst/>
          </a:prstGeom>
          <a:noFill/>
        </p:spPr>
        <p:txBody>
          <a:bodyPr wrap="square">
            <a:spAutoFit/>
          </a:bodyPr>
          <a:lstStyle/>
          <a:p>
            <a:pPr>
              <a:lnSpc>
                <a:spcPct val="150000"/>
              </a:lnSpc>
            </a:pPr>
            <a:r>
              <a:rPr lang="en-US" sz="2800" b="1" dirty="0">
                <a:latin typeface="Calibir"/>
              </a:rPr>
              <a:t>2. No real justification for model choice</a:t>
            </a:r>
          </a:p>
          <a:p>
            <a:pPr>
              <a:lnSpc>
                <a:spcPct val="150000"/>
              </a:lnSpc>
            </a:pPr>
            <a:r>
              <a:rPr lang="en-US" sz="2800" dirty="0">
                <a:latin typeface="Calibir"/>
              </a:rPr>
              <a:t>Students choose models randomly or only because they are popular.</a:t>
            </a:r>
          </a:p>
          <a:p>
            <a:pPr>
              <a:lnSpc>
                <a:spcPct val="150000"/>
              </a:lnSpc>
            </a:pPr>
            <a:r>
              <a:rPr lang="en-US" sz="2800" b="1" dirty="0">
                <a:latin typeface="Calibir"/>
              </a:rPr>
              <a:t>3. Poor preprocessing explanation</a:t>
            </a:r>
          </a:p>
          <a:p>
            <a:pPr>
              <a:lnSpc>
                <a:spcPct val="150000"/>
              </a:lnSpc>
            </a:pPr>
            <a:r>
              <a:rPr lang="en-US" sz="2800" dirty="0">
                <a:latin typeface="Calibir"/>
              </a:rPr>
              <a:t>Students say they cleaned data, encoded variables, and scaled features, but do not explain why.</a:t>
            </a:r>
          </a:p>
        </p:txBody>
      </p:sp>
      <p:sp>
        <p:nvSpPr>
          <p:cNvPr id="7" name="object 2">
            <a:extLst>
              <a:ext uri="{FF2B5EF4-FFF2-40B4-BE49-F238E27FC236}">
                <a16:creationId xmlns:a16="http://schemas.microsoft.com/office/drawing/2014/main" id="{DD51F7EE-185A-5ED7-2E76-773943F9991F}"/>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1503655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3D74-BE7B-F26D-A025-4CC81AFEDE0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D30810A9-10C9-F6C2-ADE4-10039D41288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67F1796-F693-15D6-4683-A63F77ABB61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2D135B-5810-8B1B-4BE6-DF6241E4D376}"/>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4. No evidence</a:t>
            </a:r>
          </a:p>
          <a:p>
            <a:pPr>
              <a:lnSpc>
                <a:spcPct val="150000"/>
              </a:lnSpc>
            </a:pPr>
            <a:r>
              <a:rPr lang="en-US" sz="2800" dirty="0">
                <a:latin typeface="Calibir"/>
              </a:rPr>
              <a:t>Students forget screenshots of:</a:t>
            </a:r>
          </a:p>
          <a:p>
            <a:pPr marL="914400" lvl="1" indent="-457200">
              <a:lnSpc>
                <a:spcPct val="150000"/>
              </a:lnSpc>
              <a:buFont typeface="Arial" panose="020B0604020202020204" pitchFamily="34" charset="0"/>
              <a:buChar char="•"/>
            </a:pPr>
            <a:r>
              <a:rPr lang="en-US" sz="2800" dirty="0">
                <a:latin typeface="Calibir"/>
              </a:rPr>
              <a:t>raw issues </a:t>
            </a:r>
          </a:p>
          <a:p>
            <a:pPr marL="914400" lvl="1" indent="-457200">
              <a:lnSpc>
                <a:spcPct val="150000"/>
              </a:lnSpc>
              <a:buFont typeface="Arial" panose="020B0604020202020204" pitchFamily="34" charset="0"/>
              <a:buChar char="•"/>
            </a:pPr>
            <a:r>
              <a:rPr lang="en-US" sz="2800" dirty="0">
                <a:latin typeface="Calibir"/>
              </a:rPr>
              <a:t>preprocessing </a:t>
            </a:r>
          </a:p>
          <a:p>
            <a:pPr marL="914400" lvl="1" indent="-457200">
              <a:lnSpc>
                <a:spcPct val="150000"/>
              </a:lnSpc>
              <a:buFont typeface="Arial" panose="020B0604020202020204" pitchFamily="34" charset="0"/>
              <a:buChar char="•"/>
            </a:pPr>
            <a:r>
              <a:rPr lang="en-US" sz="2800" dirty="0">
                <a:latin typeface="Calibir"/>
              </a:rPr>
              <a:t>training </a:t>
            </a:r>
          </a:p>
          <a:p>
            <a:pPr marL="914400" lvl="1" indent="-457200">
              <a:lnSpc>
                <a:spcPct val="150000"/>
              </a:lnSpc>
              <a:buFont typeface="Arial" panose="020B0604020202020204" pitchFamily="34" charset="0"/>
              <a:buChar char="•"/>
            </a:pPr>
            <a:r>
              <a:rPr lang="en-US" sz="2800" dirty="0">
                <a:latin typeface="Calibir"/>
              </a:rPr>
              <a:t>output results</a:t>
            </a:r>
          </a:p>
        </p:txBody>
      </p:sp>
      <p:sp>
        <p:nvSpPr>
          <p:cNvPr id="7" name="object 2">
            <a:extLst>
              <a:ext uri="{FF2B5EF4-FFF2-40B4-BE49-F238E27FC236}">
                <a16:creationId xmlns:a16="http://schemas.microsoft.com/office/drawing/2014/main" id="{9376B7D5-887D-ECEF-E23D-3CB2A947ABF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2064954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C3B49-B3D7-EB11-D852-5AC39B9E82F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BE4D30C-0035-8CC9-C0B8-D57AC0A5574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212103E-4FB9-D440-CD00-066C06F1F6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421B17A5-9751-1C03-F23C-6407354DFD14}"/>
              </a:ext>
            </a:extLst>
          </p:cNvPr>
          <p:cNvSpPr txBox="1"/>
          <p:nvPr/>
        </p:nvSpPr>
        <p:spPr>
          <a:xfrm>
            <a:off x="0" y="752630"/>
            <a:ext cx="10913806" cy="5196166"/>
          </a:xfrm>
          <a:prstGeom prst="rect">
            <a:avLst/>
          </a:prstGeom>
          <a:noFill/>
        </p:spPr>
        <p:txBody>
          <a:bodyPr wrap="square">
            <a:spAutoFit/>
          </a:bodyPr>
          <a:lstStyle/>
          <a:p>
            <a:pPr>
              <a:lnSpc>
                <a:spcPct val="150000"/>
              </a:lnSpc>
            </a:pPr>
            <a:r>
              <a:rPr lang="en-US" sz="2800" b="1" dirty="0">
                <a:latin typeface="Calibir"/>
              </a:rPr>
              <a:t>5. Wrong metric usage</a:t>
            </a:r>
          </a:p>
          <a:p>
            <a:pPr>
              <a:lnSpc>
                <a:spcPct val="150000"/>
              </a:lnSpc>
            </a:pPr>
            <a:r>
              <a:rPr lang="en-US" sz="2800" dirty="0">
                <a:latin typeface="Calibir"/>
              </a:rPr>
              <a:t>Students evaluate classification using only accuracy, or regression without RMSE/R².</a:t>
            </a:r>
          </a:p>
          <a:p>
            <a:pPr>
              <a:lnSpc>
                <a:spcPct val="150000"/>
              </a:lnSpc>
            </a:pPr>
            <a:r>
              <a:rPr lang="en-US" sz="2800" b="1" dirty="0">
                <a:latin typeface="Calibir"/>
              </a:rPr>
              <a:t>6. Weak comparison</a:t>
            </a:r>
          </a:p>
          <a:p>
            <a:pPr>
              <a:lnSpc>
                <a:spcPct val="150000"/>
              </a:lnSpc>
            </a:pPr>
            <a:r>
              <a:rPr lang="en-US" sz="2800" dirty="0">
                <a:latin typeface="Calibir"/>
              </a:rPr>
              <a:t>Students show two models but do not compare strengths, weaknesses, or trade-offs.</a:t>
            </a:r>
          </a:p>
          <a:p>
            <a:pPr>
              <a:lnSpc>
                <a:spcPct val="150000"/>
              </a:lnSpc>
            </a:pPr>
            <a:r>
              <a:rPr lang="en-US" sz="2800" b="1" dirty="0">
                <a:latin typeface="Calibir"/>
              </a:rPr>
              <a:t>7. No discussion of assumptions</a:t>
            </a:r>
          </a:p>
          <a:p>
            <a:pPr>
              <a:lnSpc>
                <a:spcPct val="150000"/>
              </a:lnSpc>
            </a:pPr>
            <a:r>
              <a:rPr lang="en-US" sz="2800" dirty="0">
                <a:latin typeface="Calibir"/>
              </a:rPr>
              <a:t>Students explain theory from textbooks but do not test it on their dataset.</a:t>
            </a:r>
          </a:p>
        </p:txBody>
      </p:sp>
      <p:sp>
        <p:nvSpPr>
          <p:cNvPr id="7" name="object 2">
            <a:extLst>
              <a:ext uri="{FF2B5EF4-FFF2-40B4-BE49-F238E27FC236}">
                <a16:creationId xmlns:a16="http://schemas.microsoft.com/office/drawing/2014/main" id="{28D3B606-495C-147E-507E-C008D945913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871549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805F-5CFF-4D4A-6FF1-247162F08F4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F9D5D5F8-1D38-B8A9-F42B-39CABF70C10C}"/>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0FC3320-CBB1-BB03-B8FA-6E02B9E1CDB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6FD0F7C-D022-2625-E0A1-DA210418B112}"/>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8. Generic insights</a:t>
            </a:r>
          </a:p>
          <a:p>
            <a:pPr>
              <a:lnSpc>
                <a:spcPct val="150000"/>
              </a:lnSpc>
            </a:pPr>
            <a:r>
              <a:rPr lang="en-US" sz="2800" dirty="0">
                <a:latin typeface="Calibir"/>
              </a:rPr>
              <a:t>Students write conclusions that are too obvious or not actionable.</a:t>
            </a:r>
          </a:p>
          <a:p>
            <a:pPr>
              <a:lnSpc>
                <a:spcPct val="150000"/>
              </a:lnSpc>
            </a:pPr>
            <a:r>
              <a:rPr lang="en-US" sz="2800" b="1" dirty="0">
                <a:latin typeface="Calibir"/>
              </a:rPr>
              <a:t>9. Generic ethics section</a:t>
            </a:r>
          </a:p>
          <a:p>
            <a:pPr>
              <a:lnSpc>
                <a:spcPct val="150000"/>
              </a:lnSpc>
            </a:pPr>
            <a:r>
              <a:rPr lang="en-US" sz="2800" dirty="0">
                <a:latin typeface="Calibir"/>
              </a:rPr>
              <a:t>Students write “bias may exist” without linking it to age, gender, income, or other variables in the dataset.</a:t>
            </a:r>
          </a:p>
          <a:p>
            <a:pPr>
              <a:lnSpc>
                <a:spcPct val="150000"/>
              </a:lnSpc>
            </a:pPr>
            <a:r>
              <a:rPr lang="en-US" sz="2800" b="1" dirty="0">
                <a:latin typeface="Calibir"/>
              </a:rPr>
              <a:t>10. Reflection is too shallow</a:t>
            </a:r>
          </a:p>
          <a:p>
            <a:pPr>
              <a:lnSpc>
                <a:spcPct val="150000"/>
              </a:lnSpc>
            </a:pPr>
            <a:r>
              <a:rPr lang="en-US" sz="2800" dirty="0">
                <a:latin typeface="Calibir"/>
              </a:rPr>
              <a:t>Students write only “we learned a lot.” That is not enough.</a:t>
            </a:r>
          </a:p>
        </p:txBody>
      </p:sp>
      <p:sp>
        <p:nvSpPr>
          <p:cNvPr id="7" name="object 2">
            <a:extLst>
              <a:ext uri="{FF2B5EF4-FFF2-40B4-BE49-F238E27FC236}">
                <a16:creationId xmlns:a16="http://schemas.microsoft.com/office/drawing/2014/main" id="{0CC982C5-092F-08D7-5FD8-42C92AF6B9B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30306296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0537E-5DAA-955B-54F7-988C421E72E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87C9DED-F5B1-765F-1B36-27359D548FC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9BB5129-6012-A9EC-F865-08AA6D28B5B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1EA0116-1DEA-CB72-921E-239B25839700}"/>
              </a:ext>
            </a:extLst>
          </p:cNvPr>
          <p:cNvSpPr txBox="1"/>
          <p:nvPr/>
        </p:nvSpPr>
        <p:spPr>
          <a:xfrm>
            <a:off x="0" y="752630"/>
            <a:ext cx="10913806" cy="5196166"/>
          </a:xfrm>
          <a:prstGeom prst="rect">
            <a:avLst/>
          </a:prstGeom>
          <a:noFill/>
        </p:spPr>
        <p:txBody>
          <a:bodyPr wrap="square">
            <a:spAutoFit/>
          </a:bodyPr>
          <a:lstStyle/>
          <a:p>
            <a:pPr>
              <a:lnSpc>
                <a:spcPct val="150000"/>
              </a:lnSpc>
            </a:pPr>
            <a:r>
              <a:rPr lang="en-US" sz="2800" b="1" dirty="0">
                <a:latin typeface="Calibir"/>
              </a:rPr>
              <a:t>11. Poor presentation delivery</a:t>
            </a:r>
          </a:p>
          <a:p>
            <a:pPr>
              <a:lnSpc>
                <a:spcPct val="150000"/>
              </a:lnSpc>
            </a:pPr>
            <a:r>
              <a:rPr lang="en-US" sz="2800" dirty="0">
                <a:latin typeface="Calibir"/>
              </a:rPr>
              <a:t>Students read slides word-for-word and cannot answer questions.</a:t>
            </a:r>
          </a:p>
          <a:p>
            <a:pPr>
              <a:lnSpc>
                <a:spcPct val="150000"/>
              </a:lnSpc>
            </a:pPr>
            <a:r>
              <a:rPr lang="en-US" sz="2800" b="1" dirty="0">
                <a:latin typeface="Calibir"/>
              </a:rPr>
              <a:t>12. Referencing errors</a:t>
            </a:r>
          </a:p>
          <a:p>
            <a:pPr>
              <a:lnSpc>
                <a:spcPct val="150000"/>
              </a:lnSpc>
            </a:pPr>
            <a:r>
              <a:rPr lang="en-US" sz="2800" dirty="0">
                <a:latin typeface="Calibir"/>
              </a:rPr>
              <a:t>Students forget:</a:t>
            </a:r>
          </a:p>
          <a:p>
            <a:pPr marL="914400" lvl="1" indent="-457200">
              <a:lnSpc>
                <a:spcPct val="150000"/>
              </a:lnSpc>
              <a:buFont typeface="Arial" panose="020B0604020202020204" pitchFamily="34" charset="0"/>
              <a:buChar char="•"/>
            </a:pPr>
            <a:r>
              <a:rPr lang="en-US" sz="2800" dirty="0">
                <a:latin typeface="Calibir"/>
              </a:rPr>
              <a:t>full-text accessible references </a:t>
            </a:r>
          </a:p>
          <a:p>
            <a:pPr marL="914400" lvl="1" indent="-457200">
              <a:lnSpc>
                <a:spcPct val="150000"/>
              </a:lnSpc>
              <a:buFont typeface="Arial" panose="020B0604020202020204" pitchFamily="34" charset="0"/>
              <a:buChar char="•"/>
            </a:pPr>
            <a:r>
              <a:rPr lang="en-US" sz="2800" dirty="0">
                <a:latin typeface="Calibir"/>
              </a:rPr>
              <a:t>hyperlinks </a:t>
            </a:r>
          </a:p>
          <a:p>
            <a:pPr marL="914400" lvl="1" indent="-457200">
              <a:lnSpc>
                <a:spcPct val="150000"/>
              </a:lnSpc>
              <a:buFont typeface="Arial" panose="020B0604020202020204" pitchFamily="34" charset="0"/>
              <a:buChar char="•"/>
            </a:pPr>
            <a:r>
              <a:rPr lang="en-US" sz="2800" dirty="0">
                <a:latin typeface="Calibir"/>
              </a:rPr>
              <a:t>separate References page </a:t>
            </a:r>
          </a:p>
          <a:p>
            <a:pPr marL="914400" lvl="1" indent="-457200">
              <a:lnSpc>
                <a:spcPct val="150000"/>
              </a:lnSpc>
              <a:buFont typeface="Arial" panose="020B0604020202020204" pitchFamily="34" charset="0"/>
              <a:buChar char="•"/>
            </a:pPr>
            <a:r>
              <a:rPr lang="en-US" sz="2800" dirty="0">
                <a:latin typeface="Calibir"/>
              </a:rPr>
              <a:t>in-text citation format with page and paragraph</a:t>
            </a:r>
          </a:p>
        </p:txBody>
      </p:sp>
      <p:sp>
        <p:nvSpPr>
          <p:cNvPr id="7" name="object 2">
            <a:extLst>
              <a:ext uri="{FF2B5EF4-FFF2-40B4-BE49-F238E27FC236}">
                <a16:creationId xmlns:a16="http://schemas.microsoft.com/office/drawing/2014/main" id="{D9ABB38D-6C74-20CA-68C3-693D44D6133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19767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72D9-787B-314C-8F51-77974CC1A1C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724F820-09FF-D3C2-D0B0-0C351804CA5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A46B5FC-005F-B113-1A5B-5104D4AC1C6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DA880EF-A615-8D46-272B-47DA12D54F75}"/>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12. Referencing reminders</a:t>
            </a:r>
          </a:p>
          <a:p>
            <a:pPr>
              <a:lnSpc>
                <a:spcPct val="150000"/>
              </a:lnSpc>
            </a:pPr>
            <a:r>
              <a:rPr lang="en-US" sz="2800" dirty="0">
                <a:latin typeface="Calibir"/>
              </a:rPr>
              <a:t>You must use Holmes Adapted Harvard.</a:t>
            </a:r>
          </a:p>
          <a:p>
            <a:pPr>
              <a:lnSpc>
                <a:spcPct val="150000"/>
              </a:lnSpc>
            </a:pPr>
            <a:r>
              <a:rPr lang="en-US" sz="2800" dirty="0">
                <a:latin typeface="Calibir"/>
              </a:rPr>
              <a:t>Key rules</a:t>
            </a:r>
          </a:p>
          <a:p>
            <a:pPr marL="457200" indent="-457200">
              <a:lnSpc>
                <a:spcPct val="150000"/>
              </a:lnSpc>
              <a:buFont typeface="Arial" panose="020B0604020202020204" pitchFamily="34" charset="0"/>
              <a:buChar char="•"/>
            </a:pPr>
            <a:r>
              <a:rPr lang="en-US" sz="2800" dirty="0">
                <a:latin typeface="Calibir"/>
              </a:rPr>
              <a:t>references on a separate page titled References </a:t>
            </a:r>
          </a:p>
          <a:p>
            <a:pPr marL="457200" indent="-457200">
              <a:lnSpc>
                <a:spcPct val="150000"/>
              </a:lnSpc>
              <a:buFont typeface="Arial" panose="020B0604020202020204" pitchFamily="34" charset="0"/>
              <a:buChar char="•"/>
            </a:pPr>
            <a:r>
              <a:rPr lang="en-US" sz="2800" dirty="0">
                <a:latin typeface="Calibir"/>
              </a:rPr>
              <a:t>arranged alphabetically A–Z </a:t>
            </a:r>
          </a:p>
          <a:p>
            <a:pPr marL="457200" indent="-457200">
              <a:lnSpc>
                <a:spcPct val="150000"/>
              </a:lnSpc>
              <a:buFont typeface="Arial" panose="020B0604020202020204" pitchFamily="34" charset="0"/>
              <a:buChar char="•"/>
            </a:pPr>
            <a:r>
              <a:rPr lang="en-US" sz="2800" dirty="0">
                <a:latin typeface="Calibir"/>
              </a:rPr>
              <a:t>numbered </a:t>
            </a:r>
          </a:p>
          <a:p>
            <a:pPr marL="457200" indent="-457200">
              <a:lnSpc>
                <a:spcPct val="150000"/>
              </a:lnSpc>
              <a:buFont typeface="Arial" panose="020B0604020202020204" pitchFamily="34" charset="0"/>
              <a:buChar char="•"/>
            </a:pPr>
            <a:r>
              <a:rPr lang="en-US" sz="2800" dirty="0">
                <a:latin typeface="Calibir"/>
              </a:rPr>
              <a:t>each reference must include a hyperlink to full text</a:t>
            </a:r>
          </a:p>
        </p:txBody>
      </p:sp>
      <p:sp>
        <p:nvSpPr>
          <p:cNvPr id="7" name="object 2">
            <a:extLst>
              <a:ext uri="{FF2B5EF4-FFF2-40B4-BE49-F238E27FC236}">
                <a16:creationId xmlns:a16="http://schemas.microsoft.com/office/drawing/2014/main" id="{FA242BAD-A9D9-011F-1105-73838693D37C}"/>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695967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E3F2-ED78-57F1-A055-20E3130465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B2B458BA-362E-F8EF-2334-23A7BB7B60A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EB5D82F-948F-AA37-A87C-E33F990DE9E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1F3A572-6283-209B-93C6-C922B9C2112D}"/>
              </a:ext>
            </a:extLst>
          </p:cNvPr>
          <p:cNvSpPr txBox="1"/>
          <p:nvPr/>
        </p:nvSpPr>
        <p:spPr>
          <a:xfrm>
            <a:off x="0" y="752630"/>
            <a:ext cx="10913806"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in-text citations must include: </a:t>
            </a:r>
          </a:p>
          <a:p>
            <a:pPr marL="914400" lvl="1" indent="-457200">
              <a:lnSpc>
                <a:spcPct val="150000"/>
              </a:lnSpc>
              <a:buFont typeface="Arial" panose="020B0604020202020204" pitchFamily="34" charset="0"/>
              <a:buChar char="•"/>
            </a:pPr>
            <a:r>
              <a:rPr lang="en-US" sz="2800" dirty="0">
                <a:latin typeface="Calibir"/>
              </a:rPr>
              <a:t>author surname or authoring body </a:t>
            </a:r>
          </a:p>
          <a:p>
            <a:pPr marL="914400" lvl="1" indent="-457200">
              <a:lnSpc>
                <a:spcPct val="150000"/>
              </a:lnSpc>
              <a:buFont typeface="Arial" panose="020B0604020202020204" pitchFamily="34" charset="0"/>
              <a:buChar char="•"/>
            </a:pPr>
            <a:r>
              <a:rPr lang="en-US" sz="2800" dirty="0">
                <a:latin typeface="Calibir"/>
              </a:rPr>
              <a:t>year </a:t>
            </a:r>
          </a:p>
          <a:p>
            <a:pPr marL="914400" lvl="1" indent="-457200">
              <a:lnSpc>
                <a:spcPct val="150000"/>
              </a:lnSpc>
              <a:buFont typeface="Arial" panose="020B0604020202020204" pitchFamily="34" charset="0"/>
              <a:buChar char="•"/>
            </a:pPr>
            <a:r>
              <a:rPr lang="en-US" sz="2800" dirty="0">
                <a:latin typeface="Calibir"/>
              </a:rPr>
              <a:t>page number </a:t>
            </a:r>
          </a:p>
          <a:p>
            <a:pPr marL="914400" lvl="1" indent="-457200">
              <a:lnSpc>
                <a:spcPct val="150000"/>
              </a:lnSpc>
              <a:buFont typeface="Arial" panose="020B0604020202020204" pitchFamily="34" charset="0"/>
              <a:buChar char="•"/>
            </a:pPr>
            <a:r>
              <a:rPr lang="en-US" sz="2800" dirty="0">
                <a:latin typeface="Calibir"/>
              </a:rPr>
              <a:t>paragraph number</a:t>
            </a:r>
          </a:p>
        </p:txBody>
      </p:sp>
      <p:sp>
        <p:nvSpPr>
          <p:cNvPr id="7" name="object 2">
            <a:extLst>
              <a:ext uri="{FF2B5EF4-FFF2-40B4-BE49-F238E27FC236}">
                <a16:creationId xmlns:a16="http://schemas.microsoft.com/office/drawing/2014/main" id="{217E7735-63B9-F634-5432-AD54A8FB3FE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6451435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B8A0-0679-41E8-C02C-C3FCC88A4B0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355D051-1103-66A1-8F12-91F336160F5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5CC15BF-F087-BF01-88B1-DD88E76689A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A8DEED5-0C57-07E7-8803-043FEFFE290F}"/>
              </a:ext>
            </a:extLst>
          </p:cNvPr>
          <p:cNvSpPr txBox="1"/>
          <p:nvPr/>
        </p:nvSpPr>
        <p:spPr>
          <a:xfrm>
            <a:off x="0" y="752630"/>
            <a:ext cx="10913806" cy="2610843"/>
          </a:xfrm>
          <a:prstGeom prst="rect">
            <a:avLst/>
          </a:prstGeom>
          <a:noFill/>
        </p:spPr>
        <p:txBody>
          <a:bodyPr wrap="square">
            <a:spAutoFit/>
          </a:bodyPr>
          <a:lstStyle/>
          <a:p>
            <a:pPr>
              <a:lnSpc>
                <a:spcPct val="150000"/>
              </a:lnSpc>
            </a:pPr>
            <a:r>
              <a:rPr lang="en-US" sz="2800" b="1" dirty="0">
                <a:latin typeface="Calibir"/>
              </a:rPr>
              <a:t>Example in-text citation</a:t>
            </a:r>
          </a:p>
          <a:p>
            <a:pPr>
              <a:lnSpc>
                <a:spcPct val="150000"/>
              </a:lnSpc>
            </a:pPr>
            <a:r>
              <a:rPr lang="en-US" sz="2800" dirty="0">
                <a:latin typeface="Calibir"/>
              </a:rPr>
              <a:t>(Hawking et al., 2004, p3(4))</a:t>
            </a:r>
          </a:p>
          <a:p>
            <a:pPr>
              <a:lnSpc>
                <a:spcPct val="150000"/>
              </a:lnSpc>
            </a:pPr>
            <a:r>
              <a:rPr lang="en-US" sz="2800" b="1" dirty="0">
                <a:latin typeface="Calibir"/>
              </a:rPr>
              <a:t>Important</a:t>
            </a:r>
          </a:p>
          <a:p>
            <a:pPr>
              <a:lnSpc>
                <a:spcPct val="150000"/>
              </a:lnSpc>
            </a:pPr>
            <a:r>
              <a:rPr lang="en-US" sz="2800" dirty="0">
                <a:latin typeface="Calibir"/>
              </a:rPr>
              <a:t>Students often lose marks here even when the technical work is good.</a:t>
            </a:r>
          </a:p>
        </p:txBody>
      </p:sp>
      <p:sp>
        <p:nvSpPr>
          <p:cNvPr id="7" name="object 2">
            <a:extLst>
              <a:ext uri="{FF2B5EF4-FFF2-40B4-BE49-F238E27FC236}">
                <a16:creationId xmlns:a16="http://schemas.microsoft.com/office/drawing/2014/main" id="{4B336772-4BDC-8AAD-AA07-5D6CB6C9CA15}"/>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4740360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9C5D-760F-01C4-94FD-1ABECF95F1C7}"/>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C01AA96-C346-3DCF-779B-EA18A716B4C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2BE9CE6D-EBFD-0CDC-D200-DE0FC1221EA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399517A-B438-EB3C-7D7C-C2BC4D2BF3B4}"/>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13. Final submission checklist</a:t>
            </a:r>
          </a:p>
          <a:p>
            <a:pPr>
              <a:lnSpc>
                <a:spcPct val="150000"/>
              </a:lnSpc>
            </a:pPr>
            <a:r>
              <a:rPr lang="en-US" sz="2800" dirty="0">
                <a:latin typeface="Calibir"/>
              </a:rPr>
              <a:t>Before submitting, check:</a:t>
            </a:r>
          </a:p>
          <a:p>
            <a:pPr marL="914400" lvl="1" indent="-457200">
              <a:lnSpc>
                <a:spcPct val="150000"/>
              </a:lnSpc>
              <a:buFont typeface="Arial" panose="020B0604020202020204" pitchFamily="34" charset="0"/>
              <a:buChar char="•"/>
            </a:pPr>
            <a:r>
              <a:rPr lang="en-US" sz="2800" dirty="0">
                <a:latin typeface="Calibir"/>
              </a:rPr>
              <a:t>cover sheet included </a:t>
            </a:r>
          </a:p>
          <a:p>
            <a:pPr marL="914400" lvl="1" indent="-457200">
              <a:lnSpc>
                <a:spcPct val="150000"/>
              </a:lnSpc>
              <a:buFont typeface="Arial" panose="020B0604020202020204" pitchFamily="34" charset="0"/>
              <a:buChar char="•"/>
            </a:pPr>
            <a:r>
              <a:rPr lang="en-US" sz="2800" dirty="0">
                <a:latin typeface="Calibir"/>
              </a:rPr>
              <a:t>report is in Word </a:t>
            </a:r>
          </a:p>
          <a:p>
            <a:pPr marL="914400" lvl="1" indent="-457200">
              <a:lnSpc>
                <a:spcPct val="150000"/>
              </a:lnSpc>
              <a:buFont typeface="Arial" panose="020B0604020202020204" pitchFamily="34" charset="0"/>
              <a:buChar char="•"/>
            </a:pPr>
            <a:r>
              <a:rPr lang="en-US" sz="2800" dirty="0">
                <a:latin typeface="Calibir"/>
              </a:rPr>
              <a:t>slides are in PowerPoint </a:t>
            </a:r>
          </a:p>
          <a:p>
            <a:pPr marL="914400" lvl="1" indent="-457200">
              <a:lnSpc>
                <a:spcPct val="150000"/>
              </a:lnSpc>
              <a:buFont typeface="Arial" panose="020B0604020202020204" pitchFamily="34" charset="0"/>
              <a:buChar char="•"/>
            </a:pPr>
            <a:r>
              <a:rPr lang="en-US" sz="2800" dirty="0">
                <a:latin typeface="Calibir"/>
              </a:rPr>
              <a:t>notebook/script included </a:t>
            </a:r>
          </a:p>
          <a:p>
            <a:pPr marL="914400" lvl="1" indent="-457200">
              <a:lnSpc>
                <a:spcPct val="150000"/>
              </a:lnSpc>
              <a:buFont typeface="Arial" panose="020B0604020202020204" pitchFamily="34" charset="0"/>
              <a:buChar char="•"/>
            </a:pPr>
            <a:r>
              <a:rPr lang="en-US" sz="2800" dirty="0">
                <a:latin typeface="Calibir"/>
              </a:rPr>
              <a:t>screenshots included </a:t>
            </a:r>
          </a:p>
          <a:p>
            <a:pPr marL="914400" lvl="1" indent="-457200">
              <a:lnSpc>
                <a:spcPct val="150000"/>
              </a:lnSpc>
              <a:buFont typeface="Arial" panose="020B0604020202020204" pitchFamily="34" charset="0"/>
              <a:buChar char="•"/>
            </a:pPr>
            <a:r>
              <a:rPr lang="en-US" sz="2800" dirty="0">
                <a:latin typeface="Calibir"/>
              </a:rPr>
              <a:t>dataset link included </a:t>
            </a:r>
          </a:p>
          <a:p>
            <a:pPr marL="914400" lvl="1" indent="-457200">
              <a:lnSpc>
                <a:spcPct val="150000"/>
              </a:lnSpc>
              <a:buFont typeface="Arial" panose="020B0604020202020204" pitchFamily="34" charset="0"/>
              <a:buChar char="•"/>
            </a:pPr>
            <a:r>
              <a:rPr lang="en-US" sz="2800" dirty="0">
                <a:latin typeface="Calibir"/>
              </a:rPr>
              <a:t>contribution sheet included</a:t>
            </a:r>
          </a:p>
        </p:txBody>
      </p:sp>
      <p:sp>
        <p:nvSpPr>
          <p:cNvPr id="7" name="object 2">
            <a:extLst>
              <a:ext uri="{FF2B5EF4-FFF2-40B4-BE49-F238E27FC236}">
                <a16:creationId xmlns:a16="http://schemas.microsoft.com/office/drawing/2014/main" id="{F6E8A33A-01C2-70BF-76C2-8C589EE18BDD}"/>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6168362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0701-E817-F382-D9B1-AF6FA33A783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F98323F-3439-7CC0-1CCC-2BF5973106D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838A0FA-DE07-C48E-E2CD-7578281365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EFFDBB4-A0C0-C10C-98C8-00125D86BF13}"/>
              </a:ext>
            </a:extLst>
          </p:cNvPr>
          <p:cNvSpPr txBox="1"/>
          <p:nvPr/>
        </p:nvSpPr>
        <p:spPr>
          <a:xfrm>
            <a:off x="0" y="752630"/>
            <a:ext cx="10913806" cy="3903504"/>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two models included </a:t>
            </a:r>
          </a:p>
          <a:p>
            <a:pPr marL="914400" lvl="1" indent="-457200">
              <a:lnSpc>
                <a:spcPct val="150000"/>
              </a:lnSpc>
              <a:buFont typeface="Arial" panose="020B0604020202020204" pitchFamily="34" charset="0"/>
              <a:buChar char="•"/>
            </a:pPr>
            <a:r>
              <a:rPr lang="en-US" sz="2800" dirty="0">
                <a:latin typeface="Calibir"/>
              </a:rPr>
              <a:t>evaluation table included </a:t>
            </a:r>
          </a:p>
          <a:p>
            <a:pPr marL="914400" lvl="1" indent="-457200">
              <a:lnSpc>
                <a:spcPct val="150000"/>
              </a:lnSpc>
              <a:buFont typeface="Arial" panose="020B0604020202020204" pitchFamily="34" charset="0"/>
              <a:buChar char="•"/>
            </a:pPr>
            <a:r>
              <a:rPr lang="en-US" sz="2800" dirty="0">
                <a:latin typeface="Calibir"/>
              </a:rPr>
              <a:t>ethics section included </a:t>
            </a:r>
          </a:p>
          <a:p>
            <a:pPr marL="914400" lvl="1" indent="-457200">
              <a:lnSpc>
                <a:spcPct val="150000"/>
              </a:lnSpc>
              <a:buFont typeface="Arial" panose="020B0604020202020204" pitchFamily="34" charset="0"/>
              <a:buChar char="•"/>
            </a:pPr>
            <a:r>
              <a:rPr lang="en-US" sz="2800" dirty="0">
                <a:latin typeface="Calibir"/>
              </a:rPr>
              <a:t>reflection included </a:t>
            </a:r>
          </a:p>
          <a:p>
            <a:pPr marL="914400" lvl="1" indent="-457200">
              <a:lnSpc>
                <a:spcPct val="150000"/>
              </a:lnSpc>
              <a:buFont typeface="Arial" panose="020B0604020202020204" pitchFamily="34" charset="0"/>
              <a:buChar char="•"/>
            </a:pPr>
            <a:r>
              <a:rPr lang="en-US" sz="2800" dirty="0">
                <a:latin typeface="Calibir"/>
              </a:rPr>
              <a:t>references are correct </a:t>
            </a:r>
          </a:p>
          <a:p>
            <a:pPr marL="914400" lvl="1" indent="-457200">
              <a:lnSpc>
                <a:spcPct val="150000"/>
              </a:lnSpc>
              <a:buFont typeface="Arial" panose="020B0604020202020204" pitchFamily="34" charset="0"/>
              <a:buChar char="•"/>
            </a:pPr>
            <a:r>
              <a:rPr lang="en-US" sz="2800" dirty="0">
                <a:latin typeface="Calibir"/>
              </a:rPr>
              <a:t>all members understand the project</a:t>
            </a:r>
          </a:p>
        </p:txBody>
      </p:sp>
      <p:sp>
        <p:nvSpPr>
          <p:cNvPr id="7" name="object 2">
            <a:extLst>
              <a:ext uri="{FF2B5EF4-FFF2-40B4-BE49-F238E27FC236}">
                <a16:creationId xmlns:a16="http://schemas.microsoft.com/office/drawing/2014/main" id="{03E9A849-1506-ADD5-0B09-2050CBFE8D1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28224423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2D1-EA17-78C4-6928-9D93150AD119}"/>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79D31E3-CEE6-5F64-A191-CF6FB5F67EE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33D352AC-8CCD-C037-C8E8-E5DFD523D7B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58F1C79-6F80-9264-397B-092AE5F5450D}"/>
              </a:ext>
            </a:extLst>
          </p:cNvPr>
          <p:cNvSpPr txBox="1"/>
          <p:nvPr/>
        </p:nvSpPr>
        <p:spPr>
          <a:xfrm>
            <a:off x="0" y="752630"/>
            <a:ext cx="10913806" cy="5842497"/>
          </a:xfrm>
          <a:prstGeom prst="rect">
            <a:avLst/>
          </a:prstGeom>
          <a:noFill/>
        </p:spPr>
        <p:txBody>
          <a:bodyPr wrap="square">
            <a:spAutoFit/>
          </a:bodyPr>
          <a:lstStyle/>
          <a:p>
            <a:pPr>
              <a:lnSpc>
                <a:spcPct val="150000"/>
              </a:lnSpc>
            </a:pPr>
            <a:r>
              <a:rPr lang="en-US" sz="2800" b="1" dirty="0">
                <a:latin typeface="Calibir"/>
              </a:rPr>
              <a:t>14. Helpful hints for getting higher marks</a:t>
            </a:r>
          </a:p>
          <a:p>
            <a:pPr>
              <a:lnSpc>
                <a:spcPct val="150000"/>
              </a:lnSpc>
            </a:pPr>
            <a:r>
              <a:rPr lang="en-US" sz="2800" dirty="0">
                <a:latin typeface="Calibir"/>
              </a:rPr>
              <a:t>To aim for a high distinction:</a:t>
            </a:r>
          </a:p>
          <a:p>
            <a:pPr marL="914400" lvl="1" indent="-457200">
              <a:lnSpc>
                <a:spcPct val="150000"/>
              </a:lnSpc>
              <a:buFont typeface="Arial" panose="020B0604020202020204" pitchFamily="34" charset="0"/>
              <a:buChar char="•"/>
            </a:pPr>
            <a:r>
              <a:rPr lang="en-US" sz="2800" dirty="0">
                <a:latin typeface="Calibir"/>
              </a:rPr>
              <a:t>choose a dataset with a clear business use case </a:t>
            </a:r>
          </a:p>
          <a:p>
            <a:pPr marL="914400" lvl="1" indent="-457200">
              <a:lnSpc>
                <a:spcPct val="150000"/>
              </a:lnSpc>
              <a:buFont typeface="Arial" panose="020B0604020202020204" pitchFamily="34" charset="0"/>
              <a:buChar char="•"/>
            </a:pPr>
            <a:r>
              <a:rPr lang="en-US" sz="2800" dirty="0">
                <a:latin typeface="Calibir"/>
              </a:rPr>
              <a:t>use two models that create meaningful comparison </a:t>
            </a:r>
          </a:p>
          <a:p>
            <a:pPr marL="914400" lvl="1" indent="-457200">
              <a:lnSpc>
                <a:spcPct val="150000"/>
              </a:lnSpc>
              <a:buFont typeface="Arial" panose="020B0604020202020204" pitchFamily="34" charset="0"/>
              <a:buChar char="•"/>
            </a:pPr>
            <a:r>
              <a:rPr lang="en-US" sz="2800" dirty="0">
                <a:latin typeface="Calibir"/>
              </a:rPr>
              <a:t>make preprocessing critical, not superficial </a:t>
            </a:r>
          </a:p>
          <a:p>
            <a:pPr marL="914400" lvl="1" indent="-457200">
              <a:lnSpc>
                <a:spcPct val="150000"/>
              </a:lnSpc>
              <a:buFont typeface="Arial" panose="020B0604020202020204" pitchFamily="34" charset="0"/>
              <a:buChar char="•"/>
            </a:pPr>
            <a:r>
              <a:rPr lang="en-US" sz="2800" dirty="0">
                <a:latin typeface="Calibir"/>
              </a:rPr>
              <a:t>explain assumptions properly </a:t>
            </a:r>
          </a:p>
          <a:p>
            <a:pPr marL="914400" lvl="1" indent="-457200">
              <a:lnSpc>
                <a:spcPct val="150000"/>
              </a:lnSpc>
              <a:buFont typeface="Arial" panose="020B0604020202020204" pitchFamily="34" charset="0"/>
              <a:buChar char="•"/>
            </a:pPr>
            <a:r>
              <a:rPr lang="en-US" sz="2800" dirty="0">
                <a:latin typeface="Calibir"/>
              </a:rPr>
              <a:t>use evidence, tables, and screenshots </a:t>
            </a:r>
          </a:p>
          <a:p>
            <a:pPr marL="914400" lvl="1" indent="-457200">
              <a:lnSpc>
                <a:spcPct val="150000"/>
              </a:lnSpc>
              <a:buFont typeface="Arial" panose="020B0604020202020204" pitchFamily="34" charset="0"/>
              <a:buChar char="•"/>
            </a:pPr>
            <a:r>
              <a:rPr lang="en-US" sz="2800" dirty="0">
                <a:latin typeface="Calibir"/>
              </a:rPr>
              <a:t>discuss trade-offs, not just best score </a:t>
            </a:r>
          </a:p>
          <a:p>
            <a:pPr marL="914400" lvl="1" indent="-457200">
              <a:lnSpc>
                <a:spcPct val="150000"/>
              </a:lnSpc>
              <a:buFont typeface="Arial" panose="020B0604020202020204" pitchFamily="34" charset="0"/>
              <a:buChar char="•"/>
            </a:pPr>
            <a:r>
              <a:rPr lang="en-US" sz="2800" dirty="0">
                <a:latin typeface="Calibir"/>
              </a:rPr>
              <a:t>generate practical business recommendations</a:t>
            </a:r>
          </a:p>
        </p:txBody>
      </p:sp>
      <p:sp>
        <p:nvSpPr>
          <p:cNvPr id="7" name="object 2">
            <a:extLst>
              <a:ext uri="{FF2B5EF4-FFF2-40B4-BE49-F238E27FC236}">
                <a16:creationId xmlns:a16="http://schemas.microsoft.com/office/drawing/2014/main" id="{FEAEB7CA-29DC-5D4F-1910-727C12A58B6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8756802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BE82-FE05-1337-F685-2F5FFC5F8E32}"/>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0D7AD4E-2CA2-73AB-72EA-D7C67C20F7D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4C56D8C-95EB-D9AF-F1F3-22CA6A29223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83CA609-EBDB-6AAF-7AED-77E152E4DB77}"/>
              </a:ext>
            </a:extLst>
          </p:cNvPr>
          <p:cNvSpPr txBox="1"/>
          <p:nvPr/>
        </p:nvSpPr>
        <p:spPr>
          <a:xfrm>
            <a:off x="0" y="752630"/>
            <a:ext cx="10913806"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link ethics directly to the dataset variables </a:t>
            </a:r>
          </a:p>
          <a:p>
            <a:pPr marL="914400" lvl="1" indent="-457200">
              <a:lnSpc>
                <a:spcPct val="150000"/>
              </a:lnSpc>
              <a:buFont typeface="Arial" panose="020B0604020202020204" pitchFamily="34" charset="0"/>
              <a:buChar char="•"/>
            </a:pPr>
            <a:r>
              <a:rPr lang="en-US" sz="2800" dirty="0">
                <a:latin typeface="Calibir"/>
              </a:rPr>
              <a:t>speak confidently in presentation </a:t>
            </a:r>
          </a:p>
          <a:p>
            <a:pPr marL="914400" lvl="1" indent="-457200">
              <a:lnSpc>
                <a:spcPct val="150000"/>
              </a:lnSpc>
              <a:buFont typeface="Arial" panose="020B0604020202020204" pitchFamily="34" charset="0"/>
              <a:buChar char="•"/>
            </a:pPr>
            <a:r>
              <a:rPr lang="en-US" sz="2800" dirty="0">
                <a:latin typeface="Calibir"/>
              </a:rPr>
              <a:t>ensure every member can explain the work </a:t>
            </a:r>
          </a:p>
        </p:txBody>
      </p:sp>
      <p:sp>
        <p:nvSpPr>
          <p:cNvPr id="7" name="object 2">
            <a:extLst>
              <a:ext uri="{FF2B5EF4-FFF2-40B4-BE49-F238E27FC236}">
                <a16:creationId xmlns:a16="http://schemas.microsoft.com/office/drawing/2014/main" id="{3EED03A6-1DC6-1349-F3DB-01CA4A70DB0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18336478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EA2F9-919C-D264-6193-E4E78ACEC53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6E3B320-5307-31FB-A4D2-BB115038CAE8}"/>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D8E6BCF-5337-EE96-B803-D3CB9AF03E6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EAF8D35-F2CE-79EB-14DA-55EF7A30C74A}"/>
              </a:ext>
            </a:extLst>
          </p:cNvPr>
          <p:cNvSpPr txBox="1"/>
          <p:nvPr/>
        </p:nvSpPr>
        <p:spPr>
          <a:xfrm>
            <a:off x="0" y="752630"/>
            <a:ext cx="10913806" cy="4549835"/>
          </a:xfrm>
          <a:prstGeom prst="rect">
            <a:avLst/>
          </a:prstGeom>
          <a:noFill/>
        </p:spPr>
        <p:txBody>
          <a:bodyPr wrap="square">
            <a:spAutoFit/>
          </a:bodyPr>
          <a:lstStyle/>
          <a:p>
            <a:pPr>
              <a:lnSpc>
                <a:spcPct val="150000"/>
              </a:lnSpc>
            </a:pPr>
            <a:r>
              <a:rPr lang="en-US" sz="2800" b="1" dirty="0">
                <a:latin typeface="Calibir"/>
              </a:rPr>
              <a:t>15. Questions and answers for students</a:t>
            </a:r>
          </a:p>
          <a:p>
            <a:pPr>
              <a:lnSpc>
                <a:spcPct val="150000"/>
              </a:lnSpc>
            </a:pPr>
            <a:r>
              <a:rPr lang="en-US" sz="2800" b="1" dirty="0">
                <a:latin typeface="Calibir"/>
              </a:rPr>
              <a:t>Q1. Do we need two models?</a:t>
            </a:r>
          </a:p>
          <a:p>
            <a:pPr>
              <a:lnSpc>
                <a:spcPct val="150000"/>
              </a:lnSpc>
            </a:pPr>
            <a:r>
              <a:rPr lang="en-US" sz="2800" dirty="0">
                <a:latin typeface="Calibir"/>
              </a:rPr>
              <a:t>Yes. This is compulsory.</a:t>
            </a:r>
          </a:p>
          <a:p>
            <a:pPr>
              <a:lnSpc>
                <a:spcPct val="150000"/>
              </a:lnSpc>
            </a:pPr>
            <a:r>
              <a:rPr lang="en-US" sz="2800" b="1" dirty="0">
                <a:latin typeface="Calibir"/>
              </a:rPr>
              <a:t>Q2. Must both models be supervised?</a:t>
            </a:r>
          </a:p>
          <a:p>
            <a:pPr>
              <a:lnSpc>
                <a:spcPct val="150000"/>
              </a:lnSpc>
            </a:pPr>
            <a:r>
              <a:rPr lang="en-US" sz="2800" dirty="0">
                <a:latin typeface="Calibir"/>
              </a:rPr>
              <a:t>At least one must be supervised. The second may also be supervised, or clustering if clearly justified. For most groups, using two supervised models is safer.</a:t>
            </a:r>
          </a:p>
        </p:txBody>
      </p:sp>
      <p:sp>
        <p:nvSpPr>
          <p:cNvPr id="7" name="object 2">
            <a:extLst>
              <a:ext uri="{FF2B5EF4-FFF2-40B4-BE49-F238E27FC236}">
                <a16:creationId xmlns:a16="http://schemas.microsoft.com/office/drawing/2014/main" id="{F6842A7F-B5EB-C9ED-8F87-C53533B710E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97410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55C4-B744-9C63-2A80-BE1F9678FC9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FE889C0-0C66-371D-D65B-2D5FD7D2AF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C9DE347-310A-EFEE-2871-49E5C39FAA7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F81051B-EABC-2EA1-9CB4-0259274FA71F}"/>
              </a:ext>
            </a:extLst>
          </p:cNvPr>
          <p:cNvSpPr txBox="1"/>
          <p:nvPr/>
        </p:nvSpPr>
        <p:spPr>
          <a:xfrm>
            <a:off x="0" y="752630"/>
            <a:ext cx="10913806" cy="3903504"/>
          </a:xfrm>
          <a:prstGeom prst="rect">
            <a:avLst/>
          </a:prstGeom>
          <a:noFill/>
        </p:spPr>
        <p:txBody>
          <a:bodyPr wrap="square">
            <a:spAutoFit/>
          </a:bodyPr>
          <a:lstStyle/>
          <a:p>
            <a:pPr>
              <a:lnSpc>
                <a:spcPct val="150000"/>
              </a:lnSpc>
            </a:pPr>
            <a:r>
              <a:rPr lang="en-US" sz="2800" b="1" dirty="0">
                <a:latin typeface="Calibir"/>
              </a:rPr>
              <a:t>Q3. Can we use Google </a:t>
            </a:r>
            <a:r>
              <a:rPr lang="en-US" sz="2800" b="1" dirty="0" err="1">
                <a:latin typeface="Calibir"/>
              </a:rPr>
              <a:t>Colab</a:t>
            </a:r>
            <a:r>
              <a:rPr lang="en-US" sz="2800" b="1" dirty="0">
                <a:latin typeface="Calibir"/>
              </a:rPr>
              <a:t>?</a:t>
            </a:r>
          </a:p>
          <a:p>
            <a:pPr>
              <a:lnSpc>
                <a:spcPct val="150000"/>
              </a:lnSpc>
            </a:pPr>
            <a:r>
              <a:rPr lang="en-US" sz="2800" dirty="0">
                <a:latin typeface="Calibir"/>
              </a:rPr>
              <a:t>Yes. It is recommended.</a:t>
            </a:r>
          </a:p>
          <a:p>
            <a:pPr>
              <a:lnSpc>
                <a:spcPct val="150000"/>
              </a:lnSpc>
            </a:pPr>
            <a:r>
              <a:rPr lang="en-US" sz="2800" b="1" dirty="0">
                <a:latin typeface="Calibir"/>
              </a:rPr>
              <a:t>Q4. Can we use KNIME?</a:t>
            </a:r>
          </a:p>
          <a:p>
            <a:pPr>
              <a:lnSpc>
                <a:spcPct val="150000"/>
              </a:lnSpc>
            </a:pPr>
            <a:r>
              <a:rPr lang="en-US" sz="2800" dirty="0">
                <a:latin typeface="Calibir"/>
              </a:rPr>
              <a:t>Only with lecturer approval.</a:t>
            </a:r>
          </a:p>
          <a:p>
            <a:pPr>
              <a:lnSpc>
                <a:spcPct val="150000"/>
              </a:lnSpc>
            </a:pPr>
            <a:r>
              <a:rPr lang="en-US" sz="2800" b="1" dirty="0">
                <a:latin typeface="Calibir"/>
              </a:rPr>
              <a:t>Q5. Can we use Azure ML?</a:t>
            </a:r>
          </a:p>
          <a:p>
            <a:pPr>
              <a:lnSpc>
                <a:spcPct val="150000"/>
              </a:lnSpc>
            </a:pPr>
            <a:r>
              <a:rPr lang="en-US" sz="2800" dirty="0">
                <a:latin typeface="Calibir"/>
              </a:rPr>
              <a:t>Yes, optionally, but it is not required.</a:t>
            </a:r>
          </a:p>
        </p:txBody>
      </p:sp>
      <p:sp>
        <p:nvSpPr>
          <p:cNvPr id="7" name="object 2">
            <a:extLst>
              <a:ext uri="{FF2B5EF4-FFF2-40B4-BE49-F238E27FC236}">
                <a16:creationId xmlns:a16="http://schemas.microsoft.com/office/drawing/2014/main" id="{4393B8B4-4363-3830-0D66-A0F58800088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3969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91759-D5E7-0CAB-BE79-86D7EE197A14}"/>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8F096A7-6FA2-FB51-4EF0-90AA7B12564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CF88B3B-2A36-FB31-33A0-35B152F0534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D1184A8-EB3E-6F8F-6E2F-40B9FC3D2D3F}"/>
              </a:ext>
            </a:extLst>
          </p:cNvPr>
          <p:cNvSpPr txBox="1"/>
          <p:nvPr/>
        </p:nvSpPr>
        <p:spPr>
          <a:xfrm>
            <a:off x="0" y="524692"/>
            <a:ext cx="10913806" cy="6488828"/>
          </a:xfrm>
          <a:prstGeom prst="rect">
            <a:avLst/>
          </a:prstGeom>
          <a:noFill/>
        </p:spPr>
        <p:txBody>
          <a:bodyPr wrap="square">
            <a:spAutoFit/>
          </a:bodyPr>
          <a:lstStyle/>
          <a:p>
            <a:pPr>
              <a:lnSpc>
                <a:spcPct val="150000"/>
              </a:lnSpc>
            </a:pPr>
            <a:r>
              <a:rPr lang="en-US" sz="2800" b="1" dirty="0">
                <a:latin typeface="Calibir"/>
              </a:rPr>
              <a:t>Q6. What is the easiest kind of dataset to use?</a:t>
            </a:r>
          </a:p>
          <a:p>
            <a:pPr>
              <a:lnSpc>
                <a:spcPct val="150000"/>
              </a:lnSpc>
            </a:pPr>
            <a:r>
              <a:rPr lang="en-US" sz="2800" dirty="0">
                <a:latin typeface="Calibir"/>
              </a:rPr>
              <a:t>A binary classification dataset is usually easier for students, such as churn, attrition, heart disease, or loan prediction.</a:t>
            </a:r>
          </a:p>
          <a:p>
            <a:pPr>
              <a:lnSpc>
                <a:spcPct val="150000"/>
              </a:lnSpc>
            </a:pPr>
            <a:r>
              <a:rPr lang="en-US" sz="2800" b="1" dirty="0">
                <a:latin typeface="Calibir"/>
              </a:rPr>
              <a:t>Q7. What is the easiest model pair for most groups?</a:t>
            </a:r>
          </a:p>
          <a:p>
            <a:pPr>
              <a:lnSpc>
                <a:spcPct val="150000"/>
              </a:lnSpc>
            </a:pPr>
            <a:r>
              <a:rPr lang="en-US" sz="2800" dirty="0">
                <a:latin typeface="Calibir"/>
              </a:rPr>
              <a:t>For classification:</a:t>
            </a:r>
          </a:p>
          <a:p>
            <a:pPr marL="457200" indent="-457200">
              <a:lnSpc>
                <a:spcPct val="150000"/>
              </a:lnSpc>
              <a:buFont typeface="Arial" panose="020B0604020202020204" pitchFamily="34" charset="0"/>
              <a:buChar char="•"/>
            </a:pPr>
            <a:r>
              <a:rPr lang="en-US" sz="2800" dirty="0">
                <a:latin typeface="Calibir"/>
              </a:rPr>
              <a:t>Logistic Regression + Random Forest</a:t>
            </a:r>
            <a:br>
              <a:rPr lang="en-US" sz="2800" dirty="0">
                <a:latin typeface="Calibir"/>
              </a:rPr>
            </a:br>
            <a:r>
              <a:rPr lang="en-US" sz="2800" dirty="0">
                <a:latin typeface="Calibir"/>
              </a:rPr>
              <a:t>or </a:t>
            </a:r>
          </a:p>
          <a:p>
            <a:pPr marL="457200" indent="-457200">
              <a:lnSpc>
                <a:spcPct val="150000"/>
              </a:lnSpc>
              <a:buFont typeface="Arial" panose="020B0604020202020204" pitchFamily="34" charset="0"/>
              <a:buChar char="•"/>
            </a:pPr>
            <a:r>
              <a:rPr lang="en-US" sz="2800" dirty="0">
                <a:latin typeface="Calibir"/>
              </a:rPr>
              <a:t>Logistic Regression + Decision Tree </a:t>
            </a:r>
          </a:p>
          <a:p>
            <a:pPr>
              <a:lnSpc>
                <a:spcPct val="150000"/>
              </a:lnSpc>
            </a:pPr>
            <a:r>
              <a:rPr lang="en-US" sz="2800" dirty="0">
                <a:latin typeface="Calibir"/>
              </a:rPr>
              <a:t>For regression:</a:t>
            </a:r>
          </a:p>
          <a:p>
            <a:pPr marL="457200" indent="-457200">
              <a:lnSpc>
                <a:spcPct val="150000"/>
              </a:lnSpc>
              <a:buFont typeface="Arial" panose="020B0604020202020204" pitchFamily="34" charset="0"/>
              <a:buChar char="•"/>
            </a:pPr>
            <a:r>
              <a:rPr lang="en-US" sz="2800" dirty="0">
                <a:latin typeface="Calibir"/>
              </a:rPr>
              <a:t>Linear Regression + Random Forest Regressor</a:t>
            </a:r>
          </a:p>
        </p:txBody>
      </p:sp>
      <p:sp>
        <p:nvSpPr>
          <p:cNvPr id="7" name="object 2">
            <a:extLst>
              <a:ext uri="{FF2B5EF4-FFF2-40B4-BE49-F238E27FC236}">
                <a16:creationId xmlns:a16="http://schemas.microsoft.com/office/drawing/2014/main" id="{25A0772A-FC91-1C07-129B-269C15C9C26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87199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fade">
                                      <p:cBhvr>
                                        <p:cTn id="17" dur="1000"/>
                                        <p:tgtEl>
                                          <p:spTgt spid="5">
                                            <p:txEl>
                                              <p:pRg st="7" end="7"/>
                                            </p:txEl>
                                          </p:spTgt>
                                        </p:tgtEl>
                                      </p:cBhvr>
                                    </p:animEffect>
                                    <p:anim calcmode="lin" valueType="num">
                                      <p:cBhvr>
                                        <p:cTn id="1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1000"/>
                                        <p:tgtEl>
                                          <p:spTgt spid="5">
                                            <p:txEl>
                                              <p:pRg st="4" end="4"/>
                                            </p:txEl>
                                          </p:spTgt>
                                        </p:tgtEl>
                                      </p:cBhvr>
                                    </p:animEffect>
                                    <p:anim calcmode="lin" valueType="num">
                                      <p:cBhvr>
                                        <p:cTn id="3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3CFE-03B1-0B93-65E7-95D0D90A26F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FC6E392-A98C-337D-A196-BABE13C76A2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AACFCB6-BBC0-00B1-47D4-CF7A6F9F0EF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1D32036-38B6-8C3B-EB13-90B70948AB51}"/>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Q8. What if our two models give similar results?</a:t>
            </a:r>
          </a:p>
          <a:p>
            <a:pPr>
              <a:lnSpc>
                <a:spcPct val="150000"/>
              </a:lnSpc>
            </a:pPr>
            <a:r>
              <a:rPr lang="en-US" sz="2800" dirty="0">
                <a:latin typeface="Calibir"/>
              </a:rPr>
              <a:t>That is fine. You still need to compare them and explain trade-offs such as interpretability, overfitting risk, and business suitability.</a:t>
            </a:r>
          </a:p>
          <a:p>
            <a:pPr>
              <a:lnSpc>
                <a:spcPct val="150000"/>
              </a:lnSpc>
            </a:pPr>
            <a:r>
              <a:rPr lang="en-US" sz="2800" b="1" dirty="0">
                <a:latin typeface="Calibir"/>
              </a:rPr>
              <a:t>Q9. Do we need hyperparameter tuning?</a:t>
            </a:r>
          </a:p>
          <a:p>
            <a:pPr>
              <a:lnSpc>
                <a:spcPct val="150000"/>
              </a:lnSpc>
            </a:pPr>
            <a:r>
              <a:rPr lang="en-US" sz="2800" dirty="0">
                <a:latin typeface="Calibir"/>
              </a:rPr>
              <a:t>Not always advanced tuning, but you should explain parameter settings and why you chose them.</a:t>
            </a:r>
          </a:p>
        </p:txBody>
      </p:sp>
      <p:sp>
        <p:nvSpPr>
          <p:cNvPr id="7" name="object 2">
            <a:extLst>
              <a:ext uri="{FF2B5EF4-FFF2-40B4-BE49-F238E27FC236}">
                <a16:creationId xmlns:a16="http://schemas.microsoft.com/office/drawing/2014/main" id="{3D393DEB-9929-9BF3-9E6E-185E082D97FB}"/>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70832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4970-FD75-173B-7699-1A4D13616BBD}"/>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2C5ADD1-E7A9-05B0-491D-D46C5152AD17}"/>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E154A11C-E3BC-1BCC-C67B-3F6B91BF50B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92C1A92-89DE-D427-4D85-FEA17D862C6D}"/>
              </a:ext>
            </a:extLst>
          </p:cNvPr>
          <p:cNvSpPr txBox="1"/>
          <p:nvPr/>
        </p:nvSpPr>
        <p:spPr>
          <a:xfrm>
            <a:off x="0" y="583684"/>
            <a:ext cx="10913806" cy="1964512"/>
          </a:xfrm>
          <a:prstGeom prst="rect">
            <a:avLst/>
          </a:prstGeom>
          <a:noFill/>
        </p:spPr>
        <p:txBody>
          <a:bodyPr wrap="square">
            <a:spAutoFit/>
          </a:bodyPr>
          <a:lstStyle/>
          <a:p>
            <a:pPr>
              <a:lnSpc>
                <a:spcPct val="150000"/>
              </a:lnSpc>
            </a:pPr>
            <a:r>
              <a:rPr lang="en-US" sz="2800" b="1" dirty="0">
                <a:latin typeface="Calibir"/>
              </a:rPr>
              <a:t>Q10. Do we need screenshots?</a:t>
            </a:r>
          </a:p>
          <a:p>
            <a:pPr>
              <a:lnSpc>
                <a:spcPct val="150000"/>
              </a:lnSpc>
            </a:pPr>
            <a:r>
              <a:rPr lang="en-US" sz="2800" dirty="0">
                <a:latin typeface="Calibir"/>
              </a:rPr>
              <a:t>Yes. The instructions specifically require screenshots as implementation evidence.</a:t>
            </a:r>
          </a:p>
        </p:txBody>
      </p:sp>
      <p:sp>
        <p:nvSpPr>
          <p:cNvPr id="7" name="object 2">
            <a:extLst>
              <a:ext uri="{FF2B5EF4-FFF2-40B4-BE49-F238E27FC236}">
                <a16:creationId xmlns:a16="http://schemas.microsoft.com/office/drawing/2014/main" id="{56F628E8-EC69-57D5-A7F8-4F5ECF72DA6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18127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Vertic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34A4-E09D-65EE-A647-088488F9E3D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BE45323-E568-34BA-3B67-1883D200544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2967B74-D673-D746-3BD8-4936AF1C94C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6B152C3-6340-54D5-1B4D-91223E03A4F0}"/>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Q11. What screenshots should we capture?</a:t>
            </a:r>
          </a:p>
          <a:p>
            <a:pPr>
              <a:lnSpc>
                <a:spcPct val="150000"/>
              </a:lnSpc>
            </a:pPr>
            <a:r>
              <a:rPr lang="en-US" sz="2800" dirty="0">
                <a:latin typeface="Calibir"/>
              </a:rPr>
              <a:t>Capture:</a:t>
            </a:r>
          </a:p>
          <a:p>
            <a:pPr marL="914400" lvl="1" indent="-457200">
              <a:lnSpc>
                <a:spcPct val="150000"/>
              </a:lnSpc>
              <a:buFont typeface="Arial" panose="020B0604020202020204" pitchFamily="34" charset="0"/>
              <a:buChar char="•"/>
            </a:pPr>
            <a:r>
              <a:rPr lang="en-US" sz="2800" dirty="0">
                <a:latin typeface="Calibir"/>
              </a:rPr>
              <a:t>raw dataset issues </a:t>
            </a:r>
          </a:p>
          <a:p>
            <a:pPr marL="914400" lvl="1" indent="-457200">
              <a:lnSpc>
                <a:spcPct val="150000"/>
              </a:lnSpc>
              <a:buFont typeface="Arial" panose="020B0604020202020204" pitchFamily="34" charset="0"/>
              <a:buChar char="•"/>
            </a:pPr>
            <a:r>
              <a:rPr lang="en-US" sz="2800" dirty="0">
                <a:latin typeface="Calibir"/>
              </a:rPr>
              <a:t>preprocessing steps </a:t>
            </a:r>
          </a:p>
          <a:p>
            <a:pPr marL="914400" lvl="1" indent="-457200">
              <a:lnSpc>
                <a:spcPct val="150000"/>
              </a:lnSpc>
              <a:buFont typeface="Arial" panose="020B0604020202020204" pitchFamily="34" charset="0"/>
              <a:buChar char="•"/>
            </a:pPr>
            <a:r>
              <a:rPr lang="en-US" sz="2800" dirty="0">
                <a:latin typeface="Calibir"/>
              </a:rPr>
              <a:t>feature selection </a:t>
            </a:r>
          </a:p>
          <a:p>
            <a:pPr marL="914400" lvl="1" indent="-457200">
              <a:lnSpc>
                <a:spcPct val="150000"/>
              </a:lnSpc>
              <a:buFont typeface="Arial" panose="020B0604020202020204" pitchFamily="34" charset="0"/>
              <a:buChar char="•"/>
            </a:pPr>
            <a:r>
              <a:rPr lang="en-US" sz="2800" dirty="0">
                <a:latin typeface="Calibir"/>
              </a:rPr>
              <a:t>transformed dataset </a:t>
            </a:r>
          </a:p>
          <a:p>
            <a:pPr marL="914400" lvl="1" indent="-457200">
              <a:lnSpc>
                <a:spcPct val="150000"/>
              </a:lnSpc>
              <a:buFont typeface="Arial" panose="020B0604020202020204" pitchFamily="34" charset="0"/>
              <a:buChar char="•"/>
            </a:pPr>
            <a:r>
              <a:rPr lang="en-US" sz="2800" dirty="0">
                <a:latin typeface="Calibir"/>
              </a:rPr>
              <a:t>model training </a:t>
            </a:r>
          </a:p>
          <a:p>
            <a:pPr marL="914400" lvl="1" indent="-457200">
              <a:lnSpc>
                <a:spcPct val="150000"/>
              </a:lnSpc>
              <a:buFont typeface="Arial" panose="020B0604020202020204" pitchFamily="34" charset="0"/>
              <a:buChar char="•"/>
            </a:pPr>
            <a:r>
              <a:rPr lang="en-US" sz="2800" dirty="0">
                <a:latin typeface="Calibir"/>
              </a:rPr>
              <a:t>parameter settings </a:t>
            </a:r>
          </a:p>
          <a:p>
            <a:pPr marL="914400" lvl="1" indent="-457200">
              <a:lnSpc>
                <a:spcPct val="150000"/>
              </a:lnSpc>
              <a:buFont typeface="Arial" panose="020B0604020202020204" pitchFamily="34" charset="0"/>
              <a:buChar char="•"/>
            </a:pPr>
            <a:r>
              <a:rPr lang="en-US" sz="2800" dirty="0">
                <a:latin typeface="Calibir"/>
              </a:rPr>
              <a:t>evaluation outputs</a:t>
            </a:r>
          </a:p>
        </p:txBody>
      </p:sp>
      <p:sp>
        <p:nvSpPr>
          <p:cNvPr id="7" name="object 2">
            <a:extLst>
              <a:ext uri="{FF2B5EF4-FFF2-40B4-BE49-F238E27FC236}">
                <a16:creationId xmlns:a16="http://schemas.microsoft.com/office/drawing/2014/main" id="{2656DD1D-21F3-0950-511D-6495E81AF77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92112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 calcmode="lin" valueType="num">
                                      <p:cBhvr additive="base">
                                        <p:cTn id="2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 calcmode="lin" valueType="num">
                                      <p:cBhvr additive="base">
                                        <p:cTn id="3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0E8F-8887-4085-08CC-6B1D325C2245}"/>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C62C9FA-D44C-C852-AE47-510975F0D9A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CEB80EB0-C5A7-6985-AD32-4195CFBBCD5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1210395-8870-2055-488E-A2AD74FDDE5C}"/>
              </a:ext>
            </a:extLst>
          </p:cNvPr>
          <p:cNvSpPr txBox="1"/>
          <p:nvPr/>
        </p:nvSpPr>
        <p:spPr>
          <a:xfrm>
            <a:off x="0" y="583684"/>
            <a:ext cx="10913806" cy="4549835"/>
          </a:xfrm>
          <a:prstGeom prst="rect">
            <a:avLst/>
          </a:prstGeom>
          <a:noFill/>
        </p:spPr>
        <p:txBody>
          <a:bodyPr wrap="square">
            <a:spAutoFit/>
          </a:bodyPr>
          <a:lstStyle/>
          <a:p>
            <a:pPr>
              <a:lnSpc>
                <a:spcPct val="150000"/>
              </a:lnSpc>
            </a:pPr>
            <a:r>
              <a:rPr lang="en-US" sz="2800" b="1" dirty="0">
                <a:latin typeface="Calibir"/>
              </a:rPr>
              <a:t>Q12. Can we just show code without screenshots?</a:t>
            </a:r>
          </a:p>
          <a:p>
            <a:pPr>
              <a:lnSpc>
                <a:spcPct val="150000"/>
              </a:lnSpc>
            </a:pPr>
            <a:r>
              <a:rPr lang="en-US" sz="2800" dirty="0">
                <a:latin typeface="Calibir"/>
              </a:rPr>
              <a:t>No. You should include both code and screenshots.</a:t>
            </a:r>
          </a:p>
          <a:p>
            <a:pPr>
              <a:lnSpc>
                <a:spcPct val="150000"/>
              </a:lnSpc>
            </a:pPr>
            <a:r>
              <a:rPr lang="en-US" sz="2800" b="1" dirty="0">
                <a:latin typeface="Calibir"/>
              </a:rPr>
              <a:t>Q13. What does “before vs after comparison” mean?</a:t>
            </a:r>
          </a:p>
          <a:p>
            <a:pPr>
              <a:lnSpc>
                <a:spcPct val="150000"/>
              </a:lnSpc>
            </a:pPr>
            <a:r>
              <a:rPr lang="en-US" sz="2800" dirty="0">
                <a:latin typeface="Calibir"/>
              </a:rPr>
              <a:t>Show how the data changed after preprocessing. For example:</a:t>
            </a:r>
          </a:p>
          <a:p>
            <a:pPr marL="914400" lvl="1" indent="-457200">
              <a:lnSpc>
                <a:spcPct val="150000"/>
              </a:lnSpc>
              <a:buFont typeface="Arial" panose="020B0604020202020204" pitchFamily="34" charset="0"/>
              <a:buChar char="•"/>
            </a:pPr>
            <a:r>
              <a:rPr lang="en-US" sz="2800" dirty="0">
                <a:latin typeface="Calibir"/>
              </a:rPr>
              <a:t>missing values before and after </a:t>
            </a:r>
          </a:p>
          <a:p>
            <a:pPr marL="914400" lvl="1" indent="-457200">
              <a:lnSpc>
                <a:spcPct val="150000"/>
              </a:lnSpc>
              <a:buFont typeface="Arial" panose="020B0604020202020204" pitchFamily="34" charset="0"/>
              <a:buChar char="•"/>
            </a:pPr>
            <a:r>
              <a:rPr lang="en-US" sz="2800" dirty="0">
                <a:latin typeface="Calibir"/>
              </a:rPr>
              <a:t>categorical variables before and after encoding </a:t>
            </a:r>
          </a:p>
          <a:p>
            <a:pPr marL="914400" lvl="1" indent="-457200">
              <a:lnSpc>
                <a:spcPct val="150000"/>
              </a:lnSpc>
              <a:buFont typeface="Arial" panose="020B0604020202020204" pitchFamily="34" charset="0"/>
              <a:buChar char="•"/>
            </a:pPr>
            <a:r>
              <a:rPr lang="en-US" sz="2800" dirty="0">
                <a:latin typeface="Calibir"/>
              </a:rPr>
              <a:t>shape or structure before and after cleaning</a:t>
            </a:r>
          </a:p>
        </p:txBody>
      </p:sp>
      <p:sp>
        <p:nvSpPr>
          <p:cNvPr id="7" name="object 2">
            <a:extLst>
              <a:ext uri="{FF2B5EF4-FFF2-40B4-BE49-F238E27FC236}">
                <a16:creationId xmlns:a16="http://schemas.microsoft.com/office/drawing/2014/main" id="{447C85E9-23A4-6D2E-BCD8-967221B2D812}"/>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0436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05CB-CEEB-D1E5-909E-1F3E3E13703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E8A7755-A424-5C28-B17A-474E9756705D}"/>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8809EA-C6A3-E638-8427-5FB69BC0801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AE58990-977C-9238-551E-C463E505B6E3}"/>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Q14. Do we need to explain assumptions for both models?</a:t>
            </a:r>
          </a:p>
          <a:p>
            <a:pPr>
              <a:lnSpc>
                <a:spcPct val="150000"/>
              </a:lnSpc>
            </a:pPr>
            <a:r>
              <a:rPr lang="en-US" sz="2800" dirty="0">
                <a:latin typeface="Calibir"/>
              </a:rPr>
              <a:t>Yes, especially for the chosen techniques. You should explain the theoretical assumptions and whether your dataset satisfies them.</a:t>
            </a:r>
          </a:p>
          <a:p>
            <a:pPr>
              <a:lnSpc>
                <a:spcPct val="150000"/>
              </a:lnSpc>
            </a:pPr>
            <a:r>
              <a:rPr lang="en-US" sz="2800" b="1" dirty="0">
                <a:latin typeface="Calibir"/>
              </a:rPr>
              <a:t>Q15. What if assumptions are violated?</a:t>
            </a:r>
          </a:p>
          <a:p>
            <a:pPr>
              <a:lnSpc>
                <a:spcPct val="150000"/>
              </a:lnSpc>
            </a:pPr>
            <a:r>
              <a:rPr lang="en-US" sz="2800" dirty="0">
                <a:latin typeface="Calibir"/>
              </a:rPr>
              <a:t>That is okay if you discuss:</a:t>
            </a:r>
          </a:p>
          <a:p>
            <a:pPr marL="914400" lvl="1" indent="-457200">
              <a:lnSpc>
                <a:spcPct val="150000"/>
              </a:lnSpc>
              <a:buFont typeface="Arial" panose="020B0604020202020204" pitchFamily="34" charset="0"/>
              <a:buChar char="•"/>
            </a:pPr>
            <a:r>
              <a:rPr lang="en-US" sz="2800" dirty="0">
                <a:latin typeface="Calibir"/>
              </a:rPr>
              <a:t>which assumption is violated </a:t>
            </a:r>
          </a:p>
          <a:p>
            <a:pPr marL="914400" lvl="1" indent="-457200">
              <a:lnSpc>
                <a:spcPct val="150000"/>
              </a:lnSpc>
              <a:buFont typeface="Arial" panose="020B0604020202020204" pitchFamily="34" charset="0"/>
              <a:buChar char="•"/>
            </a:pPr>
            <a:r>
              <a:rPr lang="en-US" sz="2800" dirty="0">
                <a:latin typeface="Calibir"/>
              </a:rPr>
              <a:t>the likely impact </a:t>
            </a:r>
          </a:p>
          <a:p>
            <a:pPr marL="914400" lvl="1" indent="-457200">
              <a:lnSpc>
                <a:spcPct val="150000"/>
              </a:lnSpc>
              <a:buFont typeface="Arial" panose="020B0604020202020204" pitchFamily="34" charset="0"/>
              <a:buChar char="•"/>
            </a:pPr>
            <a:r>
              <a:rPr lang="en-US" sz="2800" dirty="0">
                <a:latin typeface="Calibir"/>
              </a:rPr>
              <a:t>whether the model still remains useful </a:t>
            </a:r>
          </a:p>
          <a:p>
            <a:pPr marL="914400" lvl="1" indent="-457200">
              <a:lnSpc>
                <a:spcPct val="150000"/>
              </a:lnSpc>
              <a:buFont typeface="Arial" panose="020B0604020202020204" pitchFamily="34" charset="0"/>
              <a:buChar char="•"/>
            </a:pPr>
            <a:r>
              <a:rPr lang="en-US" sz="2800" dirty="0">
                <a:latin typeface="Calibir"/>
              </a:rPr>
              <a:t>whether another model handles the issue better</a:t>
            </a:r>
          </a:p>
        </p:txBody>
      </p:sp>
      <p:sp>
        <p:nvSpPr>
          <p:cNvPr id="7" name="object 2">
            <a:extLst>
              <a:ext uri="{FF2B5EF4-FFF2-40B4-BE49-F238E27FC236}">
                <a16:creationId xmlns:a16="http://schemas.microsoft.com/office/drawing/2014/main" id="{C1D71D55-F1CF-C825-8FC0-B49CC97EC56A}"/>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88756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8E471-1E37-E9B1-17ED-E86E0DC34C98}"/>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C7E0DBFC-EDE9-B515-BB34-47FAC0409B2E}"/>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5E28F4D-A7C8-589C-AA5C-95E05AD19F2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38CAF1E4-3663-BAC4-4D4F-CB1262BA53C9}"/>
              </a:ext>
            </a:extLst>
          </p:cNvPr>
          <p:cNvSpPr txBox="1"/>
          <p:nvPr/>
        </p:nvSpPr>
        <p:spPr>
          <a:xfrm>
            <a:off x="0" y="583684"/>
            <a:ext cx="10913806" cy="5196166"/>
          </a:xfrm>
          <a:prstGeom prst="rect">
            <a:avLst/>
          </a:prstGeom>
          <a:noFill/>
        </p:spPr>
        <p:txBody>
          <a:bodyPr wrap="square">
            <a:spAutoFit/>
          </a:bodyPr>
          <a:lstStyle/>
          <a:p>
            <a:pPr>
              <a:lnSpc>
                <a:spcPct val="150000"/>
              </a:lnSpc>
            </a:pPr>
            <a:r>
              <a:rPr lang="en-US" sz="2800" b="1" dirty="0">
                <a:latin typeface="Calibir"/>
              </a:rPr>
              <a:t>Q16. Do we need business insights even if this is a technical subject?</a:t>
            </a:r>
          </a:p>
          <a:p>
            <a:pPr>
              <a:lnSpc>
                <a:spcPct val="150000"/>
              </a:lnSpc>
            </a:pPr>
            <a:r>
              <a:rPr lang="en-US" sz="2800" dirty="0">
                <a:latin typeface="Calibir"/>
              </a:rPr>
              <a:t>Yes. This is very important. Predictive analytics should lead to meaningful decisions or actions.</a:t>
            </a:r>
          </a:p>
          <a:p>
            <a:pPr>
              <a:lnSpc>
                <a:spcPct val="150000"/>
              </a:lnSpc>
            </a:pPr>
            <a:r>
              <a:rPr lang="en-US" sz="2800" b="1" dirty="0">
                <a:latin typeface="Calibir"/>
              </a:rPr>
              <a:t>Q17. What counts as a good business insight?</a:t>
            </a:r>
          </a:p>
          <a:p>
            <a:pPr>
              <a:lnSpc>
                <a:spcPct val="150000"/>
              </a:lnSpc>
            </a:pPr>
            <a:r>
              <a:rPr lang="en-US" sz="2800" dirty="0">
                <a:latin typeface="Calibir"/>
              </a:rPr>
              <a:t>A good insight connects:</a:t>
            </a:r>
          </a:p>
          <a:p>
            <a:pPr marL="914400" lvl="1" indent="-457200">
              <a:lnSpc>
                <a:spcPct val="150000"/>
              </a:lnSpc>
              <a:buFont typeface="Arial" panose="020B0604020202020204" pitchFamily="34" charset="0"/>
              <a:buChar char="•"/>
            </a:pPr>
            <a:r>
              <a:rPr lang="en-US" sz="2800" dirty="0">
                <a:latin typeface="Calibir"/>
              </a:rPr>
              <a:t>an important variable or pattern </a:t>
            </a:r>
          </a:p>
          <a:p>
            <a:pPr marL="914400" lvl="1" indent="-457200">
              <a:lnSpc>
                <a:spcPct val="150000"/>
              </a:lnSpc>
              <a:buFont typeface="Arial" panose="020B0604020202020204" pitchFamily="34" charset="0"/>
              <a:buChar char="•"/>
            </a:pPr>
            <a:r>
              <a:rPr lang="en-US" sz="2800" dirty="0">
                <a:latin typeface="Calibir"/>
              </a:rPr>
              <a:t>the model result </a:t>
            </a:r>
          </a:p>
          <a:p>
            <a:pPr marL="914400" lvl="1" indent="-457200">
              <a:lnSpc>
                <a:spcPct val="150000"/>
              </a:lnSpc>
              <a:buFont typeface="Arial" panose="020B0604020202020204" pitchFamily="34" charset="0"/>
              <a:buChar char="•"/>
            </a:pPr>
            <a:r>
              <a:rPr lang="en-US" sz="2800" dirty="0">
                <a:latin typeface="Calibir"/>
              </a:rPr>
              <a:t>a practical action or recommendation</a:t>
            </a:r>
          </a:p>
        </p:txBody>
      </p:sp>
      <p:sp>
        <p:nvSpPr>
          <p:cNvPr id="7" name="object 2">
            <a:extLst>
              <a:ext uri="{FF2B5EF4-FFF2-40B4-BE49-F238E27FC236}">
                <a16:creationId xmlns:a16="http://schemas.microsoft.com/office/drawing/2014/main" id="{5CABFE98-B0B5-6507-9ADD-F9B404946F78}"/>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59371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C140-B9D6-3B83-4EDA-134094123D5A}"/>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963D174C-6C6A-9E36-AE4F-FA446E4405C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BBDEFD7-F519-D1E0-D16A-5A913EC8E93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CCCA4F9-A4CD-8D50-A186-DAB07A1FAB85}"/>
              </a:ext>
            </a:extLst>
          </p:cNvPr>
          <p:cNvSpPr txBox="1"/>
          <p:nvPr/>
        </p:nvSpPr>
        <p:spPr>
          <a:xfrm>
            <a:off x="0" y="583684"/>
            <a:ext cx="10913806" cy="3257174"/>
          </a:xfrm>
          <a:prstGeom prst="rect">
            <a:avLst/>
          </a:prstGeom>
          <a:noFill/>
        </p:spPr>
        <p:txBody>
          <a:bodyPr wrap="square">
            <a:spAutoFit/>
          </a:bodyPr>
          <a:lstStyle/>
          <a:p>
            <a:pPr>
              <a:lnSpc>
                <a:spcPct val="150000"/>
              </a:lnSpc>
            </a:pPr>
            <a:r>
              <a:rPr lang="en-US" sz="2800" b="1" dirty="0">
                <a:latin typeface="Calibir"/>
              </a:rPr>
              <a:t>Q18. What should we say in ethics and bias?</a:t>
            </a:r>
          </a:p>
          <a:p>
            <a:pPr>
              <a:lnSpc>
                <a:spcPct val="150000"/>
              </a:lnSpc>
            </a:pPr>
            <a:r>
              <a:rPr lang="en-US" sz="2800" dirty="0">
                <a:latin typeface="Calibir"/>
              </a:rPr>
              <a:t>Discuss real bias risks from your actual dataset, such as age, gender, income, department, or historical sampling imbalance.</a:t>
            </a:r>
          </a:p>
          <a:p>
            <a:pPr>
              <a:lnSpc>
                <a:spcPct val="150000"/>
              </a:lnSpc>
            </a:pPr>
            <a:r>
              <a:rPr lang="en-US" sz="2800" b="1" dirty="0">
                <a:latin typeface="Calibir"/>
              </a:rPr>
              <a:t>Q19. Can we remove sensitive variables like gender?</a:t>
            </a:r>
          </a:p>
          <a:p>
            <a:pPr>
              <a:lnSpc>
                <a:spcPct val="150000"/>
              </a:lnSpc>
            </a:pPr>
            <a:r>
              <a:rPr lang="en-US" sz="2800" dirty="0">
                <a:latin typeface="Calibir"/>
              </a:rPr>
              <a:t>Yes, if justified. But you should explain why and discuss the trade-off.</a:t>
            </a:r>
          </a:p>
        </p:txBody>
      </p:sp>
      <p:sp>
        <p:nvSpPr>
          <p:cNvPr id="7" name="object 2">
            <a:extLst>
              <a:ext uri="{FF2B5EF4-FFF2-40B4-BE49-F238E27FC236}">
                <a16:creationId xmlns:a16="http://schemas.microsoft.com/office/drawing/2014/main" id="{06889D54-EB70-E78D-F4D9-A8B244F09A6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6022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01DC-4CF1-31A2-7A8F-D30206A27366}"/>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6607B0E3-509C-C47D-5EDF-9184571065A9}"/>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86BCA63-8F59-88EC-E285-77620B4F7D3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B34C035C-53D7-F367-0591-6C9F3E855FEC}"/>
              </a:ext>
            </a:extLst>
          </p:cNvPr>
          <p:cNvSpPr txBox="1"/>
          <p:nvPr/>
        </p:nvSpPr>
        <p:spPr>
          <a:xfrm>
            <a:off x="0" y="583684"/>
            <a:ext cx="10913806" cy="4549835"/>
          </a:xfrm>
          <a:prstGeom prst="rect">
            <a:avLst/>
          </a:prstGeom>
          <a:noFill/>
        </p:spPr>
        <p:txBody>
          <a:bodyPr wrap="square">
            <a:spAutoFit/>
          </a:bodyPr>
          <a:lstStyle/>
          <a:p>
            <a:pPr>
              <a:lnSpc>
                <a:spcPct val="150000"/>
              </a:lnSpc>
            </a:pPr>
            <a:r>
              <a:rPr lang="en-US" sz="2800" b="1" dirty="0">
                <a:latin typeface="Calibir"/>
              </a:rPr>
              <a:t>Q20. What is overfitting?</a:t>
            </a:r>
          </a:p>
          <a:p>
            <a:pPr>
              <a:lnSpc>
                <a:spcPct val="150000"/>
              </a:lnSpc>
            </a:pPr>
            <a:r>
              <a:rPr lang="en-US" sz="2800" dirty="0">
                <a:latin typeface="Calibir"/>
              </a:rPr>
              <a:t>Overfitting happens when a model performs very well on training data but poorly on test data because it has learned noise rather than general patterns.</a:t>
            </a:r>
          </a:p>
          <a:p>
            <a:pPr>
              <a:lnSpc>
                <a:spcPct val="150000"/>
              </a:lnSpc>
            </a:pPr>
            <a:r>
              <a:rPr lang="en-US" sz="2800" b="1" dirty="0">
                <a:latin typeface="Calibir"/>
              </a:rPr>
              <a:t>Q21. What is underfitting?</a:t>
            </a:r>
          </a:p>
          <a:p>
            <a:pPr>
              <a:lnSpc>
                <a:spcPct val="150000"/>
              </a:lnSpc>
            </a:pPr>
            <a:r>
              <a:rPr lang="en-US" sz="2800" dirty="0">
                <a:latin typeface="Calibir"/>
              </a:rPr>
              <a:t>Underfitting happens when the model is too simple to capture important patterns, so performance is poor even on training data.</a:t>
            </a:r>
          </a:p>
        </p:txBody>
      </p:sp>
      <p:sp>
        <p:nvSpPr>
          <p:cNvPr id="7" name="object 2">
            <a:extLst>
              <a:ext uri="{FF2B5EF4-FFF2-40B4-BE49-F238E27FC236}">
                <a16:creationId xmlns:a16="http://schemas.microsoft.com/office/drawing/2014/main" id="{8AB5AEC1-3A83-6983-17EE-529C10D662C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1809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F355D-E77D-0A2A-435A-332EB7A5303F}"/>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1C4E77B-45A4-3DE3-E050-456B977B9045}"/>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2C85731-6334-99B7-C06E-9884255A69A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6E686FB-5E90-847E-C25E-BADD3F501901}"/>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Q22. What if one member did most of the coding?</a:t>
            </a:r>
          </a:p>
          <a:p>
            <a:pPr>
              <a:lnSpc>
                <a:spcPct val="150000"/>
              </a:lnSpc>
            </a:pPr>
            <a:r>
              <a:rPr lang="en-US" sz="2800" dirty="0">
                <a:latin typeface="Calibir"/>
              </a:rPr>
              <a:t>That is risky. All members may be asked questions during the presentation. Everyone should understand the whole project.</a:t>
            </a:r>
          </a:p>
          <a:p>
            <a:pPr>
              <a:lnSpc>
                <a:spcPct val="150000"/>
              </a:lnSpc>
            </a:pPr>
            <a:r>
              <a:rPr lang="en-US" sz="2800" b="1" dirty="0">
                <a:latin typeface="Calibir"/>
              </a:rPr>
              <a:t>Q23. Can we read from notes during the presentation?</a:t>
            </a:r>
          </a:p>
          <a:p>
            <a:pPr>
              <a:lnSpc>
                <a:spcPct val="150000"/>
              </a:lnSpc>
            </a:pPr>
            <a:r>
              <a:rPr lang="en-US" sz="2800" dirty="0">
                <a:latin typeface="Calibir"/>
              </a:rPr>
              <a:t>You may use notes for support, but simply reading from slides or notes will likely reduce marks significantly.</a:t>
            </a:r>
          </a:p>
        </p:txBody>
      </p:sp>
      <p:sp>
        <p:nvSpPr>
          <p:cNvPr id="7" name="object 2">
            <a:extLst>
              <a:ext uri="{FF2B5EF4-FFF2-40B4-BE49-F238E27FC236}">
                <a16:creationId xmlns:a16="http://schemas.microsoft.com/office/drawing/2014/main" id="{3156A7F7-0282-3130-BD4E-1698EBBD14B3}"/>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249719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77EBC-4635-2CD9-A225-808E1AF74DCB}"/>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53ED8268-7033-B8AC-74BA-94FFC2AECDB2}"/>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9919050B-ECB5-92B0-575D-8FE49907362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5A18A383-B588-AF58-CED8-E64BAFA2F955}"/>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Q24. What if our model accuracy is not very high?</a:t>
            </a:r>
          </a:p>
          <a:p>
            <a:pPr>
              <a:lnSpc>
                <a:spcPct val="150000"/>
              </a:lnSpc>
            </a:pPr>
            <a:r>
              <a:rPr lang="en-US" sz="2800" dirty="0">
                <a:latin typeface="Calibir"/>
              </a:rPr>
              <a:t>That is not automatically a problem. Marks also depend on justification, understanding, comparison, critical analysis, and reflection.</a:t>
            </a:r>
          </a:p>
          <a:p>
            <a:pPr>
              <a:lnSpc>
                <a:spcPct val="150000"/>
              </a:lnSpc>
            </a:pPr>
            <a:r>
              <a:rPr lang="en-US" sz="2800" b="1" dirty="0">
                <a:latin typeface="Calibir"/>
              </a:rPr>
              <a:t>Q25. Do we need references for technical concepts?</a:t>
            </a:r>
          </a:p>
          <a:p>
            <a:pPr>
              <a:lnSpc>
                <a:spcPct val="150000"/>
              </a:lnSpc>
            </a:pPr>
            <a:r>
              <a:rPr lang="en-US" sz="2800" dirty="0">
                <a:latin typeface="Calibir"/>
              </a:rPr>
              <a:t>Yes. If you discuss theory, metrics, bias, or model assumptions, support them with proper references.</a:t>
            </a:r>
          </a:p>
        </p:txBody>
      </p:sp>
      <p:sp>
        <p:nvSpPr>
          <p:cNvPr id="7" name="object 2">
            <a:extLst>
              <a:ext uri="{FF2B5EF4-FFF2-40B4-BE49-F238E27FC236}">
                <a16:creationId xmlns:a16="http://schemas.microsoft.com/office/drawing/2014/main" id="{773E7CAA-2227-66F7-137A-8E0349D657F7}"/>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31433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951A-C3A5-D951-B7EE-983BA1D449DC}"/>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A3CA4213-3737-B170-20CB-8572D8D99D84}"/>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8F3A7740-F65E-FA20-F66A-ED52DC24C14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98BBA7D3-A2A8-8C9A-D5E7-0860F2E442E9}"/>
              </a:ext>
            </a:extLst>
          </p:cNvPr>
          <p:cNvSpPr txBox="1"/>
          <p:nvPr/>
        </p:nvSpPr>
        <p:spPr>
          <a:xfrm>
            <a:off x="0" y="583684"/>
            <a:ext cx="10913806" cy="3257174"/>
          </a:xfrm>
          <a:prstGeom prst="rect">
            <a:avLst/>
          </a:prstGeom>
          <a:noFill/>
        </p:spPr>
        <p:txBody>
          <a:bodyPr wrap="square">
            <a:spAutoFit/>
          </a:bodyPr>
          <a:lstStyle/>
          <a:p>
            <a:pPr>
              <a:lnSpc>
                <a:spcPct val="150000"/>
              </a:lnSpc>
            </a:pPr>
            <a:r>
              <a:rPr lang="en-US" sz="2800" b="1" dirty="0">
                <a:latin typeface="Calibir"/>
              </a:rPr>
              <a:t>Q26. Can we cite Kaggle or UCI for the dataset?</a:t>
            </a:r>
          </a:p>
          <a:p>
            <a:pPr>
              <a:lnSpc>
                <a:spcPct val="150000"/>
              </a:lnSpc>
            </a:pPr>
            <a:r>
              <a:rPr lang="en-US" sz="2800" dirty="0">
                <a:latin typeface="Calibir"/>
              </a:rPr>
              <a:t>Yes, for the dataset source. But theory and analytical discussion should also be supported with credible academic or professional references.</a:t>
            </a:r>
          </a:p>
          <a:p>
            <a:pPr>
              <a:lnSpc>
                <a:spcPct val="150000"/>
              </a:lnSpc>
            </a:pPr>
            <a:r>
              <a:rPr lang="en-US" sz="2800" b="1" dirty="0">
                <a:latin typeface="Calibir"/>
              </a:rPr>
              <a:t>Q27. What happens if references are wrong?</a:t>
            </a:r>
          </a:p>
          <a:p>
            <a:pPr>
              <a:lnSpc>
                <a:spcPct val="150000"/>
              </a:lnSpc>
            </a:pPr>
            <a:r>
              <a:rPr lang="en-US" sz="2800" dirty="0">
                <a:latin typeface="Calibir"/>
              </a:rPr>
              <a:t>You may receive a penalty, possibly 20%, according to the instructions.</a:t>
            </a:r>
          </a:p>
        </p:txBody>
      </p:sp>
      <p:sp>
        <p:nvSpPr>
          <p:cNvPr id="7" name="object 2">
            <a:extLst>
              <a:ext uri="{FF2B5EF4-FFF2-40B4-BE49-F238E27FC236}">
                <a16:creationId xmlns:a16="http://schemas.microsoft.com/office/drawing/2014/main" id="{E69FA734-91E4-2CAD-D695-85A2FD47A326}"/>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307825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AC515-F0B6-A360-4C0A-E165340EC81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39E37CCE-6310-CD1B-971B-B1A2FBDAF0B1}"/>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F04AEB05-9B81-16E9-A5B3-DBACE04C7A0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7CF1861-9F66-D1C2-E877-9F7A97D62220}"/>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Q28. What happens if we submit as a solo student for a group assessment?</a:t>
            </a:r>
          </a:p>
          <a:p>
            <a:pPr>
              <a:lnSpc>
                <a:spcPct val="150000"/>
              </a:lnSpc>
            </a:pPr>
            <a:r>
              <a:rPr lang="en-US" sz="2800" dirty="0">
                <a:latin typeface="Calibir"/>
              </a:rPr>
              <a:t>There is a 20% penalty.</a:t>
            </a:r>
          </a:p>
          <a:p>
            <a:pPr>
              <a:lnSpc>
                <a:spcPct val="150000"/>
              </a:lnSpc>
            </a:pPr>
            <a:r>
              <a:rPr lang="en-US" sz="2800" b="1" dirty="0">
                <a:latin typeface="Calibir"/>
              </a:rPr>
              <a:t>Q29. What happens if we submit without cover sheet or in the wrong format?</a:t>
            </a:r>
          </a:p>
          <a:p>
            <a:pPr>
              <a:lnSpc>
                <a:spcPct val="150000"/>
              </a:lnSpc>
            </a:pPr>
            <a:r>
              <a:rPr lang="en-US" sz="2800" dirty="0">
                <a:latin typeface="Calibir"/>
              </a:rPr>
              <a:t>There is a 20% penalty.</a:t>
            </a:r>
          </a:p>
        </p:txBody>
      </p:sp>
      <p:sp>
        <p:nvSpPr>
          <p:cNvPr id="7" name="object 2">
            <a:extLst>
              <a:ext uri="{FF2B5EF4-FFF2-40B4-BE49-F238E27FC236}">
                <a16:creationId xmlns:a16="http://schemas.microsoft.com/office/drawing/2014/main" id="{F1CCBD71-C14C-BA97-B47D-4FBE4F70B61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3476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37370-4E32-1D17-92F0-75972F5CA0A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7925CC98-3B14-A1FF-4B07-1A3E472F26A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A47C0723-AC60-093D-E87C-C3E55D2D26F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828A952-2422-F394-C78E-4119FDDE0EA6}"/>
              </a:ext>
            </a:extLst>
          </p:cNvPr>
          <p:cNvSpPr txBox="1"/>
          <p:nvPr/>
        </p:nvSpPr>
        <p:spPr>
          <a:xfrm>
            <a:off x="0" y="583684"/>
            <a:ext cx="10913806" cy="2610843"/>
          </a:xfrm>
          <a:prstGeom prst="rect">
            <a:avLst/>
          </a:prstGeom>
          <a:noFill/>
        </p:spPr>
        <p:txBody>
          <a:bodyPr wrap="square">
            <a:spAutoFit/>
          </a:bodyPr>
          <a:lstStyle/>
          <a:p>
            <a:pPr>
              <a:lnSpc>
                <a:spcPct val="150000"/>
              </a:lnSpc>
            </a:pPr>
            <a:r>
              <a:rPr lang="en-US" sz="2800" b="1" dirty="0">
                <a:latin typeface="Calibir"/>
              </a:rPr>
              <a:t>Q30. What is the safest way to do well?</a:t>
            </a:r>
          </a:p>
          <a:p>
            <a:pPr>
              <a:lnSpc>
                <a:spcPct val="150000"/>
              </a:lnSpc>
            </a:pPr>
            <a:r>
              <a:rPr lang="en-US" sz="2800" dirty="0">
                <a:latin typeface="Calibir"/>
              </a:rPr>
              <a:t>Choose a manageable dataset, build two suitable models, document everything, explain every decision, and make sure the whole group can confidently present and answer questions.</a:t>
            </a:r>
          </a:p>
        </p:txBody>
      </p:sp>
      <p:sp>
        <p:nvSpPr>
          <p:cNvPr id="7" name="object 2">
            <a:extLst>
              <a:ext uri="{FF2B5EF4-FFF2-40B4-BE49-F238E27FC236}">
                <a16:creationId xmlns:a16="http://schemas.microsoft.com/office/drawing/2014/main" id="{79D54AF0-1E75-583F-89EA-5FE205313184}"/>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95063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801F-17A4-2A5C-1261-284023A48CF3}"/>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18287584-B90C-15E9-081D-23E0E51B673A}"/>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B17DF1E-E1F7-D80C-0131-E199E92C8B8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90267BF-A49D-BB83-1F95-08DF3F8D1288}"/>
              </a:ext>
            </a:extLst>
          </p:cNvPr>
          <p:cNvSpPr txBox="1"/>
          <p:nvPr/>
        </p:nvSpPr>
        <p:spPr>
          <a:xfrm>
            <a:off x="0" y="583684"/>
            <a:ext cx="10913806" cy="3903504"/>
          </a:xfrm>
          <a:prstGeom prst="rect">
            <a:avLst/>
          </a:prstGeom>
          <a:noFill/>
        </p:spPr>
        <p:txBody>
          <a:bodyPr wrap="square">
            <a:spAutoFit/>
          </a:bodyPr>
          <a:lstStyle/>
          <a:p>
            <a:pPr>
              <a:lnSpc>
                <a:spcPct val="150000"/>
              </a:lnSpc>
            </a:pPr>
            <a:r>
              <a:rPr lang="en-US" sz="2800" b="1" dirty="0">
                <a:latin typeface="Calibir"/>
              </a:rPr>
              <a:t>16. Very simple action plan for students</a:t>
            </a:r>
          </a:p>
          <a:p>
            <a:pPr>
              <a:lnSpc>
                <a:spcPct val="150000"/>
              </a:lnSpc>
            </a:pPr>
            <a:r>
              <a:rPr lang="en-US" sz="2800" dirty="0">
                <a:latin typeface="Calibir"/>
              </a:rPr>
              <a:t>Here is the simplest possible workflow:</a:t>
            </a:r>
          </a:p>
          <a:p>
            <a:pPr>
              <a:lnSpc>
                <a:spcPct val="150000"/>
              </a:lnSpc>
            </a:pPr>
            <a:r>
              <a:rPr lang="en-US" sz="2800" b="1" dirty="0">
                <a:latin typeface="Calibir"/>
              </a:rPr>
              <a:t>First)</a:t>
            </a:r>
          </a:p>
          <a:p>
            <a:pPr marL="914400" lvl="1" indent="-457200">
              <a:lnSpc>
                <a:spcPct val="150000"/>
              </a:lnSpc>
              <a:buFont typeface="Arial" panose="020B0604020202020204" pitchFamily="34" charset="0"/>
              <a:buChar char="•"/>
            </a:pPr>
            <a:r>
              <a:rPr lang="en-US" sz="2800" dirty="0">
                <a:latin typeface="Calibir"/>
              </a:rPr>
              <a:t>choose dataset </a:t>
            </a:r>
          </a:p>
          <a:p>
            <a:pPr marL="914400" lvl="1" indent="-457200">
              <a:lnSpc>
                <a:spcPct val="150000"/>
              </a:lnSpc>
              <a:buFont typeface="Arial" panose="020B0604020202020204" pitchFamily="34" charset="0"/>
              <a:buChar char="•"/>
            </a:pPr>
            <a:r>
              <a:rPr lang="en-US" sz="2800" dirty="0">
                <a:latin typeface="Calibir"/>
              </a:rPr>
              <a:t>define predictive problem </a:t>
            </a:r>
          </a:p>
          <a:p>
            <a:pPr marL="914400" lvl="1" indent="-457200">
              <a:lnSpc>
                <a:spcPct val="150000"/>
              </a:lnSpc>
              <a:buFont typeface="Arial" panose="020B0604020202020204" pitchFamily="34" charset="0"/>
              <a:buChar char="•"/>
            </a:pPr>
            <a:r>
              <a:rPr lang="en-US" sz="2800" dirty="0">
                <a:latin typeface="Calibir"/>
              </a:rPr>
              <a:t>assign team roles </a:t>
            </a:r>
          </a:p>
        </p:txBody>
      </p:sp>
      <p:sp>
        <p:nvSpPr>
          <p:cNvPr id="7" name="object 2">
            <a:extLst>
              <a:ext uri="{FF2B5EF4-FFF2-40B4-BE49-F238E27FC236}">
                <a16:creationId xmlns:a16="http://schemas.microsoft.com/office/drawing/2014/main" id="{2EA28684-A072-EDBA-2BA6-9A81F84F8F29}"/>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49241062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790A-E4F7-7732-585F-451EA334354E}"/>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E41E117F-F8BC-B58B-BD84-618F45DC82DF}"/>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B63275CF-9329-9C9A-8EA3-6D5F0DFF107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EE0384F-57F8-E468-AD68-3B5942EC16EF}"/>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Second)</a:t>
            </a:r>
          </a:p>
          <a:p>
            <a:pPr marL="914400" lvl="1" indent="-457200">
              <a:lnSpc>
                <a:spcPct val="150000"/>
              </a:lnSpc>
              <a:buFont typeface="Arial" panose="020B0604020202020204" pitchFamily="34" charset="0"/>
              <a:buChar char="•"/>
            </a:pPr>
            <a:r>
              <a:rPr lang="en-US" sz="2800" dirty="0">
                <a:latin typeface="Calibir"/>
              </a:rPr>
              <a:t>inspect data </a:t>
            </a:r>
          </a:p>
          <a:p>
            <a:pPr marL="914400" lvl="1" indent="-457200">
              <a:lnSpc>
                <a:spcPct val="150000"/>
              </a:lnSpc>
              <a:buFont typeface="Arial" panose="020B0604020202020204" pitchFamily="34" charset="0"/>
              <a:buChar char="•"/>
            </a:pPr>
            <a:r>
              <a:rPr lang="en-US" sz="2800" dirty="0">
                <a:latin typeface="Calibir"/>
              </a:rPr>
              <a:t>identify issues </a:t>
            </a:r>
          </a:p>
          <a:p>
            <a:pPr marL="914400" lvl="1" indent="-457200">
              <a:lnSpc>
                <a:spcPct val="150000"/>
              </a:lnSpc>
              <a:buFont typeface="Arial" panose="020B0604020202020204" pitchFamily="34" charset="0"/>
              <a:buChar char="•"/>
            </a:pPr>
            <a:r>
              <a:rPr lang="en-US" sz="2800" dirty="0">
                <a:latin typeface="Calibir"/>
              </a:rPr>
              <a:t>preprocess data </a:t>
            </a:r>
          </a:p>
          <a:p>
            <a:pPr marL="914400" lvl="1" indent="-457200">
              <a:lnSpc>
                <a:spcPct val="150000"/>
              </a:lnSpc>
              <a:buFont typeface="Arial" panose="020B0604020202020204" pitchFamily="34" charset="0"/>
              <a:buChar char="•"/>
            </a:pPr>
            <a:r>
              <a:rPr lang="en-US" sz="2800" dirty="0">
                <a:latin typeface="Calibir"/>
              </a:rPr>
              <a:t>take screenshots </a:t>
            </a:r>
          </a:p>
          <a:p>
            <a:pPr>
              <a:lnSpc>
                <a:spcPct val="150000"/>
              </a:lnSpc>
            </a:pPr>
            <a:r>
              <a:rPr lang="en-US" sz="2800" b="1" dirty="0">
                <a:latin typeface="Calibir"/>
              </a:rPr>
              <a:t>Third)</a:t>
            </a:r>
          </a:p>
          <a:p>
            <a:pPr marL="914400" lvl="1" indent="-457200">
              <a:lnSpc>
                <a:spcPct val="150000"/>
              </a:lnSpc>
              <a:buFont typeface="Arial" panose="020B0604020202020204" pitchFamily="34" charset="0"/>
              <a:buChar char="•"/>
            </a:pPr>
            <a:r>
              <a:rPr lang="en-US" sz="2800" dirty="0">
                <a:latin typeface="Calibir"/>
              </a:rPr>
              <a:t>build model 1 </a:t>
            </a:r>
          </a:p>
          <a:p>
            <a:pPr marL="914400" lvl="1" indent="-457200">
              <a:lnSpc>
                <a:spcPct val="150000"/>
              </a:lnSpc>
              <a:buFont typeface="Arial" panose="020B0604020202020204" pitchFamily="34" charset="0"/>
              <a:buChar char="•"/>
            </a:pPr>
            <a:r>
              <a:rPr lang="en-US" sz="2800" dirty="0">
                <a:latin typeface="Calibir"/>
              </a:rPr>
              <a:t>build model 2 </a:t>
            </a:r>
          </a:p>
          <a:p>
            <a:pPr marL="914400" lvl="1" indent="-457200">
              <a:lnSpc>
                <a:spcPct val="150000"/>
              </a:lnSpc>
              <a:buFont typeface="Arial" panose="020B0604020202020204" pitchFamily="34" charset="0"/>
              <a:buChar char="•"/>
            </a:pPr>
            <a:r>
              <a:rPr lang="en-US" sz="2800" dirty="0">
                <a:latin typeface="Calibir"/>
              </a:rPr>
              <a:t>evaluate both</a:t>
            </a:r>
          </a:p>
        </p:txBody>
      </p:sp>
      <p:sp>
        <p:nvSpPr>
          <p:cNvPr id="7" name="object 2">
            <a:extLst>
              <a:ext uri="{FF2B5EF4-FFF2-40B4-BE49-F238E27FC236}">
                <a16:creationId xmlns:a16="http://schemas.microsoft.com/office/drawing/2014/main" id="{87151BDA-3278-E0FA-DB1C-BAD35A0A8101}"/>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47980966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BD3D-DD54-9992-4CF8-E7928C2DD0B0}"/>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F46C598-5961-C5CE-25A6-0F582AAE1EFB}"/>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55E1AC8C-4470-D079-2272-F39573CDAB2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D0FC3EB7-9F10-3421-D085-4744328223E8}"/>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Fourth)</a:t>
            </a:r>
          </a:p>
          <a:p>
            <a:pPr marL="914400" lvl="1" indent="-457200">
              <a:lnSpc>
                <a:spcPct val="150000"/>
              </a:lnSpc>
              <a:buFont typeface="Arial" panose="020B0604020202020204" pitchFamily="34" charset="0"/>
              <a:buChar char="•"/>
            </a:pPr>
            <a:r>
              <a:rPr lang="en-US" sz="2800" dirty="0">
                <a:latin typeface="Calibir"/>
              </a:rPr>
              <a:t>compare results </a:t>
            </a:r>
          </a:p>
          <a:p>
            <a:pPr marL="914400" lvl="1" indent="-457200">
              <a:lnSpc>
                <a:spcPct val="150000"/>
              </a:lnSpc>
              <a:buFont typeface="Arial" panose="020B0604020202020204" pitchFamily="34" charset="0"/>
              <a:buChar char="•"/>
            </a:pPr>
            <a:r>
              <a:rPr lang="en-US" sz="2800" dirty="0">
                <a:latin typeface="Calibir"/>
              </a:rPr>
              <a:t>write insights </a:t>
            </a:r>
          </a:p>
          <a:p>
            <a:pPr marL="914400" lvl="1" indent="-457200">
              <a:lnSpc>
                <a:spcPct val="150000"/>
              </a:lnSpc>
              <a:buFont typeface="Arial" panose="020B0604020202020204" pitchFamily="34" charset="0"/>
              <a:buChar char="•"/>
            </a:pPr>
            <a:r>
              <a:rPr lang="en-US" sz="2800" dirty="0">
                <a:latin typeface="Calibir"/>
              </a:rPr>
              <a:t>discuss ethics and reflection </a:t>
            </a:r>
          </a:p>
          <a:p>
            <a:pPr>
              <a:lnSpc>
                <a:spcPct val="150000"/>
              </a:lnSpc>
            </a:pPr>
            <a:r>
              <a:rPr lang="en-US" sz="2800" b="1" dirty="0">
                <a:latin typeface="Calibir"/>
              </a:rPr>
              <a:t>Fifth)</a:t>
            </a:r>
          </a:p>
          <a:p>
            <a:pPr marL="914400" lvl="1" indent="-457200">
              <a:lnSpc>
                <a:spcPct val="150000"/>
              </a:lnSpc>
              <a:buFont typeface="Arial" panose="020B0604020202020204" pitchFamily="34" charset="0"/>
              <a:buChar char="•"/>
            </a:pPr>
            <a:r>
              <a:rPr lang="en-US" sz="2800" dirty="0">
                <a:latin typeface="Calibir"/>
              </a:rPr>
              <a:t>prepare report </a:t>
            </a:r>
          </a:p>
          <a:p>
            <a:pPr marL="914400" lvl="1" indent="-457200">
              <a:lnSpc>
                <a:spcPct val="150000"/>
              </a:lnSpc>
              <a:buFont typeface="Arial" panose="020B0604020202020204" pitchFamily="34" charset="0"/>
              <a:buChar char="•"/>
            </a:pPr>
            <a:r>
              <a:rPr lang="en-US" sz="2800" dirty="0">
                <a:latin typeface="Calibir"/>
              </a:rPr>
              <a:t>prepare slides </a:t>
            </a:r>
          </a:p>
          <a:p>
            <a:pPr marL="914400" lvl="1" indent="-457200">
              <a:lnSpc>
                <a:spcPct val="150000"/>
              </a:lnSpc>
              <a:buFont typeface="Arial" panose="020B0604020202020204" pitchFamily="34" charset="0"/>
              <a:buChar char="•"/>
            </a:pPr>
            <a:r>
              <a:rPr lang="en-US" sz="2800" dirty="0" err="1">
                <a:latin typeface="Calibir"/>
              </a:rPr>
              <a:t>organise</a:t>
            </a:r>
            <a:r>
              <a:rPr lang="en-US" sz="2800" dirty="0">
                <a:latin typeface="Calibir"/>
              </a:rPr>
              <a:t> references </a:t>
            </a:r>
          </a:p>
          <a:p>
            <a:pPr marL="914400" lvl="1" indent="-457200">
              <a:lnSpc>
                <a:spcPct val="150000"/>
              </a:lnSpc>
              <a:buFont typeface="Arial" panose="020B0604020202020204" pitchFamily="34" charset="0"/>
              <a:buChar char="•"/>
            </a:pPr>
            <a:r>
              <a:rPr lang="en-US" sz="2800" dirty="0">
                <a:latin typeface="Calibir"/>
              </a:rPr>
              <a:t>rehearse presentation and Q&amp;A</a:t>
            </a:r>
          </a:p>
        </p:txBody>
      </p:sp>
      <p:sp>
        <p:nvSpPr>
          <p:cNvPr id="7" name="object 2">
            <a:extLst>
              <a:ext uri="{FF2B5EF4-FFF2-40B4-BE49-F238E27FC236}">
                <a16:creationId xmlns:a16="http://schemas.microsoft.com/office/drawing/2014/main" id="{12EC033F-74E9-B6B4-5484-4C46587112B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61285078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C8939-C858-8EC6-A307-1756F1BA2DC1}"/>
            </a:ext>
          </a:extLst>
        </p:cNvPr>
        <p:cNvGrpSpPr/>
        <p:nvPr/>
      </p:nvGrpSpPr>
      <p:grpSpPr>
        <a:xfrm>
          <a:off x="0" y="0"/>
          <a:ext cx="0" cy="0"/>
          <a:chOff x="0" y="0"/>
          <a:chExt cx="0" cy="0"/>
        </a:xfrm>
      </p:grpSpPr>
      <p:pic>
        <p:nvPicPr>
          <p:cNvPr id="4" name="object 3">
            <a:extLst>
              <a:ext uri="{FF2B5EF4-FFF2-40B4-BE49-F238E27FC236}">
                <a16:creationId xmlns:a16="http://schemas.microsoft.com/office/drawing/2014/main" id="{45CD4C38-91BC-3268-1EC0-B2359CF02BC0}"/>
              </a:ext>
            </a:extLst>
          </p:cNvPr>
          <p:cNvPicPr/>
          <p:nvPr/>
        </p:nvPicPr>
        <p:blipFill>
          <a:blip r:embed="rId2" cstate="print"/>
          <a:srcRect l="24413" r="9390"/>
          <a:stretch>
            <a:fillRect/>
          </a:stretch>
        </p:blipFill>
        <p:spPr>
          <a:xfrm>
            <a:off x="10710041" y="73691"/>
            <a:ext cx="1481959" cy="1944414"/>
          </a:xfrm>
          <a:prstGeom prst="rect">
            <a:avLst/>
          </a:prstGeom>
        </p:spPr>
      </p:pic>
      <p:sp>
        <p:nvSpPr>
          <p:cNvPr id="6" name="Rectangle 1">
            <a:extLst>
              <a:ext uri="{FF2B5EF4-FFF2-40B4-BE49-F238E27FC236}">
                <a16:creationId xmlns:a16="http://schemas.microsoft.com/office/drawing/2014/main" id="{1BA3B5DC-DE75-301C-1B2F-D789B54AE7DA}"/>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EE615E2B-CFA5-2DD3-FC05-3A6810A0E60A}"/>
              </a:ext>
            </a:extLst>
          </p:cNvPr>
          <p:cNvSpPr txBox="1"/>
          <p:nvPr/>
        </p:nvSpPr>
        <p:spPr>
          <a:xfrm>
            <a:off x="0" y="583684"/>
            <a:ext cx="10913806" cy="5842497"/>
          </a:xfrm>
          <a:prstGeom prst="rect">
            <a:avLst/>
          </a:prstGeom>
          <a:noFill/>
        </p:spPr>
        <p:txBody>
          <a:bodyPr wrap="square">
            <a:spAutoFit/>
          </a:bodyPr>
          <a:lstStyle/>
          <a:p>
            <a:pPr>
              <a:lnSpc>
                <a:spcPct val="150000"/>
              </a:lnSpc>
            </a:pPr>
            <a:r>
              <a:rPr lang="en-US" sz="2800" b="1" dirty="0">
                <a:latin typeface="Calibir"/>
              </a:rPr>
              <a:t>17. Final advice to students</a:t>
            </a:r>
          </a:p>
          <a:p>
            <a:pPr>
              <a:lnSpc>
                <a:spcPct val="150000"/>
              </a:lnSpc>
            </a:pPr>
            <a:r>
              <a:rPr lang="en-US" sz="2800" dirty="0">
                <a:latin typeface="Calibir"/>
              </a:rPr>
              <a:t>A strong submission is not the one with the most complicated model.</a:t>
            </a:r>
            <a:br>
              <a:rPr lang="en-US" sz="2800" dirty="0">
                <a:latin typeface="Calibir"/>
              </a:rPr>
            </a:br>
            <a:r>
              <a:rPr lang="en-US" sz="2800" dirty="0">
                <a:latin typeface="Calibir"/>
              </a:rPr>
              <a:t>A strong submission is the one that is:</a:t>
            </a:r>
          </a:p>
          <a:p>
            <a:pPr marL="914400" lvl="1" indent="-457200">
              <a:lnSpc>
                <a:spcPct val="150000"/>
              </a:lnSpc>
              <a:buFont typeface="Arial" panose="020B0604020202020204" pitchFamily="34" charset="0"/>
              <a:buChar char="•"/>
            </a:pPr>
            <a:r>
              <a:rPr lang="en-US" sz="2800" dirty="0">
                <a:latin typeface="Calibir"/>
              </a:rPr>
              <a:t>clear </a:t>
            </a:r>
          </a:p>
          <a:p>
            <a:pPr marL="914400" lvl="1" indent="-457200">
              <a:lnSpc>
                <a:spcPct val="150000"/>
              </a:lnSpc>
              <a:buFont typeface="Arial" panose="020B0604020202020204" pitchFamily="34" charset="0"/>
              <a:buChar char="•"/>
            </a:pPr>
            <a:r>
              <a:rPr lang="en-US" sz="2800" dirty="0">
                <a:latin typeface="Calibir"/>
              </a:rPr>
              <a:t>justified </a:t>
            </a:r>
          </a:p>
          <a:p>
            <a:pPr marL="914400" lvl="1" indent="-457200">
              <a:lnSpc>
                <a:spcPct val="150000"/>
              </a:lnSpc>
              <a:buFont typeface="Arial" panose="020B0604020202020204" pitchFamily="34" charset="0"/>
              <a:buChar char="•"/>
            </a:pPr>
            <a:r>
              <a:rPr lang="en-US" sz="2800" dirty="0">
                <a:latin typeface="Calibir"/>
              </a:rPr>
              <a:t>evidence-based </a:t>
            </a:r>
          </a:p>
          <a:p>
            <a:pPr marL="914400" lvl="1" indent="-457200">
              <a:lnSpc>
                <a:spcPct val="150000"/>
              </a:lnSpc>
              <a:buFont typeface="Arial" panose="020B0604020202020204" pitchFamily="34" charset="0"/>
              <a:buChar char="•"/>
            </a:pPr>
            <a:r>
              <a:rPr lang="en-US" sz="2800" dirty="0">
                <a:latin typeface="Calibir"/>
              </a:rPr>
              <a:t>well-compared </a:t>
            </a:r>
          </a:p>
          <a:p>
            <a:pPr marL="914400" lvl="1" indent="-457200">
              <a:lnSpc>
                <a:spcPct val="150000"/>
              </a:lnSpc>
              <a:buFont typeface="Arial" panose="020B0604020202020204" pitchFamily="34" charset="0"/>
              <a:buChar char="•"/>
            </a:pPr>
            <a:r>
              <a:rPr lang="en-US" sz="2800" dirty="0">
                <a:latin typeface="Calibir"/>
              </a:rPr>
              <a:t>ethically aware </a:t>
            </a:r>
          </a:p>
          <a:p>
            <a:pPr marL="914400" lvl="1" indent="-457200">
              <a:lnSpc>
                <a:spcPct val="150000"/>
              </a:lnSpc>
              <a:buFont typeface="Arial" panose="020B0604020202020204" pitchFamily="34" charset="0"/>
              <a:buChar char="•"/>
            </a:pPr>
            <a:r>
              <a:rPr lang="en-US" sz="2800" dirty="0">
                <a:latin typeface="Calibir"/>
              </a:rPr>
              <a:t>professionally presented</a:t>
            </a:r>
          </a:p>
        </p:txBody>
      </p:sp>
      <p:sp>
        <p:nvSpPr>
          <p:cNvPr id="7" name="object 2">
            <a:extLst>
              <a:ext uri="{FF2B5EF4-FFF2-40B4-BE49-F238E27FC236}">
                <a16:creationId xmlns:a16="http://schemas.microsoft.com/office/drawing/2014/main" id="{D6EB21BD-0CDB-6DDD-CAB4-73228001BEF0}"/>
              </a:ext>
            </a:extLst>
          </p:cNvPr>
          <p:cNvSpPr txBox="1"/>
          <p:nvPr/>
        </p:nvSpPr>
        <p:spPr>
          <a:xfrm>
            <a:off x="94419" y="68639"/>
            <a:ext cx="9448974" cy="515045"/>
          </a:xfrm>
          <a:prstGeom prst="rect">
            <a:avLst/>
          </a:prstGeom>
        </p:spPr>
        <p:txBody>
          <a:bodyPr vert="horz" wrap="square" lIns="0" tIns="7144" rIns="0" bIns="0" rtlCol="0">
            <a:spAutoFit/>
          </a:bodyPr>
          <a:lstStyle/>
          <a:p>
            <a:r>
              <a:rPr lang="en-US" sz="3300" b="1" dirty="0">
                <a:latin typeface="Calibir"/>
              </a:rPr>
              <a:t>HI6039 Group Assignment Student Guide</a:t>
            </a:r>
          </a:p>
        </p:txBody>
      </p:sp>
    </p:spTree>
    <p:extLst>
      <p:ext uri="{BB962C8B-B14F-4D97-AF65-F5344CB8AC3E}">
        <p14:creationId xmlns:p14="http://schemas.microsoft.com/office/powerpoint/2010/main" val="156077835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0"/>
            <a:ext cx="9144000" cy="577517"/>
          </a:xfrm>
        </p:spPr>
        <p:txBody>
          <a:bodyPr>
            <a:normAutofit/>
          </a:bodyPr>
          <a:lstStyle/>
          <a:p>
            <a:r>
              <a:rPr lang="en-US" sz="3000" b="1" dirty="0">
                <a:latin typeface="Calibir"/>
              </a:rPr>
              <a:t>Let’s Answer Your Questions</a:t>
            </a:r>
            <a:endParaRPr lang="en-AU" sz="3000" b="1" dirty="0">
              <a:latin typeface="Calibir"/>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4" y="1036133"/>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0" y="3299222"/>
            <a:ext cx="12192000" cy="3257174"/>
          </a:xfrm>
          <a:prstGeom prst="rect">
            <a:avLst/>
          </a:prstGeom>
          <a:noFill/>
        </p:spPr>
        <p:txBody>
          <a:bodyPr wrap="square" rtlCol="0">
            <a:spAutoFit/>
          </a:bodyPr>
          <a:lstStyle/>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Live during class</a:t>
            </a:r>
            <a:r>
              <a:rPr lang="en-US" altLang="en-US" sz="2800" kern="0" dirty="0">
                <a:solidFill>
                  <a:sysClr val="windowText" lastClr="000000"/>
                </a:solidFill>
                <a:latin typeface="Calibri" panose="020F0502020204030204" pitchFamily="34" charset="0"/>
                <a:cs typeface="Calibri" panose="020F0502020204030204" pitchFamily="34" charset="0"/>
              </a:rPr>
              <a:t> – Ask directly during sessions.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Inbox</a:t>
            </a:r>
            <a:r>
              <a:rPr lang="en-US" altLang="en-US" sz="2800" kern="0" dirty="0">
                <a:solidFill>
                  <a:sysClr val="windowText" lastClr="000000"/>
                </a:solidFill>
                <a:latin typeface="Calibri" panose="020F0502020204030204" pitchFamily="34" charset="0"/>
                <a:cs typeface="Calibri" panose="020F0502020204030204" pitchFamily="34" charset="0"/>
              </a:rPr>
              <a:t> – For structured academic queries.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Email</a:t>
            </a:r>
            <a:r>
              <a:rPr lang="en-US" altLang="en-US" sz="2800" kern="0" dirty="0">
                <a:solidFill>
                  <a:sysClr val="windowText" lastClr="000000"/>
                </a:solidFill>
                <a:latin typeface="Calibri" panose="020F0502020204030204" pitchFamily="34" charset="0"/>
                <a:cs typeface="Calibri" panose="020F0502020204030204" pitchFamily="34" charset="0"/>
              </a:rPr>
              <a:t> – For formal communications or attachments.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Discussion </a:t>
            </a:r>
            <a:r>
              <a:rPr lang="en-US" altLang="en-US" sz="2800" kern="0" dirty="0">
                <a:solidFill>
                  <a:sysClr val="windowText" lastClr="000000"/>
                </a:solidFill>
                <a:latin typeface="Calibri" panose="020F0502020204030204" pitchFamily="34" charset="0"/>
                <a:cs typeface="Calibri" panose="020F0502020204030204" pitchFamily="34" charset="0"/>
              </a:rPr>
              <a:t>– For sharing your questions.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Microsoft Team </a:t>
            </a:r>
            <a:r>
              <a:rPr lang="en-US" altLang="en-US" sz="2800" kern="0" dirty="0">
                <a:solidFill>
                  <a:sysClr val="windowText" lastClr="000000"/>
                </a:solidFill>
                <a:latin typeface="Calibri" panose="020F0502020204030204" pitchFamily="34" charset="0"/>
                <a:cs typeface="Calibri" panose="020F0502020204030204" pitchFamily="34" charset="0"/>
              </a:rPr>
              <a:t>– Send a reminder if I did not reply after 3 business days</a:t>
            </a:r>
          </a:p>
        </p:txBody>
      </p:sp>
    </p:spTree>
    <p:extLst>
      <p:ext uri="{BB962C8B-B14F-4D97-AF65-F5344CB8AC3E}">
        <p14:creationId xmlns:p14="http://schemas.microsoft.com/office/powerpoint/2010/main" val="39106300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903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390404" y="1272866"/>
            <a:ext cx="5664962" cy="4003328"/>
          </a:xfrm>
          <a:prstGeom prst="rect">
            <a:avLst/>
          </a:prstGeom>
        </p:spPr>
        <p:txBody>
          <a:bodyPr vert="horz" lIns="68580" tIns="34290" rIns="68580" bIns="34290" rtlCol="0" anchor="t">
            <a:noAutofit/>
          </a:bodyPr>
          <a:lstStyle/>
          <a:p>
            <a:pPr defTabSz="685800">
              <a:lnSpc>
                <a:spcPct val="150000"/>
              </a:lnSpc>
              <a:spcAft>
                <a:spcPts val="450"/>
              </a:spcAft>
              <a:defRPr/>
            </a:pPr>
            <a:r>
              <a:rPr lang="en-US" sz="2800" b="1" dirty="0">
                <a:solidFill>
                  <a:prstClr val="black">
                    <a:alpha val="80000"/>
                  </a:prstClr>
                </a:solidFill>
                <a:latin typeface="Calibri" panose="020F0502020204030204"/>
              </a:rPr>
              <a:t>Stay Connected:</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3"/>
              </a:rPr>
              <a:t>linkedin.com/in/farshid-keivanian</a:t>
            </a:r>
            <a:r>
              <a:rPr lang="en-US" sz="2800" dirty="0">
                <a:solidFill>
                  <a:prstClr val="black">
                    <a:alpha val="80000"/>
                  </a:prstClr>
                </a:solidFill>
                <a:latin typeface="Calibri" panose="020F0502020204030204"/>
              </a:rPr>
              <a:t> </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4"/>
              </a:rPr>
              <a:t>github.com/FarshidKeivanian</a:t>
            </a:r>
            <a:r>
              <a:rPr lang="en-US" sz="2800" dirty="0">
                <a:solidFill>
                  <a:prstClr val="black">
                    <a:alpha val="80000"/>
                  </a:prstClr>
                </a:solidFill>
                <a:latin typeface="Calibri" panose="020F0502020204030204"/>
              </a:rPr>
              <a:t> </a:t>
            </a:r>
          </a:p>
          <a:p>
            <a:pPr indent="-171450" defTabSz="685800">
              <a:lnSpc>
                <a:spcPct val="150000"/>
              </a:lnSpc>
              <a:spcAft>
                <a:spcPts val="450"/>
              </a:spcAft>
              <a:buFont typeface="Arial" panose="020B0604020202020204" pitchFamily="34" charset="0"/>
              <a:buChar char="•"/>
              <a:defRPr/>
            </a:pPr>
            <a:r>
              <a:rPr lang="en-US" sz="2800" i="1" dirty="0">
                <a:solidFill>
                  <a:prstClr val="black">
                    <a:alpha val="80000"/>
                  </a:prstClr>
                </a:solidFill>
                <a:latin typeface="Calibri" panose="020F0502020204030204"/>
              </a:rPr>
              <a:t>Education is the most powerful weapon you can use to change the world. </a:t>
            </a:r>
            <a:r>
              <a:rPr lang="en-US" sz="2800" dirty="0">
                <a:solidFill>
                  <a:prstClr val="black">
                    <a:alpha val="80000"/>
                  </a:prstClr>
                </a:solidFill>
                <a:latin typeface="Calibri" panose="020F0502020204030204"/>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0" y="0"/>
            <a:ext cx="6920865" cy="723788"/>
          </a:xfrm>
          <a:prstGeom prst="rect">
            <a:avLst/>
          </a:prstGeom>
        </p:spPr>
        <p:txBody>
          <a:bodyPr vert="horz" wrap="square" lIns="0" tIns="259588" rIns="0" bIns="0" rtlCol="0" anchor="ctr">
            <a:spAutoFit/>
          </a:bodyPr>
          <a:lstStyle/>
          <a:p>
            <a:pPr marL="123825">
              <a:lnSpc>
                <a:spcPct val="100000"/>
              </a:lnSpc>
              <a:spcBef>
                <a:spcPts val="100"/>
              </a:spcBef>
            </a:pPr>
            <a:r>
              <a:rPr lang="en-US" sz="3000" b="1" spc="-20" dirty="0">
                <a:latin typeface="Calibir"/>
              </a:rPr>
              <a:t>Happy Learning and Bright Futures Ahead!</a:t>
            </a:r>
            <a:endParaRPr sz="3000" b="1" spc="-20" dirty="0">
              <a:latin typeface="Calibir"/>
            </a:endParaRPr>
          </a:p>
        </p:txBody>
      </p:sp>
    </p:spTree>
    <p:extLst>
      <p:ext uri="{BB962C8B-B14F-4D97-AF65-F5344CB8AC3E}">
        <p14:creationId xmlns:p14="http://schemas.microsoft.com/office/powerpoint/2010/main" val="319086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B339-E632-9E22-A7B6-C9019F91C5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BAC6E-9EAC-CF1D-420B-AB0E38575A55}"/>
              </a:ext>
            </a:extLst>
          </p:cNvPr>
          <p:cNvSpPr txBox="1">
            <a:spLocks noGrp="1"/>
          </p:cNvSpPr>
          <p:nvPr>
            <p:ph type="title"/>
          </p:nvPr>
        </p:nvSpPr>
        <p:spPr>
          <a:xfrm>
            <a:off x="0" y="0"/>
            <a:ext cx="6553200" cy="520655"/>
          </a:xfrm>
          <a:prstGeom prst="rect">
            <a:avLst/>
          </a:prstGeom>
        </p:spPr>
        <p:txBody>
          <a:bodyPr vert="horz" wrap="square" lIns="0" tIns="12700" rIns="0" bIns="0" rtlCol="0" anchor="ctr">
            <a:spAutoFit/>
          </a:bodyPr>
          <a:lstStyle/>
          <a:p>
            <a:pPr marL="12700">
              <a:lnSpc>
                <a:spcPct val="100000"/>
              </a:lnSpc>
              <a:spcBef>
                <a:spcPts val="100"/>
              </a:spcBef>
            </a:pPr>
            <a:r>
              <a:rPr lang="en-US" sz="3300" b="1" dirty="0">
                <a:latin typeface="Calibir"/>
              </a:rPr>
              <a:t>Thank You</a:t>
            </a:r>
            <a:endParaRPr sz="3300" b="1" spc="-10" dirty="0">
              <a:latin typeface="Calibir"/>
            </a:endParaRPr>
          </a:p>
        </p:txBody>
      </p:sp>
      <p:sp>
        <p:nvSpPr>
          <p:cNvPr id="4" name="object 4">
            <a:extLst>
              <a:ext uri="{FF2B5EF4-FFF2-40B4-BE49-F238E27FC236}">
                <a16:creationId xmlns:a16="http://schemas.microsoft.com/office/drawing/2014/main" id="{524FA3D3-2D48-1396-02E0-E592D20AE6B7}"/>
              </a:ext>
            </a:extLst>
          </p:cNvPr>
          <p:cNvSpPr txBox="1">
            <a:spLocks noGrp="1"/>
          </p:cNvSpPr>
          <p:nvPr>
            <p:ph type="sldNum" sz="quarter" idx="7"/>
          </p:nvPr>
        </p:nvSpPr>
        <p:spPr>
          <a:xfrm>
            <a:off x="552269" y="6556594"/>
            <a:ext cx="3729354"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a:spcBef>
                <a:spcPts val="5"/>
              </a:spcBef>
              <a:defRPr/>
            </a:pPr>
            <a:fld id="{81D60167-4931-47E6-BA6A-407CBD079E47}" type="slidenum">
              <a:rPr lang="en-US" smtClean="0"/>
              <a:pPr marL="38100">
                <a:spcBef>
                  <a:spcPts val="5"/>
                </a:spcBef>
                <a:defRPr/>
              </a:pPr>
              <a:t>166</a:t>
            </a:fld>
            <a:r>
              <a:rPr lang="en-US" spc="235"/>
              <a:t> </a:t>
            </a:r>
            <a:r>
              <a:rPr lang="en-US"/>
              <a:t>|</a:t>
            </a:r>
            <a:r>
              <a:rPr lang="en-US" spc="400"/>
              <a:t> </a:t>
            </a:r>
            <a:r>
              <a:rPr lang="en-US"/>
              <a:t>Faculty</a:t>
            </a:r>
            <a:r>
              <a:rPr lang="en-US" spc="-15"/>
              <a:t> </a:t>
            </a:r>
            <a:r>
              <a:rPr lang="en-US"/>
              <a:t>of</a:t>
            </a:r>
            <a:r>
              <a:rPr lang="en-US" spc="-20"/>
              <a:t> </a:t>
            </a:r>
            <a:r>
              <a:rPr lang="en-US"/>
              <a:t>Business</a:t>
            </a:r>
            <a:r>
              <a:rPr lang="en-US" spc="-20"/>
              <a:t> </a:t>
            </a:r>
            <a:r>
              <a:rPr lang="en-US"/>
              <a:t>and</a:t>
            </a:r>
            <a:r>
              <a:rPr lang="en-US" spc="-20"/>
              <a:t> </a:t>
            </a:r>
            <a:r>
              <a:rPr lang="en-US"/>
              <a:t>Law</a:t>
            </a:r>
            <a:r>
              <a:rPr lang="en-US" spc="-15"/>
              <a:t> </a:t>
            </a:r>
            <a:r>
              <a:rPr lang="en-US"/>
              <a:t>|</a:t>
            </a:r>
            <a:r>
              <a:rPr lang="en-US" spc="-15"/>
              <a:t> </a:t>
            </a:r>
            <a:r>
              <a:rPr lang="en-US"/>
              <a:t>Peter</a:t>
            </a:r>
            <a:r>
              <a:rPr lang="en-US" spc="-10"/>
              <a:t> </a:t>
            </a:r>
            <a:r>
              <a:rPr lang="en-US"/>
              <a:t>Faber</a:t>
            </a:r>
            <a:r>
              <a:rPr lang="en-US" spc="-15"/>
              <a:t> </a:t>
            </a:r>
            <a:r>
              <a:rPr lang="en-US"/>
              <a:t>Business</a:t>
            </a:r>
            <a:r>
              <a:rPr lang="en-US" spc="-15"/>
              <a:t> </a:t>
            </a:r>
            <a:r>
              <a:rPr lang="en-US" spc="-10"/>
              <a:t>School</a:t>
            </a:r>
            <a:endParaRPr sz="1000" kern="0" spc="-10" dirty="0">
              <a:solidFill>
                <a:srgbClr val="3D3935"/>
              </a:solidFill>
              <a:latin typeface="Arial"/>
              <a:cs typeface="Arial"/>
            </a:endParaRPr>
          </a:p>
        </p:txBody>
      </p:sp>
      <p:sp>
        <p:nvSpPr>
          <p:cNvPr id="3" name="object 3">
            <a:extLst>
              <a:ext uri="{FF2B5EF4-FFF2-40B4-BE49-F238E27FC236}">
                <a16:creationId xmlns:a16="http://schemas.microsoft.com/office/drawing/2014/main" id="{29AB1092-95B3-7ACF-8F0C-CB846267DED1}"/>
              </a:ext>
            </a:extLst>
          </p:cNvPr>
          <p:cNvSpPr txBox="1"/>
          <p:nvPr/>
        </p:nvSpPr>
        <p:spPr>
          <a:xfrm>
            <a:off x="2043611" y="141681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i="1" kern="0" dirty="0">
                <a:solidFill>
                  <a:srgbClr val="3D3935"/>
                </a:solidFill>
                <a:latin typeface="Calibri"/>
                <a:cs typeface="Arial"/>
              </a:rPr>
              <a:t>Have a Great Learning Day!</a:t>
            </a:r>
            <a:endParaRPr sz="2800" kern="0" dirty="0">
              <a:solidFill>
                <a:sysClr val="windowText" lastClr="000000"/>
              </a:solidFill>
              <a:latin typeface="Calibri"/>
              <a:cs typeface="Arial"/>
            </a:endParaRPr>
          </a:p>
        </p:txBody>
      </p:sp>
      <p:sp>
        <p:nvSpPr>
          <p:cNvPr id="5" name="object 3">
            <a:extLst>
              <a:ext uri="{FF2B5EF4-FFF2-40B4-BE49-F238E27FC236}">
                <a16:creationId xmlns:a16="http://schemas.microsoft.com/office/drawing/2014/main" id="{A0227068-EB5C-24F0-54DA-165117897DD9}"/>
              </a:ext>
            </a:extLst>
          </p:cNvPr>
          <p:cNvSpPr txBox="1"/>
          <p:nvPr/>
        </p:nvSpPr>
        <p:spPr>
          <a:xfrm>
            <a:off x="2076270" y="210746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kern="0" dirty="0">
                <a:solidFill>
                  <a:sysClr val="windowText" lastClr="000000"/>
                </a:solidFill>
                <a:latin typeface="Calibri"/>
              </a:rPr>
              <a:t>Feel free to reach out with any questions!</a:t>
            </a:r>
            <a:endParaRPr sz="2800" kern="0" dirty="0">
              <a:solidFill>
                <a:sysClr val="windowText" lastClr="000000"/>
              </a:solidFill>
              <a:latin typeface="Calibri"/>
              <a:cs typeface="Arial"/>
            </a:endParaRPr>
          </a:p>
        </p:txBody>
      </p:sp>
    </p:spTree>
    <p:extLst>
      <p:ext uri="{BB962C8B-B14F-4D97-AF65-F5344CB8AC3E}">
        <p14:creationId xmlns:p14="http://schemas.microsoft.com/office/powerpoint/2010/main" val="251707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TotalTime>
  <Words>8636</Words>
  <Application>Microsoft Office PowerPoint</Application>
  <PresentationFormat>Widescreen</PresentationFormat>
  <Paragraphs>1396</Paragraphs>
  <Slides>166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166</vt:i4>
      </vt:variant>
    </vt:vector>
  </HeadingPairs>
  <TitlesOfParts>
    <vt:vector size="173" baseType="lpstr">
      <vt:lpstr>Aptos</vt:lpstr>
      <vt:lpstr>Aptos Display</vt:lpstr>
      <vt:lpstr>Arial</vt:lpstr>
      <vt:lpstr>Calibir</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Happy Learning and Bright Futures Ahead!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186</cp:revision>
  <dcterms:created xsi:type="dcterms:W3CDTF">2026-04-01T10:02:37Z</dcterms:created>
  <dcterms:modified xsi:type="dcterms:W3CDTF">2026-04-22T23:02:52Z</dcterms:modified>
</cp:coreProperties>
</file>