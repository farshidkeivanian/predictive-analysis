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84" r:id="rId9"/>
    <p:sldId id="285" r:id="rId10"/>
    <p:sldId id="283" r:id="rId11"/>
    <p:sldId id="27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3BBB-F907-4623-65DB-FC3156B63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D4CD2-2F0E-4232-0771-6C58ADBC1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6003-E5BD-FEBA-3F09-15903EFE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DAAF6-9D4F-1019-FF4B-B1131596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F9AF1-5889-CBF6-6AEB-C2F585F1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9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6708-107A-3241-B99D-8453599E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C831-91F0-F852-B92D-B0155B8E7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32821-BCBD-7EB2-5FAF-1D014835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06B55-8DC4-5AD8-1F16-0ACBA2C7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4A9B3-319C-81C4-EDD1-5C3BE78C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2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5BA4-8647-3C50-0A76-64A2D1BC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B3448-A690-95C9-4301-907A89AAF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AA6B9-DB6A-1DF4-FE6F-B38E9B54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5BC75-D78C-2078-BC5D-87351D67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B818-72F9-0944-CC38-7B1677A7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5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686F-8892-6282-0A39-3552C062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6649-0016-2463-CE84-64AFCC2F9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2178F-F9C8-C924-0056-9F17D9380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2367C-521A-CFC2-1EF3-83C6626C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15FF2-5DA4-8F78-DCC2-BE0529BA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AC27B-DE8E-C3F7-12BD-F20C1E1A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5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2FB0-4653-6798-EFCD-B3622FCF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AD336-0D48-E2AE-D21D-EFE04B35B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C510B-6C93-4C15-3CEA-C9D4EFCF5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28684-2163-FF93-29BB-C5E87E139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4CD54-0510-D2EC-A91E-FBC423E00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D320A-421D-3383-C89B-AE3DCB65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27931-5194-2885-6D31-45A16676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73AFD-94DE-778F-5291-5E44BB84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F888-1BCB-F571-E88C-C5940AAB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775AE-FAA8-2755-5806-41BE9146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937DC-D40E-478F-475A-AF628E2C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66E8A-44A4-8153-16F0-A8E88130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E00FE-7152-CF7D-4CE2-188AC4E5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7CD6-01AC-7FAE-05EC-DC1017CE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9B317-8FE8-27EF-7EC5-A5F47263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4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ADE7-643A-CECE-ACBA-8FF064621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C176C-E86C-6665-5804-0ECFA2EA8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9C4DA-44AD-97B9-139F-3C79DF54B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20240-A8CA-CF1A-CA8C-B93863D1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6AE23-E171-4BFA-FEC1-25E29AF4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8F3AE-5D0B-C75D-16DE-ABA3075B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3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A6B1-9F43-1496-8502-A0CC9463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132AA-6881-A90B-0BCD-D88658778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29632-03A6-E0ED-8217-0821DA1CF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001C9-0B28-BD43-8AE9-4C8A3F0B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1E51E-2E4C-47F7-C0F0-6A1D66B2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B6E2-B87C-1D9E-1F44-FBCE5295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8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43B9-BD2B-88C5-BD7A-7E444ADD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76E4E-1665-81BD-53B1-538C0052F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0F943-8C2F-4A39-B4FE-FBA133D1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A545-B06D-F09E-FEB0-F97FAA0D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02BCC-540F-8FC7-2C00-322C12C8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1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9E605B-39B1-73CA-DBFB-3D22E6846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68D13-B39C-4599-0A9B-2F481DA34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E1CD6-DE91-F27B-88F4-C4C69056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FB462-01D3-9C97-104A-B2432398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724D5-CDEA-BC38-C69A-770BC339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4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D1D20-0084-0FE3-26F8-5A2AEC25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D3070-A470-C925-5DC3-98EA4CF12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021C6-0776-8AFF-C944-C209AEB2C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06E3-E03F-0807-C17A-A25BC3620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AAFE-E4E3-B273-DB9F-B221B072D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1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l.azure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azure.com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58C80A-61B1-E3FD-99E2-625B7EEC66F6}"/>
              </a:ext>
            </a:extLst>
          </p:cNvPr>
          <p:cNvSpPr txBox="1"/>
          <p:nvPr/>
        </p:nvSpPr>
        <p:spPr>
          <a:xfrm>
            <a:off x="0" y="314632"/>
            <a:ext cx="5954987" cy="1703473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</a:rPr>
              <a:t>HI6039 (Predictive Analysis)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</a:rPr>
              <a:t>Dr. Farshid Keivanian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Preparation for Online Test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0392A-D22F-C20C-A44D-F9E3D906B6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5954987" y="73691"/>
            <a:ext cx="4607570" cy="685294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5AA71B59-8A46-5F90-66ED-C66E07C8DB19}"/>
              </a:ext>
            </a:extLst>
          </p:cNvPr>
          <p:cNvPicPr/>
          <p:nvPr/>
        </p:nvPicPr>
        <p:blipFill>
          <a:blip r:embed="rId3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6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0F853-6397-54CC-F88E-804B971C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B3D4BE-5B43-A895-CAB8-571F098173C7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Azure ML Access: Free vs Paid Options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C40F7-DF22-B155-6634-D8FE978932EF}"/>
              </a:ext>
            </a:extLst>
          </p:cNvPr>
          <p:cNvSpPr txBox="1"/>
          <p:nvPr/>
        </p:nvSpPr>
        <p:spPr>
          <a:xfrm>
            <a:off x="0" y="929149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You </a:t>
            </a:r>
            <a:r>
              <a:rPr lang="en-US" altLang="en-US" sz="2800" i="1" dirty="0">
                <a:latin typeface="Calibir"/>
              </a:rPr>
              <a:t>can</a:t>
            </a:r>
            <a:r>
              <a:rPr lang="en-US" altLang="en-US" sz="2800" dirty="0">
                <a:latin typeface="Calibir"/>
              </a:rPr>
              <a:t> access Azure ML Studio with a Microsoft account, but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It is NOT fully free — and in most cases, you need an Azure subscription (which may cost money). </a:t>
            </a:r>
          </a:p>
        </p:txBody>
      </p:sp>
    </p:spTree>
    <p:extLst>
      <p:ext uri="{BB962C8B-B14F-4D97-AF65-F5344CB8AC3E}">
        <p14:creationId xmlns:p14="http://schemas.microsoft.com/office/powerpoint/2010/main" val="61261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6AB69-5F47-7A36-3673-9435893A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8EA32-FD77-9BCC-290E-A58C1F475137}"/>
              </a:ext>
            </a:extLst>
          </p:cNvPr>
          <p:cNvSpPr txBox="1"/>
          <p:nvPr/>
        </p:nvSpPr>
        <p:spPr>
          <a:xfrm>
            <a:off x="0" y="929149"/>
            <a:ext cx="12192000" cy="454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How it actually works: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1. Microsoft account (Free part)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can sign up to Azure using a Microsoft account (like Outlook, Hotmail, etc.)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Microsoft often gives: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Free tier services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Free credits (e.g., ~$200 for 30 days for new users)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yes, students </a:t>
            </a:r>
            <a:r>
              <a:rPr lang="en-US" sz="2800" i="1" dirty="0">
                <a:latin typeface="Calibir"/>
              </a:rPr>
              <a:t>can start for free</a:t>
            </a:r>
            <a:r>
              <a:rPr lang="en-US" sz="2800" dirty="0">
                <a:latin typeface="Calibir"/>
              </a:rPr>
              <a:t>, but only temporarily or within limits.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C4953-030D-6862-0133-492DA40E1307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Azure ML Access: Free vs Paid Options</a:t>
            </a:r>
          </a:p>
        </p:txBody>
      </p:sp>
    </p:spTree>
    <p:extLst>
      <p:ext uri="{BB962C8B-B14F-4D97-AF65-F5344CB8AC3E}">
        <p14:creationId xmlns:p14="http://schemas.microsoft.com/office/powerpoint/2010/main" val="215301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23DD-1F3B-A69F-9C10-5CBA2472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132C46-A5F8-47ED-56B7-8A50649F578C}"/>
              </a:ext>
            </a:extLst>
          </p:cNvPr>
          <p:cNvSpPr txBox="1"/>
          <p:nvPr/>
        </p:nvSpPr>
        <p:spPr>
          <a:xfrm>
            <a:off x="0" y="929149"/>
            <a:ext cx="12192000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2. Azure subscription (Important)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To use Azure ML Studio, you must have: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An Azure subscription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Even if you start free, you still need to: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billing details (like a card)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After free credits run out, you may be charged if you keep using resources.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2CB4B7-DA49-3E59-6CCC-F7E70BA206FF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Azure ML Access: Free vs Paid Options</a:t>
            </a:r>
          </a:p>
        </p:txBody>
      </p:sp>
    </p:spTree>
    <p:extLst>
      <p:ext uri="{BB962C8B-B14F-4D97-AF65-F5344CB8AC3E}">
        <p14:creationId xmlns:p14="http://schemas.microsoft.com/office/powerpoint/2010/main" val="25909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87E3-F923-59B8-8D15-1C9AC7AD3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BA3086-B221-8D4B-7372-CCFC945AEED7}"/>
              </a:ext>
            </a:extLst>
          </p:cNvPr>
          <p:cNvSpPr txBox="1"/>
          <p:nvPr/>
        </p:nvSpPr>
        <p:spPr>
          <a:xfrm>
            <a:off x="0" y="929149"/>
            <a:ext cx="12192000" cy="519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3. </a:t>
            </a:r>
            <a:r>
              <a:rPr lang="en-US" sz="2800" dirty="0" err="1">
                <a:latin typeface="Calibir"/>
              </a:rPr>
              <a:t>Organisation</a:t>
            </a:r>
            <a:r>
              <a:rPr lang="en-US" sz="2800" dirty="0">
                <a:latin typeface="Calibir"/>
              </a:rPr>
              <a:t> / University access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Many students use Azure through: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University accounts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School-provided Azure subscriptions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usually: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Cover costs (or give credits)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Allow access to Azure ML without personal payment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the most common and safest option for students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FEF0D1-67D1-EF44-CE39-316A401C7E2D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Azure ML Access: Free vs Paid Options</a:t>
            </a:r>
          </a:p>
        </p:txBody>
      </p:sp>
    </p:spTree>
    <p:extLst>
      <p:ext uri="{BB962C8B-B14F-4D97-AF65-F5344CB8AC3E}">
        <p14:creationId xmlns:p14="http://schemas.microsoft.com/office/powerpoint/2010/main" val="304411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00817-241B-C5BD-D83F-4966200A8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2ABFDE-A11F-058B-A203-01B3EEA49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087007"/>
              </p:ext>
            </p:extLst>
          </p:nvPr>
        </p:nvGraphicFramePr>
        <p:xfrm>
          <a:off x="668282" y="1752600"/>
          <a:ext cx="10855435" cy="3352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845035">
                  <a:extLst>
                    <a:ext uri="{9D8B030D-6E8A-4147-A177-3AD203B41FA5}">
                      <a16:colId xmlns:a16="http://schemas.microsoft.com/office/drawing/2014/main" val="15013646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5734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4410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Option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Access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Cost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11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Personal Microsoft 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Free trial → then paid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65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Student (Azure for Students)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Often free with credits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757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Organisation</a:t>
                      </a:r>
                      <a:r>
                        <a:rPr lang="en-US" sz="2800" dirty="0">
                          <a:latin typeface="Calibir"/>
                        </a:rPr>
                        <a:t>/University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Usually covered by institution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6078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ADA175-ADD7-88F5-794C-ED691CD0D1F8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Azure ML Access: Free vs Paid Options</a:t>
            </a:r>
          </a:p>
        </p:txBody>
      </p:sp>
    </p:spTree>
    <p:extLst>
      <p:ext uri="{BB962C8B-B14F-4D97-AF65-F5344CB8AC3E}">
        <p14:creationId xmlns:p14="http://schemas.microsoft.com/office/powerpoint/2010/main" val="400497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85CA-E46C-14A0-9945-8505CB2D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499B3AE-A134-42F3-E057-693AC6395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92780"/>
            <a:ext cx="10328918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You don’t need a company contract, but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You do need an Azure subscription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Best option for students = Azure for Students or university access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69632-2508-2810-04B4-4E6E90B7ED08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Azure ML Access: Free vs Paid Options</a:t>
            </a:r>
          </a:p>
        </p:txBody>
      </p:sp>
    </p:spTree>
    <p:extLst>
      <p:ext uri="{BB962C8B-B14F-4D97-AF65-F5344CB8AC3E}">
        <p14:creationId xmlns:p14="http://schemas.microsoft.com/office/powerpoint/2010/main" val="3195931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C995-E8E5-AA19-EC6B-8EFE37C8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6276338-AFF9-FBF5-0AAC-61E5690F2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4" y="1256560"/>
            <a:ext cx="12065876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  <a:hlinkClick r:id="rId2"/>
              </a:rPr>
              <a:t>https://ml.azure.com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This link opens Azure ML Studio directly in your browser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You’ll need to sign in with your Microsoft/Azure account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From there, you can: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Open your workspace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Create datasets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 experiments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3FFCE-CF85-D115-27E9-4B379AB26EBF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Azure ML Studio Website (ml.azure.com)</a:t>
            </a:r>
          </a:p>
        </p:txBody>
      </p:sp>
    </p:spTree>
    <p:extLst>
      <p:ext uri="{BB962C8B-B14F-4D97-AF65-F5344CB8AC3E}">
        <p14:creationId xmlns:p14="http://schemas.microsoft.com/office/powerpoint/2010/main" val="1716980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2380-C144-FEB2-50A8-E0972572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89AB17F-12EB-6175-19E8-E4E862090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4" y="1256560"/>
            <a:ext cx="12065876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you don’t have access yet: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can start from the main Azure site: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  <a:hlinkClick r:id="rId2"/>
              </a:rPr>
              <a:t>https://portal.azure.com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Then: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Sign in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Search for Azure Machine Learning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Open your workspace → launch Studio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2F023-62D4-14C0-1B7E-6C5F1E12C63C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Azure ML Studio Website (ml.azure.com)</a:t>
            </a:r>
          </a:p>
        </p:txBody>
      </p:sp>
    </p:spTree>
    <p:extLst>
      <p:ext uri="{BB962C8B-B14F-4D97-AF65-F5344CB8AC3E}">
        <p14:creationId xmlns:p14="http://schemas.microsoft.com/office/powerpoint/2010/main" val="263704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53BE-774D-641D-F17D-B6128EB1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C319B0E-B52E-C2D5-1455-CBED38848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9110"/>
            <a:ext cx="10893238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We will explore some questions which are 50-60% similar to Lab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6DA48-F1F2-3D39-3503-9AD56E1D03C4}"/>
              </a:ext>
            </a:extLst>
          </p:cNvPr>
          <p:cNvSpPr txBox="1"/>
          <p:nvPr/>
        </p:nvSpPr>
        <p:spPr>
          <a:xfrm>
            <a:off x="0" y="0"/>
            <a:ext cx="9080938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Preparation for Lab Test 1</a:t>
            </a:r>
          </a:p>
        </p:txBody>
      </p:sp>
    </p:spTree>
    <p:extLst>
      <p:ext uri="{BB962C8B-B14F-4D97-AF65-F5344CB8AC3E}">
        <p14:creationId xmlns:p14="http://schemas.microsoft.com/office/powerpoint/2010/main" val="25923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FCE2-0D19-187F-7115-16278246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6BF846-768E-37F3-4F9F-FFA1A734E10B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D72F6-E2CB-4078-34D0-CCCD72ED3D3F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Where do you go in Azure ML Studio to find your workspace?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Workspace section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Models tab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Jobs tab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Pipelines tab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E3F6E-15E3-491F-C86E-C2CED68DDCA6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The workspace is your main area where everything is managed.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37D390-1AD2-2131-1F00-141D74752BEF}"/>
              </a:ext>
            </a:extLst>
          </p:cNvPr>
          <p:cNvSpPr/>
          <p:nvPr/>
        </p:nvSpPr>
        <p:spPr>
          <a:xfrm>
            <a:off x="-1" y="1691794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0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3793-0D76-458F-B1F6-866ACD65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8B4F58-CE40-D8EB-64CA-52FE83395EC9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DA894-8BDC-8619-1FB9-F81A16D2638C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button do you click to begin creating a dataset?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Upload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Add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Open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271FC-1799-7E4E-874A-FEAFC6AC5E0B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The “Create” button starts making a new dataset.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7D16A3-7169-036E-FB3A-111268DBFDC2}"/>
              </a:ext>
            </a:extLst>
          </p:cNvPr>
          <p:cNvSpPr/>
          <p:nvPr/>
        </p:nvSpPr>
        <p:spPr>
          <a:xfrm>
            <a:off x="-84084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6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529F-9703-8F4B-6E0C-0AC49CEF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D35B11-3570-EBA8-BF16-2B59EC92EE6B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221B9-F967-72E7-A6DD-9E31FDB2BCDB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service should you search for in Azure Marketplace?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Azure Machine Learning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Azure AI Bot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Azure DevOps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Azure Monitor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5121C-308A-22A5-4784-6AB88B340CAC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This is the service needed to build ML projects.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FDB99-C937-472F-54A7-7E9D75841AE4}"/>
              </a:ext>
            </a:extLst>
          </p:cNvPr>
          <p:cNvSpPr/>
          <p:nvPr/>
        </p:nvSpPr>
        <p:spPr>
          <a:xfrm>
            <a:off x="-1" y="163035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BB0B-1267-EAB9-7C71-762DAD19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E00628-EE92-16D7-31CC-32D6F9C146CF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2F94B-3924-A50C-4DF2-8D91B180A79C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option is used to make a new compute instance?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Add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New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Start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BEE07-5B04-1B02-349C-E50F0A1574A2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“New” is used to create something fresh.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F284E4-1B8D-E3EB-20E3-7F04A8461FCB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1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19D0-61EE-1DA0-0363-95CAD972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354480-1F4D-C4C1-5BCF-A5173A9AA276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4E1F3-A530-295E-7C51-B7DF6E12112F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file is used in the tutorial?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Real estate.csv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sales_data.xlsx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info.txt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data.csv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529B4-1876-4AA0-78F1-150E09A5BA09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This is the dataset used for learning.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370E54-A781-A42E-822B-F17E4215DAFE}"/>
              </a:ext>
            </a:extLst>
          </p:cNvPr>
          <p:cNvSpPr/>
          <p:nvPr/>
        </p:nvSpPr>
        <p:spPr>
          <a:xfrm>
            <a:off x="0" y="159967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8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6BAD-F23C-AD2A-8AC3-FBBD9C43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C21B7B-6A3D-62A3-4492-95E83EB15D3A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2C6BC-05A0-C8AC-E66D-618BF975C5A8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After choosing “From local files,” what button do you press?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Next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Submit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Finish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Cancel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CF4D9-2B95-4C8C-25F0-6B5A625CCCFE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“Next” moves you to the next step.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6C1B54-C1BA-08F4-CA7E-E29B1F723D8E}"/>
              </a:ext>
            </a:extLst>
          </p:cNvPr>
          <p:cNvSpPr/>
          <p:nvPr/>
        </p:nvSpPr>
        <p:spPr>
          <a:xfrm>
            <a:off x="-1" y="1621577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7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C8D0A-EE1C-D6E0-BC49-AE62B741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AE5C8-0B05-922B-C18E-1BC32341AC7D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8A07D-55BB-6B0C-269E-177669FD7CE4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link opens Azure ML Studio?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Studio web URL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link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Compute link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Storage link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73154-C0FB-EAE9-F242-CA10AD048FDB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This link opens the ML interface.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95DEC2-0EF2-4A27-D48A-7DAF8E8DD79F}"/>
              </a:ext>
            </a:extLst>
          </p:cNvPr>
          <p:cNvSpPr/>
          <p:nvPr/>
        </p:nvSpPr>
        <p:spPr>
          <a:xfrm>
            <a:off x="0" y="161055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5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1D50-7BD7-029C-FB51-FFDC55A5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CD95E3-F946-93A8-A126-E8E8A740CC63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739EC-389D-2294-DE60-57EA439C38E5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must you create before making a workspace?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Resource group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Dataset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Model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B4CFB-F5D3-1BFF-00AA-0E9D96CA37EF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A workspace needs a resource group to exist.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9B5C90-867A-2DD3-34EF-8A8B9973D010}"/>
              </a:ext>
            </a:extLst>
          </p:cNvPr>
          <p:cNvSpPr/>
          <p:nvPr/>
        </p:nvSpPr>
        <p:spPr>
          <a:xfrm>
            <a:off x="0" y="1640999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2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D580-5BA9-FE56-658E-88D9DF24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9B0953-BB68-4F6E-2BE4-96B6394D1BEA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A73C-52EA-2D3E-FEF4-05EB9B79C517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VM size is used for compute in the tutorial?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Standard_D4_v3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B1s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F8s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E2s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7AB1A-6A64-FAE5-5F36-97D25EB2E395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This VM is selected for compute power.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971FBF-0B08-907B-62FF-B0C42CF38583}"/>
              </a:ext>
            </a:extLst>
          </p:cNvPr>
          <p:cNvSpPr/>
          <p:nvPr/>
        </p:nvSpPr>
        <p:spPr>
          <a:xfrm>
            <a:off x="0" y="159608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6007-7D82-D86B-C01A-EEC5C0F9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B59B1-C905-4018-105F-DADE261A8B66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259AE-BE21-2CCD-03CE-34B721F0A4E7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Where can you check if your dataset was added?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page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Models page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Compute page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Settings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9F6C4-25EB-5632-4A97-C1997E2F7CB6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The dataset appears in the data list.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5FD61C-8F03-7B4D-78A8-3C21A75807E4}"/>
              </a:ext>
            </a:extLst>
          </p:cNvPr>
          <p:cNvSpPr/>
          <p:nvPr/>
        </p:nvSpPr>
        <p:spPr>
          <a:xfrm>
            <a:off x="-1" y="1675121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4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BC70-C096-0719-F36B-D9929D2DD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1273C5-C151-34F2-32EF-24B511C30A69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36F93-CC35-2715-2B1C-12558A8B4BB5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does a compute instance do?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Stores data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Runs code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Creates models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Deletes files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E4065-36B0-015D-9E35-2A8849D62EEA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acts like a computer for processing.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380FB3-906E-CFEE-07A2-A2E0D704CB2A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9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D334-3826-73B1-5D12-6213A98A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9A3A19-1C2E-B0E4-5DB8-E694143797C0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1A188-19DD-44BD-756E-6297C933C770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a dataset?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tool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collection of data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program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machine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01DE0-BA5E-0464-37E9-C8EAE7E954AF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stores information for analysis.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730474-1DF3-729F-7157-30AAF467383A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BE1A0-57A7-3221-CB52-75A0E380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32D78-7F1A-901E-B810-EE34BA5875C1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ACD9D-65E4-D377-BD58-B3E87CE78666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option helps upload files from your computer?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From local files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From web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From cloud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From API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E95F2-CCB9-4004-521C-1220CD12124C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This option lets you upload directly.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367916-E9AE-3715-52AA-F71B93FF4F0B}"/>
              </a:ext>
            </a:extLst>
          </p:cNvPr>
          <p:cNvSpPr/>
          <p:nvPr/>
        </p:nvSpPr>
        <p:spPr>
          <a:xfrm>
            <a:off x="0" y="1621577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4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B07F-883C-A103-5279-04ED6A427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0D8B2C-7F18-5C29-1189-15CD1D333064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AE12C-FB81-010A-16A4-D408F3FDEA36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happens after clicking “Create”?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Process starts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File deletes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Page closes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Nothing happens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FF049-0B49-E12A-9D2F-158AB895B918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begins creating the resource.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C2E76C-C6F0-6CAA-7CEC-67613396EDBF}"/>
              </a:ext>
            </a:extLst>
          </p:cNvPr>
          <p:cNvSpPr/>
          <p:nvPr/>
        </p:nvSpPr>
        <p:spPr>
          <a:xfrm>
            <a:off x="-1" y="1611067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7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EF89-00F1-103C-F843-9AFA2E8F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7622C7-01FA-43A8-11AF-097AE9679197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44E40-CB39-08A6-D831-5732407C6953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Where do you manage compute resources?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Compute page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page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Models page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Settings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3A8FA-F30C-E2B2-EBB4-961F8AAA8807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This is where machines are managed.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A647F7-7762-A78B-2B70-A1DF0B332FDC}"/>
              </a:ext>
            </a:extLst>
          </p:cNvPr>
          <p:cNvSpPr/>
          <p:nvPr/>
        </p:nvSpPr>
        <p:spPr>
          <a:xfrm>
            <a:off x="0" y="159967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5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0C96-7EB4-FF76-B6F5-35B05DCC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DE18B8-9E01-004F-2626-DE515CE4F94E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E72D4-D624-6561-F7F1-8242838AB7F7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Azure ML Studio used for?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Gaming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Machine learning tasks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Email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Storage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7313B-4ED0-D245-CF43-25FC85A3C6EE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helps build and test ML models.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C8807C-8C69-19A8-5805-4E7756B47B31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0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56BFF-9EB5-8D50-81BD-93A04467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B2B708-4124-11C7-87E8-AD01F656696B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922F1-A666-7A64-A8E5-2B0462C62869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does “Upload” button do?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Deletes data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Adds files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Runs code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Saves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6B951-2A98-DE35-20A7-71C9E259767D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sends files into Azure.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132FE6-5075-1CD0-A6D6-4076026C94DD}"/>
              </a:ext>
            </a:extLst>
          </p:cNvPr>
          <p:cNvSpPr/>
          <p:nvPr/>
        </p:nvSpPr>
        <p:spPr>
          <a:xfrm>
            <a:off x="0" y="2234570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B839-89AD-F896-1803-3FEB4125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99FF1A-9643-6A12-8E24-91F5E592C5A5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2B53C5-D434-683C-863E-490FE65A4D19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step comes after selecting a file?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Click Next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Delete file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Close window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4F1B8-8D9F-A9BF-AC3E-684D875DF66C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You move forward in the setup.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89D286-9A7E-83B4-5792-DEC0D7338577}"/>
              </a:ext>
            </a:extLst>
          </p:cNvPr>
          <p:cNvSpPr/>
          <p:nvPr/>
        </p:nvSpPr>
        <p:spPr>
          <a:xfrm>
            <a:off x="0" y="159967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4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AFE4-7B5C-67EC-8E4D-5255F6ED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4E74B7-EA80-91B7-90C6-8A3CF44DF9F7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DFFA6-F301-9A5A-2EB9-54ECE76E9C88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a workspace?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storage device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main working area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dataset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71C4C-EFC5-5799-5986-8D66B303109D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holds all ML resources together.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9D5586-B665-4919-F04B-79235211BC13}"/>
              </a:ext>
            </a:extLst>
          </p:cNvPr>
          <p:cNvSpPr/>
          <p:nvPr/>
        </p:nvSpPr>
        <p:spPr>
          <a:xfrm>
            <a:off x="-1" y="2211149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9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12F9-685D-83D9-8AD1-F5BE9F41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3A5797-F928-6DF7-8420-580D4EC144F1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E0822-D230-2B84-C743-B3EEEEA102D2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Why do you need a compute instance?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store data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process tasks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design UI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upload files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BA93E-3332-0E81-EC27-355C09CB0F1C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runs your machine learning code.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302F17-3DC4-5CDD-0388-A0E4E8ECB8C6}"/>
              </a:ext>
            </a:extLst>
          </p:cNvPr>
          <p:cNvSpPr/>
          <p:nvPr/>
        </p:nvSpPr>
        <p:spPr>
          <a:xfrm>
            <a:off x="0" y="2283220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3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1020</Words>
  <Application>Microsoft Office PowerPoint</Application>
  <PresentationFormat>Widescreen</PresentationFormat>
  <Paragraphs>204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Calibir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44</cp:revision>
  <dcterms:created xsi:type="dcterms:W3CDTF">2026-04-08T22:40:06Z</dcterms:created>
  <dcterms:modified xsi:type="dcterms:W3CDTF">2026-04-15T16:46:20Z</dcterms:modified>
</cp:coreProperties>
</file>