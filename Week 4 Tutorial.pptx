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1897" r:id="rId3"/>
    <p:sldId id="1898" r:id="rId4"/>
    <p:sldId id="1899" r:id="rId5"/>
    <p:sldId id="1900" r:id="rId6"/>
    <p:sldId id="1941" r:id="rId7"/>
    <p:sldId id="1901" r:id="rId8"/>
    <p:sldId id="1906" r:id="rId9"/>
    <p:sldId id="1947" r:id="rId10"/>
    <p:sldId id="1945" r:id="rId11"/>
    <p:sldId id="1946" r:id="rId12"/>
    <p:sldId id="1944" r:id="rId13"/>
    <p:sldId id="1942" r:id="rId14"/>
    <p:sldId id="1949" r:id="rId15"/>
    <p:sldId id="1950" r:id="rId16"/>
    <p:sldId id="1951" r:id="rId17"/>
    <p:sldId id="1948" r:id="rId18"/>
    <p:sldId id="1943" r:id="rId19"/>
    <p:sldId id="1953" r:id="rId20"/>
    <p:sldId id="1954" r:id="rId21"/>
    <p:sldId id="1955" r:id="rId22"/>
    <p:sldId id="1956" r:id="rId23"/>
    <p:sldId id="1909" r:id="rId24"/>
    <p:sldId id="1957" r:id="rId25"/>
    <p:sldId id="1911" r:id="rId26"/>
    <p:sldId id="1968" r:id="rId27"/>
    <p:sldId id="1958" r:id="rId28"/>
    <p:sldId id="1959" r:id="rId29"/>
    <p:sldId id="1914" r:id="rId30"/>
    <p:sldId id="1960" r:id="rId31"/>
    <p:sldId id="1961" r:id="rId32"/>
    <p:sldId id="1969" r:id="rId33"/>
    <p:sldId id="1962" r:id="rId34"/>
    <p:sldId id="1963" r:id="rId35"/>
    <p:sldId id="1964" r:id="rId36"/>
    <p:sldId id="1965" r:id="rId37"/>
    <p:sldId id="1970" r:id="rId38"/>
    <p:sldId id="1966" r:id="rId39"/>
    <p:sldId id="1967" r:id="rId40"/>
    <p:sldId id="1871" r:id="rId41"/>
    <p:sldId id="749" r:id="rId42"/>
    <p:sldId id="35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023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97DCA-64BC-45F8-BF68-471B4397264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D0D0B-8444-4E13-B800-D172D14A6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9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8BA0-3567-A69C-89D5-35649AD8A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FD70E-1D55-8D25-8E4D-7902E6D80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43844-3636-B493-A041-6B9449A0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AC05F-0F8E-0A34-83EA-FF89BD75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DFA5B-DBEC-459E-DE20-69CCB6B8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B09-6193-D2CF-28A5-F10D004F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5128D-32CD-ED17-13D9-5D1FEF1A3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0ACAA-AC57-8F09-F181-C7E6CEF4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FEFC4-B2D3-6536-6686-3E345381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BAAB-91C7-139B-EB52-F4E31343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4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65FC-76F4-ADE5-9E7F-9C38C892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616C1-C975-6067-2B7F-DB9F1559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A170B-965A-0241-0525-B2ABC4FB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B2E0F-705A-6BE2-C9AF-3547914E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F3A05-66F5-6587-251F-AFB191B7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8300-E4D2-4208-EAB8-E99C531E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C9A71-89D7-144F-FF96-7956B29BA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2D053-F65C-300C-6B4C-811431D85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8B57A-8426-57B7-6B7B-D14D244B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5F8B9-6890-73AB-2F24-36801188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E8C89-2F91-3376-69B5-D80C544F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8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6761-A66D-1F0C-3137-C65C5E33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A34-8ED3-BB9C-9363-3066A9598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6FD0C-1CF8-4719-A49E-F09206577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B3EE-7150-36F7-0C76-A935571B0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F896F-DA57-2611-5C7C-88A5A722D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DC29C8-8642-A852-811D-368E2555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A87AAF-B101-D6D4-A4AB-E18BFF1C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9846B1-A764-6F86-2BB1-3EFDCD04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93E2-A908-74A4-4A51-CDAC7C16F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027D4-B88A-94C4-F850-5434CC05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A6CA0-BB0E-2595-FBBE-57558425C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27B39-0229-5495-4AF4-28EE9BCD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6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00644-265F-AAA9-1596-2848CF7F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1AA8B1-B0F3-5E64-3282-105EEDF2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C6DCF-6D35-E204-6296-59518601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9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15E1-7907-C9F2-CE58-E61415FC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2A7B-90E2-E613-EC88-72B99816E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77170-642E-6882-7340-E46C633F7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4D353-A3F6-8354-656B-826A364B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1F9B-817F-1676-DD52-A35BAC65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BAD93-244A-FB8B-A7B4-DA2A2ED8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2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595D-1F53-53E9-3B82-7CB3B8B6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08AA5-49B6-80BC-834E-629BE44AF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71CED-2C52-DD4D-5578-E9F6B0B2A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6541D-EEC6-080E-2610-4DF6FC66E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29E2D-62A5-155F-F235-656326BE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874E9-562B-6D85-D536-BEC5BF7E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6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45D7-5390-D91F-E743-97E29EAFD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AFDCC-DE28-3F52-4634-F3FBDAF1C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ED6F8-D8E4-E68B-7727-216ACADF2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9CE75-4F1C-DE69-C05B-0916E139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737B7-C61D-DD5B-45F4-2A65BA3B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43388-E01D-7A9F-EC12-0CD0881CD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CEE70-4A8E-31D3-5BA2-E822E6F5D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C0CA9-5029-CEB4-3FAF-A452EFBD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7D8D2-C12E-5712-06DE-6F511DC1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22757-1319-FD30-A649-F781E286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7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4DBC-87E7-B994-958D-4334EA4C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84B89-260B-DA3B-282C-1AE14EFEB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049DE-292B-FF07-9E02-2FFFFA5AC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87918-C88E-4AE8-98BA-8219063854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9973F-6051-28CF-6202-6AF37802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4D5BD-294A-4336-8EC3-EE921033D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7C756-0902-4473-83B7-28EB270F0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fEjObUXoxT60OyzMOlojqvmlI6yQ_2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I-nYzAYDFoSJIr4BvyxhODfdq7l_h9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I-nYzAYDFoSJIr4BvyxhODfdq7l_h9m?usp=sharin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arshidKeivanian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0" y="1134998"/>
            <a:ext cx="6089530" cy="2837912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HI6039 (Predictive Analysis)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Dr. Farshid Keivanian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Week 4: Addressing Overfitting in Predictive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2471" y="1165859"/>
            <a:ext cx="3043238" cy="45262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47EF-CA19-2B80-555F-1928522B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D5E0246-14FB-D37C-C61E-AD4DC93AA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A4A38-2887-8F7A-5AC6-CBE13C48E6DE}"/>
              </a:ext>
            </a:extLst>
          </p:cNvPr>
          <p:cNvSpPr txBox="1"/>
          <p:nvPr/>
        </p:nvSpPr>
        <p:spPr>
          <a:xfrm>
            <a:off x="1" y="1555532"/>
            <a:ext cx="10710040" cy="261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are expected to use a Python-based analytics environment. Google </a:t>
            </a:r>
            <a:r>
              <a:rPr lang="en-US" sz="2800" dirty="0" err="1">
                <a:latin typeface="Calibir"/>
              </a:rPr>
              <a:t>Colab</a:t>
            </a:r>
            <a:r>
              <a:rPr lang="en-US" sz="2800" dirty="0">
                <a:latin typeface="Calibir"/>
              </a:rPr>
              <a:t> is recommended. </a:t>
            </a:r>
            <a:r>
              <a:rPr lang="en-US" sz="2800" dirty="0" err="1">
                <a:latin typeface="Calibir"/>
              </a:rPr>
              <a:t>Jupyter</a:t>
            </a:r>
            <a:r>
              <a:rPr lang="en-US" sz="2800" dirty="0">
                <a:latin typeface="Calibir"/>
              </a:rPr>
              <a:t> Notebook or VS Code may also be used. Other analytics tools such as KNIME may be used only with lecturer approval.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DD33C77-F48B-8EDB-CE77-5F3638EEF47D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1C9CE3CC-2052-B177-C938-25A6DE1ED67A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Group Assignment Note</a:t>
            </a:r>
          </a:p>
        </p:txBody>
      </p:sp>
    </p:spTree>
    <p:extLst>
      <p:ext uri="{BB962C8B-B14F-4D97-AF65-F5344CB8AC3E}">
        <p14:creationId xmlns:p14="http://schemas.microsoft.com/office/powerpoint/2010/main" val="321994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977C0-7D48-A01B-F457-00977F1E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DBBF27-0445-DCC4-A1C6-8CA94A321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2978F-648D-E8F2-FDD9-1E3649CA2679}"/>
              </a:ext>
            </a:extLst>
          </p:cNvPr>
          <p:cNvSpPr txBox="1"/>
          <p:nvPr/>
        </p:nvSpPr>
        <p:spPr>
          <a:xfrm>
            <a:off x="1" y="1555532"/>
            <a:ext cx="10710040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 coding or model implementation is required for this assessment. Students are expected to critically evaluate predictive analytics tools and environments in discussion only.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A8DA876-19AE-086B-CEC4-3F9309C073F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8D999C35-D593-CA94-774D-1C93D888B6DF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Individual Assignment Note</a:t>
            </a:r>
          </a:p>
        </p:txBody>
      </p:sp>
    </p:spTree>
    <p:extLst>
      <p:ext uri="{BB962C8B-B14F-4D97-AF65-F5344CB8AC3E}">
        <p14:creationId xmlns:p14="http://schemas.microsoft.com/office/powerpoint/2010/main" val="323554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FA985-E5D5-38D0-852E-30D1B19F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77C5269-F35F-75EA-DAB8-1393436B3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D8A67-8C42-BB6C-899B-19390F8571DE}"/>
              </a:ext>
            </a:extLst>
          </p:cNvPr>
          <p:cNvSpPr txBox="1"/>
          <p:nvPr/>
        </p:nvSpPr>
        <p:spPr>
          <a:xfrm>
            <a:off x="1" y="1555532"/>
            <a:ext cx="1071004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referencing style should remain: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Holmes Adapted Harvard</a:t>
            </a:r>
            <a:r>
              <a:rPr lang="en-US" sz="2800" dirty="0">
                <a:latin typeface="Calibir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should be used consistently throughout the assessment documentation.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40C288D-BCEC-F6CF-6DD2-21E55E9FF98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2DB72A47-B2CB-3710-5427-7F9DC1FD1CC5}"/>
              </a:ext>
            </a:extLst>
          </p:cNvPr>
          <p:cNvSpPr txBox="1"/>
          <p:nvPr/>
        </p:nvSpPr>
        <p:spPr>
          <a:xfrm>
            <a:off x="94419" y="68639"/>
            <a:ext cx="5850731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Referencing Style</a:t>
            </a:r>
          </a:p>
        </p:txBody>
      </p:sp>
    </p:spTree>
    <p:extLst>
      <p:ext uri="{BB962C8B-B14F-4D97-AF65-F5344CB8AC3E}">
        <p14:creationId xmlns:p14="http://schemas.microsoft.com/office/powerpoint/2010/main" val="113871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3B17-3371-134F-8D46-DD3B04B56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47D7517-F353-6C85-F1C6-FD9FB925C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9106D-C888-D739-87D8-28E7A86924BA}"/>
              </a:ext>
            </a:extLst>
          </p:cNvPr>
          <p:cNvSpPr txBox="1"/>
          <p:nvPr/>
        </p:nvSpPr>
        <p:spPr>
          <a:xfrm>
            <a:off x="1" y="1555532"/>
            <a:ext cx="1071004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Regression (predict number)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Classification (predict category)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Basic pipeline (train → predict → evaluate)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Fitting a Predictive Model to Data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BC3F9A6-21D9-F91E-8B25-0722F2FB74CA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9EC3361-E4AA-A42E-55CD-3E3FEE3EF4F1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What students already know (from Week 2 and 3)</a:t>
            </a:r>
          </a:p>
        </p:txBody>
      </p:sp>
    </p:spTree>
    <p:extLst>
      <p:ext uri="{BB962C8B-B14F-4D97-AF65-F5344CB8AC3E}">
        <p14:creationId xmlns:p14="http://schemas.microsoft.com/office/powerpoint/2010/main" val="413931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A4C72-1E24-458A-D98E-AC13BF28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A90681F-7535-F684-2071-3586F3BAF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FF939-00CF-B34E-A1D3-AE8FC02B818B}"/>
              </a:ext>
            </a:extLst>
          </p:cNvPr>
          <p:cNvSpPr txBox="1"/>
          <p:nvPr/>
        </p:nvSpPr>
        <p:spPr>
          <a:xfrm>
            <a:off x="1" y="1555532"/>
            <a:ext cx="1071004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will learn: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overfitting means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to detect overfitting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to reduce overfitting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model performance changes with tuning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81FB1BE-2209-0263-A427-6BA9A8751E98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ECE15B45-3EA7-A25C-D9BF-3A4E9177E4AA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Week 4 Learning Focus</a:t>
            </a:r>
          </a:p>
        </p:txBody>
      </p:sp>
    </p:spTree>
    <p:extLst>
      <p:ext uri="{BB962C8B-B14F-4D97-AF65-F5344CB8AC3E}">
        <p14:creationId xmlns:p14="http://schemas.microsoft.com/office/powerpoint/2010/main" val="55083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744AE-2B55-29C5-9A4D-F3C50179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8FD61D4-3506-A39D-993D-42C5948E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DA00B-E2EB-B92E-8C7B-C54169C75FA1}"/>
              </a:ext>
            </a:extLst>
          </p:cNvPr>
          <p:cNvSpPr txBox="1"/>
          <p:nvPr/>
        </p:nvSpPr>
        <p:spPr>
          <a:xfrm>
            <a:off x="1" y="1555532"/>
            <a:ext cx="10710040" cy="19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simple terms: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This week is about how to stop models from being “too smart” on training data but bad on new data.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81ABDA7-6698-C205-BFA6-6B5ADC808134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B395B48-BCF1-342E-62CC-DD2B14123B69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Week 4 Learning Focus</a:t>
            </a:r>
          </a:p>
        </p:txBody>
      </p:sp>
    </p:spTree>
    <p:extLst>
      <p:ext uri="{BB962C8B-B14F-4D97-AF65-F5344CB8AC3E}">
        <p14:creationId xmlns:p14="http://schemas.microsoft.com/office/powerpoint/2010/main" val="273938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6AE5-146F-853D-B68E-0CD41F40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EE88A1C-C93C-77B9-7D09-EB45B6DC0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8AE3FAC-3915-BF65-25ED-B8A0BA43C9CD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451317CE-FAFC-3705-B55F-36D6FD2E3E22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3C3D9-FF88-DA62-87AE-5B85EB07C178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6C931-54C2-90CF-23C1-252096A36BEC}"/>
              </a:ext>
            </a:extLst>
          </p:cNvPr>
          <p:cNvSpPr txBox="1"/>
          <p:nvPr/>
        </p:nvSpPr>
        <p:spPr>
          <a:xfrm>
            <a:off x="0" y="1045898"/>
            <a:ext cx="1219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sklearn.datasets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load dataset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data.data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features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data.target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labels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data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 y,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783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F07D1-3C06-6815-5675-359616E8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B7454C6-A723-5293-7EF2-5AB1ADA1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BD60F65-AE83-BC06-FAF7-E0FD380BA6E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CE53BE2B-1ACA-69E4-14D1-13B64D9BC7E1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5E9FD-8C14-2CE1-AE66-4CF3410E5FAC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A8BBC-1DC0-ED04-E3F8-934292782B8F}"/>
              </a:ext>
            </a:extLst>
          </p:cNvPr>
          <p:cNvSpPr txBox="1"/>
          <p:nvPr/>
        </p:nvSpPr>
        <p:spPr>
          <a:xfrm>
            <a:off x="0" y="1045898"/>
            <a:ext cx="1219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sklearn.datasets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load dataset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data.data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features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data.target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labels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data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 y,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8B94C49-FBD6-122A-32F3-805422199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186" y="2898847"/>
            <a:ext cx="7430814" cy="39035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1. Import Tools: We’re importing ready-made tools: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dataset</a:t>
            </a:r>
            <a:r>
              <a:rPr lang="en-US" sz="2800" dirty="0">
                <a:latin typeface="Calibir"/>
              </a:rPr>
              <a:t> → to get sample data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model</a:t>
            </a:r>
            <a:r>
              <a:rPr lang="en-US" sz="2800" dirty="0">
                <a:latin typeface="Calibir"/>
              </a:rPr>
              <a:t> → to learn patterns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train/test split</a:t>
            </a:r>
            <a:r>
              <a:rPr lang="en-US" sz="2800" dirty="0">
                <a:latin typeface="Calibir"/>
              </a:rPr>
              <a:t> → to divide data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accuracy</a:t>
            </a:r>
            <a:r>
              <a:rPr lang="en-US" sz="2800" dirty="0">
                <a:latin typeface="Calibir"/>
              </a:rPr>
              <a:t> → to check how good the model is</a:t>
            </a:r>
          </a:p>
        </p:txBody>
      </p:sp>
    </p:spTree>
    <p:extLst>
      <p:ext uri="{BB962C8B-B14F-4D97-AF65-F5344CB8AC3E}">
        <p14:creationId xmlns:p14="http://schemas.microsoft.com/office/powerpoint/2010/main" val="2462058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3057F-97C5-B0BE-BCAD-EDE3DE88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732EDB6-7572-0C57-74A6-99A5B5B48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0887B25-3074-192B-B649-DC0F7BBAC1EF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64CE5D0A-B26F-5472-6098-7519C3AA4436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6F5E0-7AA0-D494-AEA1-E142B52BE75C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665AF-906C-68EA-F07E-F6B387AC4AE1}"/>
              </a:ext>
            </a:extLst>
          </p:cNvPr>
          <p:cNvSpPr txBox="1"/>
          <p:nvPr/>
        </p:nvSpPr>
        <p:spPr>
          <a:xfrm>
            <a:off x="0" y="1045898"/>
            <a:ext cx="1219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sklearn.datasets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load dataset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data.data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features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data.target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labels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data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 y,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B1315E0-0264-B9B5-AE5B-EB677EEC8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152" y="1442275"/>
            <a:ext cx="6957848" cy="519616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2. Load the dataset: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This loads a flower dataset  (Iris dataset)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X = features (measurements like petal length, width, etc.)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 = labels (type of flower)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Think: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X = information about the flower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 = the correct answer (flower type)</a:t>
            </a:r>
          </a:p>
        </p:txBody>
      </p:sp>
    </p:spTree>
    <p:extLst>
      <p:ext uri="{BB962C8B-B14F-4D97-AF65-F5344CB8AC3E}">
        <p14:creationId xmlns:p14="http://schemas.microsoft.com/office/powerpoint/2010/main" val="51439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E6FB-82AE-0AC4-C925-0F58533C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3C39F21-C2A2-8473-B068-32751A8A2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5915A93-A85E-3D59-2443-4873897A7591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AFBBA529-B5D1-7D46-BF00-73E2C75312D7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4C918-B429-8C88-3545-3C10B49253C5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150F6-67D9-F527-FBD9-9B0C70E8DC57}"/>
              </a:ext>
            </a:extLst>
          </p:cNvPr>
          <p:cNvSpPr txBox="1"/>
          <p:nvPr/>
        </p:nvSpPr>
        <p:spPr>
          <a:xfrm>
            <a:off x="0" y="1045898"/>
            <a:ext cx="1219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sklearn.datasets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load dataset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data.data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features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data.target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labels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data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 y,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51D0F73-2529-6350-D73B-4C4E05275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152" y="1142674"/>
            <a:ext cx="6957848" cy="39035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3. Split the data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70% → used to train the model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30% → used to test the model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Like studying: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Train = practice questions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 = exam</a:t>
            </a:r>
          </a:p>
        </p:txBody>
      </p:sp>
    </p:spTree>
    <p:extLst>
      <p:ext uri="{BB962C8B-B14F-4D97-AF65-F5344CB8AC3E}">
        <p14:creationId xmlns:p14="http://schemas.microsoft.com/office/powerpoint/2010/main" val="617764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9F56E-003C-753E-C35D-F06E674C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582A9BF-5CBE-0E41-5C49-C29A9AED3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38C2AEF-0096-93F9-5ADB-5E603BEE42A7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B2BB970-4FE1-0F6B-86FA-9A25F4DB5C4E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459EC-5523-2F3D-3CC2-505A7C348ED6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592D3D-9DC2-46DB-3065-47160D8819EC}"/>
              </a:ext>
            </a:extLst>
          </p:cNvPr>
          <p:cNvSpPr txBox="1"/>
          <p:nvPr/>
        </p:nvSpPr>
        <p:spPr>
          <a:xfrm>
            <a:off x="0" y="1045898"/>
            <a:ext cx="12192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sklearn.datasets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load dataset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data.data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features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data.target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  </a:t>
            </a: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labels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data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 y,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1CC1C34-0BBD-6FAF-247F-594801BF0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9842" y="2769909"/>
            <a:ext cx="6994287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X → input features (independent variables)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y → target labels (what you're predicting) </a:t>
            </a:r>
          </a:p>
        </p:txBody>
      </p:sp>
    </p:spTree>
    <p:extLst>
      <p:ext uri="{BB962C8B-B14F-4D97-AF65-F5344CB8AC3E}">
        <p14:creationId xmlns:p14="http://schemas.microsoft.com/office/powerpoint/2010/main" val="28523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43068-8C53-D90B-5C73-4091071E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01AF5BB-CC4E-2BED-6128-4E79A2150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BBBF07C-1B2F-76BB-8E55-99E15794C20D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51B7F42C-D65E-5102-E7D3-703AEE78658C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D25D6-3BF4-8ED0-E63F-D77EB7057419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D567E-7785-237D-5D75-B455DFFD4634}"/>
              </a:ext>
            </a:extLst>
          </p:cNvPr>
          <p:cNvSpPr txBox="1"/>
          <p:nvPr/>
        </p:nvSpPr>
        <p:spPr>
          <a:xfrm>
            <a:off x="0" y="1045898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DecisionTreeClassifier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predictions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"Train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"Test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959BCB-34FD-BA90-BA49-E8C29F4D9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938" y="2854648"/>
            <a:ext cx="6159062" cy="39035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4. Create the model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model = </a:t>
            </a:r>
            <a:r>
              <a:rPr lang="en-US" sz="2800" dirty="0" err="1">
                <a:latin typeface="Calibir"/>
              </a:rPr>
              <a:t>DecisionTreeClassifier</a:t>
            </a:r>
            <a:r>
              <a:rPr lang="en-US" sz="2800" dirty="0">
                <a:latin typeface="Calibir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This creates a decision tree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 learns by asking yes/no questions like: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Calibir"/>
              </a:rPr>
              <a:t>“Is petal length &gt; 2.5?”</a:t>
            </a:r>
          </a:p>
        </p:txBody>
      </p:sp>
    </p:spTree>
    <p:extLst>
      <p:ext uri="{BB962C8B-B14F-4D97-AF65-F5344CB8AC3E}">
        <p14:creationId xmlns:p14="http://schemas.microsoft.com/office/powerpoint/2010/main" val="3085184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349D6-F326-648D-FE2C-670EC7F7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0CBD3E-7500-C807-56A7-39200E6DF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0E07B8F-07B3-5BC5-A9A7-677157AF3B5B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7DC3E749-9586-6B98-D7C3-F6062D2E4417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D080B-84C3-A203-A654-E9A49ABC6B16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5D6CB-1763-EBD7-7383-CBB7FEEB86DE}"/>
              </a:ext>
            </a:extLst>
          </p:cNvPr>
          <p:cNvSpPr txBox="1"/>
          <p:nvPr/>
        </p:nvSpPr>
        <p:spPr>
          <a:xfrm>
            <a:off x="0" y="1045898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DecisionTreeClassifier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predictions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"Train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"Test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85F45D-25AE-5F2C-4120-B68AA1D09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938" y="3179255"/>
            <a:ext cx="6159062" cy="32542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5. Train the model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model.fit</a:t>
            </a:r>
            <a:r>
              <a:rPr lang="en-US" sz="2800" dirty="0">
                <a:latin typeface="Calibir"/>
              </a:rPr>
              <a:t>(</a:t>
            </a:r>
            <a:r>
              <a:rPr lang="en-US" sz="2800" dirty="0" err="1">
                <a:latin typeface="Calibir"/>
              </a:rPr>
              <a:t>X_train</a:t>
            </a:r>
            <a:r>
              <a:rPr lang="en-US" sz="2800" dirty="0">
                <a:latin typeface="Calibir"/>
              </a:rPr>
              <a:t>, </a:t>
            </a:r>
            <a:r>
              <a:rPr lang="en-US" sz="2800" dirty="0" err="1">
                <a:latin typeface="Calibir"/>
              </a:rPr>
              <a:t>y_train</a:t>
            </a:r>
            <a:r>
              <a:rPr lang="en-US" sz="2800" dirty="0">
                <a:latin typeface="Calibir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model learns patterns from the training data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Like learning from examples</a:t>
            </a:r>
          </a:p>
        </p:txBody>
      </p:sp>
    </p:spTree>
    <p:extLst>
      <p:ext uri="{BB962C8B-B14F-4D97-AF65-F5344CB8AC3E}">
        <p14:creationId xmlns:p14="http://schemas.microsoft.com/office/powerpoint/2010/main" val="1740078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322B-8C10-89B2-6E25-C0AD8B5F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A82C6B83-3C5F-E6DF-0D5B-947840195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1F73CCF-67FF-CF02-9436-EE54B069C605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56104C05-0035-20EF-69EA-DDA05F1EC4BD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F28CC-6907-00A2-5B0B-102D32F82633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537D9B-CCA5-9621-5D52-22CCE081A443}"/>
              </a:ext>
            </a:extLst>
          </p:cNvPr>
          <p:cNvSpPr txBox="1"/>
          <p:nvPr/>
        </p:nvSpPr>
        <p:spPr>
          <a:xfrm>
            <a:off x="0" y="1045898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DecisionTreeClassifier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predictions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"Train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"Test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D0052C-B1F6-6655-30D5-203556AFC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938" y="1817968"/>
            <a:ext cx="6159062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6. Make predictions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model.predict</a:t>
            </a:r>
            <a:r>
              <a:rPr lang="en-US" sz="2800" dirty="0">
                <a:latin typeface="Calibir"/>
              </a:rPr>
              <a:t>(...)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model tries to guess the flower type</a:t>
            </a:r>
          </a:p>
        </p:txBody>
      </p:sp>
    </p:spTree>
    <p:extLst>
      <p:ext uri="{BB962C8B-B14F-4D97-AF65-F5344CB8AC3E}">
        <p14:creationId xmlns:p14="http://schemas.microsoft.com/office/powerpoint/2010/main" val="3777354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C5AAA-5C92-BC64-B6F3-1980D0F5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45FE594-E97A-EAAF-017A-4513B4A81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B9F1F9F-43EE-EDE3-2C23-80A82088960A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61BD0A3A-7C9E-4623-0C31-08B6E659EB66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5D9CB-D276-4496-5512-05DADB7F8641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D94E6-5E6D-EFC7-0B73-A466C94CBCAE}"/>
              </a:ext>
            </a:extLst>
          </p:cNvPr>
          <p:cNvSpPr txBox="1"/>
          <p:nvPr/>
        </p:nvSpPr>
        <p:spPr>
          <a:xfrm>
            <a:off x="0" y="1045898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DecisionTreeClassifier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predictions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"Train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"Test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A0DDA9-9AA2-1967-7866-A42CC235E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938" y="1817968"/>
            <a:ext cx="6159062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7. Check accuracy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accuracy_score</a:t>
            </a:r>
            <a:r>
              <a:rPr lang="en-US" sz="2800" dirty="0">
                <a:latin typeface="Calibir"/>
              </a:rPr>
              <a:t>(...)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Compares predictions vs real answers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Gives a score from 0 to 1</a:t>
            </a:r>
          </a:p>
        </p:txBody>
      </p:sp>
    </p:spTree>
    <p:extLst>
      <p:ext uri="{BB962C8B-B14F-4D97-AF65-F5344CB8AC3E}">
        <p14:creationId xmlns:p14="http://schemas.microsoft.com/office/powerpoint/2010/main" val="4080351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BE9A9-82BF-629A-C58B-659233EE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9B2733C-93A1-C525-5871-2C278A219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740597BF-67C0-D7F9-843A-A4C918A753B7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3D076D19-E155-7C21-13FC-879CBAE1704C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D69B86-C27F-EC55-9AA6-D9CA8EFAB726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5AD73-0DCA-24DC-15E5-D63FEFDA5C9D}"/>
              </a:ext>
            </a:extLst>
          </p:cNvPr>
          <p:cNvSpPr txBox="1"/>
          <p:nvPr/>
        </p:nvSpPr>
        <p:spPr>
          <a:xfrm>
            <a:off x="0" y="1045898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DecisionTreeClassifier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predictions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"Train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"Test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367556-C61B-7F90-E6D0-FE5DA06E0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7325" y="1684890"/>
            <a:ext cx="6159062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Train accuracy = how well model learns training data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Test accuracy = how well model works on new data</a:t>
            </a:r>
          </a:p>
        </p:txBody>
      </p:sp>
    </p:spTree>
    <p:extLst>
      <p:ext uri="{BB962C8B-B14F-4D97-AF65-F5344CB8AC3E}">
        <p14:creationId xmlns:p14="http://schemas.microsoft.com/office/powerpoint/2010/main" val="1198869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7FD7-A4E7-3416-FED8-A94AF2D1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E71D403-4577-94D3-44F9-DC058CD04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DF710E3-FB44-7337-CB32-A26B481620C8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52FFC83A-54FE-B000-E780-058E08410914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C115B-9560-2FA9-CE0A-B339D4E0ABFE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B58A3B-FA4B-BCC8-9362-4265BAFA63DD}"/>
              </a:ext>
            </a:extLst>
          </p:cNvPr>
          <p:cNvSpPr txBox="1"/>
          <p:nvPr/>
        </p:nvSpPr>
        <p:spPr>
          <a:xfrm>
            <a:off x="0" y="1045898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model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DecisionTreeClassifier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2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predictions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008000"/>
                </a:solidFill>
                <a:latin typeface="Courier New" panose="02070309020205020404" pitchFamily="49" charset="0"/>
              </a:rPr>
              <a:t># accuracy</a:t>
            </a:r>
            <a:endParaRPr lang="en-US" sz="2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"Train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sz="22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latin typeface="Courier New" panose="02070309020205020404" pitchFamily="49" charset="0"/>
              </a:rPr>
              <a:t>"Test Accuracy:"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A7E033-AA41-6EDF-A9E5-A210FAA5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7325" y="2331220"/>
            <a:ext cx="6159062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If train is very high but test is low → overfitting </a:t>
            </a:r>
          </a:p>
        </p:txBody>
      </p:sp>
    </p:spTree>
    <p:extLst>
      <p:ext uri="{BB962C8B-B14F-4D97-AF65-F5344CB8AC3E}">
        <p14:creationId xmlns:p14="http://schemas.microsoft.com/office/powerpoint/2010/main" val="1798933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68638-96E1-F493-EE70-F682AD63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8081D7-CEC8-D457-54AE-D821AFDB4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C7F01EA-743C-C643-F39E-D3B64454D1F7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008606B7-0416-9A03-8AB1-9F3CF6D32785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74A98-D6E3-48E0-80BD-44AA2EFF5DBD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DFC2F-E34C-8B5C-3063-E8AC39A71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567" b="21882"/>
          <a:stretch>
            <a:fillRect/>
          </a:stretch>
        </p:blipFill>
        <p:spPr>
          <a:xfrm>
            <a:off x="0" y="750346"/>
            <a:ext cx="9196726" cy="53573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248A5C-8278-C888-0484-0F65E8D833CC}"/>
              </a:ext>
            </a:extLst>
          </p:cNvPr>
          <p:cNvSpPr txBox="1"/>
          <p:nvPr/>
        </p:nvSpPr>
        <p:spPr>
          <a:xfrm>
            <a:off x="5497838" y="1739820"/>
            <a:ext cx="6422314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Train Accuracy = 1.0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model got 100% correct on training data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 learned everything perfectly </a:t>
            </a:r>
          </a:p>
        </p:txBody>
      </p:sp>
    </p:spTree>
    <p:extLst>
      <p:ext uri="{BB962C8B-B14F-4D97-AF65-F5344CB8AC3E}">
        <p14:creationId xmlns:p14="http://schemas.microsoft.com/office/powerpoint/2010/main" val="3061208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D2A0C-767F-7BC1-C7E8-EB24EACA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C065A39-9347-7265-C0B7-8C11568B5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273933C-AC22-D489-DC5B-C15592ABB2DE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EC01AF63-D526-A001-A6D2-B91F1509A7FC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94E3D-E4BF-33E6-9FF7-A7E191A624B3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E16BDC-3915-1B6C-8B81-E1557BD0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567" b="21882"/>
          <a:stretch>
            <a:fillRect/>
          </a:stretch>
        </p:blipFill>
        <p:spPr>
          <a:xfrm>
            <a:off x="0" y="750346"/>
            <a:ext cx="9196726" cy="53573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AD1489-7619-B3CE-83D5-9FB923AF17DC}"/>
              </a:ext>
            </a:extLst>
          </p:cNvPr>
          <p:cNvSpPr txBox="1"/>
          <p:nvPr/>
        </p:nvSpPr>
        <p:spPr>
          <a:xfrm>
            <a:off x="5497838" y="1739820"/>
            <a:ext cx="6422314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Test Accuracy = 1.0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model also got 100% correct on new (unseen) data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This is very good</a:t>
            </a:r>
          </a:p>
        </p:txBody>
      </p:sp>
    </p:spTree>
    <p:extLst>
      <p:ext uri="{BB962C8B-B14F-4D97-AF65-F5344CB8AC3E}">
        <p14:creationId xmlns:p14="http://schemas.microsoft.com/office/powerpoint/2010/main" val="3812726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4227F-F294-6903-970D-C43686FC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1E9C62D-B894-78F3-2816-E908AA08C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ABAD972-B096-5F32-1D08-D6F70ADE280C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A1879D7-97BC-EF0B-7429-C03E5EB49619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E35C9-85F5-B2BD-0E37-DA42F14AF562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FCFEB-FB61-C7C9-C700-00A832527E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567" b="21882"/>
          <a:stretch>
            <a:fillRect/>
          </a:stretch>
        </p:blipFill>
        <p:spPr>
          <a:xfrm>
            <a:off x="0" y="750346"/>
            <a:ext cx="9196726" cy="53573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07682C-E7C0-9208-8720-E783CF4A4E11}"/>
              </a:ext>
            </a:extLst>
          </p:cNvPr>
          <p:cNvSpPr txBox="1"/>
          <p:nvPr/>
        </p:nvSpPr>
        <p:spPr>
          <a:xfrm>
            <a:off x="6578055" y="987965"/>
            <a:ext cx="5613945" cy="584249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Important note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Getting 1.0 (100%) can mean: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Good case: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dataset is easy to classify (Iris dataset is simple)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Possible issue: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Sometimes models “memorize” instead of truly learning (called overfitting)</a:t>
            </a:r>
          </a:p>
        </p:txBody>
      </p:sp>
    </p:spTree>
    <p:extLst>
      <p:ext uri="{BB962C8B-B14F-4D97-AF65-F5344CB8AC3E}">
        <p14:creationId xmlns:p14="http://schemas.microsoft.com/office/powerpoint/2010/main" val="523903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EDDF-C9A3-6AF3-08B5-7A139D03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CB7C1EA-A5CA-5F1A-16EC-2E65B5F03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24D1DC4-2E76-E15B-A08B-5850E233D25D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98A91C36-35B6-C386-BA05-FF2E6A14469E}"/>
              </a:ext>
            </a:extLst>
          </p:cNvPr>
          <p:cNvSpPr txBox="1"/>
          <p:nvPr/>
        </p:nvSpPr>
        <p:spPr>
          <a:xfrm>
            <a:off x="94419" y="68639"/>
            <a:ext cx="9196726" cy="561212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600" b="1" dirty="0">
                <a:latin typeface="Calibir"/>
              </a:rPr>
              <a:t>Example 1 – Detect Overfitting (Classification)</a:t>
            </a:r>
            <a:endParaRPr lang="en-US" sz="33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603D6C-C524-8697-1E14-90A7E369AC7D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https://colab.research.google.com/drive/1SfEjObUXoxT60OyzMOlojqvmlI6yQ_2m?usp=sharing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9E8782-A402-236C-ED7F-EB93778D01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567" b="21882"/>
          <a:stretch>
            <a:fillRect/>
          </a:stretch>
        </p:blipFill>
        <p:spPr>
          <a:xfrm>
            <a:off x="0" y="750346"/>
            <a:ext cx="9196726" cy="53573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3F6345-F556-0792-3CD5-5624FF4C55E4}"/>
              </a:ext>
            </a:extLst>
          </p:cNvPr>
          <p:cNvSpPr txBox="1"/>
          <p:nvPr/>
        </p:nvSpPr>
        <p:spPr>
          <a:xfrm>
            <a:off x="6578055" y="2954496"/>
            <a:ext cx="5613945" cy="39035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Summary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0238" algn="l"/>
                <a:tab pos="714375" algn="l"/>
              </a:tabLst>
            </a:pPr>
            <a:r>
              <a:rPr lang="en-US" sz="2800" dirty="0">
                <a:latin typeface="Calibir"/>
              </a:rPr>
              <a:t>You gave the model flower data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0238" algn="l"/>
                <a:tab pos="714375" algn="l"/>
              </a:tabLst>
            </a:pPr>
            <a:r>
              <a:rPr lang="en-US" sz="2800" dirty="0">
                <a:latin typeface="Calibir"/>
              </a:rPr>
              <a:t>It learned patterns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0238" algn="l"/>
                <a:tab pos="714375" algn="l"/>
              </a:tabLst>
            </a:pPr>
            <a:r>
              <a:rPr lang="en-US" sz="2800" dirty="0">
                <a:latin typeface="Calibir"/>
              </a:rPr>
              <a:t>It predicted perfectly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0238" algn="l"/>
                <a:tab pos="714375" algn="l"/>
              </a:tabLst>
            </a:pPr>
            <a:r>
              <a:rPr lang="en-US" sz="2800" dirty="0">
                <a:latin typeface="Calibir"/>
              </a:rPr>
              <a:t>Accuracy = 100% → perfect performance</a:t>
            </a:r>
          </a:p>
        </p:txBody>
      </p:sp>
    </p:spTree>
    <p:extLst>
      <p:ext uri="{BB962C8B-B14F-4D97-AF65-F5344CB8AC3E}">
        <p14:creationId xmlns:p14="http://schemas.microsoft.com/office/powerpoint/2010/main" val="119689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2277A-00F2-B796-6BEF-49530408A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0442432-0862-29A3-4FE5-721C76996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6DB91-9BA0-2897-DBCD-B2611973D697}"/>
              </a:ext>
            </a:extLst>
          </p:cNvPr>
          <p:cNvSpPr txBox="1"/>
          <p:nvPr/>
        </p:nvSpPr>
        <p:spPr>
          <a:xfrm>
            <a:off x="1" y="1555532"/>
            <a:ext cx="1071004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 1: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Compare train vs test accuracy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Is the model overfitting?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42E19A9-1435-FC59-3BF5-ADA40D406B2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E183761C-95C5-3054-541F-C8C890F37E6F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Task for Example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F96119-9EFC-618C-75D8-EFB9E2774286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https://colab.research.google.com/drive/1CI-nYzAYDFoSJIr4BvyxhODfdq7l_h9m?usp=sharing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7781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8DF2-8BB1-52E2-31D3-256653FB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E1A4E57-4CF8-0BF8-B60F-A70F598AF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B3D6D-042E-A89B-C91A-D3F93F573112}"/>
              </a:ext>
            </a:extLst>
          </p:cNvPr>
          <p:cNvSpPr txBox="1"/>
          <p:nvPr/>
        </p:nvSpPr>
        <p:spPr>
          <a:xfrm>
            <a:off x="1" y="1555532"/>
            <a:ext cx="1071004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 2: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Change </a:t>
            </a:r>
            <a:r>
              <a:rPr lang="en-US" sz="2800" dirty="0" err="1">
                <a:latin typeface="Calibir"/>
              </a:rPr>
              <a:t>test_size</a:t>
            </a:r>
            <a:r>
              <a:rPr lang="en-US" sz="2800" dirty="0">
                <a:latin typeface="Calibir"/>
              </a:rPr>
              <a:t> (0.2, 0.4)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Does test accuracy change?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EC2E718-94E4-FCC8-3095-5D621DC166F2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8D500B69-4674-E9E7-C917-D0E7AA340174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Task for Example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E27F0A-50B2-AB06-BA81-CBCEFA50E8FF}"/>
              </a:ext>
            </a:extLst>
          </p:cNvPr>
          <p:cNvSpPr txBox="1"/>
          <p:nvPr/>
        </p:nvSpPr>
        <p:spPr>
          <a:xfrm>
            <a:off x="94419" y="6143030"/>
            <a:ext cx="6427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https://colab.research.google.com/drive/1CI-nYzAYDFoSJIr4BvyxhODfdq7l_h9m?usp=sharing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6835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D8B49-F3B4-7AD5-9E90-EDA8B55E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17084EC-6DB4-1FCA-20BD-0281C71B2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5ECF7EC-5599-8757-717B-D9D6F4D0D956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1CF4B0B-21FC-007F-3FE7-E1994B36047E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Example 2 – Reduce Overfitting (Limit Tree Depth)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EA81A-E66A-6C48-7E44-703B6C3D581D}"/>
              </a:ext>
            </a:extLst>
          </p:cNvPr>
          <p:cNvSpPr txBox="1"/>
          <p:nvPr/>
        </p:nvSpPr>
        <p:spPr>
          <a:xfrm>
            <a:off x="0" y="583684"/>
            <a:ext cx="12192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sklearn.datasets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DecisionTreeClassifier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load dataset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data.data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data.target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data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pPr>
              <a:buNone/>
            </a:pP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X, y,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endParaRPr lang="en-US" sz="2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0034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B17C0-DBC7-8F43-AC64-AB98E723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F00BAA3-C5E5-2C61-1EBD-4A825C464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2B55634-31A4-9DD4-6B53-35A1326D75E9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1AD30EAD-2079-C122-5FC9-2BDD72BA3B7A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Example 2 – Reduce Overfitting (Limit Tree Depth)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5E23E-9ECB-6B5F-E265-69CF58015E2F}"/>
              </a:ext>
            </a:extLst>
          </p:cNvPr>
          <p:cNvSpPr txBox="1"/>
          <p:nvPr/>
        </p:nvSpPr>
        <p:spPr>
          <a:xfrm>
            <a:off x="0" y="1039647"/>
            <a:ext cx="12192000" cy="56938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dirty="0">
                <a:solidFill>
                  <a:srgbClr val="008000"/>
                </a:solidFill>
                <a:latin typeface="Courier New" panose="02070309020205020404" pitchFamily="49" charset="0"/>
              </a:rPr>
              <a:t># model with limited depth</a:t>
            </a:r>
            <a:endParaRPr lang="en-US" sz="2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DecisionTreeClassifier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max_depth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600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6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predictions</a:t>
            </a:r>
            <a:endParaRPr lang="en-US" sz="2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2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solidFill>
                  <a:srgbClr val="008000"/>
                </a:solidFill>
                <a:latin typeface="Courier New" panose="02070309020205020404" pitchFamily="49" charset="0"/>
              </a:rPr>
              <a:t># accuracy</a:t>
            </a:r>
            <a:endParaRPr lang="en-US" sz="2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6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>
                <a:solidFill>
                  <a:srgbClr val="A31515"/>
                </a:solidFill>
                <a:latin typeface="Courier New" panose="02070309020205020404" pitchFamily="49" charset="0"/>
              </a:rPr>
              <a:t>"Train Accuracy:"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sz="26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>
                <a:solidFill>
                  <a:srgbClr val="A31515"/>
                </a:solidFill>
                <a:latin typeface="Courier New" panose="02070309020205020404" pitchFamily="49" charset="0"/>
              </a:rPr>
              <a:t>"Test Accuracy:"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816692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1A18F-4D7F-A166-C304-8AD9894A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86B357-33AE-3256-D8C4-1DEB38BD6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6B3A4E6-5384-D5E8-4F33-8DC4FD395FF3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9BC17063-1471-2290-9463-692BE036E712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Example 2 – Reduce Overfitting (Limit Tree Depth)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7980D-F143-B239-66A7-3099F205F037}"/>
              </a:ext>
            </a:extLst>
          </p:cNvPr>
          <p:cNvSpPr txBox="1"/>
          <p:nvPr/>
        </p:nvSpPr>
        <p:spPr>
          <a:xfrm>
            <a:off x="0" y="1800413"/>
            <a:ext cx="642707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Simple Explanation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max_depth</a:t>
            </a:r>
            <a:r>
              <a:rPr lang="en-US" sz="2800" dirty="0">
                <a:latin typeface="Calibir"/>
              </a:rPr>
              <a:t> controls how complex the tree is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Smaller depth = simpler model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Simpler model = less overfitting</a:t>
            </a:r>
          </a:p>
        </p:txBody>
      </p:sp>
    </p:spTree>
    <p:extLst>
      <p:ext uri="{BB962C8B-B14F-4D97-AF65-F5344CB8AC3E}">
        <p14:creationId xmlns:p14="http://schemas.microsoft.com/office/powerpoint/2010/main" val="987814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C058-6C55-BB97-4EF5-5D7A2088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736974E-6ABF-E0C3-3BDA-A8FA05C66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1C341FD-1674-4FC7-6FA5-421BEA76CB0C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2D733D5D-9C8A-606F-6143-C55F9ED7BD6B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Example 2 – Reduce Overfitting (Limit Tree Depth)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FE56A-A363-8574-105B-0DB4C719CDD3}"/>
              </a:ext>
            </a:extLst>
          </p:cNvPr>
          <p:cNvSpPr txBox="1"/>
          <p:nvPr/>
        </p:nvSpPr>
        <p:spPr>
          <a:xfrm>
            <a:off x="0" y="4250042"/>
            <a:ext cx="6427076" cy="260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Result Explanation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Train accuracy may drop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 accuracy may increase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means model is better balanced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57C995-8568-7437-B9D1-3F338DFA7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77" b="35914"/>
          <a:stretch>
            <a:fillRect/>
          </a:stretch>
        </p:blipFill>
        <p:spPr>
          <a:xfrm>
            <a:off x="1" y="722672"/>
            <a:ext cx="9540114" cy="370100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18487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DF5D6-7EE4-AF33-4012-A871F8E4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D046F40-0289-DDBB-7088-8F20B1BD1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0090F34-B0B1-1B73-3ACA-E80C13947819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AAC0831-AECF-9DF0-D186-D066481FAEFF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Tasks for Example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B5E96-E7B0-1F15-AF07-743D523D7123}"/>
              </a:ext>
            </a:extLst>
          </p:cNvPr>
          <p:cNvSpPr txBox="1"/>
          <p:nvPr/>
        </p:nvSpPr>
        <p:spPr>
          <a:xfrm>
            <a:off x="1" y="1555532"/>
            <a:ext cx="1071004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 1: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Try: 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max_depth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=2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 err="1">
                <a:highlight>
                  <a:srgbClr val="FFFF00"/>
                </a:highlight>
                <a:latin typeface="Calibir"/>
              </a:rPr>
              <a:t>max_depth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depth gives best test accuracy?</a:t>
            </a:r>
          </a:p>
        </p:txBody>
      </p:sp>
    </p:spTree>
    <p:extLst>
      <p:ext uri="{BB962C8B-B14F-4D97-AF65-F5344CB8AC3E}">
        <p14:creationId xmlns:p14="http://schemas.microsoft.com/office/powerpoint/2010/main" val="26406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59520-8918-D3AA-98BF-8F417257F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43B3A11-BF4C-244E-3C0A-A24981B3B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2FA197C-FC8C-89D2-BE42-613228230494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2FED5762-A503-D102-2E66-A099AEED2F51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Tasks for Example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24C88-2ACE-97F6-FCF6-2DE40465BC21}"/>
              </a:ext>
            </a:extLst>
          </p:cNvPr>
          <p:cNvSpPr txBox="1"/>
          <p:nvPr/>
        </p:nvSpPr>
        <p:spPr>
          <a:xfrm>
            <a:off x="1" y="1555532"/>
            <a:ext cx="1071004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 2: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Compare with previous model (no limit)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model is better?</a:t>
            </a:r>
          </a:p>
        </p:txBody>
      </p:sp>
    </p:spTree>
    <p:extLst>
      <p:ext uri="{BB962C8B-B14F-4D97-AF65-F5344CB8AC3E}">
        <p14:creationId xmlns:p14="http://schemas.microsoft.com/office/powerpoint/2010/main" val="3973068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F5CD3-6C79-EDF5-AE32-30ED9978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634DAB0-ADD7-0207-E0D6-92FE0AF5A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40C331A-20D4-FAAE-D064-6C1DB37F5774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2053BA27-1AC3-7426-3E65-753E517685F4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Example 3 – Random Forest (Control Overfitting)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81F24-80A6-4A18-3AF7-006BCCFCAD93}"/>
              </a:ext>
            </a:extLst>
          </p:cNvPr>
          <p:cNvSpPr txBox="1"/>
          <p:nvPr/>
        </p:nvSpPr>
        <p:spPr>
          <a:xfrm>
            <a:off x="0" y="1045898"/>
            <a:ext cx="12192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sklearn.datasets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sklearn.ensemble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sklearn.model_selection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sklearn.metrics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accuracy_score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load dataset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load_iris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data.data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data.target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data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pPr>
              <a:buNone/>
            </a:pP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X, y,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5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5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5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endParaRPr lang="en-US" sz="25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6672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5956-17AE-EE4C-6727-353C812D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11B69EE-B155-77A0-1DBF-89FA6EF62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9F44E58-2BCE-F5E1-AAD0-A460E65709BF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AC830D1-81D0-4668-6632-2724DA560EF0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Example 3 – Random Forest (Control Overfitting)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F20F1-DD49-70F8-81B2-CC2B81673DAF}"/>
              </a:ext>
            </a:extLst>
          </p:cNvPr>
          <p:cNvSpPr txBox="1"/>
          <p:nvPr/>
        </p:nvSpPr>
        <p:spPr>
          <a:xfrm>
            <a:off x="0" y="804910"/>
            <a:ext cx="12097582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dirty="0">
                <a:solidFill>
                  <a:srgbClr val="008000"/>
                </a:solidFill>
                <a:latin typeface="Courier New" panose="02070309020205020404" pitchFamily="49" charset="0"/>
              </a:rPr>
              <a:t># random forest model</a:t>
            </a:r>
            <a:endParaRPr lang="en-US" sz="2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model =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RandomForestClassifier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>
              <a:buNone/>
            </a:pP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   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n_estimators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500" dirty="0">
                <a:solidFill>
                  <a:srgbClr val="116644"/>
                </a:solidFill>
                <a:latin typeface="Courier New" panose="02070309020205020404" pitchFamily="49" charset="0"/>
              </a:rPr>
              <a:t>100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   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max_depth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500" dirty="0">
                <a:solidFill>
                  <a:srgbClr val="116644"/>
                </a:solidFill>
                <a:latin typeface="Courier New" panose="02070309020205020404" pitchFamily="49" charset="0"/>
              </a:rPr>
              <a:t>5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   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500" dirty="0">
                <a:solidFill>
                  <a:srgbClr val="116644"/>
                </a:solidFill>
                <a:latin typeface="Courier New" panose="02070309020205020404" pitchFamily="49" charset="0"/>
              </a:rPr>
              <a:t>42</a:t>
            </a:r>
            <a:endParaRPr lang="en-US" sz="2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model.fit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5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predictions</a:t>
            </a:r>
            <a:endParaRPr lang="en-US" sz="2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dirty="0">
                <a:solidFill>
                  <a:srgbClr val="008000"/>
                </a:solidFill>
                <a:latin typeface="Courier New" panose="02070309020205020404" pitchFamily="49" charset="0"/>
              </a:rPr>
              <a:t># accuracy</a:t>
            </a:r>
            <a:endParaRPr lang="en-US" sz="2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5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A31515"/>
                </a:solidFill>
                <a:latin typeface="Courier New" panose="02070309020205020404" pitchFamily="49" charset="0"/>
              </a:rPr>
              <a:t>"Train Accuracy:"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train_pred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sz="2500" dirty="0">
                <a:solidFill>
                  <a:srgbClr val="6A5221"/>
                </a:solidFill>
                <a:latin typeface="Courier New" panose="02070309020205020404" pitchFamily="49" charset="0"/>
              </a:rPr>
              <a:t>print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A31515"/>
                </a:solidFill>
                <a:latin typeface="Courier New" panose="02070309020205020404" pitchFamily="49" charset="0"/>
              </a:rPr>
              <a:t>"Test Accuracy:"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test_pred</a:t>
            </a:r>
            <a:r>
              <a:rPr lang="en-US" sz="25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838481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DD0-AC67-B574-EE10-45D71BEF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6F5C2BA-EE50-E252-55D7-75C3B68A1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4FD8B28-6A25-5DA0-EB2A-485279921B48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36EA3DBC-BCD7-5B0D-9EA8-565AA1D7CAB9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Example 3 – Random Forest (Control Overfitting)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4F90C-783E-E1D5-A120-1B6EC54FF28C}"/>
              </a:ext>
            </a:extLst>
          </p:cNvPr>
          <p:cNvSpPr txBox="1"/>
          <p:nvPr/>
        </p:nvSpPr>
        <p:spPr>
          <a:xfrm>
            <a:off x="359979" y="1489529"/>
            <a:ext cx="1022393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Random Forest = many trees combined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Reduces overfitting compared to single tree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n_estimators</a:t>
            </a:r>
            <a:r>
              <a:rPr lang="en-US" sz="2800" dirty="0">
                <a:latin typeface="Calibir"/>
              </a:rPr>
              <a:t> = number of trees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max_depth</a:t>
            </a:r>
            <a:r>
              <a:rPr lang="en-US" sz="2800" dirty="0">
                <a:latin typeface="Calibir"/>
              </a:rPr>
              <a:t> = control complexity</a:t>
            </a:r>
          </a:p>
        </p:txBody>
      </p:sp>
    </p:spTree>
    <p:extLst>
      <p:ext uri="{BB962C8B-B14F-4D97-AF65-F5344CB8AC3E}">
        <p14:creationId xmlns:p14="http://schemas.microsoft.com/office/powerpoint/2010/main" val="1044987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7278-75F0-E8C0-CEC3-D36B327A2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F65D3B5-ED9E-423F-7A14-D6A52F72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BE86964-BF0B-CC5B-FC1F-F27E4F048072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CF9446E-51D6-B3BB-B700-8C6E2E87C437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Example 3 – Random Forest (Control Overfitting)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C07F9-BB85-71B5-B538-5D97B9DA0C9C}"/>
              </a:ext>
            </a:extLst>
          </p:cNvPr>
          <p:cNvSpPr txBox="1"/>
          <p:nvPr/>
        </p:nvSpPr>
        <p:spPr>
          <a:xfrm>
            <a:off x="359979" y="1489529"/>
            <a:ext cx="10223938" cy="325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Result Explanation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Usually: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Train accuracy high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 accuracy also high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Better performance overall</a:t>
            </a:r>
          </a:p>
        </p:txBody>
      </p:sp>
    </p:spTree>
    <p:extLst>
      <p:ext uri="{BB962C8B-B14F-4D97-AF65-F5344CB8AC3E}">
        <p14:creationId xmlns:p14="http://schemas.microsoft.com/office/powerpoint/2010/main" val="3068007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ABF5-B241-A52D-18DD-0343144F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EF53445-5FFC-24AE-5B41-04FA15E8C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2546E9B-B2BC-5375-9FE1-19D51A02B23C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F3A06EF9-94E2-1BE1-9D5D-EAEFBB5A9AF9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Tasks for Example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FD4300-57F2-35FA-9041-569C3363B113}"/>
              </a:ext>
            </a:extLst>
          </p:cNvPr>
          <p:cNvSpPr txBox="1"/>
          <p:nvPr/>
        </p:nvSpPr>
        <p:spPr>
          <a:xfrm>
            <a:off x="1" y="1555532"/>
            <a:ext cx="1071004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 1: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Try: 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n_estimators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=50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 err="1">
                <a:highlight>
                  <a:srgbClr val="FFFF00"/>
                </a:highlight>
                <a:latin typeface="Calibir"/>
              </a:rPr>
              <a:t>n_estimators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=200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Does accuracy improve?</a:t>
            </a:r>
          </a:p>
        </p:txBody>
      </p:sp>
    </p:spTree>
    <p:extLst>
      <p:ext uri="{BB962C8B-B14F-4D97-AF65-F5344CB8AC3E}">
        <p14:creationId xmlns:p14="http://schemas.microsoft.com/office/powerpoint/2010/main" val="4044602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12B9-F30F-0918-FC48-2CE884B3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69638B8-F31D-1DC3-3587-55F8993E1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30AFE61-DEDB-91B3-A37D-3593CC6C589B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6982C7E3-5834-51DA-A358-548FD0C2E69B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Tasks for Example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5FAF1-A417-4D30-3702-059B2FCF1251}"/>
              </a:ext>
            </a:extLst>
          </p:cNvPr>
          <p:cNvSpPr txBox="1"/>
          <p:nvPr/>
        </p:nvSpPr>
        <p:spPr>
          <a:xfrm>
            <a:off x="1" y="1555532"/>
            <a:ext cx="1071004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 2: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Remove </a:t>
            </a:r>
            <a:r>
              <a:rPr lang="en-US" sz="2800" dirty="0" err="1">
                <a:latin typeface="Calibir"/>
              </a:rPr>
              <a:t>max_depth</a:t>
            </a:r>
            <a:r>
              <a:rPr lang="en-US" sz="2800" dirty="0">
                <a:latin typeface="Calibir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Does overfitting increase?</a:t>
            </a:r>
          </a:p>
        </p:txBody>
      </p:sp>
    </p:spTree>
    <p:extLst>
      <p:ext uri="{BB962C8B-B14F-4D97-AF65-F5344CB8AC3E}">
        <p14:creationId xmlns:p14="http://schemas.microsoft.com/office/powerpoint/2010/main" val="8443093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7689C-D695-0DCB-B056-D010242A5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88BDEB9-F26C-3AFD-2F42-8BAB66CB4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935815D5-689E-6FFC-170F-C2E02752AF2D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B23B9A7C-B4E4-95D6-C5E8-667DC518F59A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Comparison of 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CBC8B-9C4C-CDFD-B039-1BB59D236A97}"/>
              </a:ext>
            </a:extLst>
          </p:cNvPr>
          <p:cNvSpPr txBox="1"/>
          <p:nvPr/>
        </p:nvSpPr>
        <p:spPr>
          <a:xfrm>
            <a:off x="359979" y="1489529"/>
            <a:ext cx="1022393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 1 → normal tree (can overfit)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 2 → controlled tree (less overfitting)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 3 → many trees (better performance) </a:t>
            </a:r>
          </a:p>
        </p:txBody>
      </p:sp>
    </p:spTree>
    <p:extLst>
      <p:ext uri="{BB962C8B-B14F-4D97-AF65-F5344CB8AC3E}">
        <p14:creationId xmlns:p14="http://schemas.microsoft.com/office/powerpoint/2010/main" val="13176911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44DC4-9C03-B03D-B02B-88AA95928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48FE30E-AAD8-3DD3-95D3-0C6C8C366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6BF7BE6-1316-7FB1-7CAE-853A7002AB78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172DB235-C8E5-BDB0-03AF-C039DE849206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Summary – What Students Learned Today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A0E19-2544-1C7A-C476-C354D5BAE4C8}"/>
              </a:ext>
            </a:extLst>
          </p:cNvPr>
          <p:cNvSpPr txBox="1"/>
          <p:nvPr/>
        </p:nvSpPr>
        <p:spPr>
          <a:xfrm>
            <a:off x="1" y="1555532"/>
            <a:ext cx="1071004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now understand: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overfitting is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to detect it (train vs test accuracy)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to reduce it (</a:t>
            </a:r>
            <a:r>
              <a:rPr lang="en-US" sz="2800" dirty="0" err="1">
                <a:latin typeface="Calibir"/>
              </a:rPr>
              <a:t>max_depth</a:t>
            </a:r>
            <a:r>
              <a:rPr lang="en-US" sz="2800" dirty="0">
                <a:latin typeface="Calibir"/>
              </a:rPr>
              <a:t>, Random Forest)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That: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Bigger model ≠ always better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Simpler models can perform better</a:t>
            </a:r>
          </a:p>
        </p:txBody>
      </p:sp>
    </p:spTree>
    <p:extLst>
      <p:ext uri="{BB962C8B-B14F-4D97-AF65-F5344CB8AC3E}">
        <p14:creationId xmlns:p14="http://schemas.microsoft.com/office/powerpoint/2010/main" val="3236873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BFAB-655C-0012-9D6D-FAB989B9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1A08057-AA89-877C-393C-B9424B966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9904" y="2197865"/>
            <a:ext cx="103937" cy="3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4" tIns="25718" rIns="51434" bIns="25718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latin typeface="+mj-l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67D5DAB-2605-32A2-B3D7-7C01BCF77731}"/>
              </a:ext>
            </a:extLst>
          </p:cNvPr>
          <p:cNvPicPr/>
          <p:nvPr/>
        </p:nvPicPr>
        <p:blipFill>
          <a:blip r:embed="rId2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BD8DDDED-2B7F-3FEE-AB22-A54707AE7518}"/>
              </a:ext>
            </a:extLst>
          </p:cNvPr>
          <p:cNvSpPr txBox="1"/>
          <p:nvPr/>
        </p:nvSpPr>
        <p:spPr>
          <a:xfrm>
            <a:off x="94419" y="68639"/>
            <a:ext cx="9196726" cy="515045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r>
              <a:rPr lang="en-US" sz="3300" b="1" dirty="0">
                <a:latin typeface="Calibir"/>
              </a:rPr>
              <a:t>Simple Final Message to Students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FF0CB1-CE6E-6260-62F1-728B25CA54E8}"/>
              </a:ext>
            </a:extLst>
          </p:cNvPr>
          <p:cNvSpPr txBox="1"/>
          <p:nvPr/>
        </p:nvSpPr>
        <p:spPr>
          <a:xfrm>
            <a:off x="1" y="1555532"/>
            <a:ext cx="1071004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Good model = balanced model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Not too simple, not too complex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Always check test performance, not just training </a:t>
            </a:r>
          </a:p>
        </p:txBody>
      </p:sp>
    </p:spTree>
    <p:extLst>
      <p:ext uri="{BB962C8B-B14F-4D97-AF65-F5344CB8AC3E}">
        <p14:creationId xmlns:p14="http://schemas.microsoft.com/office/powerpoint/2010/main" val="2234409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CADA-C2BC-8C89-F224-6C84B30E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E8AB4A3-BE79-06FA-AC7C-BEC57E78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7517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Calibir"/>
              </a:rPr>
              <a:t>Let’s Answer Your Questions</a:t>
            </a:r>
            <a:endParaRPr lang="en-AU" sz="3000" b="1" dirty="0">
              <a:latin typeface="Calibir"/>
            </a:endParaRPr>
          </a:p>
        </p:txBody>
      </p:sp>
      <p:pic>
        <p:nvPicPr>
          <p:cNvPr id="1028" name="Picture 4" descr="Answering Questions In Complete Sentences">
            <a:extLst>
              <a:ext uri="{FF2B5EF4-FFF2-40B4-BE49-F238E27FC236}">
                <a16:creationId xmlns:a16="http://schemas.microsoft.com/office/drawing/2014/main" id="{84E5527E-4D0B-667B-4471-EFDB8B31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244" y="1036133"/>
            <a:ext cx="3385511" cy="2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BBB43-1E60-3AC7-6893-6AAB3EFF1E14}"/>
              </a:ext>
            </a:extLst>
          </p:cNvPr>
          <p:cNvSpPr txBox="1"/>
          <p:nvPr/>
        </p:nvSpPr>
        <p:spPr>
          <a:xfrm>
            <a:off x="0" y="3299222"/>
            <a:ext cx="12192000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during class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Ask directly during sessions.</a:t>
            </a:r>
          </a:p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Canvas Inbox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For structured academic queries.</a:t>
            </a:r>
          </a:p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For formal communications or attachments.</a:t>
            </a:r>
          </a:p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Canvas Discussion 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For sharing your questions.</a:t>
            </a:r>
          </a:p>
          <a:p>
            <a:pPr marL="385763" indent="-3857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800" b="1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Microsoft Team </a:t>
            </a:r>
            <a:r>
              <a:rPr lang="en-US" altLang="en-US" sz="2800" kern="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Send a reminder if I did not reply after 3 business days</a:t>
            </a:r>
          </a:p>
        </p:txBody>
      </p:sp>
    </p:spTree>
    <p:extLst>
      <p:ext uri="{BB962C8B-B14F-4D97-AF65-F5344CB8AC3E}">
        <p14:creationId xmlns:p14="http://schemas.microsoft.com/office/powerpoint/2010/main" val="3910630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1903064" y="1272864"/>
            <a:ext cx="4306642" cy="4306642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90404" y="1272866"/>
            <a:ext cx="5664962" cy="4003328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defTabSz="685800">
              <a:lnSpc>
                <a:spcPct val="150000"/>
              </a:lnSpc>
              <a:spcAft>
                <a:spcPts val="450"/>
              </a:spcAft>
              <a:defRPr/>
            </a:pPr>
            <a:r>
              <a:rPr lang="en-US" sz="2800" b="1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Stay Connected:</a:t>
            </a:r>
            <a:b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</a:b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  <a:hlinkClick r:id="rId3"/>
              </a:rPr>
              <a:t>linkedin.com/in/farshid-keivanian</a:t>
            </a: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 </a:t>
            </a:r>
            <a:b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</a:b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  <a:hlinkClick r:id="rId4"/>
              </a:rPr>
              <a:t>github.com/FarshidKeivanian</a:t>
            </a: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 </a:t>
            </a:r>
          </a:p>
          <a:p>
            <a:pPr indent="-171450" defTabSz="68580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Education is the most powerful weapon you can use to change the world. </a:t>
            </a:r>
            <a:r>
              <a:rPr lang="en-US" sz="28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— Nelson Mandela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2EB8C87-8395-5CF8-FB02-8B57ECDD5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920865" cy="723788"/>
          </a:xfrm>
          <a:prstGeom prst="rect">
            <a:avLst/>
          </a:prstGeom>
        </p:spPr>
        <p:txBody>
          <a:bodyPr vert="horz" wrap="square" lIns="0" tIns="259588" rIns="0" bIns="0" rtlCol="0" anchor="ctr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sz="3000" b="1" spc="-20" dirty="0">
                <a:latin typeface="Calibir"/>
              </a:rPr>
              <a:t>Happy Learning and Bright Futures Ahead!</a:t>
            </a:r>
            <a:endParaRPr sz="3000" b="1" spc="-2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CB339-E632-9E22-A7B6-C9019F91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FBAC6E-9EAC-CF1D-420B-AB0E38575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553200" cy="5206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Calibir"/>
              </a:rPr>
              <a:t>Thank You</a:t>
            </a:r>
            <a:endParaRPr sz="3300" b="1" spc="-10" dirty="0">
              <a:latin typeface="Calibir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4FA3D3-2D48-1396-02E0-E592D20AE6B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52269" y="6556594"/>
            <a:ext cx="3729354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5"/>
              </a:spcBef>
              <a:defRPr/>
            </a:pPr>
            <a:fld id="{81D60167-4931-47E6-BA6A-407CBD079E47}" type="slidenum">
              <a:rPr lang="en-US" smtClean="0"/>
              <a:pPr marL="38100">
                <a:spcBef>
                  <a:spcPts val="5"/>
                </a:spcBef>
                <a:defRPr/>
              </a:pPr>
              <a:t>42</a:t>
            </a:fld>
            <a:r>
              <a:rPr lang="en-US" spc="235"/>
              <a:t> </a:t>
            </a:r>
            <a:r>
              <a:rPr lang="en-US"/>
              <a:t>|</a:t>
            </a:r>
            <a:r>
              <a:rPr lang="en-US" spc="400"/>
              <a:t> </a:t>
            </a:r>
            <a:r>
              <a:rPr lang="en-US"/>
              <a:t>Faculty</a:t>
            </a:r>
            <a:r>
              <a:rPr lang="en-US" spc="-15"/>
              <a:t> </a:t>
            </a:r>
            <a:r>
              <a:rPr lang="en-US"/>
              <a:t>of</a:t>
            </a:r>
            <a:r>
              <a:rPr lang="en-US" spc="-20"/>
              <a:t> </a:t>
            </a:r>
            <a:r>
              <a:rPr lang="en-US"/>
              <a:t>Business</a:t>
            </a:r>
            <a:r>
              <a:rPr lang="en-US" spc="-20"/>
              <a:t> </a:t>
            </a:r>
            <a:r>
              <a:rPr lang="en-US"/>
              <a:t>and</a:t>
            </a:r>
            <a:r>
              <a:rPr lang="en-US" spc="-20"/>
              <a:t> </a:t>
            </a:r>
            <a:r>
              <a:rPr lang="en-US"/>
              <a:t>Law</a:t>
            </a:r>
            <a:r>
              <a:rPr lang="en-US" spc="-15"/>
              <a:t> </a:t>
            </a:r>
            <a:r>
              <a:rPr lang="en-US"/>
              <a:t>|</a:t>
            </a:r>
            <a:r>
              <a:rPr lang="en-US" spc="-15"/>
              <a:t> </a:t>
            </a:r>
            <a:r>
              <a:rPr lang="en-US"/>
              <a:t>Peter</a:t>
            </a:r>
            <a:r>
              <a:rPr lang="en-US" spc="-10"/>
              <a:t> </a:t>
            </a:r>
            <a:r>
              <a:rPr lang="en-US"/>
              <a:t>Faber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 spc="-10"/>
              <a:t>School</a:t>
            </a:r>
            <a:endParaRPr sz="1000" kern="0" spc="-10" dirty="0">
              <a:solidFill>
                <a:srgbClr val="3D3935"/>
              </a:solidFill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AB1092-95B3-7ACF-8F0C-CB846267DED1}"/>
              </a:ext>
            </a:extLst>
          </p:cNvPr>
          <p:cNvSpPr txBox="1"/>
          <p:nvPr/>
        </p:nvSpPr>
        <p:spPr>
          <a:xfrm>
            <a:off x="2043611" y="1416812"/>
            <a:ext cx="7745095" cy="51103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56565" indent="-443865">
              <a:spcBef>
                <a:spcPts val="625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456565" algn="l"/>
              </a:tabLst>
              <a:defRPr/>
            </a:pPr>
            <a:r>
              <a:rPr lang="en-US" sz="2800" i="1" kern="0" dirty="0">
                <a:solidFill>
                  <a:srgbClr val="3D3935"/>
                </a:solidFill>
                <a:latin typeface="Calibri"/>
                <a:cs typeface="Arial"/>
              </a:rPr>
              <a:t>Have a Great Learning Day!</a:t>
            </a:r>
            <a:endParaRPr sz="2800" kern="0" dirty="0">
              <a:solidFill>
                <a:sysClr val="windowText" lastClr="000000"/>
              </a:solidFill>
              <a:latin typeface="Calibri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0227068-EB5C-24F0-54DA-165117897DD9}"/>
              </a:ext>
            </a:extLst>
          </p:cNvPr>
          <p:cNvSpPr txBox="1"/>
          <p:nvPr/>
        </p:nvSpPr>
        <p:spPr>
          <a:xfrm>
            <a:off x="2076270" y="2107462"/>
            <a:ext cx="7745095" cy="51103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56565" indent="-443865">
              <a:spcBef>
                <a:spcPts val="625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456565" algn="l"/>
              </a:tabLst>
              <a:defRPr/>
            </a:pPr>
            <a:r>
              <a:rPr lang="en-US" sz="2800" kern="0" dirty="0">
                <a:solidFill>
                  <a:sysClr val="windowText" lastClr="000000"/>
                </a:solidFill>
                <a:latin typeface="Calibri"/>
              </a:rPr>
              <a:t>Feel free to reach out with any questions!</a:t>
            </a:r>
            <a:endParaRPr sz="2800" kern="0" dirty="0">
              <a:solidFill>
                <a:sysClr val="windowText" lastClr="000000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707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2937</Words>
  <Application>Microsoft Office PowerPoint</Application>
  <PresentationFormat>Widescreen</PresentationFormat>
  <Paragraphs>370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Aptos Display</vt:lpstr>
      <vt:lpstr>Arial</vt:lpstr>
      <vt:lpstr>Calibir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Answer Your Questions</vt:lpstr>
      <vt:lpstr>Happy Learning and Bright Futures Ahead!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120</cp:revision>
  <dcterms:created xsi:type="dcterms:W3CDTF">2026-04-01T10:02:37Z</dcterms:created>
  <dcterms:modified xsi:type="dcterms:W3CDTF">2026-04-15T16:24:54Z</dcterms:modified>
</cp:coreProperties>
</file>