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774" y="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4201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Good morning everyone, and thank you for inviting me. Today I will present our recently accepted and published paper on Health IoT data governance. In simple terms, the paper asks a practical question: when devices continuously send sensitive health data, how do we decide who can access what, how fast, and under which safety rules, while still keeping an auditable record? My goal today is to explain the idea clearly, show the main results, and suggest areas where we can collaborate further at SISTC.
[Sources]
- User-provided paper details and Figure 1 supplied in chat.
- Publication metadata supplied by the user: accepted 15 February 2026, published 18 February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I start from a simple motivation. First, Health IoT data are extremely sensitive. Second, healthcare settings still need fast decisions, especially in urgent cases. Third, institutions need accountability: they must know who accessed data, under which consent, and why a specific policy was selected. The real challenge is that these goals compete. If we push privacy harder, we may increase delay or cost. If we push speed too hard, we may weaken safety. So the problem is naturally a trade-off problem, not a single-metric problem.
[Sources]
- User-provided abstract and introduction text describing privacy, latency, resource cost, robustness, emergencies, consent, and auditability.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slide shows the architecture in one picture. At the top, devices and edge gateways collect data and context. In the middle, the decision logic runs off-chain. That is important because we do not want to put heavy optimization or sensitive data on blockchain. At the bottom, blockchain is used for accountability only. It stores consent commitments, access events, and hashes of the selected policy and trace. So the design cleanly separates intelligence from auditability: decision-making stays flexible and efficient, while audit records stay immutable.
[Sources]
- User-provided Figure 1 and the paper section “System Overview” / “On-Chain Audit Logging”.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In simple terms, this is the workflow. First, the system reads the context. Second, it generates many candidate policies instead of jumping to one answer immediately. Third, it removes unsafe options using explicit emergency-aware safety rules. Fourth, from the remaining feasible options, it chooses one balanced policy using bargaining. Finally, it records the decision trace in a blockchain-friendly way. I like to describe this as a choose-many, filter-hard, choose-one pipeline. That makes the logic easier to inspect than a black-box model.
[Sources]
- User-provided methodology sections on fuzzy context inference, Pareto-based search, emergency-aware feasibility guard, bargaining-based selection, and on-chain audit logging.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slide makes the method concrete. The policy is not abstract; it adjusts five real governance controls, such as how detailed the data are, how strong the protection is, how often sharing occurs, how strict the device trust threshold is, and how long data are retained. At the same time, the system tries to balance four goals: lower privacy risk, lower latency, lower resource cost, and higher robustness. The important idea is that there is no single best setting for every situation. Home monitoring, clinic telehealth, and emergency triage need different balance points.
[Sources]
- User-provided “Decision Variables (Policy Vector)” and “Objectives and Constraints” sections.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To evaluate the method, the paper used three scenarios: home remote patient monitoring, clinic telehealth, and emergency triage. The paper compared our framework against rule-based, weighted-sum, and knee-point baselines. It also added budget-matched random-search ablations so that we could test whether the gains come from structured Pareto exploration, not just from the final selector. Each scenario was run over twenty stochastic trials, with varying network and device conditions, to see how the selected policies behave under uncertainty.
[Sources]
- User-provided “Scenarios”, “Baselines and Ablations”, and “Metrics and Experimental Protocol” sections.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Here I usually make one balanced point. If we look only at speed or energy, the scalarised baselines often look attractive. That is expected, because they tend to choose more aggressive operating points. Our method is not trying to win a one-metric race. Instead, it accepts some additional latency and resource cost in order to maintain stronger privacy posture and robustness. Importantly, in the emergency scenario it still improved latency relative to the rule-based baseline, so it remained compatible with the modeled edge constraints.
[Sources]
- User-provided Figures 2 and 3 plus Tables 1–3 and the “Main Results Across Scenarios” section.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most important results slide. The proposed method kept privacy risk near zero or very low across scenarios, and it achieved the strongest robustness overall. When I present this slide, I also make a careful clarification: near-zero privacy risk in the paper means a very conservative policy within the modeled policy space. It does not mean zero information disclosure in the real world. The stronger point is that the framework repeatedly selected safer and more resilient policies than the scalarised alternatives.
[Sources]
- User-provided Figures 4 and 5 plus Tables 1–3 and the privacy-risk interpretation in the paper.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 fair question is whether the method is stable. The deterministic rule-based baseline shows zero instability because it never adapts. Our optimisation-based methods, including the proposed one, do vary across trials. But that variability should be interpreted carefully. It reflects different feasible trade-off surfaces under different conditions, not random behaviour without limits. In our framework, all selected policies still pass the explicit safety guard. So I describe this as bounded adaptivity: the policy can change, but only inside acceptable safety conditions.
[Sources]
- User-provided Figure 6 and the “Decision repeatability” discussion in the paper.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If I had to summarise the novelty briefly, I would say this work combines interpretable context reasoning, structured multi-objective search, explicit safety filtering, single-policy bargaining-based selection, and blockchain auditability in one coherent governance framework. At the same time, I want to be transparent about the limitations. The results are simulation-based, and the objective measures are modeled proxies, not live hospital measurements. That is why I see this paper as a strong framework contribution and a foundation for a prototype phase rather than the final deployment story.
[Sources]
- User-provided conclusions, statistical-significance section, and limitations/future-work discussion.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slide where I invite collaboration. I think there are four practical directions. First, we can build a small prototype and test it on real edge infrastructure. Second, colleagues can help refine governance rules and safety thresholds. Third, there is room to strengthen the security side with anomaly indicators, trust signals, and richer adversarial testing. Fourth, this is well suited for student projects, joint supervision, and pilot grant proposals. So I am not only presenting a finished paper; I am also presenting a research platform we can extend together.
[Sources]
- Collaboration suggestions derived from the user’s request plus the paper’s future-work directions on prototype validation, anomaly indicators, richer privacy models, and stability-aware selection.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To close, I would emphasise three points. First, this paper treats Health IoT governance as a real trade-off problem, not a simple access-control rule. Second, it uses blockchain in a disciplined way for accountability, while keeping decision intelligence off-chain. Third, the framework looks promising enough to justify a prototype phase and broader collaboration. I would be very happy to discuss how we can adapt this into student projects, a lab demo, or a small funded pilot with SISTC colleagues.
[Sources]
- Summary based on user-provided paper, title slide information, and collaboration directions requested by the user.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doi.org/10.3390/electronics15040864"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0B1F3A"/>
          </a:solidFill>
          <a:ln w="12700">
            <a:solidFill>
              <a:srgbClr val="0B1F3A">
                <a:alpha val="0"/>
              </a:srgbClr>
            </a:solidFill>
            <a:prstDash val="solid"/>
          </a:ln>
        </p:spPr>
        <p:txBody>
          <a:bodyPr/>
          <a:lstStyle/>
          <a:p>
            <a:endParaRPr lang="en-US"/>
          </a:p>
        </p:txBody>
      </p:sp>
      <p:sp>
        <p:nvSpPr>
          <p:cNvPr id="3" name="Shape 1"/>
          <p:cNvSpPr/>
          <p:nvPr/>
        </p:nvSpPr>
        <p:spPr>
          <a:xfrm>
            <a:off x="3794760" y="0"/>
            <a:ext cx="73152" cy="6858000"/>
          </a:xfrm>
          <a:prstGeom prst="rect">
            <a:avLst/>
          </a:prstGeom>
          <a:solidFill>
            <a:srgbClr val="14A36F"/>
          </a:solidFill>
          <a:ln w="12700">
            <a:solidFill>
              <a:srgbClr val="14A36F">
                <a:alpha val="0"/>
              </a:srgbClr>
            </a:solidFill>
            <a:prstDash val="solid"/>
          </a:ln>
        </p:spPr>
        <p:txBody>
          <a:bodyPr/>
          <a:lstStyle/>
          <a:p>
            <a:endParaRPr lang="en-US"/>
          </a:p>
        </p:txBody>
      </p:sp>
      <p:sp>
        <p:nvSpPr>
          <p:cNvPr id="4" name="Text 2"/>
          <p:cNvSpPr/>
          <p:nvPr/>
        </p:nvSpPr>
        <p:spPr>
          <a:xfrm>
            <a:off x="530352" y="868680"/>
            <a:ext cx="2788920" cy="2103120"/>
          </a:xfrm>
          <a:prstGeom prst="rect">
            <a:avLst/>
          </a:prstGeom>
          <a:noFill/>
          <a:ln/>
        </p:spPr>
        <p:txBody>
          <a:bodyPr wrap="square" lIns="0" tIns="0" rIns="0" bIns="0" rtlCol="0" anchor="ctr"/>
          <a:lstStyle/>
          <a:p>
            <a:pPr marL="0" indent="0">
              <a:buNone/>
            </a:pPr>
            <a:r>
              <a:rPr lang="en-US" sz="2350" b="1" dirty="0">
                <a:solidFill>
                  <a:srgbClr val="FFFFFF"/>
                </a:solidFill>
                <a:latin typeface="Aptos Display" pitchFamily="34" charset="0"/>
                <a:ea typeface="Aptos Display" pitchFamily="34" charset="-122"/>
                <a:cs typeface="Aptos Display" pitchFamily="34" charset="-120"/>
              </a:rPr>
              <a:t>Interpretable</a:t>
            </a:r>
            <a:endParaRPr lang="en-US" sz="2350" dirty="0"/>
          </a:p>
          <a:p>
            <a:pPr marL="0" indent="0">
              <a:buNone/>
            </a:pPr>
            <a:r>
              <a:rPr lang="en-US" sz="2350" b="1" dirty="0">
                <a:solidFill>
                  <a:srgbClr val="FFFFFF"/>
                </a:solidFill>
                <a:latin typeface="Aptos Display" pitchFamily="34" charset="0"/>
                <a:ea typeface="Aptos Display" pitchFamily="34" charset="-122"/>
                <a:cs typeface="Aptos Display" pitchFamily="34" charset="-120"/>
              </a:rPr>
              <a:t>Blockchain-Audited</a:t>
            </a:r>
            <a:endParaRPr lang="en-US" sz="2350" dirty="0"/>
          </a:p>
          <a:p>
            <a:pPr marL="0" indent="0">
              <a:buNone/>
            </a:pPr>
            <a:r>
              <a:rPr lang="en-US" sz="2350" b="1" dirty="0">
                <a:solidFill>
                  <a:srgbClr val="FFFFFF"/>
                </a:solidFill>
                <a:latin typeface="Aptos Display" pitchFamily="34" charset="0"/>
                <a:ea typeface="Aptos Display" pitchFamily="34" charset="-122"/>
                <a:cs typeface="Aptos Display" pitchFamily="34" charset="-120"/>
              </a:rPr>
              <a:t>Governance for Health IoT</a:t>
            </a:r>
            <a:endParaRPr lang="en-US" sz="2350" dirty="0"/>
          </a:p>
        </p:txBody>
      </p:sp>
      <p:sp>
        <p:nvSpPr>
          <p:cNvPr id="5" name="Text 3"/>
          <p:cNvSpPr/>
          <p:nvPr/>
        </p:nvSpPr>
        <p:spPr>
          <a:xfrm>
            <a:off x="530352" y="3154680"/>
            <a:ext cx="2697480" cy="640080"/>
          </a:xfrm>
          <a:prstGeom prst="rect">
            <a:avLst/>
          </a:prstGeom>
          <a:noFill/>
          <a:ln/>
        </p:spPr>
        <p:txBody>
          <a:bodyPr wrap="square" lIns="0" tIns="0" rIns="0" bIns="0" rtlCol="0" anchor="ctr"/>
          <a:lstStyle/>
          <a:p>
            <a:pPr marL="0" indent="0">
              <a:buNone/>
            </a:pPr>
            <a:r>
              <a:rPr lang="en-US" sz="1350" dirty="0">
                <a:solidFill>
                  <a:srgbClr val="D8E2EE"/>
                </a:solidFill>
                <a:latin typeface="Aptos" pitchFamily="34" charset="0"/>
                <a:ea typeface="Aptos" pitchFamily="34" charset="-122"/>
                <a:cs typeface="Aptos" pitchFamily="34" charset="-120"/>
              </a:rPr>
              <a:t>A simple presentation of our accepted and published paper for SISTC colleagues</a:t>
            </a:r>
            <a:endParaRPr lang="en-US" sz="1350" dirty="0"/>
          </a:p>
        </p:txBody>
      </p:sp>
      <p:sp>
        <p:nvSpPr>
          <p:cNvPr id="6" name="Shape 4"/>
          <p:cNvSpPr/>
          <p:nvPr/>
        </p:nvSpPr>
        <p:spPr>
          <a:xfrm>
            <a:off x="530352" y="3977640"/>
            <a:ext cx="2148840" cy="310896"/>
          </a:xfrm>
          <a:prstGeom prst="roundRect">
            <a:avLst/>
          </a:prstGeom>
          <a:solidFill>
            <a:srgbClr val="14A36F"/>
          </a:solidFill>
          <a:ln w="12700">
            <a:solidFill>
              <a:srgbClr val="14A36F">
                <a:alpha val="0"/>
              </a:srgbClr>
            </a:solidFill>
            <a:prstDash val="solid"/>
          </a:ln>
        </p:spPr>
        <p:txBody>
          <a:bodyPr/>
          <a:lstStyle/>
          <a:p>
            <a:endParaRPr lang="en-US"/>
          </a:p>
        </p:txBody>
      </p:sp>
      <p:sp>
        <p:nvSpPr>
          <p:cNvPr id="7" name="Text 5"/>
          <p:cNvSpPr/>
          <p:nvPr/>
        </p:nvSpPr>
        <p:spPr>
          <a:xfrm>
            <a:off x="530352" y="4041648"/>
            <a:ext cx="2148840"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Published • Electronics 2026</a:t>
            </a:r>
            <a:endParaRPr lang="en-US" sz="950" dirty="0"/>
          </a:p>
        </p:txBody>
      </p:sp>
      <p:sp>
        <p:nvSpPr>
          <p:cNvPr id="8" name="Text 6"/>
          <p:cNvSpPr/>
          <p:nvPr/>
        </p:nvSpPr>
        <p:spPr>
          <a:xfrm>
            <a:off x="530352" y="4572000"/>
            <a:ext cx="3264408" cy="1097280"/>
          </a:xfrm>
          <a:prstGeom prst="rect">
            <a:avLst/>
          </a:prstGeom>
          <a:noFill/>
          <a:ln/>
        </p:spPr>
        <p:txBody>
          <a:bodyPr wrap="square" lIns="0" tIns="0" rIns="0" bIns="0" rtlCol="0" anchor="ctr"/>
          <a:lstStyle/>
          <a:p>
            <a:pPr marL="0" indent="0">
              <a:buNone/>
            </a:pPr>
            <a:r>
              <a:rPr lang="en-US" sz="1240" dirty="0">
                <a:solidFill>
                  <a:srgbClr val="FFFFFF"/>
                </a:solidFill>
                <a:latin typeface="Aptos" pitchFamily="34" charset="0"/>
                <a:ea typeface="Aptos" pitchFamily="34" charset="-122"/>
                <a:cs typeface="Aptos" pitchFamily="34" charset="-120"/>
              </a:rPr>
              <a:t>Farshid Keivanian</a:t>
            </a:r>
            <a:endParaRPr lang="en-US" sz="1240" dirty="0"/>
          </a:p>
          <a:p>
            <a:pPr marL="0" indent="0">
              <a:buNone/>
            </a:pPr>
            <a:r>
              <a:rPr lang="en-US" sz="1240" dirty="0">
                <a:solidFill>
                  <a:srgbClr val="FFFFFF"/>
                </a:solidFill>
                <a:latin typeface="Aptos" pitchFamily="34" charset="0"/>
                <a:ea typeface="Aptos" pitchFamily="34" charset="-122"/>
                <a:cs typeface="Aptos" pitchFamily="34" charset="-120"/>
              </a:rPr>
              <a:t>with Yining Hu and Saman Shojae Chaeikar</a:t>
            </a:r>
            <a:endParaRPr lang="en-US" sz="1240" dirty="0"/>
          </a:p>
          <a:p>
            <a:pPr marL="0" indent="0">
              <a:buNone/>
            </a:pPr>
            <a:r>
              <a:rPr lang="en-US" sz="1240" dirty="0">
                <a:solidFill>
                  <a:srgbClr val="FFFFFF"/>
                </a:solidFill>
                <a:latin typeface="Aptos" pitchFamily="34" charset="0"/>
                <a:ea typeface="Aptos" pitchFamily="34" charset="-122"/>
                <a:cs typeface="Aptos" pitchFamily="34" charset="-120"/>
              </a:rPr>
              <a:t>Sydney International School of Technology and Commerce / UTS</a:t>
            </a:r>
            <a:endParaRPr lang="en-US" sz="1240" dirty="0"/>
          </a:p>
        </p:txBody>
      </p:sp>
      <p:sp>
        <p:nvSpPr>
          <p:cNvPr id="9" name="Shape 7"/>
          <p:cNvSpPr/>
          <p:nvPr/>
        </p:nvSpPr>
        <p:spPr>
          <a:xfrm>
            <a:off x="4297680" y="685800"/>
            <a:ext cx="7315200" cy="5394960"/>
          </a:xfrm>
          <a:prstGeom prst="roundRect">
            <a:avLst>
              <a:gd name="adj" fmla="val 2034"/>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pic>
        <p:nvPicPr>
          <p:cNvPr id="10" name="Image 0" descr="/mnt/data/0077cfb6-0409-4757-b762-90b411fd3f65.png"/>
          <p:cNvPicPr>
            <a:picLocks noChangeAspect="1"/>
          </p:cNvPicPr>
          <p:nvPr/>
        </p:nvPicPr>
        <p:blipFill>
          <a:blip r:embed="rId3"/>
          <a:stretch>
            <a:fillRect/>
          </a:stretch>
        </p:blipFill>
        <p:spPr>
          <a:xfrm>
            <a:off x="4526280" y="1270548"/>
            <a:ext cx="6858000" cy="3493943"/>
          </a:xfrm>
          <a:prstGeom prst="rect">
            <a:avLst/>
          </a:prstGeom>
        </p:spPr>
      </p:pic>
      <p:sp>
        <p:nvSpPr>
          <p:cNvPr id="11" name="Text 8"/>
          <p:cNvSpPr/>
          <p:nvPr/>
        </p:nvSpPr>
        <p:spPr>
          <a:xfrm>
            <a:off x="4645152" y="5349240"/>
            <a:ext cx="1005840" cy="201168"/>
          </a:xfrm>
          <a:prstGeom prst="rect">
            <a:avLst/>
          </a:prstGeom>
          <a:noFill/>
          <a:ln/>
        </p:spPr>
        <p:txBody>
          <a:bodyPr wrap="square" lIns="0" tIns="0" rIns="0" bIns="0" rtlCol="0" anchor="ctr"/>
          <a:lstStyle/>
          <a:p>
            <a:pPr marL="0" indent="0">
              <a:buNone/>
            </a:pPr>
            <a:r>
              <a:rPr lang="en-US" sz="1000" b="1" dirty="0">
                <a:solidFill>
                  <a:srgbClr val="2476D6"/>
                </a:solidFill>
                <a:latin typeface="Aptos" pitchFamily="34" charset="0"/>
                <a:ea typeface="Aptos" pitchFamily="34" charset="-122"/>
                <a:cs typeface="Aptos" pitchFamily="34" charset="-120"/>
              </a:rPr>
              <a:t>Paper focus</a:t>
            </a:r>
            <a:endParaRPr lang="en-US" sz="1000" dirty="0"/>
          </a:p>
        </p:txBody>
      </p:sp>
      <p:sp>
        <p:nvSpPr>
          <p:cNvPr id="12" name="Text 9"/>
          <p:cNvSpPr/>
          <p:nvPr/>
        </p:nvSpPr>
        <p:spPr>
          <a:xfrm>
            <a:off x="4645152" y="5559552"/>
            <a:ext cx="6492240" cy="475488"/>
          </a:xfrm>
          <a:prstGeom prst="rect">
            <a:avLst/>
          </a:prstGeom>
          <a:noFill/>
          <a:ln/>
        </p:spPr>
        <p:txBody>
          <a:bodyPr wrap="square" lIns="0" tIns="0" rIns="0" bIns="0" rtlCol="0" anchor="ctr"/>
          <a:lstStyle/>
          <a:p>
            <a:pPr marL="0" indent="0">
              <a:buNone/>
            </a:pPr>
            <a:r>
              <a:rPr lang="en-US" sz="1400" dirty="0">
                <a:solidFill>
                  <a:srgbClr val="1F2937"/>
                </a:solidFill>
                <a:latin typeface="Aptos" pitchFamily="34" charset="0"/>
                <a:ea typeface="Aptos" pitchFamily="34" charset="-122"/>
                <a:cs typeface="Aptos" pitchFamily="34" charset="-120"/>
              </a:rPr>
              <a:t>How to decide safe, fast, auditable access to sensitive Health IoT data when privacy, latency, cost, and robustness all compete.</a:t>
            </a:r>
            <a:endParaRPr lang="en-US" sz="1400" dirty="0"/>
          </a:p>
        </p:txBody>
      </p:sp>
      <p:sp>
        <p:nvSpPr>
          <p:cNvPr id="13" name="Text 10"/>
          <p:cNvSpPr/>
          <p:nvPr/>
        </p:nvSpPr>
        <p:spPr>
          <a:xfrm>
            <a:off x="8869680" y="6446520"/>
            <a:ext cx="2331720" cy="164592"/>
          </a:xfrm>
          <a:prstGeom prst="rect">
            <a:avLst/>
          </a:prstGeom>
          <a:noFill/>
          <a:ln/>
        </p:spPr>
        <p:txBody>
          <a:bodyPr wrap="square" lIns="0" tIns="0" rIns="0" bIns="0" rtlCol="0" anchor="ctr"/>
          <a:lstStyle/>
          <a:p>
            <a:pPr marL="0" indent="0" algn="r">
              <a:buNone/>
            </a:pPr>
            <a:r>
              <a:rPr lang="en-US" sz="880" dirty="0">
                <a:solidFill>
                  <a:srgbClr val="6B7280"/>
                </a:solidFill>
                <a:latin typeface="Aptos" pitchFamily="34" charset="0"/>
                <a:ea typeface="Aptos" pitchFamily="34" charset="-122"/>
                <a:cs typeface="Aptos" pitchFamily="34" charset="-120"/>
              </a:rPr>
              <a:t>Microsoft Teams research briefing • Sydney</a:t>
            </a:r>
            <a:endParaRPr lang="en-US" sz="880" dirty="0"/>
          </a:p>
        </p:txBody>
      </p:sp>
      <p:sp>
        <p:nvSpPr>
          <p:cNvPr id="14" name="Text 11"/>
          <p:cNvSpPr/>
          <p:nvPr/>
        </p:nvSpPr>
        <p:spPr>
          <a:xfrm>
            <a:off x="11475720" y="6510528"/>
            <a:ext cx="228600" cy="146304"/>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alpha val="0"/>
              </a:srgbClr>
            </a:solidFill>
            <a:prstDash val="solid"/>
          </a:ln>
        </p:spPr>
        <p:txBody>
          <a:bodyPr/>
          <a:lstStyle/>
          <a:p>
            <a:endParaRPr lang="en-US"/>
          </a:p>
        </p:txBody>
      </p:sp>
      <p:sp>
        <p:nvSpPr>
          <p:cNvPr id="3" name="Shape 1"/>
          <p:cNvSpPr/>
          <p:nvPr/>
        </p:nvSpPr>
        <p:spPr>
          <a:xfrm>
            <a:off x="0" y="658368"/>
            <a:ext cx="12191695" cy="45720"/>
          </a:xfrm>
          <a:prstGeom prst="rect">
            <a:avLst/>
          </a:prstGeom>
          <a:solidFill>
            <a:srgbClr val="14A36F"/>
          </a:solidFill>
          <a:ln w="12700">
            <a:solidFill>
              <a:srgbClr val="14A36F">
                <a:alpha val="0"/>
              </a:srgbClr>
            </a:solidFill>
            <a:prstDash val="solid"/>
          </a:ln>
        </p:spPr>
        <p:txBody>
          <a:bodyPr/>
          <a:lstStyle/>
          <a:p>
            <a:endParaRPr lang="en-US"/>
          </a:p>
        </p:txBody>
      </p:sp>
      <p:sp>
        <p:nvSpPr>
          <p:cNvPr id="4" name="Text 2"/>
          <p:cNvSpPr/>
          <p:nvPr/>
        </p:nvSpPr>
        <p:spPr>
          <a:xfrm>
            <a:off x="502920" y="155448"/>
            <a:ext cx="9052560" cy="274320"/>
          </a:xfrm>
          <a:prstGeom prst="rect">
            <a:avLst/>
          </a:prstGeom>
          <a:noFill/>
          <a:ln/>
        </p:spPr>
        <p:txBody>
          <a:bodyPr wrap="square" lIns="0" tIns="0" rIns="0" bIns="0" rtlCol="0" anchor="ctr"/>
          <a:lstStyle/>
          <a:p>
            <a:pPr marL="0" indent="0">
              <a:buNone/>
            </a:pPr>
            <a:r>
              <a:rPr lang="en-US" sz="2300" b="1" dirty="0">
                <a:solidFill>
                  <a:srgbClr val="FFFFFF"/>
                </a:solidFill>
                <a:latin typeface="Aptos Display" pitchFamily="34" charset="0"/>
                <a:ea typeface="Aptos Display" pitchFamily="34" charset="-122"/>
                <a:cs typeface="Aptos Display" pitchFamily="34" charset="-120"/>
              </a:rPr>
              <a:t>Why this problem matters</a:t>
            </a:r>
            <a:endParaRPr lang="en-US" sz="2300" dirty="0"/>
          </a:p>
        </p:txBody>
      </p:sp>
      <p:sp>
        <p:nvSpPr>
          <p:cNvPr id="5" name="Text 3"/>
          <p:cNvSpPr/>
          <p:nvPr/>
        </p:nvSpPr>
        <p:spPr>
          <a:xfrm>
            <a:off x="9829800" y="164592"/>
            <a:ext cx="1783080" cy="256032"/>
          </a:xfrm>
          <a:prstGeom prst="rect">
            <a:avLst/>
          </a:prstGeom>
          <a:noFill/>
          <a:ln/>
        </p:spPr>
        <p:txBody>
          <a:bodyPr wrap="square" lIns="0" tIns="0" rIns="0" bIns="0" rtlCol="0" anchor="ctr"/>
          <a:lstStyle/>
          <a:p>
            <a:pPr marL="0" indent="0" algn="r">
              <a:buNone/>
            </a:pPr>
            <a:r>
              <a:rPr lang="en-US" sz="950" dirty="0">
                <a:solidFill>
                  <a:srgbClr val="D8E2EE"/>
                </a:solidFill>
                <a:latin typeface="Aptos" pitchFamily="34" charset="0"/>
                <a:ea typeface="Aptos" pitchFamily="34" charset="-122"/>
                <a:cs typeface="Aptos" pitchFamily="34" charset="-120"/>
              </a:rPr>
              <a:t>Context</a:t>
            </a:r>
            <a:endParaRPr lang="en-US" sz="950" dirty="0"/>
          </a:p>
        </p:txBody>
      </p:sp>
      <p:sp>
        <p:nvSpPr>
          <p:cNvPr id="6" name="Text 4"/>
          <p:cNvSpPr/>
          <p:nvPr/>
        </p:nvSpPr>
        <p:spPr>
          <a:xfrm>
            <a:off x="502920" y="6556248"/>
            <a:ext cx="3291840" cy="146304"/>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FiB-MOBA-EAFG • Health IoT governance</a:t>
            </a:r>
            <a:endParaRPr lang="en-US" sz="850" dirty="0"/>
          </a:p>
        </p:txBody>
      </p:sp>
      <p:sp>
        <p:nvSpPr>
          <p:cNvPr id="7" name="Shape 5"/>
          <p:cNvSpPr/>
          <p:nvPr/>
        </p:nvSpPr>
        <p:spPr>
          <a:xfrm>
            <a:off x="594360" y="1078992"/>
            <a:ext cx="3611880" cy="2880360"/>
          </a:xfrm>
          <a:prstGeom prst="roundRect">
            <a:avLst>
              <a:gd name="adj" fmla="val 3810"/>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8" name="Shape 6"/>
          <p:cNvSpPr/>
          <p:nvPr/>
        </p:nvSpPr>
        <p:spPr>
          <a:xfrm>
            <a:off x="850392" y="1335024"/>
            <a:ext cx="384048" cy="310896"/>
          </a:xfrm>
          <a:prstGeom prst="roundRect">
            <a:avLst/>
          </a:prstGeom>
          <a:solidFill>
            <a:srgbClr val="2476D6"/>
          </a:solidFill>
          <a:ln w="12700">
            <a:solidFill>
              <a:srgbClr val="2476D6">
                <a:alpha val="0"/>
              </a:srgbClr>
            </a:solidFill>
            <a:prstDash val="solid"/>
          </a:ln>
        </p:spPr>
        <p:txBody>
          <a:bodyPr/>
          <a:lstStyle/>
          <a:p>
            <a:endParaRPr lang="en-US"/>
          </a:p>
        </p:txBody>
      </p:sp>
      <p:sp>
        <p:nvSpPr>
          <p:cNvPr id="9" name="Text 7"/>
          <p:cNvSpPr/>
          <p:nvPr/>
        </p:nvSpPr>
        <p:spPr>
          <a:xfrm>
            <a:off x="850392" y="1399032"/>
            <a:ext cx="384048"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1</a:t>
            </a:r>
            <a:endParaRPr lang="en-US" sz="950" dirty="0"/>
          </a:p>
        </p:txBody>
      </p:sp>
      <p:sp>
        <p:nvSpPr>
          <p:cNvPr id="10" name="Text 8"/>
          <p:cNvSpPr/>
          <p:nvPr/>
        </p:nvSpPr>
        <p:spPr>
          <a:xfrm>
            <a:off x="1307592" y="1307592"/>
            <a:ext cx="2560320" cy="292608"/>
          </a:xfrm>
          <a:prstGeom prst="rect">
            <a:avLst/>
          </a:prstGeom>
          <a:noFill/>
          <a:ln/>
        </p:spPr>
        <p:txBody>
          <a:bodyPr wrap="square" lIns="0" tIns="0" rIns="0" bIns="0" rtlCol="0" anchor="ctr"/>
          <a:lstStyle/>
          <a:p>
            <a:pPr marL="0" indent="0">
              <a:buNone/>
            </a:pPr>
            <a:r>
              <a:rPr lang="en-US" sz="1800" b="1" dirty="0">
                <a:solidFill>
                  <a:srgbClr val="1F2937"/>
                </a:solidFill>
                <a:latin typeface="Aptos Display" pitchFamily="34" charset="0"/>
                <a:ea typeface="Aptos Display" pitchFamily="34" charset="-122"/>
                <a:cs typeface="Aptos Display" pitchFamily="34" charset="-120"/>
              </a:rPr>
              <a:t>Sensitive data</a:t>
            </a:r>
            <a:endParaRPr lang="en-US" sz="1800" dirty="0"/>
          </a:p>
        </p:txBody>
      </p:sp>
      <p:sp>
        <p:nvSpPr>
          <p:cNvPr id="11" name="Text 9"/>
          <p:cNvSpPr/>
          <p:nvPr/>
        </p:nvSpPr>
        <p:spPr>
          <a:xfrm>
            <a:off x="850392" y="1920240"/>
            <a:ext cx="3017520" cy="868680"/>
          </a:xfrm>
          <a:prstGeom prst="rect">
            <a:avLst/>
          </a:prstGeom>
          <a:noFill/>
          <a:ln/>
        </p:spPr>
        <p:txBody>
          <a:bodyPr wrap="square" lIns="0" tIns="0" rIns="0" bIns="0" rtlCol="0" anchor="ctr"/>
          <a:lstStyle/>
          <a:p>
            <a:pPr marL="0" indent="0">
              <a:buNone/>
            </a:pPr>
            <a:r>
              <a:rPr lang="en-US" sz="1800" dirty="0">
                <a:solidFill>
                  <a:srgbClr val="1F2937"/>
                </a:solidFill>
                <a:latin typeface="Aptos" pitchFamily="34" charset="0"/>
                <a:ea typeface="Aptos" pitchFamily="34" charset="-122"/>
                <a:cs typeface="Aptos" pitchFamily="34" charset="-120"/>
              </a:rPr>
              <a:t>Wearables and medical devices stream private physiological data all the time.</a:t>
            </a:r>
            <a:endParaRPr lang="en-US" sz="1800" dirty="0"/>
          </a:p>
        </p:txBody>
      </p:sp>
      <p:sp>
        <p:nvSpPr>
          <p:cNvPr id="12" name="Shape 10"/>
          <p:cNvSpPr/>
          <p:nvPr/>
        </p:nvSpPr>
        <p:spPr>
          <a:xfrm>
            <a:off x="4242816" y="1078992"/>
            <a:ext cx="3611880" cy="2880360"/>
          </a:xfrm>
          <a:prstGeom prst="roundRect">
            <a:avLst>
              <a:gd name="adj" fmla="val 3810"/>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13" name="Shape 11"/>
          <p:cNvSpPr/>
          <p:nvPr/>
        </p:nvSpPr>
        <p:spPr>
          <a:xfrm>
            <a:off x="4498848" y="1335024"/>
            <a:ext cx="384048" cy="310896"/>
          </a:xfrm>
          <a:prstGeom prst="roundRect">
            <a:avLst/>
          </a:prstGeom>
          <a:solidFill>
            <a:srgbClr val="14A36F"/>
          </a:solidFill>
          <a:ln w="12700">
            <a:solidFill>
              <a:srgbClr val="14A36F">
                <a:alpha val="0"/>
              </a:srgbClr>
            </a:solidFill>
            <a:prstDash val="solid"/>
          </a:ln>
        </p:spPr>
        <p:txBody>
          <a:bodyPr/>
          <a:lstStyle/>
          <a:p>
            <a:endParaRPr lang="en-US"/>
          </a:p>
        </p:txBody>
      </p:sp>
      <p:sp>
        <p:nvSpPr>
          <p:cNvPr id="14" name="Text 12"/>
          <p:cNvSpPr/>
          <p:nvPr/>
        </p:nvSpPr>
        <p:spPr>
          <a:xfrm>
            <a:off x="4498848" y="1399032"/>
            <a:ext cx="384048"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2</a:t>
            </a:r>
            <a:endParaRPr lang="en-US" sz="950" dirty="0"/>
          </a:p>
        </p:txBody>
      </p:sp>
      <p:sp>
        <p:nvSpPr>
          <p:cNvPr id="15" name="Text 13"/>
          <p:cNvSpPr/>
          <p:nvPr/>
        </p:nvSpPr>
        <p:spPr>
          <a:xfrm>
            <a:off x="4956048" y="1307592"/>
            <a:ext cx="2560320" cy="292608"/>
          </a:xfrm>
          <a:prstGeom prst="rect">
            <a:avLst/>
          </a:prstGeom>
          <a:noFill/>
          <a:ln/>
        </p:spPr>
        <p:txBody>
          <a:bodyPr wrap="square" lIns="0" tIns="0" rIns="0" bIns="0" rtlCol="0" anchor="ctr"/>
          <a:lstStyle/>
          <a:p>
            <a:pPr marL="0" indent="0">
              <a:buNone/>
            </a:pPr>
            <a:r>
              <a:rPr lang="en-US" sz="1800" b="1" dirty="0">
                <a:solidFill>
                  <a:srgbClr val="1F2937"/>
                </a:solidFill>
                <a:latin typeface="Aptos Display" pitchFamily="34" charset="0"/>
                <a:ea typeface="Aptos Display" pitchFamily="34" charset="-122"/>
                <a:cs typeface="Aptos Display" pitchFamily="34" charset="-120"/>
              </a:rPr>
              <a:t>Fast access in emergencies</a:t>
            </a:r>
            <a:endParaRPr lang="en-US" sz="1800" dirty="0"/>
          </a:p>
        </p:txBody>
      </p:sp>
      <p:sp>
        <p:nvSpPr>
          <p:cNvPr id="16" name="Text 14"/>
          <p:cNvSpPr/>
          <p:nvPr/>
        </p:nvSpPr>
        <p:spPr>
          <a:xfrm>
            <a:off x="4498848" y="1920240"/>
            <a:ext cx="3017520" cy="868680"/>
          </a:xfrm>
          <a:prstGeom prst="rect">
            <a:avLst/>
          </a:prstGeom>
          <a:noFill/>
          <a:ln/>
        </p:spPr>
        <p:txBody>
          <a:bodyPr wrap="square" lIns="0" tIns="0" rIns="0" bIns="0" rtlCol="0" anchor="ctr"/>
          <a:lstStyle/>
          <a:p>
            <a:pPr marL="0" indent="0">
              <a:buNone/>
            </a:pPr>
            <a:r>
              <a:rPr lang="en-US" sz="1800" dirty="0">
                <a:solidFill>
                  <a:srgbClr val="1F2937"/>
                </a:solidFill>
                <a:latin typeface="Aptos" pitchFamily="34" charset="0"/>
                <a:ea typeface="Aptos" pitchFamily="34" charset="-122"/>
                <a:cs typeface="Aptos" pitchFamily="34" charset="-120"/>
              </a:rPr>
              <a:t>Governance cannot slow down urgent care when clinicians need timely access.</a:t>
            </a:r>
            <a:endParaRPr lang="en-US" sz="1800" dirty="0"/>
          </a:p>
        </p:txBody>
      </p:sp>
      <p:sp>
        <p:nvSpPr>
          <p:cNvPr id="17" name="Shape 15"/>
          <p:cNvSpPr/>
          <p:nvPr/>
        </p:nvSpPr>
        <p:spPr>
          <a:xfrm>
            <a:off x="7891272" y="1078992"/>
            <a:ext cx="3611880" cy="2880360"/>
          </a:xfrm>
          <a:prstGeom prst="roundRect">
            <a:avLst>
              <a:gd name="adj" fmla="val 3810"/>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18" name="Shape 16"/>
          <p:cNvSpPr/>
          <p:nvPr/>
        </p:nvSpPr>
        <p:spPr>
          <a:xfrm>
            <a:off x="8147304" y="1335024"/>
            <a:ext cx="384048" cy="310896"/>
          </a:xfrm>
          <a:prstGeom prst="roundRect">
            <a:avLst/>
          </a:prstGeom>
          <a:solidFill>
            <a:srgbClr val="6A5ACD"/>
          </a:solidFill>
          <a:ln w="12700">
            <a:solidFill>
              <a:srgbClr val="6A5ACD">
                <a:alpha val="0"/>
              </a:srgbClr>
            </a:solidFill>
            <a:prstDash val="solid"/>
          </a:ln>
        </p:spPr>
        <p:txBody>
          <a:bodyPr/>
          <a:lstStyle/>
          <a:p>
            <a:endParaRPr lang="en-US"/>
          </a:p>
        </p:txBody>
      </p:sp>
      <p:sp>
        <p:nvSpPr>
          <p:cNvPr id="19" name="Text 17"/>
          <p:cNvSpPr/>
          <p:nvPr/>
        </p:nvSpPr>
        <p:spPr>
          <a:xfrm>
            <a:off x="8147304" y="1399032"/>
            <a:ext cx="384048"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3</a:t>
            </a:r>
            <a:endParaRPr lang="en-US" sz="950" dirty="0"/>
          </a:p>
        </p:txBody>
      </p:sp>
      <p:sp>
        <p:nvSpPr>
          <p:cNvPr id="20" name="Text 18"/>
          <p:cNvSpPr/>
          <p:nvPr/>
        </p:nvSpPr>
        <p:spPr>
          <a:xfrm>
            <a:off x="8604504" y="1307592"/>
            <a:ext cx="2560320" cy="292608"/>
          </a:xfrm>
          <a:prstGeom prst="rect">
            <a:avLst/>
          </a:prstGeom>
          <a:noFill/>
          <a:ln/>
        </p:spPr>
        <p:txBody>
          <a:bodyPr wrap="square" lIns="0" tIns="0" rIns="0" bIns="0" rtlCol="0" anchor="ctr"/>
          <a:lstStyle/>
          <a:p>
            <a:pPr marL="0" indent="0">
              <a:buNone/>
            </a:pPr>
            <a:r>
              <a:rPr lang="en-US" sz="1800" b="1" dirty="0">
                <a:solidFill>
                  <a:srgbClr val="1F2937"/>
                </a:solidFill>
                <a:latin typeface="Aptos Display" pitchFamily="34" charset="0"/>
                <a:ea typeface="Aptos Display" pitchFamily="34" charset="-122"/>
                <a:cs typeface="Aptos Display" pitchFamily="34" charset="-120"/>
              </a:rPr>
              <a:t>Accountability across organisations</a:t>
            </a:r>
            <a:endParaRPr lang="en-US" sz="1800" dirty="0"/>
          </a:p>
        </p:txBody>
      </p:sp>
      <p:sp>
        <p:nvSpPr>
          <p:cNvPr id="21" name="Text 19"/>
          <p:cNvSpPr/>
          <p:nvPr/>
        </p:nvSpPr>
        <p:spPr>
          <a:xfrm>
            <a:off x="8147304" y="1920240"/>
            <a:ext cx="3017520" cy="868680"/>
          </a:xfrm>
          <a:prstGeom prst="rect">
            <a:avLst/>
          </a:prstGeom>
          <a:noFill/>
          <a:ln/>
        </p:spPr>
        <p:txBody>
          <a:bodyPr wrap="square" lIns="0" tIns="0" rIns="0" bIns="0" rtlCol="0" anchor="ctr"/>
          <a:lstStyle/>
          <a:p>
            <a:pPr marL="0" indent="0">
              <a:buNone/>
            </a:pPr>
            <a:r>
              <a:rPr lang="en-US" sz="1800" dirty="0">
                <a:solidFill>
                  <a:srgbClr val="1F2937"/>
                </a:solidFill>
                <a:latin typeface="Aptos" pitchFamily="34" charset="0"/>
                <a:ea typeface="Aptos" pitchFamily="34" charset="-122"/>
                <a:cs typeface="Aptos" pitchFamily="34" charset="-120"/>
              </a:rPr>
              <a:t>We need a clear trail of consent, requests, grants, and the reason a policy was chosen.</a:t>
            </a:r>
            <a:endParaRPr lang="en-US" sz="1800" dirty="0"/>
          </a:p>
        </p:txBody>
      </p:sp>
      <p:sp>
        <p:nvSpPr>
          <p:cNvPr id="22" name="Shape 20"/>
          <p:cNvSpPr/>
          <p:nvPr/>
        </p:nvSpPr>
        <p:spPr>
          <a:xfrm>
            <a:off x="777240" y="4434840"/>
            <a:ext cx="10652760" cy="1234440"/>
          </a:xfrm>
          <a:prstGeom prst="roundRect">
            <a:avLst>
              <a:gd name="adj" fmla="val 8889"/>
            </a:avLst>
          </a:prstGeom>
          <a:solidFill>
            <a:srgbClr val="EEF6FF"/>
          </a:solidFill>
          <a:ln w="12700">
            <a:solidFill>
              <a:srgbClr val="CFE1F9"/>
            </a:solidFill>
            <a:prstDash val="solid"/>
          </a:ln>
          <a:effectLst>
            <a:outerShdw blurRad="12700" dist="19050" dir="2700000" algn="bl" rotWithShape="0">
              <a:srgbClr val="000000">
                <a:alpha val="12000"/>
              </a:srgbClr>
            </a:outerShdw>
          </a:effectLst>
        </p:spPr>
        <p:txBody>
          <a:bodyPr/>
          <a:lstStyle/>
          <a:p>
            <a:endParaRPr lang="en-US"/>
          </a:p>
        </p:txBody>
      </p:sp>
      <p:sp>
        <p:nvSpPr>
          <p:cNvPr id="23" name="Text 21"/>
          <p:cNvSpPr/>
          <p:nvPr/>
        </p:nvSpPr>
        <p:spPr>
          <a:xfrm>
            <a:off x="1024128" y="4681728"/>
            <a:ext cx="1051560" cy="201168"/>
          </a:xfrm>
          <a:prstGeom prst="rect">
            <a:avLst/>
          </a:prstGeom>
          <a:noFill/>
          <a:ln/>
        </p:spPr>
        <p:txBody>
          <a:bodyPr wrap="square" lIns="0" tIns="0" rIns="0" bIns="0" rtlCol="0" anchor="ctr"/>
          <a:lstStyle/>
          <a:p>
            <a:pPr marL="0" indent="0">
              <a:buNone/>
            </a:pPr>
            <a:r>
              <a:rPr lang="en-US" sz="1100" b="1" dirty="0">
                <a:solidFill>
                  <a:srgbClr val="2476D6"/>
                </a:solidFill>
                <a:latin typeface="Aptos" pitchFamily="34" charset="0"/>
                <a:ea typeface="Aptos" pitchFamily="34" charset="-122"/>
                <a:cs typeface="Aptos" pitchFamily="34" charset="-120"/>
              </a:rPr>
              <a:t>Core tension</a:t>
            </a:r>
            <a:endParaRPr lang="en-US" sz="1100" dirty="0"/>
          </a:p>
        </p:txBody>
      </p:sp>
      <p:sp>
        <p:nvSpPr>
          <p:cNvPr id="24" name="Text 22"/>
          <p:cNvSpPr/>
          <p:nvPr/>
        </p:nvSpPr>
        <p:spPr>
          <a:xfrm>
            <a:off x="1024128" y="4919472"/>
            <a:ext cx="9875520" cy="457200"/>
          </a:xfrm>
          <a:prstGeom prst="rect">
            <a:avLst/>
          </a:prstGeom>
          <a:noFill/>
          <a:ln/>
        </p:spPr>
        <p:txBody>
          <a:bodyPr wrap="square" lIns="0" tIns="0" rIns="0" bIns="0" rtlCol="0" anchor="ctr"/>
          <a:lstStyle/>
          <a:p>
            <a:pPr marL="0" indent="0">
              <a:buNone/>
            </a:pPr>
            <a:r>
              <a:rPr lang="en-US" sz="1900" b="1" dirty="0">
                <a:solidFill>
                  <a:srgbClr val="1F2937"/>
                </a:solidFill>
                <a:latin typeface="Aptos" pitchFamily="34" charset="0"/>
                <a:ea typeface="Aptos" pitchFamily="34" charset="-122"/>
                <a:cs typeface="Aptos" pitchFamily="34" charset="-120"/>
              </a:rPr>
              <a:t>We want privacy risk ↓, latency ↓, resource cost ↓, and robustness ↑ at the same time. In practice, improving one often hurts another.</a:t>
            </a:r>
            <a:endParaRPr lang="en-US" sz="1900" dirty="0"/>
          </a:p>
        </p:txBody>
      </p:sp>
      <p:sp>
        <p:nvSpPr>
          <p:cNvPr id="25" name="Text 23"/>
          <p:cNvSpPr/>
          <p:nvPr/>
        </p:nvSpPr>
        <p:spPr>
          <a:xfrm>
            <a:off x="11475720" y="6510528"/>
            <a:ext cx="228600" cy="146304"/>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alpha val="0"/>
              </a:srgbClr>
            </a:solidFill>
            <a:prstDash val="solid"/>
          </a:ln>
        </p:spPr>
        <p:txBody>
          <a:bodyPr/>
          <a:lstStyle/>
          <a:p>
            <a:endParaRPr lang="en-US"/>
          </a:p>
        </p:txBody>
      </p:sp>
      <p:sp>
        <p:nvSpPr>
          <p:cNvPr id="3" name="Shape 1"/>
          <p:cNvSpPr/>
          <p:nvPr/>
        </p:nvSpPr>
        <p:spPr>
          <a:xfrm>
            <a:off x="0" y="658368"/>
            <a:ext cx="12191695" cy="45720"/>
          </a:xfrm>
          <a:prstGeom prst="rect">
            <a:avLst/>
          </a:prstGeom>
          <a:solidFill>
            <a:srgbClr val="14A36F"/>
          </a:solidFill>
          <a:ln w="12700">
            <a:solidFill>
              <a:srgbClr val="14A36F">
                <a:alpha val="0"/>
              </a:srgbClr>
            </a:solidFill>
            <a:prstDash val="solid"/>
          </a:ln>
        </p:spPr>
        <p:txBody>
          <a:bodyPr/>
          <a:lstStyle/>
          <a:p>
            <a:endParaRPr lang="en-US"/>
          </a:p>
        </p:txBody>
      </p:sp>
      <p:sp>
        <p:nvSpPr>
          <p:cNvPr id="4" name="Text 2"/>
          <p:cNvSpPr/>
          <p:nvPr/>
        </p:nvSpPr>
        <p:spPr>
          <a:xfrm>
            <a:off x="502920" y="155448"/>
            <a:ext cx="9052560" cy="274320"/>
          </a:xfrm>
          <a:prstGeom prst="rect">
            <a:avLst/>
          </a:prstGeom>
          <a:noFill/>
          <a:ln/>
        </p:spPr>
        <p:txBody>
          <a:bodyPr wrap="square" lIns="0" tIns="0" rIns="0" bIns="0" rtlCol="0" anchor="ctr"/>
          <a:lstStyle/>
          <a:p>
            <a:pPr marL="0" indent="0">
              <a:buNone/>
            </a:pPr>
            <a:r>
              <a:rPr lang="en-US" sz="2300" b="1" dirty="0">
                <a:solidFill>
                  <a:srgbClr val="FFFFFF"/>
                </a:solidFill>
                <a:latin typeface="Aptos Display" pitchFamily="34" charset="0"/>
                <a:ea typeface="Aptos Display" pitchFamily="34" charset="-122"/>
                <a:cs typeface="Aptos Display" pitchFamily="34" charset="-120"/>
              </a:rPr>
              <a:t>Main idea: separate decision intelligence from blockchain audit</a:t>
            </a:r>
            <a:endParaRPr lang="en-US" sz="2300" dirty="0"/>
          </a:p>
        </p:txBody>
      </p:sp>
      <p:sp>
        <p:nvSpPr>
          <p:cNvPr id="5" name="Text 3"/>
          <p:cNvSpPr/>
          <p:nvPr/>
        </p:nvSpPr>
        <p:spPr>
          <a:xfrm>
            <a:off x="9829800" y="164592"/>
            <a:ext cx="1783080" cy="256032"/>
          </a:xfrm>
          <a:prstGeom prst="rect">
            <a:avLst/>
          </a:prstGeom>
          <a:noFill/>
          <a:ln/>
        </p:spPr>
        <p:txBody>
          <a:bodyPr wrap="square" lIns="0" tIns="0" rIns="0" bIns="0" rtlCol="0" anchor="ctr"/>
          <a:lstStyle/>
          <a:p>
            <a:pPr marL="0" indent="0" algn="r">
              <a:buNone/>
            </a:pPr>
            <a:r>
              <a:rPr lang="en-US" sz="950" dirty="0">
                <a:solidFill>
                  <a:srgbClr val="D8E2EE"/>
                </a:solidFill>
                <a:latin typeface="Aptos" pitchFamily="34" charset="0"/>
                <a:ea typeface="Aptos" pitchFamily="34" charset="-122"/>
                <a:cs typeface="Aptos" pitchFamily="34" charset="-120"/>
              </a:rPr>
              <a:t>Architecture</a:t>
            </a:r>
            <a:endParaRPr lang="en-US" sz="950" dirty="0"/>
          </a:p>
        </p:txBody>
      </p:sp>
      <p:sp>
        <p:nvSpPr>
          <p:cNvPr id="6" name="Text 4"/>
          <p:cNvSpPr/>
          <p:nvPr/>
        </p:nvSpPr>
        <p:spPr>
          <a:xfrm>
            <a:off x="502920" y="6556248"/>
            <a:ext cx="3291840" cy="146304"/>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FiB-MOBA-EAFG • Health IoT governance</a:t>
            </a:r>
            <a:endParaRPr lang="en-US" sz="850" dirty="0"/>
          </a:p>
        </p:txBody>
      </p:sp>
      <p:sp>
        <p:nvSpPr>
          <p:cNvPr id="7" name="Shape 5"/>
          <p:cNvSpPr/>
          <p:nvPr/>
        </p:nvSpPr>
        <p:spPr>
          <a:xfrm>
            <a:off x="475488" y="914400"/>
            <a:ext cx="7452360" cy="5440680"/>
          </a:xfrm>
          <a:prstGeom prst="roundRect">
            <a:avLst>
              <a:gd name="adj" fmla="val 2017"/>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pic>
        <p:nvPicPr>
          <p:cNvPr id="8" name="Image 0" descr="/mnt/data/0077cfb6-0409-4757-b762-90b411fd3f65.png"/>
          <p:cNvPicPr>
            <a:picLocks noChangeAspect="1"/>
          </p:cNvPicPr>
          <p:nvPr/>
        </p:nvPicPr>
        <p:blipFill>
          <a:blip r:embed="rId3"/>
          <a:stretch>
            <a:fillRect/>
          </a:stretch>
        </p:blipFill>
        <p:spPr>
          <a:xfrm>
            <a:off x="658368" y="1811248"/>
            <a:ext cx="7086600" cy="3610408"/>
          </a:xfrm>
          <a:prstGeom prst="rect">
            <a:avLst/>
          </a:prstGeom>
        </p:spPr>
      </p:pic>
      <p:sp>
        <p:nvSpPr>
          <p:cNvPr id="9" name="Shape 6"/>
          <p:cNvSpPr/>
          <p:nvPr/>
        </p:nvSpPr>
        <p:spPr>
          <a:xfrm>
            <a:off x="8183880" y="1051560"/>
            <a:ext cx="3520440" cy="1207008"/>
          </a:xfrm>
          <a:prstGeom prst="roundRect">
            <a:avLst>
              <a:gd name="adj" fmla="val 9091"/>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10" name="Shape 7"/>
          <p:cNvSpPr/>
          <p:nvPr/>
        </p:nvSpPr>
        <p:spPr>
          <a:xfrm>
            <a:off x="8394192" y="1234440"/>
            <a:ext cx="841248" cy="310896"/>
          </a:xfrm>
          <a:prstGeom prst="roundRect">
            <a:avLst/>
          </a:prstGeom>
          <a:solidFill>
            <a:srgbClr val="2476D6"/>
          </a:solidFill>
          <a:ln w="12700">
            <a:solidFill>
              <a:srgbClr val="2476D6">
                <a:alpha val="0"/>
              </a:srgbClr>
            </a:solidFill>
            <a:prstDash val="solid"/>
          </a:ln>
        </p:spPr>
        <p:txBody>
          <a:bodyPr/>
          <a:lstStyle/>
          <a:p>
            <a:endParaRPr lang="en-US"/>
          </a:p>
        </p:txBody>
      </p:sp>
      <p:sp>
        <p:nvSpPr>
          <p:cNvPr id="11" name="Text 8"/>
          <p:cNvSpPr/>
          <p:nvPr/>
        </p:nvSpPr>
        <p:spPr>
          <a:xfrm>
            <a:off x="8394192" y="1298448"/>
            <a:ext cx="841248"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Layer 1</a:t>
            </a:r>
            <a:endParaRPr lang="en-US" sz="950" dirty="0"/>
          </a:p>
        </p:txBody>
      </p:sp>
      <p:sp>
        <p:nvSpPr>
          <p:cNvPr id="12" name="Text 9"/>
          <p:cNvSpPr/>
          <p:nvPr/>
        </p:nvSpPr>
        <p:spPr>
          <a:xfrm>
            <a:off x="8394192" y="1609344"/>
            <a:ext cx="2926080" cy="502920"/>
          </a:xfrm>
          <a:prstGeom prst="rect">
            <a:avLst/>
          </a:prstGeom>
          <a:noFill/>
          <a:ln/>
        </p:spPr>
        <p:txBody>
          <a:bodyPr wrap="square" lIns="0" tIns="0" rIns="0" bIns="0" rtlCol="0" anchor="ctr"/>
          <a:lstStyle/>
          <a:p>
            <a:pPr marL="0" indent="0">
              <a:buNone/>
            </a:pPr>
            <a:r>
              <a:rPr lang="en-US" sz="1460" dirty="0">
                <a:solidFill>
                  <a:srgbClr val="1F2937"/>
                </a:solidFill>
                <a:latin typeface="Aptos" pitchFamily="34" charset="0"/>
                <a:ea typeface="Aptos" pitchFamily="34" charset="-122"/>
                <a:cs typeface="Aptos" pitchFamily="34" charset="-120"/>
              </a:rPr>
              <a:t>Edge devices collect health data and observe operating context such as network quality and threat level.</a:t>
            </a:r>
            <a:endParaRPr lang="en-US" sz="1460" dirty="0"/>
          </a:p>
        </p:txBody>
      </p:sp>
      <p:sp>
        <p:nvSpPr>
          <p:cNvPr id="13" name="Shape 10"/>
          <p:cNvSpPr/>
          <p:nvPr/>
        </p:nvSpPr>
        <p:spPr>
          <a:xfrm>
            <a:off x="8183880" y="2514600"/>
            <a:ext cx="3520440" cy="1444752"/>
          </a:xfrm>
          <a:prstGeom prst="roundRect">
            <a:avLst>
              <a:gd name="adj" fmla="val 7595"/>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14" name="Shape 11"/>
          <p:cNvSpPr/>
          <p:nvPr/>
        </p:nvSpPr>
        <p:spPr>
          <a:xfrm>
            <a:off x="8394192" y="2697480"/>
            <a:ext cx="841248" cy="310896"/>
          </a:xfrm>
          <a:prstGeom prst="roundRect">
            <a:avLst/>
          </a:prstGeom>
          <a:solidFill>
            <a:srgbClr val="14A36F"/>
          </a:solidFill>
          <a:ln w="12700">
            <a:solidFill>
              <a:srgbClr val="14A36F">
                <a:alpha val="0"/>
              </a:srgbClr>
            </a:solidFill>
            <a:prstDash val="solid"/>
          </a:ln>
        </p:spPr>
        <p:txBody>
          <a:bodyPr/>
          <a:lstStyle/>
          <a:p>
            <a:endParaRPr lang="en-US"/>
          </a:p>
        </p:txBody>
      </p:sp>
      <p:sp>
        <p:nvSpPr>
          <p:cNvPr id="15" name="Text 12"/>
          <p:cNvSpPr/>
          <p:nvPr/>
        </p:nvSpPr>
        <p:spPr>
          <a:xfrm>
            <a:off x="8394192" y="2761488"/>
            <a:ext cx="841248"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Layer 2</a:t>
            </a:r>
            <a:endParaRPr lang="en-US" sz="950" dirty="0"/>
          </a:p>
        </p:txBody>
      </p:sp>
      <p:sp>
        <p:nvSpPr>
          <p:cNvPr id="16" name="Text 13"/>
          <p:cNvSpPr/>
          <p:nvPr/>
        </p:nvSpPr>
        <p:spPr>
          <a:xfrm>
            <a:off x="8394192" y="3063240"/>
            <a:ext cx="2926080" cy="685800"/>
          </a:xfrm>
          <a:prstGeom prst="rect">
            <a:avLst/>
          </a:prstGeom>
          <a:noFill/>
          <a:ln/>
        </p:spPr>
        <p:txBody>
          <a:bodyPr wrap="square" lIns="0" tIns="0" rIns="0" bIns="0" rtlCol="0" anchor="ctr"/>
          <a:lstStyle/>
          <a:p>
            <a:pPr marL="0" indent="0">
              <a:buNone/>
            </a:pPr>
            <a:r>
              <a:rPr lang="en-US" sz="1430" dirty="0">
                <a:solidFill>
                  <a:srgbClr val="1F2937"/>
                </a:solidFill>
                <a:latin typeface="Aptos" pitchFamily="34" charset="0"/>
                <a:ea typeface="Aptos" pitchFamily="34" charset="-122"/>
                <a:cs typeface="Aptos" pitchFamily="34" charset="-120"/>
              </a:rPr>
              <a:t>An off-chain engine decides the policy using fuzzy context, Pareto search, a safety guard, and bargaining-based selection.</a:t>
            </a:r>
            <a:endParaRPr lang="en-US" sz="1430" dirty="0"/>
          </a:p>
        </p:txBody>
      </p:sp>
      <p:sp>
        <p:nvSpPr>
          <p:cNvPr id="17" name="Shape 14"/>
          <p:cNvSpPr/>
          <p:nvPr/>
        </p:nvSpPr>
        <p:spPr>
          <a:xfrm>
            <a:off x="8183880" y="4251960"/>
            <a:ext cx="3520440" cy="1143000"/>
          </a:xfrm>
          <a:prstGeom prst="roundRect">
            <a:avLst>
              <a:gd name="adj" fmla="val 9600"/>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18" name="Shape 15"/>
          <p:cNvSpPr/>
          <p:nvPr/>
        </p:nvSpPr>
        <p:spPr>
          <a:xfrm>
            <a:off x="8394192" y="4434840"/>
            <a:ext cx="841248" cy="310896"/>
          </a:xfrm>
          <a:prstGeom prst="roundRect">
            <a:avLst/>
          </a:prstGeom>
          <a:solidFill>
            <a:srgbClr val="6A5ACD"/>
          </a:solidFill>
          <a:ln w="12700">
            <a:solidFill>
              <a:srgbClr val="6A5ACD">
                <a:alpha val="0"/>
              </a:srgbClr>
            </a:solidFill>
            <a:prstDash val="solid"/>
          </a:ln>
        </p:spPr>
        <p:txBody>
          <a:bodyPr/>
          <a:lstStyle/>
          <a:p>
            <a:endParaRPr lang="en-US"/>
          </a:p>
        </p:txBody>
      </p:sp>
      <p:sp>
        <p:nvSpPr>
          <p:cNvPr id="19" name="Text 16"/>
          <p:cNvSpPr/>
          <p:nvPr/>
        </p:nvSpPr>
        <p:spPr>
          <a:xfrm>
            <a:off x="8394192" y="4498848"/>
            <a:ext cx="841248"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Layer 3</a:t>
            </a:r>
            <a:endParaRPr lang="en-US" sz="950" dirty="0"/>
          </a:p>
        </p:txBody>
      </p:sp>
      <p:sp>
        <p:nvSpPr>
          <p:cNvPr id="20" name="Text 17"/>
          <p:cNvSpPr/>
          <p:nvPr/>
        </p:nvSpPr>
        <p:spPr>
          <a:xfrm>
            <a:off x="8394192" y="4800600"/>
            <a:ext cx="2926080" cy="384048"/>
          </a:xfrm>
          <a:prstGeom prst="rect">
            <a:avLst/>
          </a:prstGeom>
          <a:noFill/>
          <a:ln/>
        </p:spPr>
        <p:txBody>
          <a:bodyPr wrap="square" lIns="0" tIns="0" rIns="0" bIns="0" rtlCol="0" anchor="ctr"/>
          <a:lstStyle/>
          <a:p>
            <a:pPr marL="0" indent="0">
              <a:buNone/>
            </a:pPr>
            <a:r>
              <a:rPr lang="en-US" sz="1450" dirty="0">
                <a:solidFill>
                  <a:srgbClr val="1F2937"/>
                </a:solidFill>
                <a:latin typeface="Aptos" pitchFamily="34" charset="0"/>
                <a:ea typeface="Aptos" pitchFamily="34" charset="-122"/>
                <a:cs typeface="Aptos" pitchFamily="34" charset="-120"/>
              </a:rPr>
              <a:t>Blockchain logs consent, access events, and hashes of the policy and decision trace.</a:t>
            </a:r>
            <a:endParaRPr lang="en-US" sz="1450" dirty="0"/>
          </a:p>
        </p:txBody>
      </p:sp>
      <p:sp>
        <p:nvSpPr>
          <p:cNvPr id="21" name="Shape 18"/>
          <p:cNvSpPr/>
          <p:nvPr/>
        </p:nvSpPr>
        <p:spPr>
          <a:xfrm>
            <a:off x="8183880" y="5577840"/>
            <a:ext cx="3520440" cy="594360"/>
          </a:xfrm>
          <a:prstGeom prst="roundRect">
            <a:avLst>
              <a:gd name="adj" fmla="val 18462"/>
            </a:avLst>
          </a:prstGeom>
          <a:solidFill>
            <a:srgbClr val="E9F7F1"/>
          </a:solidFill>
          <a:ln w="12700">
            <a:solidFill>
              <a:srgbClr val="B9E4D1"/>
            </a:solidFill>
            <a:prstDash val="solid"/>
          </a:ln>
          <a:effectLst>
            <a:outerShdw blurRad="12700" dist="19050" dir="2700000" algn="bl" rotWithShape="0">
              <a:srgbClr val="000000">
                <a:alpha val="12000"/>
              </a:srgbClr>
            </a:outerShdw>
          </a:effectLst>
        </p:spPr>
        <p:txBody>
          <a:bodyPr/>
          <a:lstStyle/>
          <a:p>
            <a:endParaRPr lang="en-US"/>
          </a:p>
        </p:txBody>
      </p:sp>
      <p:sp>
        <p:nvSpPr>
          <p:cNvPr id="22" name="Text 19"/>
          <p:cNvSpPr/>
          <p:nvPr/>
        </p:nvSpPr>
        <p:spPr>
          <a:xfrm>
            <a:off x="8394192" y="5751576"/>
            <a:ext cx="3017520" cy="164592"/>
          </a:xfrm>
          <a:prstGeom prst="rect">
            <a:avLst/>
          </a:prstGeom>
          <a:noFill/>
          <a:ln/>
        </p:spPr>
        <p:txBody>
          <a:bodyPr wrap="square" lIns="0" tIns="0" rIns="0" bIns="0" rtlCol="0" anchor="ctr"/>
          <a:lstStyle/>
          <a:p>
            <a:pPr marL="0" indent="0">
              <a:buNone/>
            </a:pPr>
            <a:r>
              <a:rPr lang="en-US" sz="1380" b="1" dirty="0">
                <a:solidFill>
                  <a:srgbClr val="14A36F"/>
                </a:solidFill>
                <a:latin typeface="Aptos" pitchFamily="34" charset="0"/>
                <a:ea typeface="Aptos" pitchFamily="34" charset="-122"/>
                <a:cs typeface="Aptos" pitchFamily="34" charset="-120"/>
              </a:rPr>
              <a:t>Key message: raw health data stay off-chain.</a:t>
            </a:r>
            <a:endParaRPr lang="en-US" sz="1380" dirty="0"/>
          </a:p>
        </p:txBody>
      </p:sp>
      <p:sp>
        <p:nvSpPr>
          <p:cNvPr id="23" name="Text 20"/>
          <p:cNvSpPr/>
          <p:nvPr/>
        </p:nvSpPr>
        <p:spPr>
          <a:xfrm>
            <a:off x="11475720" y="6510528"/>
            <a:ext cx="228600" cy="146304"/>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alpha val="0"/>
              </a:srgbClr>
            </a:solidFill>
            <a:prstDash val="solid"/>
          </a:ln>
        </p:spPr>
        <p:txBody>
          <a:bodyPr/>
          <a:lstStyle/>
          <a:p>
            <a:endParaRPr lang="en-US"/>
          </a:p>
        </p:txBody>
      </p:sp>
      <p:sp>
        <p:nvSpPr>
          <p:cNvPr id="3" name="Shape 1"/>
          <p:cNvSpPr/>
          <p:nvPr/>
        </p:nvSpPr>
        <p:spPr>
          <a:xfrm>
            <a:off x="0" y="658368"/>
            <a:ext cx="12191695" cy="45720"/>
          </a:xfrm>
          <a:prstGeom prst="rect">
            <a:avLst/>
          </a:prstGeom>
          <a:solidFill>
            <a:srgbClr val="14A36F"/>
          </a:solidFill>
          <a:ln w="12700">
            <a:solidFill>
              <a:srgbClr val="14A36F">
                <a:alpha val="0"/>
              </a:srgbClr>
            </a:solidFill>
            <a:prstDash val="solid"/>
          </a:ln>
        </p:spPr>
        <p:txBody>
          <a:bodyPr/>
          <a:lstStyle/>
          <a:p>
            <a:endParaRPr lang="en-US"/>
          </a:p>
        </p:txBody>
      </p:sp>
      <p:sp>
        <p:nvSpPr>
          <p:cNvPr id="4" name="Text 2"/>
          <p:cNvSpPr/>
          <p:nvPr/>
        </p:nvSpPr>
        <p:spPr>
          <a:xfrm>
            <a:off x="502920" y="155448"/>
            <a:ext cx="9052560" cy="274320"/>
          </a:xfrm>
          <a:prstGeom prst="rect">
            <a:avLst/>
          </a:prstGeom>
          <a:noFill/>
          <a:ln/>
        </p:spPr>
        <p:txBody>
          <a:bodyPr wrap="square" lIns="0" tIns="0" rIns="0" bIns="0" rtlCol="0" anchor="ctr"/>
          <a:lstStyle/>
          <a:p>
            <a:pPr marL="0" indent="0">
              <a:buNone/>
            </a:pPr>
            <a:r>
              <a:rPr lang="en-US" sz="2300" b="1" dirty="0">
                <a:solidFill>
                  <a:srgbClr val="FFFFFF"/>
                </a:solidFill>
                <a:latin typeface="Aptos Display" pitchFamily="34" charset="0"/>
                <a:ea typeface="Aptos Display" pitchFamily="34" charset="-122"/>
                <a:cs typeface="Aptos Display" pitchFamily="34" charset="-120"/>
              </a:rPr>
              <a:t>How I did it</a:t>
            </a:r>
            <a:endParaRPr lang="en-US" sz="2300" dirty="0"/>
          </a:p>
        </p:txBody>
      </p:sp>
      <p:sp>
        <p:nvSpPr>
          <p:cNvPr id="5" name="Text 3"/>
          <p:cNvSpPr/>
          <p:nvPr/>
        </p:nvSpPr>
        <p:spPr>
          <a:xfrm>
            <a:off x="9829800" y="164592"/>
            <a:ext cx="1783080" cy="256032"/>
          </a:xfrm>
          <a:prstGeom prst="rect">
            <a:avLst/>
          </a:prstGeom>
          <a:noFill/>
          <a:ln/>
        </p:spPr>
        <p:txBody>
          <a:bodyPr wrap="square" lIns="0" tIns="0" rIns="0" bIns="0" rtlCol="0" anchor="ctr"/>
          <a:lstStyle/>
          <a:p>
            <a:pPr marL="0" indent="0" algn="r">
              <a:buNone/>
            </a:pPr>
            <a:r>
              <a:rPr lang="en-US" sz="950" dirty="0">
                <a:solidFill>
                  <a:srgbClr val="D8E2EE"/>
                </a:solidFill>
                <a:latin typeface="Aptos" pitchFamily="34" charset="0"/>
                <a:ea typeface="Aptos" pitchFamily="34" charset="-122"/>
                <a:cs typeface="Aptos" pitchFamily="34" charset="-120"/>
              </a:rPr>
              <a:t>Method</a:t>
            </a:r>
            <a:endParaRPr lang="en-US" sz="950" dirty="0"/>
          </a:p>
        </p:txBody>
      </p:sp>
      <p:sp>
        <p:nvSpPr>
          <p:cNvPr id="6" name="Text 4"/>
          <p:cNvSpPr/>
          <p:nvPr/>
        </p:nvSpPr>
        <p:spPr>
          <a:xfrm>
            <a:off x="502920" y="6556248"/>
            <a:ext cx="3291840" cy="146304"/>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FiB-MOBA-EAFG • Health IoT governance</a:t>
            </a:r>
            <a:endParaRPr lang="en-US" sz="850" dirty="0"/>
          </a:p>
        </p:txBody>
      </p:sp>
      <p:sp>
        <p:nvSpPr>
          <p:cNvPr id="7" name="Shape 5"/>
          <p:cNvSpPr/>
          <p:nvPr/>
        </p:nvSpPr>
        <p:spPr>
          <a:xfrm>
            <a:off x="502920" y="1874520"/>
            <a:ext cx="1828800" cy="2331720"/>
          </a:xfrm>
          <a:prstGeom prst="roundRect">
            <a:avLst>
              <a:gd name="adj" fmla="val 6000"/>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8" name="Shape 6"/>
          <p:cNvSpPr/>
          <p:nvPr/>
        </p:nvSpPr>
        <p:spPr>
          <a:xfrm>
            <a:off x="612648" y="2057400"/>
            <a:ext cx="1609344" cy="310896"/>
          </a:xfrm>
          <a:prstGeom prst="roundRect">
            <a:avLst/>
          </a:prstGeom>
          <a:solidFill>
            <a:srgbClr val="2476D6"/>
          </a:solidFill>
          <a:ln w="12700">
            <a:solidFill>
              <a:srgbClr val="2476D6">
                <a:alpha val="0"/>
              </a:srgbClr>
            </a:solidFill>
            <a:prstDash val="solid"/>
          </a:ln>
        </p:spPr>
        <p:txBody>
          <a:bodyPr/>
          <a:lstStyle/>
          <a:p>
            <a:endParaRPr lang="en-US"/>
          </a:p>
        </p:txBody>
      </p:sp>
      <p:sp>
        <p:nvSpPr>
          <p:cNvPr id="9" name="Text 7"/>
          <p:cNvSpPr/>
          <p:nvPr/>
        </p:nvSpPr>
        <p:spPr>
          <a:xfrm>
            <a:off x="612648" y="2121408"/>
            <a:ext cx="1609344"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1. Sense the context</a:t>
            </a:r>
            <a:endParaRPr lang="en-US" sz="950" dirty="0"/>
          </a:p>
        </p:txBody>
      </p:sp>
      <p:sp>
        <p:nvSpPr>
          <p:cNvPr id="10" name="Text 8"/>
          <p:cNvSpPr/>
          <p:nvPr/>
        </p:nvSpPr>
        <p:spPr>
          <a:xfrm>
            <a:off x="640080" y="2743200"/>
            <a:ext cx="1572768" cy="960120"/>
          </a:xfrm>
          <a:prstGeom prst="rect">
            <a:avLst/>
          </a:prstGeom>
          <a:noFill/>
          <a:ln/>
        </p:spPr>
        <p:txBody>
          <a:bodyPr wrap="square" lIns="0" tIns="0" rIns="0" bIns="0" rtlCol="0" anchor="ctr"/>
          <a:lstStyle/>
          <a:p>
            <a:pPr marL="0" indent="0" algn="l">
              <a:buNone/>
            </a:pPr>
            <a:r>
              <a:rPr lang="en-US" sz="1520" dirty="0">
                <a:solidFill>
                  <a:srgbClr val="1F2937"/>
                </a:solidFill>
                <a:latin typeface="Aptos" pitchFamily="34" charset="0"/>
                <a:ea typeface="Aptos" pitchFamily="34" charset="-122"/>
                <a:cs typeface="Aptos" pitchFamily="34" charset="-120"/>
              </a:rPr>
              <a:t>Inputs: data sensitivity, urgency, trust, network quality</a:t>
            </a:r>
            <a:endParaRPr lang="en-US" sz="1520" dirty="0"/>
          </a:p>
        </p:txBody>
      </p:sp>
      <p:sp>
        <p:nvSpPr>
          <p:cNvPr id="11" name="Shape 9"/>
          <p:cNvSpPr/>
          <p:nvPr/>
        </p:nvSpPr>
        <p:spPr>
          <a:xfrm>
            <a:off x="2468880" y="2724912"/>
            <a:ext cx="201168" cy="438912"/>
          </a:xfrm>
          <a:prstGeom prst="chevron">
            <a:avLst/>
          </a:prstGeom>
          <a:solidFill>
            <a:srgbClr val="D8E2EE"/>
          </a:solidFill>
          <a:ln w="12700">
            <a:solidFill>
              <a:srgbClr val="D8E2EE"/>
            </a:solidFill>
            <a:prstDash val="solid"/>
          </a:ln>
        </p:spPr>
        <p:txBody>
          <a:bodyPr/>
          <a:lstStyle/>
          <a:p>
            <a:endParaRPr lang="en-US"/>
          </a:p>
        </p:txBody>
      </p:sp>
      <p:sp>
        <p:nvSpPr>
          <p:cNvPr id="12" name="Shape 10"/>
          <p:cNvSpPr/>
          <p:nvPr/>
        </p:nvSpPr>
        <p:spPr>
          <a:xfrm>
            <a:off x="2880360" y="1874520"/>
            <a:ext cx="1828800" cy="2331720"/>
          </a:xfrm>
          <a:prstGeom prst="roundRect">
            <a:avLst>
              <a:gd name="adj" fmla="val 6000"/>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13" name="Shape 11"/>
          <p:cNvSpPr/>
          <p:nvPr/>
        </p:nvSpPr>
        <p:spPr>
          <a:xfrm>
            <a:off x="2990088" y="2057400"/>
            <a:ext cx="1609344" cy="310896"/>
          </a:xfrm>
          <a:prstGeom prst="roundRect">
            <a:avLst/>
          </a:prstGeom>
          <a:solidFill>
            <a:srgbClr val="3AA4D8"/>
          </a:solidFill>
          <a:ln w="12700">
            <a:solidFill>
              <a:srgbClr val="3AA4D8">
                <a:alpha val="0"/>
              </a:srgbClr>
            </a:solidFill>
            <a:prstDash val="solid"/>
          </a:ln>
        </p:spPr>
        <p:txBody>
          <a:bodyPr/>
          <a:lstStyle/>
          <a:p>
            <a:endParaRPr lang="en-US"/>
          </a:p>
        </p:txBody>
      </p:sp>
      <p:sp>
        <p:nvSpPr>
          <p:cNvPr id="14" name="Text 12"/>
          <p:cNvSpPr/>
          <p:nvPr/>
        </p:nvSpPr>
        <p:spPr>
          <a:xfrm>
            <a:off x="2990088" y="2121408"/>
            <a:ext cx="1609344"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2. Generate many policy options</a:t>
            </a:r>
            <a:endParaRPr lang="en-US" sz="950" dirty="0"/>
          </a:p>
        </p:txBody>
      </p:sp>
      <p:sp>
        <p:nvSpPr>
          <p:cNvPr id="15" name="Text 13"/>
          <p:cNvSpPr/>
          <p:nvPr/>
        </p:nvSpPr>
        <p:spPr>
          <a:xfrm>
            <a:off x="3017520" y="2743200"/>
            <a:ext cx="1572768" cy="960120"/>
          </a:xfrm>
          <a:prstGeom prst="rect">
            <a:avLst/>
          </a:prstGeom>
          <a:noFill/>
          <a:ln/>
        </p:spPr>
        <p:txBody>
          <a:bodyPr wrap="square" lIns="0" tIns="0" rIns="0" bIns="0" rtlCol="0" anchor="ctr"/>
          <a:lstStyle/>
          <a:p>
            <a:pPr marL="0" indent="0" algn="l">
              <a:buNone/>
            </a:pPr>
            <a:r>
              <a:rPr lang="en-US" sz="1520" dirty="0">
                <a:solidFill>
                  <a:srgbClr val="1F2937"/>
                </a:solidFill>
                <a:latin typeface="Aptos" pitchFamily="34" charset="0"/>
                <a:ea typeface="Aptos" pitchFamily="34" charset="-122"/>
                <a:cs typeface="Aptos" pitchFamily="34" charset="-120"/>
              </a:rPr>
              <a:t>Pareto-based multi-objective search explores trade-offs</a:t>
            </a:r>
            <a:endParaRPr lang="en-US" sz="1520" dirty="0"/>
          </a:p>
        </p:txBody>
      </p:sp>
      <p:sp>
        <p:nvSpPr>
          <p:cNvPr id="16" name="Shape 14"/>
          <p:cNvSpPr/>
          <p:nvPr/>
        </p:nvSpPr>
        <p:spPr>
          <a:xfrm>
            <a:off x="4846320" y="2724912"/>
            <a:ext cx="201168" cy="438912"/>
          </a:xfrm>
          <a:prstGeom prst="chevron">
            <a:avLst/>
          </a:prstGeom>
          <a:solidFill>
            <a:srgbClr val="D8E2EE"/>
          </a:solidFill>
          <a:ln w="12700">
            <a:solidFill>
              <a:srgbClr val="D8E2EE"/>
            </a:solidFill>
            <a:prstDash val="solid"/>
          </a:ln>
        </p:spPr>
        <p:txBody>
          <a:bodyPr/>
          <a:lstStyle/>
          <a:p>
            <a:endParaRPr lang="en-US"/>
          </a:p>
        </p:txBody>
      </p:sp>
      <p:sp>
        <p:nvSpPr>
          <p:cNvPr id="17" name="Shape 15"/>
          <p:cNvSpPr/>
          <p:nvPr/>
        </p:nvSpPr>
        <p:spPr>
          <a:xfrm>
            <a:off x="5257800" y="1874520"/>
            <a:ext cx="1828800" cy="2331720"/>
          </a:xfrm>
          <a:prstGeom prst="roundRect">
            <a:avLst>
              <a:gd name="adj" fmla="val 6000"/>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18" name="Shape 16"/>
          <p:cNvSpPr/>
          <p:nvPr/>
        </p:nvSpPr>
        <p:spPr>
          <a:xfrm>
            <a:off x="5367528" y="2057400"/>
            <a:ext cx="1609344" cy="310896"/>
          </a:xfrm>
          <a:prstGeom prst="roundRect">
            <a:avLst/>
          </a:prstGeom>
          <a:solidFill>
            <a:srgbClr val="14A36F"/>
          </a:solidFill>
          <a:ln w="12700">
            <a:solidFill>
              <a:srgbClr val="14A36F">
                <a:alpha val="0"/>
              </a:srgbClr>
            </a:solidFill>
            <a:prstDash val="solid"/>
          </a:ln>
        </p:spPr>
        <p:txBody>
          <a:bodyPr/>
          <a:lstStyle/>
          <a:p>
            <a:endParaRPr lang="en-US"/>
          </a:p>
        </p:txBody>
      </p:sp>
      <p:sp>
        <p:nvSpPr>
          <p:cNvPr id="19" name="Text 17"/>
          <p:cNvSpPr/>
          <p:nvPr/>
        </p:nvSpPr>
        <p:spPr>
          <a:xfrm>
            <a:off x="5367528" y="2121408"/>
            <a:ext cx="1609344"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3. Remove unsafe options</a:t>
            </a:r>
            <a:endParaRPr lang="en-US" sz="950" dirty="0"/>
          </a:p>
        </p:txBody>
      </p:sp>
      <p:sp>
        <p:nvSpPr>
          <p:cNvPr id="20" name="Text 18"/>
          <p:cNvSpPr/>
          <p:nvPr/>
        </p:nvSpPr>
        <p:spPr>
          <a:xfrm>
            <a:off x="5394960" y="2743200"/>
            <a:ext cx="1572768" cy="960120"/>
          </a:xfrm>
          <a:prstGeom prst="rect">
            <a:avLst/>
          </a:prstGeom>
          <a:noFill/>
          <a:ln/>
        </p:spPr>
        <p:txBody>
          <a:bodyPr wrap="square" lIns="0" tIns="0" rIns="0" bIns="0" rtlCol="0" anchor="ctr"/>
          <a:lstStyle/>
          <a:p>
            <a:pPr marL="0" indent="0" algn="l">
              <a:buNone/>
            </a:pPr>
            <a:r>
              <a:rPr lang="en-US" sz="1520" dirty="0">
                <a:solidFill>
                  <a:srgbClr val="1F2937"/>
                </a:solidFill>
                <a:latin typeface="Aptos" pitchFamily="34" charset="0"/>
                <a:ea typeface="Aptos" pitchFamily="34" charset="-122"/>
                <a:cs typeface="Aptos" pitchFamily="34" charset="-120"/>
              </a:rPr>
              <a:t>Emergency-aware feasibility guard filters bad choices</a:t>
            </a:r>
            <a:endParaRPr lang="en-US" sz="1520" dirty="0"/>
          </a:p>
        </p:txBody>
      </p:sp>
      <p:sp>
        <p:nvSpPr>
          <p:cNvPr id="21" name="Shape 19"/>
          <p:cNvSpPr/>
          <p:nvPr/>
        </p:nvSpPr>
        <p:spPr>
          <a:xfrm>
            <a:off x="7223760" y="2724912"/>
            <a:ext cx="201168" cy="438912"/>
          </a:xfrm>
          <a:prstGeom prst="chevron">
            <a:avLst/>
          </a:prstGeom>
          <a:solidFill>
            <a:srgbClr val="D8E2EE"/>
          </a:solidFill>
          <a:ln w="12700">
            <a:solidFill>
              <a:srgbClr val="D8E2EE"/>
            </a:solidFill>
            <a:prstDash val="solid"/>
          </a:ln>
        </p:spPr>
        <p:txBody>
          <a:bodyPr/>
          <a:lstStyle/>
          <a:p>
            <a:endParaRPr lang="en-US"/>
          </a:p>
        </p:txBody>
      </p:sp>
      <p:sp>
        <p:nvSpPr>
          <p:cNvPr id="22" name="Shape 20"/>
          <p:cNvSpPr/>
          <p:nvPr/>
        </p:nvSpPr>
        <p:spPr>
          <a:xfrm>
            <a:off x="7635240" y="1874520"/>
            <a:ext cx="1828800" cy="2331720"/>
          </a:xfrm>
          <a:prstGeom prst="roundRect">
            <a:avLst>
              <a:gd name="adj" fmla="val 6000"/>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23" name="Shape 21"/>
          <p:cNvSpPr/>
          <p:nvPr/>
        </p:nvSpPr>
        <p:spPr>
          <a:xfrm>
            <a:off x="7744968" y="2057400"/>
            <a:ext cx="1609344" cy="310896"/>
          </a:xfrm>
          <a:prstGeom prst="roundRect">
            <a:avLst/>
          </a:prstGeom>
          <a:solidFill>
            <a:srgbClr val="5A7BFA"/>
          </a:solidFill>
          <a:ln w="12700">
            <a:solidFill>
              <a:srgbClr val="5A7BFA">
                <a:alpha val="0"/>
              </a:srgbClr>
            </a:solidFill>
            <a:prstDash val="solid"/>
          </a:ln>
        </p:spPr>
        <p:txBody>
          <a:bodyPr/>
          <a:lstStyle/>
          <a:p>
            <a:endParaRPr lang="en-US"/>
          </a:p>
        </p:txBody>
      </p:sp>
      <p:sp>
        <p:nvSpPr>
          <p:cNvPr id="24" name="Text 22"/>
          <p:cNvSpPr/>
          <p:nvPr/>
        </p:nvSpPr>
        <p:spPr>
          <a:xfrm>
            <a:off x="7744968" y="2121408"/>
            <a:ext cx="1609344"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4. Choose one balanced policy</a:t>
            </a:r>
            <a:endParaRPr lang="en-US" sz="950" dirty="0"/>
          </a:p>
        </p:txBody>
      </p:sp>
      <p:sp>
        <p:nvSpPr>
          <p:cNvPr id="25" name="Text 23"/>
          <p:cNvSpPr/>
          <p:nvPr/>
        </p:nvSpPr>
        <p:spPr>
          <a:xfrm>
            <a:off x="7772400" y="2743200"/>
            <a:ext cx="1572768" cy="960120"/>
          </a:xfrm>
          <a:prstGeom prst="rect">
            <a:avLst/>
          </a:prstGeom>
          <a:noFill/>
          <a:ln/>
        </p:spPr>
        <p:txBody>
          <a:bodyPr wrap="square" lIns="0" tIns="0" rIns="0" bIns="0" rtlCol="0" anchor="ctr"/>
          <a:lstStyle/>
          <a:p>
            <a:pPr marL="0" indent="0" algn="l">
              <a:buNone/>
            </a:pPr>
            <a:r>
              <a:rPr lang="en-US" sz="1520" dirty="0">
                <a:solidFill>
                  <a:srgbClr val="1F2937"/>
                </a:solidFill>
                <a:latin typeface="Aptos" pitchFamily="34" charset="0"/>
                <a:ea typeface="Aptos" pitchFamily="34" charset="-122"/>
                <a:cs typeface="Aptos" pitchFamily="34" charset="-120"/>
              </a:rPr>
              <a:t>Bargaining picks a single deployable policy</a:t>
            </a:r>
            <a:endParaRPr lang="en-US" sz="1520" dirty="0"/>
          </a:p>
        </p:txBody>
      </p:sp>
      <p:sp>
        <p:nvSpPr>
          <p:cNvPr id="26" name="Shape 24"/>
          <p:cNvSpPr/>
          <p:nvPr/>
        </p:nvSpPr>
        <p:spPr>
          <a:xfrm>
            <a:off x="9601200" y="2724912"/>
            <a:ext cx="201168" cy="438912"/>
          </a:xfrm>
          <a:prstGeom prst="chevron">
            <a:avLst/>
          </a:prstGeom>
          <a:solidFill>
            <a:srgbClr val="D8E2EE"/>
          </a:solidFill>
          <a:ln w="12700">
            <a:solidFill>
              <a:srgbClr val="D8E2EE"/>
            </a:solidFill>
            <a:prstDash val="solid"/>
          </a:ln>
        </p:spPr>
        <p:txBody>
          <a:bodyPr/>
          <a:lstStyle/>
          <a:p>
            <a:endParaRPr lang="en-US"/>
          </a:p>
        </p:txBody>
      </p:sp>
      <p:sp>
        <p:nvSpPr>
          <p:cNvPr id="27" name="Shape 25"/>
          <p:cNvSpPr/>
          <p:nvPr/>
        </p:nvSpPr>
        <p:spPr>
          <a:xfrm>
            <a:off x="10012680" y="1874520"/>
            <a:ext cx="1828800" cy="2331720"/>
          </a:xfrm>
          <a:prstGeom prst="roundRect">
            <a:avLst>
              <a:gd name="adj" fmla="val 6000"/>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28" name="Shape 26"/>
          <p:cNvSpPr/>
          <p:nvPr/>
        </p:nvSpPr>
        <p:spPr>
          <a:xfrm>
            <a:off x="10122408" y="2057400"/>
            <a:ext cx="1609344" cy="310896"/>
          </a:xfrm>
          <a:prstGeom prst="roundRect">
            <a:avLst/>
          </a:prstGeom>
          <a:solidFill>
            <a:srgbClr val="6A5ACD"/>
          </a:solidFill>
          <a:ln w="12700">
            <a:solidFill>
              <a:srgbClr val="6A5ACD">
                <a:alpha val="0"/>
              </a:srgbClr>
            </a:solidFill>
            <a:prstDash val="solid"/>
          </a:ln>
        </p:spPr>
        <p:txBody>
          <a:bodyPr/>
          <a:lstStyle/>
          <a:p>
            <a:endParaRPr lang="en-US"/>
          </a:p>
        </p:txBody>
      </p:sp>
      <p:sp>
        <p:nvSpPr>
          <p:cNvPr id="29" name="Text 27"/>
          <p:cNvSpPr/>
          <p:nvPr/>
        </p:nvSpPr>
        <p:spPr>
          <a:xfrm>
            <a:off x="10122408" y="2121408"/>
            <a:ext cx="1609344"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5. Record the decision trace</a:t>
            </a:r>
            <a:endParaRPr lang="en-US" sz="950" dirty="0"/>
          </a:p>
        </p:txBody>
      </p:sp>
      <p:sp>
        <p:nvSpPr>
          <p:cNvPr id="30" name="Text 28"/>
          <p:cNvSpPr/>
          <p:nvPr/>
        </p:nvSpPr>
        <p:spPr>
          <a:xfrm>
            <a:off x="10149840" y="2743200"/>
            <a:ext cx="1572768" cy="960120"/>
          </a:xfrm>
          <a:prstGeom prst="rect">
            <a:avLst/>
          </a:prstGeom>
          <a:noFill/>
          <a:ln/>
        </p:spPr>
        <p:txBody>
          <a:bodyPr wrap="square" lIns="0" tIns="0" rIns="0" bIns="0" rtlCol="0" anchor="ctr"/>
          <a:lstStyle/>
          <a:p>
            <a:pPr marL="0" indent="0" algn="l">
              <a:buNone/>
            </a:pPr>
            <a:r>
              <a:rPr lang="en-US" sz="1520" dirty="0">
                <a:solidFill>
                  <a:srgbClr val="1F2937"/>
                </a:solidFill>
                <a:latin typeface="Aptos" pitchFamily="34" charset="0"/>
                <a:ea typeface="Aptos" pitchFamily="34" charset="-122"/>
                <a:cs typeface="Aptos" pitchFamily="34" charset="-120"/>
              </a:rPr>
              <a:t>Blockchain stores consent, access events, and hashes only</a:t>
            </a:r>
            <a:endParaRPr lang="en-US" sz="1520" dirty="0"/>
          </a:p>
        </p:txBody>
      </p:sp>
      <p:sp>
        <p:nvSpPr>
          <p:cNvPr id="31" name="Shape 29"/>
          <p:cNvSpPr/>
          <p:nvPr/>
        </p:nvSpPr>
        <p:spPr>
          <a:xfrm>
            <a:off x="914400" y="4892040"/>
            <a:ext cx="10332720" cy="868680"/>
          </a:xfrm>
          <a:prstGeom prst="roundRect">
            <a:avLst>
              <a:gd name="adj" fmla="val 12632"/>
            </a:avLst>
          </a:prstGeom>
          <a:solidFill>
            <a:srgbClr val="EEF6FF"/>
          </a:solidFill>
          <a:ln w="12700">
            <a:solidFill>
              <a:srgbClr val="CFE1F9"/>
            </a:solidFill>
            <a:prstDash val="solid"/>
          </a:ln>
          <a:effectLst>
            <a:outerShdw blurRad="12700" dist="19050" dir="2700000" algn="bl" rotWithShape="0">
              <a:srgbClr val="000000">
                <a:alpha val="12000"/>
              </a:srgbClr>
            </a:outerShdw>
          </a:effectLst>
        </p:spPr>
        <p:txBody>
          <a:bodyPr/>
          <a:lstStyle/>
          <a:p>
            <a:endParaRPr lang="en-US"/>
          </a:p>
        </p:txBody>
      </p:sp>
      <p:sp>
        <p:nvSpPr>
          <p:cNvPr id="32" name="Text 30"/>
          <p:cNvSpPr/>
          <p:nvPr/>
        </p:nvSpPr>
        <p:spPr>
          <a:xfrm>
            <a:off x="1188720" y="5157216"/>
            <a:ext cx="9784080" cy="256032"/>
          </a:xfrm>
          <a:prstGeom prst="rect">
            <a:avLst/>
          </a:prstGeom>
          <a:noFill/>
          <a:ln/>
        </p:spPr>
        <p:txBody>
          <a:bodyPr wrap="square" lIns="0" tIns="0" rIns="0" bIns="0" rtlCol="0" anchor="ctr"/>
          <a:lstStyle/>
          <a:p>
            <a:pPr marL="0" indent="0" algn="ctr">
              <a:buNone/>
            </a:pPr>
            <a:r>
              <a:rPr lang="en-US" sz="1820" b="1" dirty="0">
                <a:solidFill>
                  <a:srgbClr val="1F2937"/>
                </a:solidFill>
                <a:latin typeface="Aptos" pitchFamily="34" charset="0"/>
                <a:ea typeface="Aptos" pitchFamily="34" charset="-122"/>
                <a:cs typeface="Aptos" pitchFamily="34" charset="-120"/>
              </a:rPr>
              <a:t>Result: instead of a black-box score or a fixed rule, the system outputs one explainable policy that is feasible for the current situation.</a:t>
            </a:r>
            <a:endParaRPr lang="en-US" sz="1820" dirty="0"/>
          </a:p>
        </p:txBody>
      </p:sp>
      <p:sp>
        <p:nvSpPr>
          <p:cNvPr id="33" name="Text 31"/>
          <p:cNvSpPr/>
          <p:nvPr/>
        </p:nvSpPr>
        <p:spPr>
          <a:xfrm>
            <a:off x="11475720" y="6510528"/>
            <a:ext cx="228600" cy="146304"/>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alpha val="0"/>
              </a:srgbClr>
            </a:solidFill>
            <a:prstDash val="solid"/>
          </a:ln>
        </p:spPr>
        <p:txBody>
          <a:bodyPr/>
          <a:lstStyle/>
          <a:p>
            <a:endParaRPr lang="en-US"/>
          </a:p>
        </p:txBody>
      </p:sp>
      <p:sp>
        <p:nvSpPr>
          <p:cNvPr id="3" name="Shape 1"/>
          <p:cNvSpPr/>
          <p:nvPr/>
        </p:nvSpPr>
        <p:spPr>
          <a:xfrm>
            <a:off x="0" y="658368"/>
            <a:ext cx="12191695" cy="45720"/>
          </a:xfrm>
          <a:prstGeom prst="rect">
            <a:avLst/>
          </a:prstGeom>
          <a:solidFill>
            <a:srgbClr val="14A36F"/>
          </a:solidFill>
          <a:ln w="12700">
            <a:solidFill>
              <a:srgbClr val="14A36F">
                <a:alpha val="0"/>
              </a:srgbClr>
            </a:solidFill>
            <a:prstDash val="solid"/>
          </a:ln>
        </p:spPr>
        <p:txBody>
          <a:bodyPr/>
          <a:lstStyle/>
          <a:p>
            <a:endParaRPr lang="en-US"/>
          </a:p>
        </p:txBody>
      </p:sp>
      <p:sp>
        <p:nvSpPr>
          <p:cNvPr id="4" name="Text 2"/>
          <p:cNvSpPr/>
          <p:nvPr/>
        </p:nvSpPr>
        <p:spPr>
          <a:xfrm>
            <a:off x="502920" y="155448"/>
            <a:ext cx="9052560" cy="274320"/>
          </a:xfrm>
          <a:prstGeom prst="rect">
            <a:avLst/>
          </a:prstGeom>
          <a:noFill/>
          <a:ln/>
        </p:spPr>
        <p:txBody>
          <a:bodyPr wrap="square" lIns="0" tIns="0" rIns="0" bIns="0" rtlCol="0" anchor="ctr"/>
          <a:lstStyle/>
          <a:p>
            <a:pPr marL="0" indent="0">
              <a:buNone/>
            </a:pPr>
            <a:r>
              <a:rPr lang="en-US" sz="2300" b="1" dirty="0">
                <a:solidFill>
                  <a:srgbClr val="FFFFFF"/>
                </a:solidFill>
                <a:latin typeface="Aptos Display" pitchFamily="34" charset="0"/>
                <a:ea typeface="Aptos Display" pitchFamily="34" charset="-122"/>
                <a:cs typeface="Aptos Display" pitchFamily="34" charset="-120"/>
              </a:rPr>
              <a:t>What the system actually decides</a:t>
            </a:r>
            <a:endParaRPr lang="en-US" sz="2300" dirty="0"/>
          </a:p>
        </p:txBody>
      </p:sp>
      <p:sp>
        <p:nvSpPr>
          <p:cNvPr id="5" name="Text 3"/>
          <p:cNvSpPr/>
          <p:nvPr/>
        </p:nvSpPr>
        <p:spPr>
          <a:xfrm>
            <a:off x="9829800" y="164592"/>
            <a:ext cx="1783080" cy="256032"/>
          </a:xfrm>
          <a:prstGeom prst="rect">
            <a:avLst/>
          </a:prstGeom>
          <a:noFill/>
          <a:ln/>
        </p:spPr>
        <p:txBody>
          <a:bodyPr wrap="square" lIns="0" tIns="0" rIns="0" bIns="0" rtlCol="0" anchor="ctr"/>
          <a:lstStyle/>
          <a:p>
            <a:pPr marL="0" indent="0" algn="r">
              <a:buNone/>
            </a:pPr>
            <a:r>
              <a:rPr lang="en-US" sz="950" dirty="0">
                <a:solidFill>
                  <a:srgbClr val="D8E2EE"/>
                </a:solidFill>
                <a:latin typeface="Aptos" pitchFamily="34" charset="0"/>
                <a:ea typeface="Aptos" pitchFamily="34" charset="-122"/>
                <a:cs typeface="Aptos" pitchFamily="34" charset="-120"/>
              </a:rPr>
              <a:t>Policy controls</a:t>
            </a:r>
            <a:endParaRPr lang="en-US" sz="950" dirty="0"/>
          </a:p>
        </p:txBody>
      </p:sp>
      <p:sp>
        <p:nvSpPr>
          <p:cNvPr id="6" name="Text 4"/>
          <p:cNvSpPr/>
          <p:nvPr/>
        </p:nvSpPr>
        <p:spPr>
          <a:xfrm>
            <a:off x="502920" y="6556248"/>
            <a:ext cx="3291840" cy="146304"/>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FiB-MOBA-EAFG • Health IoT governance</a:t>
            </a:r>
            <a:endParaRPr lang="en-US" sz="850" dirty="0"/>
          </a:p>
        </p:txBody>
      </p:sp>
      <p:sp>
        <p:nvSpPr>
          <p:cNvPr id="7" name="Shape 5"/>
          <p:cNvSpPr/>
          <p:nvPr/>
        </p:nvSpPr>
        <p:spPr>
          <a:xfrm>
            <a:off x="658368" y="1024128"/>
            <a:ext cx="5349240" cy="5257800"/>
          </a:xfrm>
          <a:prstGeom prst="roundRect">
            <a:avLst>
              <a:gd name="adj" fmla="val 2087"/>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8" name="Text 6"/>
          <p:cNvSpPr/>
          <p:nvPr/>
        </p:nvSpPr>
        <p:spPr>
          <a:xfrm>
            <a:off x="914400" y="1325880"/>
            <a:ext cx="1920240" cy="237744"/>
          </a:xfrm>
          <a:prstGeom prst="rect">
            <a:avLst/>
          </a:prstGeom>
          <a:noFill/>
          <a:ln/>
        </p:spPr>
        <p:txBody>
          <a:bodyPr wrap="square" lIns="0" tIns="0" rIns="0" bIns="0" rtlCol="0" anchor="ctr"/>
          <a:lstStyle/>
          <a:p>
            <a:pPr marL="0" indent="0">
              <a:buNone/>
            </a:pPr>
            <a:r>
              <a:rPr lang="en-US" sz="2100" b="1" dirty="0">
                <a:solidFill>
                  <a:srgbClr val="1F2937"/>
                </a:solidFill>
                <a:latin typeface="Aptos Display" pitchFamily="34" charset="0"/>
                <a:ea typeface="Aptos Display" pitchFamily="34" charset="-122"/>
                <a:cs typeface="Aptos Display" pitchFamily="34" charset="-120"/>
              </a:rPr>
              <a:t>Five policy controls</a:t>
            </a:r>
            <a:endParaRPr lang="en-US" sz="2100" dirty="0"/>
          </a:p>
        </p:txBody>
      </p:sp>
      <p:sp>
        <p:nvSpPr>
          <p:cNvPr id="9" name="Shape 7"/>
          <p:cNvSpPr/>
          <p:nvPr/>
        </p:nvSpPr>
        <p:spPr>
          <a:xfrm>
            <a:off x="932688" y="1801368"/>
            <a:ext cx="475488" cy="310896"/>
          </a:xfrm>
          <a:prstGeom prst="roundRect">
            <a:avLst/>
          </a:prstGeom>
          <a:solidFill>
            <a:srgbClr val="2476D6"/>
          </a:solidFill>
          <a:ln w="12700">
            <a:solidFill>
              <a:srgbClr val="2476D6">
                <a:alpha val="0"/>
              </a:srgbClr>
            </a:solidFill>
            <a:prstDash val="solid"/>
          </a:ln>
        </p:spPr>
        <p:txBody>
          <a:bodyPr/>
          <a:lstStyle/>
          <a:p>
            <a:endParaRPr lang="en-US"/>
          </a:p>
        </p:txBody>
      </p:sp>
      <p:sp>
        <p:nvSpPr>
          <p:cNvPr id="10" name="Text 8"/>
          <p:cNvSpPr/>
          <p:nvPr/>
        </p:nvSpPr>
        <p:spPr>
          <a:xfrm>
            <a:off x="932688" y="1865376"/>
            <a:ext cx="475488"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x1</a:t>
            </a:r>
            <a:endParaRPr lang="en-US" sz="950" dirty="0"/>
          </a:p>
        </p:txBody>
      </p:sp>
      <p:sp>
        <p:nvSpPr>
          <p:cNvPr id="11" name="Text 9"/>
          <p:cNvSpPr/>
          <p:nvPr/>
        </p:nvSpPr>
        <p:spPr>
          <a:xfrm>
            <a:off x="1600200" y="1783080"/>
            <a:ext cx="2103120" cy="182880"/>
          </a:xfrm>
          <a:prstGeom prst="rect">
            <a:avLst/>
          </a:prstGeom>
          <a:noFill/>
          <a:ln/>
        </p:spPr>
        <p:txBody>
          <a:bodyPr wrap="square" lIns="0" tIns="0" rIns="0" bIns="0" rtlCol="0" anchor="ctr"/>
          <a:lstStyle/>
          <a:p>
            <a:pPr marL="0" indent="0">
              <a:buNone/>
            </a:pPr>
            <a:r>
              <a:rPr lang="en-US" sz="1650" b="1" dirty="0">
                <a:solidFill>
                  <a:srgbClr val="1F2937"/>
                </a:solidFill>
                <a:latin typeface="Aptos" pitchFamily="34" charset="0"/>
                <a:ea typeface="Aptos" pitchFamily="34" charset="-122"/>
                <a:cs typeface="Aptos" pitchFamily="34" charset="-120"/>
              </a:rPr>
              <a:t>Access granularity</a:t>
            </a:r>
            <a:endParaRPr lang="en-US" sz="1650" dirty="0"/>
          </a:p>
        </p:txBody>
      </p:sp>
      <p:sp>
        <p:nvSpPr>
          <p:cNvPr id="12" name="Text 10"/>
          <p:cNvSpPr/>
          <p:nvPr/>
        </p:nvSpPr>
        <p:spPr>
          <a:xfrm>
            <a:off x="3749040" y="1783080"/>
            <a:ext cx="1737360" cy="182880"/>
          </a:xfrm>
          <a:prstGeom prst="rect">
            <a:avLst/>
          </a:prstGeom>
          <a:noFill/>
          <a:ln/>
        </p:spPr>
        <p:txBody>
          <a:bodyPr wrap="square" lIns="0" tIns="0" rIns="0" bIns="0" rtlCol="0" anchor="ctr"/>
          <a:lstStyle/>
          <a:p>
            <a:pPr marL="0" indent="0" algn="r">
              <a:buNone/>
            </a:pPr>
            <a:r>
              <a:rPr lang="en-US" sz="1450" dirty="0">
                <a:solidFill>
                  <a:srgbClr val="6B7280"/>
                </a:solidFill>
                <a:latin typeface="Aptos" pitchFamily="34" charset="0"/>
                <a:ea typeface="Aptos" pitchFamily="34" charset="-122"/>
                <a:cs typeface="Aptos" pitchFamily="34" charset="-120"/>
              </a:rPr>
              <a:t>summary data ↔ detailed records</a:t>
            </a:r>
            <a:endParaRPr lang="en-US" sz="1450" dirty="0"/>
          </a:p>
        </p:txBody>
      </p:sp>
      <p:sp>
        <p:nvSpPr>
          <p:cNvPr id="13" name="Shape 11"/>
          <p:cNvSpPr/>
          <p:nvPr/>
        </p:nvSpPr>
        <p:spPr>
          <a:xfrm>
            <a:off x="914400" y="2084832"/>
            <a:ext cx="4526280" cy="0"/>
          </a:xfrm>
          <a:prstGeom prst="line">
            <a:avLst/>
          </a:prstGeom>
          <a:noFill/>
          <a:ln w="12700">
            <a:solidFill>
              <a:srgbClr val="D8E2EE"/>
            </a:solidFill>
            <a:prstDash val="solid"/>
          </a:ln>
        </p:spPr>
        <p:txBody>
          <a:bodyPr/>
          <a:lstStyle/>
          <a:p>
            <a:endParaRPr lang="en-US"/>
          </a:p>
        </p:txBody>
      </p:sp>
      <p:sp>
        <p:nvSpPr>
          <p:cNvPr id="14" name="Shape 12"/>
          <p:cNvSpPr/>
          <p:nvPr/>
        </p:nvSpPr>
        <p:spPr>
          <a:xfrm>
            <a:off x="932688" y="2578608"/>
            <a:ext cx="475488" cy="310896"/>
          </a:xfrm>
          <a:prstGeom prst="roundRect">
            <a:avLst/>
          </a:prstGeom>
          <a:solidFill>
            <a:srgbClr val="14A36F"/>
          </a:solidFill>
          <a:ln w="12700">
            <a:solidFill>
              <a:srgbClr val="14A36F">
                <a:alpha val="0"/>
              </a:srgbClr>
            </a:solidFill>
            <a:prstDash val="solid"/>
          </a:ln>
        </p:spPr>
        <p:txBody>
          <a:bodyPr/>
          <a:lstStyle/>
          <a:p>
            <a:endParaRPr lang="en-US"/>
          </a:p>
        </p:txBody>
      </p:sp>
      <p:sp>
        <p:nvSpPr>
          <p:cNvPr id="15" name="Text 13"/>
          <p:cNvSpPr/>
          <p:nvPr/>
        </p:nvSpPr>
        <p:spPr>
          <a:xfrm>
            <a:off x="932688" y="2642616"/>
            <a:ext cx="475488"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x2</a:t>
            </a:r>
            <a:endParaRPr lang="en-US" sz="950" dirty="0"/>
          </a:p>
        </p:txBody>
      </p:sp>
      <p:sp>
        <p:nvSpPr>
          <p:cNvPr id="16" name="Text 14"/>
          <p:cNvSpPr/>
          <p:nvPr/>
        </p:nvSpPr>
        <p:spPr>
          <a:xfrm>
            <a:off x="1600200" y="2560320"/>
            <a:ext cx="2103120" cy="182880"/>
          </a:xfrm>
          <a:prstGeom prst="rect">
            <a:avLst/>
          </a:prstGeom>
          <a:noFill/>
          <a:ln/>
        </p:spPr>
        <p:txBody>
          <a:bodyPr wrap="square" lIns="0" tIns="0" rIns="0" bIns="0" rtlCol="0" anchor="ctr"/>
          <a:lstStyle/>
          <a:p>
            <a:pPr marL="0" indent="0">
              <a:buNone/>
            </a:pPr>
            <a:r>
              <a:rPr lang="en-US" sz="1650" b="1" dirty="0">
                <a:solidFill>
                  <a:srgbClr val="1F2937"/>
                </a:solidFill>
                <a:latin typeface="Aptos" pitchFamily="34" charset="0"/>
                <a:ea typeface="Aptos" pitchFamily="34" charset="-122"/>
                <a:cs typeface="Aptos" pitchFamily="34" charset="-120"/>
              </a:rPr>
              <a:t>Protection strength</a:t>
            </a:r>
            <a:endParaRPr lang="en-US" sz="1650" dirty="0"/>
          </a:p>
        </p:txBody>
      </p:sp>
      <p:sp>
        <p:nvSpPr>
          <p:cNvPr id="17" name="Text 15"/>
          <p:cNvSpPr/>
          <p:nvPr/>
        </p:nvSpPr>
        <p:spPr>
          <a:xfrm>
            <a:off x="3749040" y="2560320"/>
            <a:ext cx="1737360" cy="182880"/>
          </a:xfrm>
          <a:prstGeom prst="rect">
            <a:avLst/>
          </a:prstGeom>
          <a:noFill/>
          <a:ln/>
        </p:spPr>
        <p:txBody>
          <a:bodyPr wrap="square" lIns="0" tIns="0" rIns="0" bIns="0" rtlCol="0" anchor="ctr"/>
          <a:lstStyle/>
          <a:p>
            <a:pPr marL="0" indent="0" algn="r">
              <a:buNone/>
            </a:pPr>
            <a:r>
              <a:rPr lang="en-US" sz="1450" dirty="0">
                <a:solidFill>
                  <a:srgbClr val="6B7280"/>
                </a:solidFill>
                <a:latin typeface="Aptos" pitchFamily="34" charset="0"/>
                <a:ea typeface="Aptos" pitchFamily="34" charset="-122"/>
                <a:cs typeface="Aptos" pitchFamily="34" charset="-120"/>
              </a:rPr>
              <a:t>lighter ↔ stronger encryption / anonymisation</a:t>
            </a:r>
            <a:endParaRPr lang="en-US" sz="1450" dirty="0"/>
          </a:p>
        </p:txBody>
      </p:sp>
      <p:sp>
        <p:nvSpPr>
          <p:cNvPr id="18" name="Shape 16"/>
          <p:cNvSpPr/>
          <p:nvPr/>
        </p:nvSpPr>
        <p:spPr>
          <a:xfrm>
            <a:off x="914400" y="2862072"/>
            <a:ext cx="4526280" cy="0"/>
          </a:xfrm>
          <a:prstGeom prst="line">
            <a:avLst/>
          </a:prstGeom>
          <a:noFill/>
          <a:ln w="12700">
            <a:solidFill>
              <a:srgbClr val="D8E2EE"/>
            </a:solidFill>
            <a:prstDash val="solid"/>
          </a:ln>
        </p:spPr>
        <p:txBody>
          <a:bodyPr/>
          <a:lstStyle/>
          <a:p>
            <a:endParaRPr lang="en-US"/>
          </a:p>
        </p:txBody>
      </p:sp>
      <p:sp>
        <p:nvSpPr>
          <p:cNvPr id="19" name="Shape 17"/>
          <p:cNvSpPr/>
          <p:nvPr/>
        </p:nvSpPr>
        <p:spPr>
          <a:xfrm>
            <a:off x="932688" y="3355848"/>
            <a:ext cx="475488" cy="310896"/>
          </a:xfrm>
          <a:prstGeom prst="roundRect">
            <a:avLst/>
          </a:prstGeom>
          <a:solidFill>
            <a:srgbClr val="2476D6"/>
          </a:solidFill>
          <a:ln w="12700">
            <a:solidFill>
              <a:srgbClr val="2476D6">
                <a:alpha val="0"/>
              </a:srgbClr>
            </a:solidFill>
            <a:prstDash val="solid"/>
          </a:ln>
        </p:spPr>
        <p:txBody>
          <a:bodyPr/>
          <a:lstStyle/>
          <a:p>
            <a:endParaRPr lang="en-US"/>
          </a:p>
        </p:txBody>
      </p:sp>
      <p:sp>
        <p:nvSpPr>
          <p:cNvPr id="20" name="Text 18"/>
          <p:cNvSpPr/>
          <p:nvPr/>
        </p:nvSpPr>
        <p:spPr>
          <a:xfrm>
            <a:off x="932688" y="3419856"/>
            <a:ext cx="475488"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x3</a:t>
            </a:r>
            <a:endParaRPr lang="en-US" sz="950" dirty="0"/>
          </a:p>
        </p:txBody>
      </p:sp>
      <p:sp>
        <p:nvSpPr>
          <p:cNvPr id="21" name="Text 19"/>
          <p:cNvSpPr/>
          <p:nvPr/>
        </p:nvSpPr>
        <p:spPr>
          <a:xfrm>
            <a:off x="1600200" y="3337560"/>
            <a:ext cx="2103120" cy="182880"/>
          </a:xfrm>
          <a:prstGeom prst="rect">
            <a:avLst/>
          </a:prstGeom>
          <a:noFill/>
          <a:ln/>
        </p:spPr>
        <p:txBody>
          <a:bodyPr wrap="square" lIns="0" tIns="0" rIns="0" bIns="0" rtlCol="0" anchor="ctr"/>
          <a:lstStyle/>
          <a:p>
            <a:pPr marL="0" indent="0">
              <a:buNone/>
            </a:pPr>
            <a:r>
              <a:rPr lang="en-US" sz="1650" b="1" dirty="0">
                <a:solidFill>
                  <a:srgbClr val="1F2937"/>
                </a:solidFill>
                <a:latin typeface="Aptos" pitchFamily="34" charset="0"/>
                <a:ea typeface="Aptos" pitchFamily="34" charset="-122"/>
                <a:cs typeface="Aptos" pitchFamily="34" charset="-120"/>
              </a:rPr>
              <a:t>Sharing frequency</a:t>
            </a:r>
            <a:endParaRPr lang="en-US" sz="1650" dirty="0"/>
          </a:p>
        </p:txBody>
      </p:sp>
      <p:sp>
        <p:nvSpPr>
          <p:cNvPr id="22" name="Text 20"/>
          <p:cNvSpPr/>
          <p:nvPr/>
        </p:nvSpPr>
        <p:spPr>
          <a:xfrm>
            <a:off x="3749040" y="3337560"/>
            <a:ext cx="1737360" cy="182880"/>
          </a:xfrm>
          <a:prstGeom prst="rect">
            <a:avLst/>
          </a:prstGeom>
          <a:noFill/>
          <a:ln/>
        </p:spPr>
        <p:txBody>
          <a:bodyPr wrap="square" lIns="0" tIns="0" rIns="0" bIns="0" rtlCol="0" anchor="ctr"/>
          <a:lstStyle/>
          <a:p>
            <a:pPr marL="0" indent="0" algn="r">
              <a:buNone/>
            </a:pPr>
            <a:r>
              <a:rPr lang="en-US" sz="1450" dirty="0">
                <a:solidFill>
                  <a:srgbClr val="6B7280"/>
                </a:solidFill>
                <a:latin typeface="Aptos" pitchFamily="34" charset="0"/>
                <a:ea typeface="Aptos" pitchFamily="34" charset="-122"/>
                <a:cs typeface="Aptos" pitchFamily="34" charset="-120"/>
              </a:rPr>
              <a:t>less often ↔ more often</a:t>
            </a:r>
            <a:endParaRPr lang="en-US" sz="1450" dirty="0"/>
          </a:p>
        </p:txBody>
      </p:sp>
      <p:sp>
        <p:nvSpPr>
          <p:cNvPr id="23" name="Shape 21"/>
          <p:cNvSpPr/>
          <p:nvPr/>
        </p:nvSpPr>
        <p:spPr>
          <a:xfrm>
            <a:off x="914400" y="3639312"/>
            <a:ext cx="4526280" cy="0"/>
          </a:xfrm>
          <a:prstGeom prst="line">
            <a:avLst/>
          </a:prstGeom>
          <a:noFill/>
          <a:ln w="12700">
            <a:solidFill>
              <a:srgbClr val="D8E2EE"/>
            </a:solidFill>
            <a:prstDash val="solid"/>
          </a:ln>
        </p:spPr>
        <p:txBody>
          <a:bodyPr/>
          <a:lstStyle/>
          <a:p>
            <a:endParaRPr lang="en-US"/>
          </a:p>
        </p:txBody>
      </p:sp>
      <p:sp>
        <p:nvSpPr>
          <p:cNvPr id="24" name="Shape 22"/>
          <p:cNvSpPr/>
          <p:nvPr/>
        </p:nvSpPr>
        <p:spPr>
          <a:xfrm>
            <a:off x="932688" y="4133088"/>
            <a:ext cx="475488" cy="310896"/>
          </a:xfrm>
          <a:prstGeom prst="roundRect">
            <a:avLst/>
          </a:prstGeom>
          <a:solidFill>
            <a:srgbClr val="14A36F"/>
          </a:solidFill>
          <a:ln w="12700">
            <a:solidFill>
              <a:srgbClr val="14A36F">
                <a:alpha val="0"/>
              </a:srgbClr>
            </a:solidFill>
            <a:prstDash val="solid"/>
          </a:ln>
        </p:spPr>
        <p:txBody>
          <a:bodyPr/>
          <a:lstStyle/>
          <a:p>
            <a:endParaRPr lang="en-US"/>
          </a:p>
        </p:txBody>
      </p:sp>
      <p:sp>
        <p:nvSpPr>
          <p:cNvPr id="25" name="Text 23"/>
          <p:cNvSpPr/>
          <p:nvPr/>
        </p:nvSpPr>
        <p:spPr>
          <a:xfrm>
            <a:off x="932688" y="4197096"/>
            <a:ext cx="475488"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x4</a:t>
            </a:r>
            <a:endParaRPr lang="en-US" sz="950" dirty="0"/>
          </a:p>
        </p:txBody>
      </p:sp>
      <p:sp>
        <p:nvSpPr>
          <p:cNvPr id="26" name="Text 24"/>
          <p:cNvSpPr/>
          <p:nvPr/>
        </p:nvSpPr>
        <p:spPr>
          <a:xfrm>
            <a:off x="1600200" y="4114800"/>
            <a:ext cx="2103120" cy="182880"/>
          </a:xfrm>
          <a:prstGeom prst="rect">
            <a:avLst/>
          </a:prstGeom>
          <a:noFill/>
          <a:ln/>
        </p:spPr>
        <p:txBody>
          <a:bodyPr wrap="square" lIns="0" tIns="0" rIns="0" bIns="0" rtlCol="0" anchor="ctr"/>
          <a:lstStyle/>
          <a:p>
            <a:pPr marL="0" indent="0">
              <a:buNone/>
            </a:pPr>
            <a:r>
              <a:rPr lang="en-US" sz="1650" b="1" dirty="0">
                <a:solidFill>
                  <a:srgbClr val="1F2937"/>
                </a:solidFill>
                <a:latin typeface="Aptos" pitchFamily="34" charset="0"/>
                <a:ea typeface="Aptos" pitchFamily="34" charset="-122"/>
                <a:cs typeface="Aptos" pitchFamily="34" charset="-120"/>
              </a:rPr>
              <a:t>Device-trust threshold</a:t>
            </a:r>
            <a:endParaRPr lang="en-US" sz="1650" dirty="0"/>
          </a:p>
        </p:txBody>
      </p:sp>
      <p:sp>
        <p:nvSpPr>
          <p:cNvPr id="27" name="Text 25"/>
          <p:cNvSpPr/>
          <p:nvPr/>
        </p:nvSpPr>
        <p:spPr>
          <a:xfrm>
            <a:off x="3749040" y="4114800"/>
            <a:ext cx="1737360" cy="182880"/>
          </a:xfrm>
          <a:prstGeom prst="rect">
            <a:avLst/>
          </a:prstGeom>
          <a:noFill/>
          <a:ln/>
        </p:spPr>
        <p:txBody>
          <a:bodyPr wrap="square" lIns="0" tIns="0" rIns="0" bIns="0" rtlCol="0" anchor="ctr"/>
          <a:lstStyle/>
          <a:p>
            <a:pPr marL="0" indent="0" algn="r">
              <a:buNone/>
            </a:pPr>
            <a:r>
              <a:rPr lang="en-US" sz="1450" dirty="0">
                <a:solidFill>
                  <a:srgbClr val="6B7280"/>
                </a:solidFill>
                <a:latin typeface="Aptos" pitchFamily="34" charset="0"/>
                <a:ea typeface="Aptos" pitchFamily="34" charset="-122"/>
                <a:cs typeface="Aptos" pitchFamily="34" charset="-120"/>
              </a:rPr>
              <a:t>more permissive ↔ more strict</a:t>
            </a:r>
            <a:endParaRPr lang="en-US" sz="1450" dirty="0"/>
          </a:p>
        </p:txBody>
      </p:sp>
      <p:sp>
        <p:nvSpPr>
          <p:cNvPr id="28" name="Shape 26"/>
          <p:cNvSpPr/>
          <p:nvPr/>
        </p:nvSpPr>
        <p:spPr>
          <a:xfrm>
            <a:off x="914400" y="4416552"/>
            <a:ext cx="4526280" cy="0"/>
          </a:xfrm>
          <a:prstGeom prst="line">
            <a:avLst/>
          </a:prstGeom>
          <a:noFill/>
          <a:ln w="12700">
            <a:solidFill>
              <a:srgbClr val="D8E2EE"/>
            </a:solidFill>
            <a:prstDash val="solid"/>
          </a:ln>
        </p:spPr>
        <p:txBody>
          <a:bodyPr/>
          <a:lstStyle/>
          <a:p>
            <a:endParaRPr lang="en-US"/>
          </a:p>
        </p:txBody>
      </p:sp>
      <p:sp>
        <p:nvSpPr>
          <p:cNvPr id="29" name="Shape 27"/>
          <p:cNvSpPr/>
          <p:nvPr/>
        </p:nvSpPr>
        <p:spPr>
          <a:xfrm>
            <a:off x="932688" y="4910328"/>
            <a:ext cx="475488" cy="310896"/>
          </a:xfrm>
          <a:prstGeom prst="roundRect">
            <a:avLst/>
          </a:prstGeom>
          <a:solidFill>
            <a:srgbClr val="2476D6"/>
          </a:solidFill>
          <a:ln w="12700">
            <a:solidFill>
              <a:srgbClr val="2476D6">
                <a:alpha val="0"/>
              </a:srgbClr>
            </a:solidFill>
            <a:prstDash val="solid"/>
          </a:ln>
        </p:spPr>
        <p:txBody>
          <a:bodyPr/>
          <a:lstStyle/>
          <a:p>
            <a:endParaRPr lang="en-US"/>
          </a:p>
        </p:txBody>
      </p:sp>
      <p:sp>
        <p:nvSpPr>
          <p:cNvPr id="30" name="Text 28"/>
          <p:cNvSpPr/>
          <p:nvPr/>
        </p:nvSpPr>
        <p:spPr>
          <a:xfrm>
            <a:off x="932688" y="4974336"/>
            <a:ext cx="475488"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x5</a:t>
            </a:r>
            <a:endParaRPr lang="en-US" sz="950" dirty="0"/>
          </a:p>
        </p:txBody>
      </p:sp>
      <p:sp>
        <p:nvSpPr>
          <p:cNvPr id="31" name="Text 29"/>
          <p:cNvSpPr/>
          <p:nvPr/>
        </p:nvSpPr>
        <p:spPr>
          <a:xfrm>
            <a:off x="1600200" y="4892040"/>
            <a:ext cx="2103120" cy="182880"/>
          </a:xfrm>
          <a:prstGeom prst="rect">
            <a:avLst/>
          </a:prstGeom>
          <a:noFill/>
          <a:ln/>
        </p:spPr>
        <p:txBody>
          <a:bodyPr wrap="square" lIns="0" tIns="0" rIns="0" bIns="0" rtlCol="0" anchor="ctr"/>
          <a:lstStyle/>
          <a:p>
            <a:pPr marL="0" indent="0">
              <a:buNone/>
            </a:pPr>
            <a:r>
              <a:rPr lang="en-US" sz="1650" b="1" dirty="0">
                <a:solidFill>
                  <a:srgbClr val="1F2937"/>
                </a:solidFill>
                <a:latin typeface="Aptos" pitchFamily="34" charset="0"/>
                <a:ea typeface="Aptos" pitchFamily="34" charset="-122"/>
                <a:cs typeface="Aptos" pitchFamily="34" charset="-120"/>
              </a:rPr>
              <a:t>Retention level</a:t>
            </a:r>
            <a:endParaRPr lang="en-US" sz="1650" dirty="0"/>
          </a:p>
        </p:txBody>
      </p:sp>
      <p:sp>
        <p:nvSpPr>
          <p:cNvPr id="32" name="Text 30"/>
          <p:cNvSpPr/>
          <p:nvPr/>
        </p:nvSpPr>
        <p:spPr>
          <a:xfrm>
            <a:off x="3749040" y="4892040"/>
            <a:ext cx="1737360" cy="182880"/>
          </a:xfrm>
          <a:prstGeom prst="rect">
            <a:avLst/>
          </a:prstGeom>
          <a:noFill/>
          <a:ln/>
        </p:spPr>
        <p:txBody>
          <a:bodyPr wrap="square" lIns="0" tIns="0" rIns="0" bIns="0" rtlCol="0" anchor="ctr"/>
          <a:lstStyle/>
          <a:p>
            <a:pPr marL="0" indent="0" algn="r">
              <a:buNone/>
            </a:pPr>
            <a:r>
              <a:rPr lang="en-US" sz="1450" dirty="0">
                <a:solidFill>
                  <a:srgbClr val="6B7280"/>
                </a:solidFill>
                <a:latin typeface="Aptos" pitchFamily="34" charset="0"/>
                <a:ea typeface="Aptos" pitchFamily="34" charset="-122"/>
                <a:cs typeface="Aptos" pitchFamily="34" charset="-120"/>
              </a:rPr>
              <a:t>shorter ↔ longer retention</a:t>
            </a:r>
            <a:endParaRPr lang="en-US" sz="1450" dirty="0"/>
          </a:p>
        </p:txBody>
      </p:sp>
      <p:sp>
        <p:nvSpPr>
          <p:cNvPr id="33" name="Shape 31"/>
          <p:cNvSpPr/>
          <p:nvPr/>
        </p:nvSpPr>
        <p:spPr>
          <a:xfrm>
            <a:off x="914400" y="5193792"/>
            <a:ext cx="4526280" cy="0"/>
          </a:xfrm>
          <a:prstGeom prst="line">
            <a:avLst/>
          </a:prstGeom>
          <a:noFill/>
          <a:ln w="12700">
            <a:solidFill>
              <a:srgbClr val="D8E2EE"/>
            </a:solidFill>
            <a:prstDash val="solid"/>
          </a:ln>
        </p:spPr>
        <p:txBody>
          <a:bodyPr/>
          <a:lstStyle/>
          <a:p>
            <a:endParaRPr lang="en-US"/>
          </a:p>
        </p:txBody>
      </p:sp>
      <p:sp>
        <p:nvSpPr>
          <p:cNvPr id="34" name="Shape 32"/>
          <p:cNvSpPr/>
          <p:nvPr/>
        </p:nvSpPr>
        <p:spPr>
          <a:xfrm>
            <a:off x="6309360" y="1024128"/>
            <a:ext cx="5212080" cy="5257800"/>
          </a:xfrm>
          <a:prstGeom prst="roundRect">
            <a:avLst>
              <a:gd name="adj" fmla="val 2105"/>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35" name="Text 33"/>
          <p:cNvSpPr/>
          <p:nvPr/>
        </p:nvSpPr>
        <p:spPr>
          <a:xfrm>
            <a:off x="6565392" y="1325880"/>
            <a:ext cx="1554480" cy="237744"/>
          </a:xfrm>
          <a:prstGeom prst="rect">
            <a:avLst/>
          </a:prstGeom>
          <a:noFill/>
          <a:ln/>
        </p:spPr>
        <p:txBody>
          <a:bodyPr wrap="square" lIns="0" tIns="0" rIns="0" bIns="0" rtlCol="0" anchor="ctr"/>
          <a:lstStyle/>
          <a:p>
            <a:pPr marL="0" indent="0">
              <a:buNone/>
            </a:pPr>
            <a:r>
              <a:rPr lang="en-US" sz="2100" b="1" dirty="0">
                <a:solidFill>
                  <a:srgbClr val="1F2937"/>
                </a:solidFill>
                <a:latin typeface="Aptos Display" pitchFamily="34" charset="0"/>
                <a:ea typeface="Aptos Display" pitchFamily="34" charset="-122"/>
                <a:cs typeface="Aptos Display" pitchFamily="34" charset="-120"/>
              </a:rPr>
              <a:t>Four goals</a:t>
            </a:r>
            <a:endParaRPr lang="en-US" sz="2100" dirty="0"/>
          </a:p>
        </p:txBody>
      </p:sp>
      <p:sp>
        <p:nvSpPr>
          <p:cNvPr id="36" name="Shape 34"/>
          <p:cNvSpPr/>
          <p:nvPr/>
        </p:nvSpPr>
        <p:spPr>
          <a:xfrm>
            <a:off x="6565392" y="1810512"/>
            <a:ext cx="4681728" cy="749808"/>
          </a:xfrm>
          <a:prstGeom prst="roundRect">
            <a:avLst>
              <a:gd name="adj" fmla="val 14634"/>
            </a:avLst>
          </a:prstGeom>
          <a:solidFill>
            <a:srgbClr val="EEF6FF"/>
          </a:solidFill>
          <a:ln w="12700">
            <a:solidFill>
              <a:srgbClr val="E5E7EB"/>
            </a:solidFill>
            <a:prstDash val="solid"/>
          </a:ln>
          <a:effectLst>
            <a:outerShdw blurRad="12700" dist="19050" dir="2700000" algn="bl" rotWithShape="0">
              <a:srgbClr val="000000">
                <a:alpha val="12000"/>
              </a:srgbClr>
            </a:outerShdw>
          </a:effectLst>
        </p:spPr>
        <p:txBody>
          <a:bodyPr/>
          <a:lstStyle/>
          <a:p>
            <a:endParaRPr lang="en-US"/>
          </a:p>
        </p:txBody>
      </p:sp>
      <p:sp>
        <p:nvSpPr>
          <p:cNvPr id="37" name="Text 35"/>
          <p:cNvSpPr/>
          <p:nvPr/>
        </p:nvSpPr>
        <p:spPr>
          <a:xfrm>
            <a:off x="6812280" y="1956816"/>
            <a:ext cx="2057400" cy="164592"/>
          </a:xfrm>
          <a:prstGeom prst="rect">
            <a:avLst/>
          </a:prstGeom>
          <a:noFill/>
          <a:ln/>
        </p:spPr>
        <p:txBody>
          <a:bodyPr wrap="square" lIns="0" tIns="0" rIns="0" bIns="0" rtlCol="0" anchor="ctr"/>
          <a:lstStyle/>
          <a:p>
            <a:pPr marL="0" indent="0">
              <a:buNone/>
            </a:pPr>
            <a:r>
              <a:rPr lang="en-US" sz="1620" b="1" dirty="0">
                <a:solidFill>
                  <a:srgbClr val="1F2937"/>
                </a:solidFill>
                <a:latin typeface="Aptos" pitchFamily="34" charset="0"/>
                <a:ea typeface="Aptos" pitchFamily="34" charset="-122"/>
                <a:cs typeface="Aptos" pitchFamily="34" charset="-120"/>
              </a:rPr>
              <a:t>Privacy risk</a:t>
            </a:r>
            <a:endParaRPr lang="en-US" sz="1620" dirty="0"/>
          </a:p>
        </p:txBody>
      </p:sp>
      <p:sp>
        <p:nvSpPr>
          <p:cNvPr id="38" name="Text 36"/>
          <p:cNvSpPr/>
          <p:nvPr/>
        </p:nvSpPr>
        <p:spPr>
          <a:xfrm>
            <a:off x="9281160" y="1956816"/>
            <a:ext cx="1417320" cy="164592"/>
          </a:xfrm>
          <a:prstGeom prst="rect">
            <a:avLst/>
          </a:prstGeom>
          <a:noFill/>
          <a:ln/>
        </p:spPr>
        <p:txBody>
          <a:bodyPr wrap="square" lIns="0" tIns="0" rIns="0" bIns="0" rtlCol="0" anchor="ctr"/>
          <a:lstStyle/>
          <a:p>
            <a:pPr marL="0" indent="0" algn="r">
              <a:buNone/>
            </a:pPr>
            <a:r>
              <a:rPr lang="en-US" sz="1420" dirty="0">
                <a:solidFill>
                  <a:srgbClr val="6B7280"/>
                </a:solidFill>
                <a:latin typeface="Aptos" pitchFamily="34" charset="0"/>
                <a:ea typeface="Aptos" pitchFamily="34" charset="-122"/>
                <a:cs typeface="Aptos" pitchFamily="34" charset="-120"/>
              </a:rPr>
              <a:t>Lower is better</a:t>
            </a:r>
            <a:endParaRPr lang="en-US" sz="1420" dirty="0"/>
          </a:p>
        </p:txBody>
      </p:sp>
      <p:sp>
        <p:nvSpPr>
          <p:cNvPr id="39" name="Shape 37"/>
          <p:cNvSpPr/>
          <p:nvPr/>
        </p:nvSpPr>
        <p:spPr>
          <a:xfrm>
            <a:off x="6565392" y="2679192"/>
            <a:ext cx="4681728" cy="749808"/>
          </a:xfrm>
          <a:prstGeom prst="roundRect">
            <a:avLst>
              <a:gd name="adj" fmla="val 14634"/>
            </a:avLst>
          </a:prstGeom>
          <a:solidFill>
            <a:srgbClr val="FFF7EB"/>
          </a:solidFill>
          <a:ln w="12700">
            <a:solidFill>
              <a:srgbClr val="E5E7EB"/>
            </a:solidFill>
            <a:prstDash val="solid"/>
          </a:ln>
          <a:effectLst>
            <a:outerShdw blurRad="12700" dist="19050" dir="2700000" algn="bl" rotWithShape="0">
              <a:srgbClr val="000000">
                <a:alpha val="12000"/>
              </a:srgbClr>
            </a:outerShdw>
          </a:effectLst>
        </p:spPr>
        <p:txBody>
          <a:bodyPr/>
          <a:lstStyle/>
          <a:p>
            <a:endParaRPr lang="en-US"/>
          </a:p>
        </p:txBody>
      </p:sp>
      <p:sp>
        <p:nvSpPr>
          <p:cNvPr id="40" name="Text 38"/>
          <p:cNvSpPr/>
          <p:nvPr/>
        </p:nvSpPr>
        <p:spPr>
          <a:xfrm>
            <a:off x="6812280" y="2825496"/>
            <a:ext cx="2057400" cy="164592"/>
          </a:xfrm>
          <a:prstGeom prst="rect">
            <a:avLst/>
          </a:prstGeom>
          <a:noFill/>
          <a:ln/>
        </p:spPr>
        <p:txBody>
          <a:bodyPr wrap="square" lIns="0" tIns="0" rIns="0" bIns="0" rtlCol="0" anchor="ctr"/>
          <a:lstStyle/>
          <a:p>
            <a:pPr marL="0" indent="0">
              <a:buNone/>
            </a:pPr>
            <a:r>
              <a:rPr lang="en-US" sz="1620" b="1" dirty="0">
                <a:solidFill>
                  <a:srgbClr val="1F2937"/>
                </a:solidFill>
                <a:latin typeface="Aptos" pitchFamily="34" charset="0"/>
                <a:ea typeface="Aptos" pitchFamily="34" charset="-122"/>
                <a:cs typeface="Aptos" pitchFamily="34" charset="-120"/>
              </a:rPr>
              <a:t>Latency</a:t>
            </a:r>
            <a:endParaRPr lang="en-US" sz="1620" dirty="0"/>
          </a:p>
        </p:txBody>
      </p:sp>
      <p:sp>
        <p:nvSpPr>
          <p:cNvPr id="41" name="Text 39"/>
          <p:cNvSpPr/>
          <p:nvPr/>
        </p:nvSpPr>
        <p:spPr>
          <a:xfrm>
            <a:off x="9281160" y="2825496"/>
            <a:ext cx="1417320" cy="164592"/>
          </a:xfrm>
          <a:prstGeom prst="rect">
            <a:avLst/>
          </a:prstGeom>
          <a:noFill/>
          <a:ln/>
        </p:spPr>
        <p:txBody>
          <a:bodyPr wrap="square" lIns="0" tIns="0" rIns="0" bIns="0" rtlCol="0" anchor="ctr"/>
          <a:lstStyle/>
          <a:p>
            <a:pPr marL="0" indent="0" algn="r">
              <a:buNone/>
            </a:pPr>
            <a:r>
              <a:rPr lang="en-US" sz="1420" dirty="0">
                <a:solidFill>
                  <a:srgbClr val="6B7280"/>
                </a:solidFill>
                <a:latin typeface="Aptos" pitchFamily="34" charset="0"/>
                <a:ea typeface="Aptos" pitchFamily="34" charset="-122"/>
                <a:cs typeface="Aptos" pitchFamily="34" charset="-120"/>
              </a:rPr>
              <a:t>Lower is better</a:t>
            </a:r>
            <a:endParaRPr lang="en-US" sz="1420" dirty="0"/>
          </a:p>
        </p:txBody>
      </p:sp>
      <p:sp>
        <p:nvSpPr>
          <p:cNvPr id="42" name="Shape 40"/>
          <p:cNvSpPr/>
          <p:nvPr/>
        </p:nvSpPr>
        <p:spPr>
          <a:xfrm>
            <a:off x="6565392" y="3547872"/>
            <a:ext cx="4681728" cy="749808"/>
          </a:xfrm>
          <a:prstGeom prst="roundRect">
            <a:avLst>
              <a:gd name="adj" fmla="val 14634"/>
            </a:avLst>
          </a:prstGeom>
          <a:solidFill>
            <a:srgbClr val="F1FBF6"/>
          </a:solidFill>
          <a:ln w="12700">
            <a:solidFill>
              <a:srgbClr val="E5E7EB"/>
            </a:solidFill>
            <a:prstDash val="solid"/>
          </a:ln>
          <a:effectLst>
            <a:outerShdw blurRad="12700" dist="19050" dir="2700000" algn="bl" rotWithShape="0">
              <a:srgbClr val="000000">
                <a:alpha val="12000"/>
              </a:srgbClr>
            </a:outerShdw>
          </a:effectLst>
        </p:spPr>
        <p:txBody>
          <a:bodyPr/>
          <a:lstStyle/>
          <a:p>
            <a:endParaRPr lang="en-US"/>
          </a:p>
        </p:txBody>
      </p:sp>
      <p:sp>
        <p:nvSpPr>
          <p:cNvPr id="43" name="Text 41"/>
          <p:cNvSpPr/>
          <p:nvPr/>
        </p:nvSpPr>
        <p:spPr>
          <a:xfrm>
            <a:off x="6812280" y="3694176"/>
            <a:ext cx="2057400" cy="164592"/>
          </a:xfrm>
          <a:prstGeom prst="rect">
            <a:avLst/>
          </a:prstGeom>
          <a:noFill/>
          <a:ln/>
        </p:spPr>
        <p:txBody>
          <a:bodyPr wrap="square" lIns="0" tIns="0" rIns="0" bIns="0" rtlCol="0" anchor="ctr"/>
          <a:lstStyle/>
          <a:p>
            <a:pPr marL="0" indent="0">
              <a:buNone/>
            </a:pPr>
            <a:r>
              <a:rPr lang="en-US" sz="1620" b="1" dirty="0">
                <a:solidFill>
                  <a:srgbClr val="1F2937"/>
                </a:solidFill>
                <a:latin typeface="Aptos" pitchFamily="34" charset="0"/>
                <a:ea typeface="Aptos" pitchFamily="34" charset="-122"/>
                <a:cs typeface="Aptos" pitchFamily="34" charset="-120"/>
              </a:rPr>
              <a:t>Energy / resource cost</a:t>
            </a:r>
            <a:endParaRPr lang="en-US" sz="1620" dirty="0"/>
          </a:p>
        </p:txBody>
      </p:sp>
      <p:sp>
        <p:nvSpPr>
          <p:cNvPr id="44" name="Text 42"/>
          <p:cNvSpPr/>
          <p:nvPr/>
        </p:nvSpPr>
        <p:spPr>
          <a:xfrm>
            <a:off x="9281160" y="3694176"/>
            <a:ext cx="1417320" cy="164592"/>
          </a:xfrm>
          <a:prstGeom prst="rect">
            <a:avLst/>
          </a:prstGeom>
          <a:noFill/>
          <a:ln/>
        </p:spPr>
        <p:txBody>
          <a:bodyPr wrap="square" lIns="0" tIns="0" rIns="0" bIns="0" rtlCol="0" anchor="ctr"/>
          <a:lstStyle/>
          <a:p>
            <a:pPr marL="0" indent="0" algn="r">
              <a:buNone/>
            </a:pPr>
            <a:r>
              <a:rPr lang="en-US" sz="1420" dirty="0">
                <a:solidFill>
                  <a:srgbClr val="6B7280"/>
                </a:solidFill>
                <a:latin typeface="Aptos" pitchFamily="34" charset="0"/>
                <a:ea typeface="Aptos" pitchFamily="34" charset="-122"/>
                <a:cs typeface="Aptos" pitchFamily="34" charset="-120"/>
              </a:rPr>
              <a:t>Lower is better</a:t>
            </a:r>
            <a:endParaRPr lang="en-US" sz="1420" dirty="0"/>
          </a:p>
        </p:txBody>
      </p:sp>
      <p:sp>
        <p:nvSpPr>
          <p:cNvPr id="45" name="Shape 43"/>
          <p:cNvSpPr/>
          <p:nvPr/>
        </p:nvSpPr>
        <p:spPr>
          <a:xfrm>
            <a:off x="6565392" y="4416552"/>
            <a:ext cx="4681728" cy="749808"/>
          </a:xfrm>
          <a:prstGeom prst="roundRect">
            <a:avLst>
              <a:gd name="adj" fmla="val 14634"/>
            </a:avLst>
          </a:prstGeom>
          <a:solidFill>
            <a:srgbClr val="F2F0FE"/>
          </a:solidFill>
          <a:ln w="12700">
            <a:solidFill>
              <a:srgbClr val="E5E7EB"/>
            </a:solidFill>
            <a:prstDash val="solid"/>
          </a:ln>
          <a:effectLst>
            <a:outerShdw blurRad="12700" dist="19050" dir="2700000" algn="bl" rotWithShape="0">
              <a:srgbClr val="000000">
                <a:alpha val="12000"/>
              </a:srgbClr>
            </a:outerShdw>
          </a:effectLst>
        </p:spPr>
        <p:txBody>
          <a:bodyPr/>
          <a:lstStyle/>
          <a:p>
            <a:endParaRPr lang="en-US"/>
          </a:p>
        </p:txBody>
      </p:sp>
      <p:sp>
        <p:nvSpPr>
          <p:cNvPr id="46" name="Text 44"/>
          <p:cNvSpPr/>
          <p:nvPr/>
        </p:nvSpPr>
        <p:spPr>
          <a:xfrm>
            <a:off x="6812280" y="4562856"/>
            <a:ext cx="2057400" cy="164592"/>
          </a:xfrm>
          <a:prstGeom prst="rect">
            <a:avLst/>
          </a:prstGeom>
          <a:noFill/>
          <a:ln/>
        </p:spPr>
        <p:txBody>
          <a:bodyPr wrap="square" lIns="0" tIns="0" rIns="0" bIns="0" rtlCol="0" anchor="ctr"/>
          <a:lstStyle/>
          <a:p>
            <a:pPr marL="0" indent="0">
              <a:buNone/>
            </a:pPr>
            <a:r>
              <a:rPr lang="en-US" sz="1620" b="1" dirty="0">
                <a:solidFill>
                  <a:srgbClr val="1F2937"/>
                </a:solidFill>
                <a:latin typeface="Aptos" pitchFamily="34" charset="0"/>
                <a:ea typeface="Aptos" pitchFamily="34" charset="-122"/>
                <a:cs typeface="Aptos" pitchFamily="34" charset="-120"/>
              </a:rPr>
              <a:t>Robustness</a:t>
            </a:r>
            <a:endParaRPr lang="en-US" sz="1620" dirty="0"/>
          </a:p>
        </p:txBody>
      </p:sp>
      <p:sp>
        <p:nvSpPr>
          <p:cNvPr id="47" name="Text 45"/>
          <p:cNvSpPr/>
          <p:nvPr/>
        </p:nvSpPr>
        <p:spPr>
          <a:xfrm>
            <a:off x="9281160" y="4562856"/>
            <a:ext cx="1417320" cy="164592"/>
          </a:xfrm>
          <a:prstGeom prst="rect">
            <a:avLst/>
          </a:prstGeom>
          <a:noFill/>
          <a:ln/>
        </p:spPr>
        <p:txBody>
          <a:bodyPr wrap="square" lIns="0" tIns="0" rIns="0" bIns="0" rtlCol="0" anchor="ctr"/>
          <a:lstStyle/>
          <a:p>
            <a:pPr marL="0" indent="0" algn="r">
              <a:buNone/>
            </a:pPr>
            <a:r>
              <a:rPr lang="en-US" sz="1420" dirty="0">
                <a:solidFill>
                  <a:srgbClr val="6B7280"/>
                </a:solidFill>
                <a:latin typeface="Aptos" pitchFamily="34" charset="0"/>
                <a:ea typeface="Aptos" pitchFamily="34" charset="-122"/>
                <a:cs typeface="Aptos" pitchFamily="34" charset="-120"/>
              </a:rPr>
              <a:t>Higher is better</a:t>
            </a:r>
            <a:endParaRPr lang="en-US" sz="1420" dirty="0"/>
          </a:p>
        </p:txBody>
      </p:sp>
      <p:sp>
        <p:nvSpPr>
          <p:cNvPr id="48" name="Shape 46"/>
          <p:cNvSpPr/>
          <p:nvPr/>
        </p:nvSpPr>
        <p:spPr>
          <a:xfrm>
            <a:off x="6565392" y="5504688"/>
            <a:ext cx="4681728" cy="475488"/>
          </a:xfrm>
          <a:prstGeom prst="roundRect">
            <a:avLst>
              <a:gd name="adj" fmla="val 23077"/>
            </a:avLst>
          </a:prstGeom>
          <a:solidFill>
            <a:srgbClr val="EEF6FF"/>
          </a:solidFill>
          <a:ln w="12700">
            <a:solidFill>
              <a:srgbClr val="CFE1F9"/>
            </a:solidFill>
            <a:prstDash val="solid"/>
          </a:ln>
          <a:effectLst>
            <a:outerShdw blurRad="12700" dist="19050" dir="2700000" algn="bl" rotWithShape="0">
              <a:srgbClr val="000000">
                <a:alpha val="12000"/>
              </a:srgbClr>
            </a:outerShdw>
          </a:effectLst>
        </p:spPr>
        <p:txBody>
          <a:bodyPr/>
          <a:lstStyle/>
          <a:p>
            <a:endParaRPr lang="en-US"/>
          </a:p>
        </p:txBody>
      </p:sp>
      <p:sp>
        <p:nvSpPr>
          <p:cNvPr id="49" name="Text 47"/>
          <p:cNvSpPr/>
          <p:nvPr/>
        </p:nvSpPr>
        <p:spPr>
          <a:xfrm>
            <a:off x="6784848" y="5632704"/>
            <a:ext cx="4251960" cy="164592"/>
          </a:xfrm>
          <a:prstGeom prst="rect">
            <a:avLst/>
          </a:prstGeom>
          <a:noFill/>
          <a:ln/>
        </p:spPr>
        <p:txBody>
          <a:bodyPr wrap="square" lIns="0" tIns="0" rIns="0" bIns="0" rtlCol="0" anchor="ctr"/>
          <a:lstStyle/>
          <a:p>
            <a:pPr marL="0" indent="0" algn="ctr">
              <a:buNone/>
            </a:pPr>
            <a:r>
              <a:rPr lang="en-US" sz="1460" b="1" dirty="0">
                <a:solidFill>
                  <a:srgbClr val="1F2937"/>
                </a:solidFill>
                <a:latin typeface="Aptos" pitchFamily="34" charset="0"/>
                <a:ea typeface="Aptos" pitchFamily="34" charset="-122"/>
                <a:cs typeface="Aptos" pitchFamily="34" charset="-120"/>
              </a:rPr>
              <a:t>Different scenarios need different balance points. That is why the framework is context-aware.</a:t>
            </a:r>
            <a:endParaRPr lang="en-US" sz="1460" dirty="0"/>
          </a:p>
        </p:txBody>
      </p:sp>
      <p:sp>
        <p:nvSpPr>
          <p:cNvPr id="50" name="Text 48"/>
          <p:cNvSpPr/>
          <p:nvPr/>
        </p:nvSpPr>
        <p:spPr>
          <a:xfrm>
            <a:off x="11475720" y="6510528"/>
            <a:ext cx="228600" cy="146304"/>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alpha val="0"/>
              </a:srgbClr>
            </a:solidFill>
            <a:prstDash val="solid"/>
          </a:ln>
        </p:spPr>
        <p:txBody>
          <a:bodyPr/>
          <a:lstStyle/>
          <a:p>
            <a:endParaRPr lang="en-US"/>
          </a:p>
        </p:txBody>
      </p:sp>
      <p:sp>
        <p:nvSpPr>
          <p:cNvPr id="3" name="Shape 1"/>
          <p:cNvSpPr/>
          <p:nvPr/>
        </p:nvSpPr>
        <p:spPr>
          <a:xfrm>
            <a:off x="0" y="658368"/>
            <a:ext cx="12191695" cy="45720"/>
          </a:xfrm>
          <a:prstGeom prst="rect">
            <a:avLst/>
          </a:prstGeom>
          <a:solidFill>
            <a:srgbClr val="14A36F"/>
          </a:solidFill>
          <a:ln w="12700">
            <a:solidFill>
              <a:srgbClr val="14A36F">
                <a:alpha val="0"/>
              </a:srgbClr>
            </a:solidFill>
            <a:prstDash val="solid"/>
          </a:ln>
        </p:spPr>
        <p:txBody>
          <a:bodyPr/>
          <a:lstStyle/>
          <a:p>
            <a:endParaRPr lang="en-US"/>
          </a:p>
        </p:txBody>
      </p:sp>
      <p:sp>
        <p:nvSpPr>
          <p:cNvPr id="4" name="Text 2"/>
          <p:cNvSpPr/>
          <p:nvPr/>
        </p:nvSpPr>
        <p:spPr>
          <a:xfrm>
            <a:off x="502920" y="155448"/>
            <a:ext cx="9052560" cy="274320"/>
          </a:xfrm>
          <a:prstGeom prst="rect">
            <a:avLst/>
          </a:prstGeom>
          <a:noFill/>
          <a:ln/>
        </p:spPr>
        <p:txBody>
          <a:bodyPr wrap="square" lIns="0" tIns="0" rIns="0" bIns="0" rtlCol="0" anchor="ctr"/>
          <a:lstStyle/>
          <a:p>
            <a:pPr marL="0" indent="0">
              <a:buNone/>
            </a:pPr>
            <a:r>
              <a:rPr lang="en-US" sz="2300" b="1" dirty="0">
                <a:solidFill>
                  <a:srgbClr val="FFFFFF"/>
                </a:solidFill>
                <a:latin typeface="Aptos Display" pitchFamily="34" charset="0"/>
                <a:ea typeface="Aptos Display" pitchFamily="34" charset="-122"/>
                <a:cs typeface="Aptos Display" pitchFamily="34" charset="-120"/>
              </a:rPr>
              <a:t>How the paper was evaluated</a:t>
            </a:r>
            <a:endParaRPr lang="en-US" sz="2300" dirty="0"/>
          </a:p>
        </p:txBody>
      </p:sp>
      <p:sp>
        <p:nvSpPr>
          <p:cNvPr id="5" name="Text 3"/>
          <p:cNvSpPr/>
          <p:nvPr/>
        </p:nvSpPr>
        <p:spPr>
          <a:xfrm>
            <a:off x="9829800" y="164592"/>
            <a:ext cx="1783080" cy="256032"/>
          </a:xfrm>
          <a:prstGeom prst="rect">
            <a:avLst/>
          </a:prstGeom>
          <a:noFill/>
          <a:ln/>
        </p:spPr>
        <p:txBody>
          <a:bodyPr wrap="square" lIns="0" tIns="0" rIns="0" bIns="0" rtlCol="0" anchor="ctr"/>
          <a:lstStyle/>
          <a:p>
            <a:pPr marL="0" indent="0" algn="r">
              <a:buNone/>
            </a:pPr>
            <a:r>
              <a:rPr lang="en-US" sz="950" dirty="0">
                <a:solidFill>
                  <a:srgbClr val="D8E2EE"/>
                </a:solidFill>
                <a:latin typeface="Aptos" pitchFamily="34" charset="0"/>
                <a:ea typeface="Aptos" pitchFamily="34" charset="-122"/>
                <a:cs typeface="Aptos" pitchFamily="34" charset="-120"/>
              </a:rPr>
              <a:t>Experiments</a:t>
            </a:r>
            <a:endParaRPr lang="en-US" sz="950" dirty="0"/>
          </a:p>
        </p:txBody>
      </p:sp>
      <p:sp>
        <p:nvSpPr>
          <p:cNvPr id="6" name="Text 4"/>
          <p:cNvSpPr/>
          <p:nvPr/>
        </p:nvSpPr>
        <p:spPr>
          <a:xfrm>
            <a:off x="502920" y="6556248"/>
            <a:ext cx="3291840" cy="146304"/>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FiB-MOBA-EAFG • Health IoT governance</a:t>
            </a:r>
            <a:endParaRPr lang="en-US" sz="850" dirty="0"/>
          </a:p>
        </p:txBody>
      </p:sp>
      <p:sp>
        <p:nvSpPr>
          <p:cNvPr id="7" name="Text 5"/>
          <p:cNvSpPr/>
          <p:nvPr/>
        </p:nvSpPr>
        <p:spPr>
          <a:xfrm>
            <a:off x="749808" y="1078992"/>
            <a:ext cx="2377440" cy="219456"/>
          </a:xfrm>
          <a:prstGeom prst="rect">
            <a:avLst/>
          </a:prstGeom>
          <a:noFill/>
          <a:ln/>
        </p:spPr>
        <p:txBody>
          <a:bodyPr wrap="square" lIns="0" tIns="0" rIns="0" bIns="0" rtlCol="0" anchor="ctr"/>
          <a:lstStyle/>
          <a:p>
            <a:pPr marL="0" indent="0">
              <a:buNone/>
            </a:pPr>
            <a:r>
              <a:rPr lang="en-US" sz="2100" b="1" dirty="0">
                <a:solidFill>
                  <a:srgbClr val="1F2937"/>
                </a:solidFill>
                <a:latin typeface="Aptos Display" pitchFamily="34" charset="0"/>
                <a:ea typeface="Aptos Display" pitchFamily="34" charset="-122"/>
                <a:cs typeface="Aptos Display" pitchFamily="34" charset="-120"/>
              </a:rPr>
              <a:t>Three operating scenarios</a:t>
            </a:r>
            <a:endParaRPr lang="en-US" sz="2100" dirty="0"/>
          </a:p>
        </p:txBody>
      </p:sp>
      <p:sp>
        <p:nvSpPr>
          <p:cNvPr id="8" name="Shape 6"/>
          <p:cNvSpPr/>
          <p:nvPr/>
        </p:nvSpPr>
        <p:spPr>
          <a:xfrm>
            <a:off x="749808" y="1508760"/>
            <a:ext cx="3310128" cy="1371600"/>
          </a:xfrm>
          <a:prstGeom prst="roundRect">
            <a:avLst>
              <a:gd name="adj" fmla="val 8000"/>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9" name="Shape 7"/>
          <p:cNvSpPr/>
          <p:nvPr/>
        </p:nvSpPr>
        <p:spPr>
          <a:xfrm>
            <a:off x="960120" y="1737360"/>
            <a:ext cx="1371600" cy="310896"/>
          </a:xfrm>
          <a:prstGeom prst="roundRect">
            <a:avLst/>
          </a:prstGeom>
          <a:solidFill>
            <a:srgbClr val="2476D6"/>
          </a:solidFill>
          <a:ln w="12700">
            <a:solidFill>
              <a:srgbClr val="2476D6">
                <a:alpha val="0"/>
              </a:srgbClr>
            </a:solidFill>
            <a:prstDash val="solid"/>
          </a:ln>
        </p:spPr>
        <p:txBody>
          <a:bodyPr/>
          <a:lstStyle/>
          <a:p>
            <a:endParaRPr lang="en-US"/>
          </a:p>
        </p:txBody>
      </p:sp>
      <p:sp>
        <p:nvSpPr>
          <p:cNvPr id="10" name="Text 8"/>
          <p:cNvSpPr/>
          <p:nvPr/>
        </p:nvSpPr>
        <p:spPr>
          <a:xfrm>
            <a:off x="960120" y="1801368"/>
            <a:ext cx="1371600"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S1 Home RPM</a:t>
            </a:r>
            <a:endParaRPr lang="en-US" sz="950" dirty="0"/>
          </a:p>
        </p:txBody>
      </p:sp>
      <p:sp>
        <p:nvSpPr>
          <p:cNvPr id="11" name="Text 9"/>
          <p:cNvSpPr/>
          <p:nvPr/>
        </p:nvSpPr>
        <p:spPr>
          <a:xfrm>
            <a:off x="978408" y="2103120"/>
            <a:ext cx="2697480" cy="502920"/>
          </a:xfrm>
          <a:prstGeom prst="rect">
            <a:avLst/>
          </a:prstGeom>
          <a:noFill/>
          <a:ln/>
        </p:spPr>
        <p:txBody>
          <a:bodyPr wrap="square" lIns="0" tIns="0" rIns="0" bIns="0" rtlCol="0" anchor="ctr"/>
          <a:lstStyle/>
          <a:p>
            <a:pPr marL="0" indent="0">
              <a:buNone/>
            </a:pPr>
            <a:r>
              <a:rPr lang="en-US" sz="1540" dirty="0">
                <a:solidFill>
                  <a:srgbClr val="1F2937"/>
                </a:solidFill>
                <a:latin typeface="Aptos" pitchFamily="34" charset="0"/>
                <a:ea typeface="Aptos" pitchFamily="34" charset="-122"/>
                <a:cs typeface="Aptos" pitchFamily="34" charset="-120"/>
              </a:rPr>
              <a:t>Low bandwidth</a:t>
            </a:r>
            <a:endParaRPr lang="en-US" sz="1540" dirty="0"/>
          </a:p>
          <a:p>
            <a:pPr marL="0" indent="0">
              <a:buNone/>
            </a:pPr>
            <a:r>
              <a:rPr lang="en-US" sz="1540" dirty="0">
                <a:solidFill>
                  <a:srgbClr val="1F2937"/>
                </a:solidFill>
                <a:latin typeface="Aptos" pitchFamily="34" charset="0"/>
                <a:ea typeface="Aptos" pitchFamily="34" charset="-122"/>
                <a:cs typeface="Aptos" pitchFamily="34" charset="-120"/>
              </a:rPr>
              <a:t>More conservative sharing</a:t>
            </a:r>
            <a:endParaRPr lang="en-US" sz="1540" dirty="0"/>
          </a:p>
        </p:txBody>
      </p:sp>
      <p:sp>
        <p:nvSpPr>
          <p:cNvPr id="12" name="Shape 10"/>
          <p:cNvSpPr/>
          <p:nvPr/>
        </p:nvSpPr>
        <p:spPr>
          <a:xfrm>
            <a:off x="4453128" y="1508760"/>
            <a:ext cx="3310128" cy="1371600"/>
          </a:xfrm>
          <a:prstGeom prst="roundRect">
            <a:avLst>
              <a:gd name="adj" fmla="val 8000"/>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13" name="Shape 11"/>
          <p:cNvSpPr/>
          <p:nvPr/>
        </p:nvSpPr>
        <p:spPr>
          <a:xfrm>
            <a:off x="4663440" y="1737360"/>
            <a:ext cx="1371600" cy="310896"/>
          </a:xfrm>
          <a:prstGeom prst="roundRect">
            <a:avLst/>
          </a:prstGeom>
          <a:solidFill>
            <a:srgbClr val="14A36F"/>
          </a:solidFill>
          <a:ln w="12700">
            <a:solidFill>
              <a:srgbClr val="14A36F">
                <a:alpha val="0"/>
              </a:srgbClr>
            </a:solidFill>
            <a:prstDash val="solid"/>
          </a:ln>
        </p:spPr>
        <p:txBody>
          <a:bodyPr/>
          <a:lstStyle/>
          <a:p>
            <a:endParaRPr lang="en-US"/>
          </a:p>
        </p:txBody>
      </p:sp>
      <p:sp>
        <p:nvSpPr>
          <p:cNvPr id="14" name="Text 12"/>
          <p:cNvSpPr/>
          <p:nvPr/>
        </p:nvSpPr>
        <p:spPr>
          <a:xfrm>
            <a:off x="4663440" y="1801368"/>
            <a:ext cx="1371600"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S2 Clinic Telehealth</a:t>
            </a:r>
            <a:endParaRPr lang="en-US" sz="950" dirty="0"/>
          </a:p>
        </p:txBody>
      </p:sp>
      <p:sp>
        <p:nvSpPr>
          <p:cNvPr id="15" name="Text 13"/>
          <p:cNvSpPr/>
          <p:nvPr/>
        </p:nvSpPr>
        <p:spPr>
          <a:xfrm>
            <a:off x="4681728" y="2103120"/>
            <a:ext cx="2697480" cy="502920"/>
          </a:xfrm>
          <a:prstGeom prst="rect">
            <a:avLst/>
          </a:prstGeom>
          <a:noFill/>
          <a:ln/>
        </p:spPr>
        <p:txBody>
          <a:bodyPr wrap="square" lIns="0" tIns="0" rIns="0" bIns="0" rtlCol="0" anchor="ctr"/>
          <a:lstStyle/>
          <a:p>
            <a:pPr marL="0" indent="0">
              <a:buNone/>
            </a:pPr>
            <a:r>
              <a:rPr lang="en-US" sz="1540" dirty="0">
                <a:solidFill>
                  <a:srgbClr val="1F2937"/>
                </a:solidFill>
                <a:latin typeface="Aptos" pitchFamily="34" charset="0"/>
                <a:ea typeface="Aptos" pitchFamily="34" charset="-122"/>
                <a:cs typeface="Aptos" pitchFamily="34" charset="-120"/>
              </a:rPr>
              <a:t>Balanced routine</a:t>
            </a:r>
            <a:endParaRPr lang="en-US" sz="1540" dirty="0"/>
          </a:p>
          <a:p>
            <a:pPr marL="0" indent="0">
              <a:buNone/>
            </a:pPr>
            <a:r>
              <a:rPr lang="en-US" sz="1540" dirty="0">
                <a:solidFill>
                  <a:srgbClr val="1F2937"/>
                </a:solidFill>
                <a:latin typeface="Aptos" pitchFamily="34" charset="0"/>
                <a:ea typeface="Aptos" pitchFamily="34" charset="-122"/>
                <a:cs typeface="Aptos" pitchFamily="34" charset="-120"/>
              </a:rPr>
              <a:t>monitoring workload</a:t>
            </a:r>
            <a:endParaRPr lang="en-US" sz="1540" dirty="0"/>
          </a:p>
        </p:txBody>
      </p:sp>
      <p:sp>
        <p:nvSpPr>
          <p:cNvPr id="16" name="Shape 14"/>
          <p:cNvSpPr/>
          <p:nvPr/>
        </p:nvSpPr>
        <p:spPr>
          <a:xfrm>
            <a:off x="8156448" y="1508760"/>
            <a:ext cx="3310128" cy="1371600"/>
          </a:xfrm>
          <a:prstGeom prst="roundRect">
            <a:avLst>
              <a:gd name="adj" fmla="val 8000"/>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17" name="Shape 15"/>
          <p:cNvSpPr/>
          <p:nvPr/>
        </p:nvSpPr>
        <p:spPr>
          <a:xfrm>
            <a:off x="8366760" y="1737360"/>
            <a:ext cx="1371600" cy="310896"/>
          </a:xfrm>
          <a:prstGeom prst="roundRect">
            <a:avLst/>
          </a:prstGeom>
          <a:solidFill>
            <a:srgbClr val="C93C37"/>
          </a:solidFill>
          <a:ln w="12700">
            <a:solidFill>
              <a:srgbClr val="C93C37">
                <a:alpha val="0"/>
              </a:srgbClr>
            </a:solidFill>
            <a:prstDash val="solid"/>
          </a:ln>
        </p:spPr>
        <p:txBody>
          <a:bodyPr/>
          <a:lstStyle/>
          <a:p>
            <a:endParaRPr lang="en-US"/>
          </a:p>
        </p:txBody>
      </p:sp>
      <p:sp>
        <p:nvSpPr>
          <p:cNvPr id="18" name="Text 16"/>
          <p:cNvSpPr/>
          <p:nvPr/>
        </p:nvSpPr>
        <p:spPr>
          <a:xfrm>
            <a:off x="8366760" y="1801368"/>
            <a:ext cx="1371600"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S3 Emergency Triage</a:t>
            </a:r>
            <a:endParaRPr lang="en-US" sz="950" dirty="0"/>
          </a:p>
        </p:txBody>
      </p:sp>
      <p:sp>
        <p:nvSpPr>
          <p:cNvPr id="19" name="Text 17"/>
          <p:cNvSpPr/>
          <p:nvPr/>
        </p:nvSpPr>
        <p:spPr>
          <a:xfrm>
            <a:off x="8385048" y="2103120"/>
            <a:ext cx="2697480" cy="502920"/>
          </a:xfrm>
          <a:prstGeom prst="rect">
            <a:avLst/>
          </a:prstGeom>
          <a:noFill/>
          <a:ln/>
        </p:spPr>
        <p:txBody>
          <a:bodyPr wrap="square" lIns="0" tIns="0" rIns="0" bIns="0" rtlCol="0" anchor="ctr"/>
          <a:lstStyle/>
          <a:p>
            <a:pPr marL="0" indent="0">
              <a:buNone/>
            </a:pPr>
            <a:r>
              <a:rPr lang="en-US" sz="1540" dirty="0">
                <a:solidFill>
                  <a:srgbClr val="1F2937"/>
                </a:solidFill>
                <a:latin typeface="Aptos" pitchFamily="34" charset="0"/>
                <a:ea typeface="Aptos" pitchFamily="34" charset="-122"/>
                <a:cs typeface="Aptos" pitchFamily="34" charset="-120"/>
              </a:rPr>
              <a:t>Low latency</a:t>
            </a:r>
            <a:endParaRPr lang="en-US" sz="1540" dirty="0"/>
          </a:p>
          <a:p>
            <a:pPr marL="0" indent="0">
              <a:buNone/>
            </a:pPr>
            <a:r>
              <a:rPr lang="en-US" sz="1540" dirty="0">
                <a:solidFill>
                  <a:srgbClr val="1F2937"/>
                </a:solidFill>
                <a:latin typeface="Aptos" pitchFamily="34" charset="0"/>
                <a:ea typeface="Aptos" pitchFamily="34" charset="-122"/>
                <a:cs typeface="Aptos" pitchFamily="34" charset="-120"/>
              </a:rPr>
              <a:t>Fast access still under safety bounds</a:t>
            </a:r>
            <a:endParaRPr lang="en-US" sz="1540" dirty="0"/>
          </a:p>
        </p:txBody>
      </p:sp>
      <p:sp>
        <p:nvSpPr>
          <p:cNvPr id="20" name="Shape 18"/>
          <p:cNvSpPr/>
          <p:nvPr/>
        </p:nvSpPr>
        <p:spPr>
          <a:xfrm>
            <a:off x="749808" y="3310128"/>
            <a:ext cx="5102352" cy="2212848"/>
          </a:xfrm>
          <a:prstGeom prst="roundRect">
            <a:avLst>
              <a:gd name="adj" fmla="val 4959"/>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21" name="Text 19"/>
          <p:cNvSpPr/>
          <p:nvPr/>
        </p:nvSpPr>
        <p:spPr>
          <a:xfrm>
            <a:off x="987552" y="3611880"/>
            <a:ext cx="2194560" cy="201168"/>
          </a:xfrm>
          <a:prstGeom prst="rect">
            <a:avLst/>
          </a:prstGeom>
          <a:noFill/>
          <a:ln/>
        </p:spPr>
        <p:txBody>
          <a:bodyPr wrap="square" lIns="0" tIns="0" rIns="0" bIns="0" rtlCol="0" anchor="ctr"/>
          <a:lstStyle/>
          <a:p>
            <a:pPr marL="0" indent="0">
              <a:buNone/>
            </a:pPr>
            <a:r>
              <a:rPr lang="en-US" sz="2000" b="1" dirty="0">
                <a:solidFill>
                  <a:srgbClr val="1F2937"/>
                </a:solidFill>
                <a:latin typeface="Aptos Display" pitchFamily="34" charset="0"/>
                <a:ea typeface="Aptos Display" pitchFamily="34" charset="-122"/>
                <a:cs typeface="Aptos Display" pitchFamily="34" charset="-120"/>
              </a:rPr>
              <a:t>Methods compared</a:t>
            </a:r>
            <a:endParaRPr lang="en-US" sz="2000" dirty="0"/>
          </a:p>
        </p:txBody>
      </p:sp>
      <p:sp>
        <p:nvSpPr>
          <p:cNvPr id="22" name="Text 20"/>
          <p:cNvSpPr/>
          <p:nvPr/>
        </p:nvSpPr>
        <p:spPr>
          <a:xfrm>
            <a:off x="987552" y="4059936"/>
            <a:ext cx="164592" cy="182880"/>
          </a:xfrm>
          <a:prstGeom prst="rect">
            <a:avLst/>
          </a:prstGeom>
          <a:noFill/>
          <a:ln/>
        </p:spPr>
        <p:txBody>
          <a:bodyPr wrap="square" lIns="0" tIns="0" rIns="0" bIns="0" rtlCol="0" anchor="ctr"/>
          <a:lstStyle/>
          <a:p>
            <a:pPr marL="0" indent="0">
              <a:buNone/>
            </a:pPr>
            <a:r>
              <a:rPr lang="en-US" sz="1680" b="1" dirty="0">
                <a:solidFill>
                  <a:srgbClr val="1F2937"/>
                </a:solidFill>
              </a:rPr>
              <a:t>•</a:t>
            </a:r>
            <a:endParaRPr lang="en-US" sz="1680" dirty="0"/>
          </a:p>
        </p:txBody>
      </p:sp>
      <p:sp>
        <p:nvSpPr>
          <p:cNvPr id="23" name="Text 21"/>
          <p:cNvSpPr/>
          <p:nvPr/>
        </p:nvSpPr>
        <p:spPr>
          <a:xfrm>
            <a:off x="1170432" y="4041648"/>
            <a:ext cx="4206240" cy="292608"/>
          </a:xfrm>
          <a:prstGeom prst="rect">
            <a:avLst/>
          </a:prstGeom>
          <a:noFill/>
          <a:ln/>
        </p:spPr>
        <p:txBody>
          <a:bodyPr wrap="square" lIns="0" tIns="0" rIns="0" bIns="0" rtlCol="0" anchor="ctr"/>
          <a:lstStyle/>
          <a:p>
            <a:pPr marL="0" indent="0">
              <a:buNone/>
            </a:pPr>
            <a:r>
              <a:rPr lang="en-US" sz="1480" dirty="0">
                <a:solidFill>
                  <a:srgbClr val="1F2937"/>
                </a:solidFill>
              </a:rPr>
              <a:t>Rule-based baseline</a:t>
            </a:r>
            <a:endParaRPr lang="en-US" sz="1480" dirty="0"/>
          </a:p>
        </p:txBody>
      </p:sp>
      <p:sp>
        <p:nvSpPr>
          <p:cNvPr id="24" name="Text 22"/>
          <p:cNvSpPr/>
          <p:nvPr/>
        </p:nvSpPr>
        <p:spPr>
          <a:xfrm>
            <a:off x="987552" y="4425696"/>
            <a:ext cx="164592" cy="182880"/>
          </a:xfrm>
          <a:prstGeom prst="rect">
            <a:avLst/>
          </a:prstGeom>
          <a:noFill/>
          <a:ln/>
        </p:spPr>
        <p:txBody>
          <a:bodyPr wrap="square" lIns="0" tIns="0" rIns="0" bIns="0" rtlCol="0" anchor="ctr"/>
          <a:lstStyle/>
          <a:p>
            <a:pPr marL="0" indent="0">
              <a:buNone/>
            </a:pPr>
            <a:r>
              <a:rPr lang="en-US" sz="1680" b="1" dirty="0">
                <a:solidFill>
                  <a:srgbClr val="1F2937"/>
                </a:solidFill>
              </a:rPr>
              <a:t>•</a:t>
            </a:r>
            <a:endParaRPr lang="en-US" sz="1680" dirty="0"/>
          </a:p>
        </p:txBody>
      </p:sp>
      <p:sp>
        <p:nvSpPr>
          <p:cNvPr id="25" name="Text 23"/>
          <p:cNvSpPr/>
          <p:nvPr/>
        </p:nvSpPr>
        <p:spPr>
          <a:xfrm>
            <a:off x="1170432" y="4407408"/>
            <a:ext cx="4206240" cy="292608"/>
          </a:xfrm>
          <a:prstGeom prst="rect">
            <a:avLst/>
          </a:prstGeom>
          <a:noFill/>
          <a:ln/>
        </p:spPr>
        <p:txBody>
          <a:bodyPr wrap="square" lIns="0" tIns="0" rIns="0" bIns="0" rtlCol="0" anchor="ctr"/>
          <a:lstStyle/>
          <a:p>
            <a:pPr marL="0" indent="0">
              <a:buNone/>
            </a:pPr>
            <a:r>
              <a:rPr lang="en-US" sz="1480" dirty="0">
                <a:solidFill>
                  <a:srgbClr val="1F2937"/>
                </a:solidFill>
              </a:rPr>
              <a:t>Weighted-sum scalarisation</a:t>
            </a:r>
            <a:endParaRPr lang="en-US" sz="1480" dirty="0"/>
          </a:p>
        </p:txBody>
      </p:sp>
      <p:sp>
        <p:nvSpPr>
          <p:cNvPr id="26" name="Text 24"/>
          <p:cNvSpPr/>
          <p:nvPr/>
        </p:nvSpPr>
        <p:spPr>
          <a:xfrm>
            <a:off x="987552" y="4791456"/>
            <a:ext cx="164592" cy="182880"/>
          </a:xfrm>
          <a:prstGeom prst="rect">
            <a:avLst/>
          </a:prstGeom>
          <a:noFill/>
          <a:ln/>
        </p:spPr>
        <p:txBody>
          <a:bodyPr wrap="square" lIns="0" tIns="0" rIns="0" bIns="0" rtlCol="0" anchor="ctr"/>
          <a:lstStyle/>
          <a:p>
            <a:pPr marL="0" indent="0">
              <a:buNone/>
            </a:pPr>
            <a:r>
              <a:rPr lang="en-US" sz="1680" b="1" dirty="0">
                <a:solidFill>
                  <a:srgbClr val="1F2937"/>
                </a:solidFill>
              </a:rPr>
              <a:t>•</a:t>
            </a:r>
            <a:endParaRPr lang="en-US" sz="1680" dirty="0"/>
          </a:p>
        </p:txBody>
      </p:sp>
      <p:sp>
        <p:nvSpPr>
          <p:cNvPr id="27" name="Text 25"/>
          <p:cNvSpPr/>
          <p:nvPr/>
        </p:nvSpPr>
        <p:spPr>
          <a:xfrm>
            <a:off x="1170432" y="4773168"/>
            <a:ext cx="4206240" cy="292608"/>
          </a:xfrm>
          <a:prstGeom prst="rect">
            <a:avLst/>
          </a:prstGeom>
          <a:noFill/>
          <a:ln/>
        </p:spPr>
        <p:txBody>
          <a:bodyPr wrap="square" lIns="0" tIns="0" rIns="0" bIns="0" rtlCol="0" anchor="ctr"/>
          <a:lstStyle/>
          <a:p>
            <a:pPr marL="0" indent="0">
              <a:buNone/>
            </a:pPr>
            <a:r>
              <a:rPr lang="en-US" sz="1480" dirty="0">
                <a:solidFill>
                  <a:srgbClr val="1F2937"/>
                </a:solidFill>
              </a:rPr>
              <a:t>Knee-point selector</a:t>
            </a:r>
            <a:endParaRPr lang="en-US" sz="1480" dirty="0"/>
          </a:p>
        </p:txBody>
      </p:sp>
      <p:sp>
        <p:nvSpPr>
          <p:cNvPr id="28" name="Text 26"/>
          <p:cNvSpPr/>
          <p:nvPr/>
        </p:nvSpPr>
        <p:spPr>
          <a:xfrm>
            <a:off x="987552" y="5157216"/>
            <a:ext cx="164592" cy="182880"/>
          </a:xfrm>
          <a:prstGeom prst="rect">
            <a:avLst/>
          </a:prstGeom>
          <a:noFill/>
          <a:ln/>
        </p:spPr>
        <p:txBody>
          <a:bodyPr wrap="square" lIns="0" tIns="0" rIns="0" bIns="0" rtlCol="0" anchor="ctr"/>
          <a:lstStyle/>
          <a:p>
            <a:pPr marL="0" indent="0">
              <a:buNone/>
            </a:pPr>
            <a:r>
              <a:rPr lang="en-US" sz="1680" b="1" dirty="0">
                <a:solidFill>
                  <a:srgbClr val="1F2937"/>
                </a:solidFill>
              </a:rPr>
              <a:t>•</a:t>
            </a:r>
            <a:endParaRPr lang="en-US" sz="1680" dirty="0"/>
          </a:p>
        </p:txBody>
      </p:sp>
      <p:sp>
        <p:nvSpPr>
          <p:cNvPr id="29" name="Text 27"/>
          <p:cNvSpPr/>
          <p:nvPr/>
        </p:nvSpPr>
        <p:spPr>
          <a:xfrm>
            <a:off x="1170432" y="5138928"/>
            <a:ext cx="4206240" cy="292608"/>
          </a:xfrm>
          <a:prstGeom prst="rect">
            <a:avLst/>
          </a:prstGeom>
          <a:noFill/>
          <a:ln/>
        </p:spPr>
        <p:txBody>
          <a:bodyPr wrap="square" lIns="0" tIns="0" rIns="0" bIns="0" rtlCol="0" anchor="ctr"/>
          <a:lstStyle/>
          <a:p>
            <a:pPr marL="0" indent="0">
              <a:buNone/>
            </a:pPr>
            <a:r>
              <a:rPr lang="en-US" sz="1480" dirty="0">
                <a:solidFill>
                  <a:srgbClr val="1F2937"/>
                </a:solidFill>
              </a:rPr>
              <a:t>FiB-MOBA-EAFG (proposed method)</a:t>
            </a:r>
            <a:endParaRPr lang="en-US" sz="1480" dirty="0"/>
          </a:p>
        </p:txBody>
      </p:sp>
      <p:sp>
        <p:nvSpPr>
          <p:cNvPr id="30" name="Shape 28"/>
          <p:cNvSpPr/>
          <p:nvPr/>
        </p:nvSpPr>
        <p:spPr>
          <a:xfrm>
            <a:off x="6172200" y="3310128"/>
            <a:ext cx="5257800" cy="2212848"/>
          </a:xfrm>
          <a:prstGeom prst="roundRect">
            <a:avLst>
              <a:gd name="adj" fmla="val 4959"/>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31" name="Text 29"/>
          <p:cNvSpPr/>
          <p:nvPr/>
        </p:nvSpPr>
        <p:spPr>
          <a:xfrm>
            <a:off x="6419088" y="3611880"/>
            <a:ext cx="1645920" cy="201168"/>
          </a:xfrm>
          <a:prstGeom prst="rect">
            <a:avLst/>
          </a:prstGeom>
          <a:noFill/>
          <a:ln/>
        </p:spPr>
        <p:txBody>
          <a:bodyPr wrap="square" lIns="0" tIns="0" rIns="0" bIns="0" rtlCol="0" anchor="ctr"/>
          <a:lstStyle/>
          <a:p>
            <a:pPr marL="0" indent="0">
              <a:buNone/>
            </a:pPr>
            <a:r>
              <a:rPr lang="en-US" sz="2000" b="1" dirty="0">
                <a:solidFill>
                  <a:srgbClr val="1F2937"/>
                </a:solidFill>
                <a:latin typeface="Aptos Display" pitchFamily="34" charset="0"/>
                <a:ea typeface="Aptos Display" pitchFamily="34" charset="-122"/>
                <a:cs typeface="Aptos Display" pitchFamily="34" charset="-120"/>
              </a:rPr>
              <a:t>Protocol</a:t>
            </a:r>
            <a:endParaRPr lang="en-US" sz="2000" dirty="0"/>
          </a:p>
        </p:txBody>
      </p:sp>
      <p:sp>
        <p:nvSpPr>
          <p:cNvPr id="32" name="Text 30"/>
          <p:cNvSpPr/>
          <p:nvPr/>
        </p:nvSpPr>
        <p:spPr>
          <a:xfrm>
            <a:off x="6419088" y="4059936"/>
            <a:ext cx="164592" cy="182880"/>
          </a:xfrm>
          <a:prstGeom prst="rect">
            <a:avLst/>
          </a:prstGeom>
          <a:noFill/>
          <a:ln/>
        </p:spPr>
        <p:txBody>
          <a:bodyPr wrap="square" lIns="0" tIns="0" rIns="0" bIns="0" rtlCol="0" anchor="ctr"/>
          <a:lstStyle/>
          <a:p>
            <a:pPr marL="0" indent="0">
              <a:buNone/>
            </a:pPr>
            <a:r>
              <a:rPr lang="en-US" sz="1640" b="1" dirty="0">
                <a:solidFill>
                  <a:srgbClr val="1F2937"/>
                </a:solidFill>
              </a:rPr>
              <a:t>•</a:t>
            </a:r>
            <a:endParaRPr lang="en-US" sz="1640" dirty="0"/>
          </a:p>
        </p:txBody>
      </p:sp>
      <p:sp>
        <p:nvSpPr>
          <p:cNvPr id="33" name="Text 31"/>
          <p:cNvSpPr/>
          <p:nvPr/>
        </p:nvSpPr>
        <p:spPr>
          <a:xfrm>
            <a:off x="6601968" y="4041648"/>
            <a:ext cx="4389120" cy="292608"/>
          </a:xfrm>
          <a:prstGeom prst="rect">
            <a:avLst/>
          </a:prstGeom>
          <a:noFill/>
          <a:ln/>
        </p:spPr>
        <p:txBody>
          <a:bodyPr wrap="square" lIns="0" tIns="0" rIns="0" bIns="0" rtlCol="0" anchor="ctr"/>
          <a:lstStyle/>
          <a:p>
            <a:pPr marL="0" indent="0">
              <a:buNone/>
            </a:pPr>
            <a:r>
              <a:rPr lang="en-US" sz="1440" dirty="0">
                <a:solidFill>
                  <a:srgbClr val="1F2937"/>
                </a:solidFill>
              </a:rPr>
              <a:t>20 stochastic trials per scenario</a:t>
            </a:r>
            <a:endParaRPr lang="en-US" sz="1440" dirty="0"/>
          </a:p>
        </p:txBody>
      </p:sp>
      <p:sp>
        <p:nvSpPr>
          <p:cNvPr id="34" name="Text 32"/>
          <p:cNvSpPr/>
          <p:nvPr/>
        </p:nvSpPr>
        <p:spPr>
          <a:xfrm>
            <a:off x="6419088" y="4489704"/>
            <a:ext cx="164592" cy="182880"/>
          </a:xfrm>
          <a:prstGeom prst="rect">
            <a:avLst/>
          </a:prstGeom>
          <a:noFill/>
          <a:ln/>
        </p:spPr>
        <p:txBody>
          <a:bodyPr wrap="square" lIns="0" tIns="0" rIns="0" bIns="0" rtlCol="0" anchor="ctr"/>
          <a:lstStyle/>
          <a:p>
            <a:pPr marL="0" indent="0">
              <a:buNone/>
            </a:pPr>
            <a:r>
              <a:rPr lang="en-US" sz="1640" b="1" dirty="0">
                <a:solidFill>
                  <a:srgbClr val="1F2937"/>
                </a:solidFill>
              </a:rPr>
              <a:t>•</a:t>
            </a:r>
            <a:endParaRPr lang="en-US" sz="1640" dirty="0"/>
          </a:p>
        </p:txBody>
      </p:sp>
      <p:sp>
        <p:nvSpPr>
          <p:cNvPr id="35" name="Text 33"/>
          <p:cNvSpPr/>
          <p:nvPr/>
        </p:nvSpPr>
        <p:spPr>
          <a:xfrm>
            <a:off x="6601968" y="4471416"/>
            <a:ext cx="4389120" cy="292608"/>
          </a:xfrm>
          <a:prstGeom prst="rect">
            <a:avLst/>
          </a:prstGeom>
          <a:noFill/>
          <a:ln/>
        </p:spPr>
        <p:txBody>
          <a:bodyPr wrap="square" lIns="0" tIns="0" rIns="0" bIns="0" rtlCol="0" anchor="ctr"/>
          <a:lstStyle/>
          <a:p>
            <a:pPr marL="0" indent="0">
              <a:buNone/>
            </a:pPr>
            <a:r>
              <a:rPr lang="en-US" sz="1440" dirty="0">
                <a:solidFill>
                  <a:srgbClr val="1F2937"/>
                </a:solidFill>
              </a:rPr>
              <a:t>Network and device behaviour were perturbed across runs</a:t>
            </a:r>
            <a:endParaRPr lang="en-US" sz="1440" dirty="0"/>
          </a:p>
        </p:txBody>
      </p:sp>
      <p:sp>
        <p:nvSpPr>
          <p:cNvPr id="36" name="Text 34"/>
          <p:cNvSpPr/>
          <p:nvPr/>
        </p:nvSpPr>
        <p:spPr>
          <a:xfrm>
            <a:off x="6419088" y="4919472"/>
            <a:ext cx="164592" cy="182880"/>
          </a:xfrm>
          <a:prstGeom prst="rect">
            <a:avLst/>
          </a:prstGeom>
          <a:noFill/>
          <a:ln/>
        </p:spPr>
        <p:txBody>
          <a:bodyPr wrap="square" lIns="0" tIns="0" rIns="0" bIns="0" rtlCol="0" anchor="ctr"/>
          <a:lstStyle/>
          <a:p>
            <a:pPr marL="0" indent="0">
              <a:buNone/>
            </a:pPr>
            <a:r>
              <a:rPr lang="en-US" sz="1640" b="1" dirty="0">
                <a:solidFill>
                  <a:srgbClr val="1F2937"/>
                </a:solidFill>
              </a:rPr>
              <a:t>•</a:t>
            </a:r>
            <a:endParaRPr lang="en-US" sz="1640" dirty="0"/>
          </a:p>
        </p:txBody>
      </p:sp>
      <p:sp>
        <p:nvSpPr>
          <p:cNvPr id="37" name="Text 35"/>
          <p:cNvSpPr/>
          <p:nvPr/>
        </p:nvSpPr>
        <p:spPr>
          <a:xfrm>
            <a:off x="6601968" y="4901184"/>
            <a:ext cx="4389120" cy="292608"/>
          </a:xfrm>
          <a:prstGeom prst="rect">
            <a:avLst/>
          </a:prstGeom>
          <a:noFill/>
          <a:ln/>
        </p:spPr>
        <p:txBody>
          <a:bodyPr wrap="square" lIns="0" tIns="0" rIns="0" bIns="0" rtlCol="0" anchor="ctr"/>
          <a:lstStyle/>
          <a:p>
            <a:pPr marL="0" indent="0">
              <a:buNone/>
            </a:pPr>
            <a:r>
              <a:rPr lang="en-US" sz="1440" dirty="0">
                <a:solidFill>
                  <a:srgbClr val="1F2937"/>
                </a:solidFill>
              </a:rPr>
              <a:t>Budget-matched random-search ablations tested whether structured Pareto search really adds value</a:t>
            </a:r>
            <a:endParaRPr lang="en-US" sz="1440" dirty="0"/>
          </a:p>
        </p:txBody>
      </p:sp>
      <p:sp>
        <p:nvSpPr>
          <p:cNvPr id="38" name="Shape 36"/>
          <p:cNvSpPr/>
          <p:nvPr/>
        </p:nvSpPr>
        <p:spPr>
          <a:xfrm>
            <a:off x="868680" y="5760720"/>
            <a:ext cx="10881360" cy="438912"/>
          </a:xfrm>
          <a:prstGeom prst="roundRect">
            <a:avLst>
              <a:gd name="adj" fmla="val 25000"/>
            </a:avLst>
          </a:prstGeom>
          <a:solidFill>
            <a:srgbClr val="EEF6FF"/>
          </a:solidFill>
          <a:ln w="12700">
            <a:solidFill>
              <a:srgbClr val="CFE1F9"/>
            </a:solidFill>
            <a:prstDash val="solid"/>
          </a:ln>
          <a:effectLst>
            <a:outerShdw blurRad="12700" dist="19050" dir="2700000" algn="bl" rotWithShape="0">
              <a:srgbClr val="000000">
                <a:alpha val="12000"/>
              </a:srgbClr>
            </a:outerShdw>
          </a:effectLst>
        </p:spPr>
        <p:txBody>
          <a:bodyPr/>
          <a:lstStyle/>
          <a:p>
            <a:endParaRPr lang="en-US"/>
          </a:p>
        </p:txBody>
      </p:sp>
      <p:sp>
        <p:nvSpPr>
          <p:cNvPr id="39" name="Text 37"/>
          <p:cNvSpPr/>
          <p:nvPr/>
        </p:nvSpPr>
        <p:spPr>
          <a:xfrm>
            <a:off x="1097280" y="5870448"/>
            <a:ext cx="10378440" cy="164592"/>
          </a:xfrm>
          <a:prstGeom prst="rect">
            <a:avLst/>
          </a:prstGeom>
          <a:noFill/>
          <a:ln/>
        </p:spPr>
        <p:txBody>
          <a:bodyPr wrap="square" lIns="0" tIns="0" rIns="0" bIns="0" rtlCol="0" anchor="ctr"/>
          <a:lstStyle/>
          <a:p>
            <a:pPr marL="0" indent="0" algn="ctr">
              <a:buNone/>
            </a:pPr>
            <a:r>
              <a:rPr lang="en-US" sz="1620" b="1" dirty="0">
                <a:solidFill>
                  <a:srgbClr val="1F2937"/>
                </a:solidFill>
                <a:latin typeface="Aptos" pitchFamily="34" charset="0"/>
                <a:ea typeface="Aptos" pitchFamily="34" charset="-122"/>
                <a:cs typeface="Aptos" pitchFamily="34" charset="-120"/>
              </a:rPr>
              <a:t>Main evaluation question: can the method improve privacy and robustness without breaking practical edge-latency constraints?</a:t>
            </a:r>
            <a:endParaRPr lang="en-US" sz="1620" dirty="0"/>
          </a:p>
        </p:txBody>
      </p:sp>
      <p:sp>
        <p:nvSpPr>
          <p:cNvPr id="40" name="Text 38"/>
          <p:cNvSpPr/>
          <p:nvPr/>
        </p:nvSpPr>
        <p:spPr>
          <a:xfrm>
            <a:off x="11475720" y="6510528"/>
            <a:ext cx="228600" cy="146304"/>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alpha val="0"/>
              </a:srgbClr>
            </a:solidFill>
            <a:prstDash val="solid"/>
          </a:ln>
        </p:spPr>
        <p:txBody>
          <a:bodyPr/>
          <a:lstStyle/>
          <a:p>
            <a:endParaRPr lang="en-US"/>
          </a:p>
        </p:txBody>
      </p:sp>
      <p:sp>
        <p:nvSpPr>
          <p:cNvPr id="3" name="Shape 1"/>
          <p:cNvSpPr/>
          <p:nvPr/>
        </p:nvSpPr>
        <p:spPr>
          <a:xfrm>
            <a:off x="0" y="658368"/>
            <a:ext cx="12191695" cy="45720"/>
          </a:xfrm>
          <a:prstGeom prst="rect">
            <a:avLst/>
          </a:prstGeom>
          <a:solidFill>
            <a:srgbClr val="14A36F"/>
          </a:solidFill>
          <a:ln w="12700">
            <a:solidFill>
              <a:srgbClr val="14A36F">
                <a:alpha val="0"/>
              </a:srgbClr>
            </a:solidFill>
            <a:prstDash val="solid"/>
          </a:ln>
        </p:spPr>
        <p:txBody>
          <a:bodyPr/>
          <a:lstStyle/>
          <a:p>
            <a:endParaRPr lang="en-US"/>
          </a:p>
        </p:txBody>
      </p:sp>
      <p:sp>
        <p:nvSpPr>
          <p:cNvPr id="4" name="Text 2"/>
          <p:cNvSpPr/>
          <p:nvPr/>
        </p:nvSpPr>
        <p:spPr>
          <a:xfrm>
            <a:off x="502920" y="155448"/>
            <a:ext cx="9052560" cy="274320"/>
          </a:xfrm>
          <a:prstGeom prst="rect">
            <a:avLst/>
          </a:prstGeom>
          <a:noFill/>
          <a:ln/>
        </p:spPr>
        <p:txBody>
          <a:bodyPr wrap="square" lIns="0" tIns="0" rIns="0" bIns="0" rtlCol="0" anchor="ctr"/>
          <a:lstStyle/>
          <a:p>
            <a:pPr marL="0" indent="0">
              <a:buNone/>
            </a:pPr>
            <a:r>
              <a:rPr lang="en-US" sz="2300" b="1" dirty="0">
                <a:solidFill>
                  <a:srgbClr val="FFFFFF"/>
                </a:solidFill>
                <a:latin typeface="Aptos Display" pitchFamily="34" charset="0"/>
                <a:ea typeface="Aptos Display" pitchFamily="34" charset="-122"/>
                <a:cs typeface="Aptos Display" pitchFamily="34" charset="-120"/>
              </a:rPr>
              <a:t>Results 1: resource cost and latency</a:t>
            </a:r>
            <a:endParaRPr lang="en-US" sz="2300" dirty="0"/>
          </a:p>
        </p:txBody>
      </p:sp>
      <p:sp>
        <p:nvSpPr>
          <p:cNvPr id="5" name="Text 3"/>
          <p:cNvSpPr/>
          <p:nvPr/>
        </p:nvSpPr>
        <p:spPr>
          <a:xfrm>
            <a:off x="9829800" y="164592"/>
            <a:ext cx="1783080" cy="256032"/>
          </a:xfrm>
          <a:prstGeom prst="rect">
            <a:avLst/>
          </a:prstGeom>
          <a:noFill/>
          <a:ln/>
        </p:spPr>
        <p:txBody>
          <a:bodyPr wrap="square" lIns="0" tIns="0" rIns="0" bIns="0" rtlCol="0" anchor="ctr"/>
          <a:lstStyle/>
          <a:p>
            <a:pPr marL="0" indent="0" algn="r">
              <a:buNone/>
            </a:pPr>
            <a:r>
              <a:rPr lang="en-US" sz="950" dirty="0">
                <a:solidFill>
                  <a:srgbClr val="D8E2EE"/>
                </a:solidFill>
                <a:latin typeface="Aptos" pitchFamily="34" charset="0"/>
                <a:ea typeface="Aptos" pitchFamily="34" charset="-122"/>
                <a:cs typeface="Aptos" pitchFamily="34" charset="-120"/>
              </a:rPr>
              <a:t>Figures 2–3</a:t>
            </a:r>
            <a:endParaRPr lang="en-US" sz="950" dirty="0"/>
          </a:p>
        </p:txBody>
      </p:sp>
      <p:sp>
        <p:nvSpPr>
          <p:cNvPr id="6" name="Text 4"/>
          <p:cNvSpPr/>
          <p:nvPr/>
        </p:nvSpPr>
        <p:spPr>
          <a:xfrm>
            <a:off x="502920" y="6556248"/>
            <a:ext cx="3291840" cy="146304"/>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FiB-MOBA-EAFG • Health IoT governance</a:t>
            </a:r>
            <a:endParaRPr lang="en-US" sz="850" dirty="0"/>
          </a:p>
        </p:txBody>
      </p:sp>
      <p:sp>
        <p:nvSpPr>
          <p:cNvPr id="7" name="Shape 5"/>
          <p:cNvSpPr/>
          <p:nvPr/>
        </p:nvSpPr>
        <p:spPr>
          <a:xfrm>
            <a:off x="502920" y="960120"/>
            <a:ext cx="5532120" cy="4526280"/>
          </a:xfrm>
          <a:prstGeom prst="roundRect">
            <a:avLst>
              <a:gd name="adj" fmla="val 2424"/>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8" name="Shape 6"/>
          <p:cNvSpPr/>
          <p:nvPr/>
        </p:nvSpPr>
        <p:spPr>
          <a:xfrm>
            <a:off x="6199632" y="960120"/>
            <a:ext cx="5486400" cy="4526280"/>
          </a:xfrm>
          <a:prstGeom prst="roundRect">
            <a:avLst>
              <a:gd name="adj" fmla="val 2424"/>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pic>
        <p:nvPicPr>
          <p:cNvPr id="9" name="Image 0" descr="/mnt/data/6e1e44f1-ca20-4ad5-8903-fb1c773e344d.png"/>
          <p:cNvPicPr>
            <a:picLocks noChangeAspect="1"/>
          </p:cNvPicPr>
          <p:nvPr/>
        </p:nvPicPr>
        <p:blipFill>
          <a:blip r:embed="rId3"/>
          <a:stretch>
            <a:fillRect/>
          </a:stretch>
        </p:blipFill>
        <p:spPr>
          <a:xfrm>
            <a:off x="658368" y="1989425"/>
            <a:ext cx="5212080" cy="2412807"/>
          </a:xfrm>
          <a:prstGeom prst="rect">
            <a:avLst/>
          </a:prstGeom>
        </p:spPr>
      </p:pic>
      <p:pic>
        <p:nvPicPr>
          <p:cNvPr id="10" name="Image 1" descr="/mnt/data/d5cb7285-659d-41de-b0ab-4c406a57a829.png"/>
          <p:cNvPicPr>
            <a:picLocks noChangeAspect="1"/>
          </p:cNvPicPr>
          <p:nvPr/>
        </p:nvPicPr>
        <p:blipFill>
          <a:blip r:embed="rId4"/>
          <a:stretch>
            <a:fillRect/>
          </a:stretch>
        </p:blipFill>
        <p:spPr>
          <a:xfrm>
            <a:off x="6355080" y="2022542"/>
            <a:ext cx="5166360" cy="2346571"/>
          </a:xfrm>
          <a:prstGeom prst="rect">
            <a:avLst/>
          </a:prstGeom>
        </p:spPr>
      </p:pic>
      <p:sp>
        <p:nvSpPr>
          <p:cNvPr id="11" name="Shape 7"/>
          <p:cNvSpPr/>
          <p:nvPr/>
        </p:nvSpPr>
        <p:spPr>
          <a:xfrm>
            <a:off x="868680" y="5650992"/>
            <a:ext cx="10469880" cy="658368"/>
          </a:xfrm>
          <a:prstGeom prst="roundRect">
            <a:avLst>
              <a:gd name="adj" fmla="val 16667"/>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12" name="Text 8"/>
          <p:cNvSpPr/>
          <p:nvPr/>
        </p:nvSpPr>
        <p:spPr>
          <a:xfrm>
            <a:off x="1097280" y="5833872"/>
            <a:ext cx="10012680" cy="256032"/>
          </a:xfrm>
          <a:prstGeom prst="rect">
            <a:avLst/>
          </a:prstGeom>
          <a:noFill/>
          <a:ln/>
        </p:spPr>
        <p:txBody>
          <a:bodyPr wrap="square" lIns="0" tIns="0" rIns="0" bIns="0" rtlCol="0" anchor="ctr"/>
          <a:lstStyle/>
          <a:p>
            <a:pPr marL="0" indent="0" algn="ctr">
              <a:buNone/>
            </a:pPr>
            <a:r>
              <a:rPr lang="en-US" sz="1720" b="1" dirty="0">
                <a:solidFill>
                  <a:srgbClr val="1F2937"/>
                </a:solidFill>
                <a:latin typeface="Aptos" pitchFamily="34" charset="0"/>
                <a:ea typeface="Aptos" pitchFamily="34" charset="-122"/>
                <a:cs typeface="Aptos" pitchFamily="34" charset="-120"/>
              </a:rPr>
              <a:t>Take-away: simpler scalarised baselines often achieved lower cost and lower latency, but our method deliberately accepted some extra cost to gain better safety, privacy posture, and robustness.</a:t>
            </a:r>
            <a:endParaRPr lang="en-US" sz="1720" dirty="0"/>
          </a:p>
        </p:txBody>
      </p:sp>
      <p:sp>
        <p:nvSpPr>
          <p:cNvPr id="13" name="Text 9"/>
          <p:cNvSpPr/>
          <p:nvPr/>
        </p:nvSpPr>
        <p:spPr>
          <a:xfrm>
            <a:off x="11475720" y="6510528"/>
            <a:ext cx="228600" cy="146304"/>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alpha val="0"/>
              </a:srgbClr>
            </a:solidFill>
            <a:prstDash val="solid"/>
          </a:ln>
        </p:spPr>
        <p:txBody>
          <a:bodyPr/>
          <a:lstStyle/>
          <a:p>
            <a:endParaRPr lang="en-US"/>
          </a:p>
        </p:txBody>
      </p:sp>
      <p:sp>
        <p:nvSpPr>
          <p:cNvPr id="3" name="Shape 1"/>
          <p:cNvSpPr/>
          <p:nvPr/>
        </p:nvSpPr>
        <p:spPr>
          <a:xfrm>
            <a:off x="0" y="658368"/>
            <a:ext cx="12191695" cy="45720"/>
          </a:xfrm>
          <a:prstGeom prst="rect">
            <a:avLst/>
          </a:prstGeom>
          <a:solidFill>
            <a:srgbClr val="14A36F"/>
          </a:solidFill>
          <a:ln w="12700">
            <a:solidFill>
              <a:srgbClr val="14A36F">
                <a:alpha val="0"/>
              </a:srgbClr>
            </a:solidFill>
            <a:prstDash val="solid"/>
          </a:ln>
        </p:spPr>
        <p:txBody>
          <a:bodyPr/>
          <a:lstStyle/>
          <a:p>
            <a:endParaRPr lang="en-US"/>
          </a:p>
        </p:txBody>
      </p:sp>
      <p:sp>
        <p:nvSpPr>
          <p:cNvPr id="4" name="Text 2"/>
          <p:cNvSpPr/>
          <p:nvPr/>
        </p:nvSpPr>
        <p:spPr>
          <a:xfrm>
            <a:off x="502920" y="155448"/>
            <a:ext cx="9052560" cy="274320"/>
          </a:xfrm>
          <a:prstGeom prst="rect">
            <a:avLst/>
          </a:prstGeom>
          <a:noFill/>
          <a:ln/>
        </p:spPr>
        <p:txBody>
          <a:bodyPr wrap="square" lIns="0" tIns="0" rIns="0" bIns="0" rtlCol="0" anchor="ctr"/>
          <a:lstStyle/>
          <a:p>
            <a:pPr marL="0" indent="0">
              <a:buNone/>
            </a:pPr>
            <a:r>
              <a:rPr lang="en-US" sz="2300" b="1" dirty="0">
                <a:solidFill>
                  <a:srgbClr val="FFFFFF"/>
                </a:solidFill>
                <a:latin typeface="Aptos Display" pitchFamily="34" charset="0"/>
                <a:ea typeface="Aptos Display" pitchFamily="34" charset="-122"/>
                <a:cs typeface="Aptos Display" pitchFamily="34" charset="-120"/>
              </a:rPr>
              <a:t>Results 2: privacy and robustness</a:t>
            </a:r>
            <a:endParaRPr lang="en-US" sz="2300" dirty="0"/>
          </a:p>
        </p:txBody>
      </p:sp>
      <p:sp>
        <p:nvSpPr>
          <p:cNvPr id="5" name="Text 3"/>
          <p:cNvSpPr/>
          <p:nvPr/>
        </p:nvSpPr>
        <p:spPr>
          <a:xfrm>
            <a:off x="9829800" y="164592"/>
            <a:ext cx="1783080" cy="256032"/>
          </a:xfrm>
          <a:prstGeom prst="rect">
            <a:avLst/>
          </a:prstGeom>
          <a:noFill/>
          <a:ln/>
        </p:spPr>
        <p:txBody>
          <a:bodyPr wrap="square" lIns="0" tIns="0" rIns="0" bIns="0" rtlCol="0" anchor="ctr"/>
          <a:lstStyle/>
          <a:p>
            <a:pPr marL="0" indent="0" algn="r">
              <a:buNone/>
            </a:pPr>
            <a:r>
              <a:rPr lang="en-US" sz="950" dirty="0">
                <a:solidFill>
                  <a:srgbClr val="D8E2EE"/>
                </a:solidFill>
                <a:latin typeface="Aptos" pitchFamily="34" charset="0"/>
                <a:ea typeface="Aptos" pitchFamily="34" charset="-122"/>
                <a:cs typeface="Aptos" pitchFamily="34" charset="-120"/>
              </a:rPr>
              <a:t>Figures 4–5</a:t>
            </a:r>
            <a:endParaRPr lang="en-US" sz="950" dirty="0"/>
          </a:p>
        </p:txBody>
      </p:sp>
      <p:sp>
        <p:nvSpPr>
          <p:cNvPr id="6" name="Text 4"/>
          <p:cNvSpPr/>
          <p:nvPr/>
        </p:nvSpPr>
        <p:spPr>
          <a:xfrm>
            <a:off x="502920" y="6556248"/>
            <a:ext cx="3291840" cy="146304"/>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FiB-MOBA-EAFG • Health IoT governance</a:t>
            </a:r>
            <a:endParaRPr lang="en-US" sz="850" dirty="0"/>
          </a:p>
        </p:txBody>
      </p:sp>
      <p:sp>
        <p:nvSpPr>
          <p:cNvPr id="7" name="Shape 5"/>
          <p:cNvSpPr/>
          <p:nvPr/>
        </p:nvSpPr>
        <p:spPr>
          <a:xfrm>
            <a:off x="502920" y="960120"/>
            <a:ext cx="5532120" cy="4526280"/>
          </a:xfrm>
          <a:prstGeom prst="roundRect">
            <a:avLst>
              <a:gd name="adj" fmla="val 2424"/>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8" name="Shape 6"/>
          <p:cNvSpPr/>
          <p:nvPr/>
        </p:nvSpPr>
        <p:spPr>
          <a:xfrm>
            <a:off x="6199632" y="960120"/>
            <a:ext cx="5486400" cy="4526280"/>
          </a:xfrm>
          <a:prstGeom prst="roundRect">
            <a:avLst>
              <a:gd name="adj" fmla="val 2424"/>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pic>
        <p:nvPicPr>
          <p:cNvPr id="9" name="Image 0" descr="/mnt/data/ff631d22-940b-41a2-bad0-4b0b529193b5.png"/>
          <p:cNvPicPr>
            <a:picLocks noChangeAspect="1"/>
          </p:cNvPicPr>
          <p:nvPr/>
        </p:nvPicPr>
        <p:blipFill>
          <a:blip r:embed="rId3"/>
          <a:stretch>
            <a:fillRect/>
          </a:stretch>
        </p:blipFill>
        <p:spPr>
          <a:xfrm>
            <a:off x="658368" y="2065285"/>
            <a:ext cx="5212080" cy="2261086"/>
          </a:xfrm>
          <a:prstGeom prst="rect">
            <a:avLst/>
          </a:prstGeom>
        </p:spPr>
      </p:pic>
      <p:pic>
        <p:nvPicPr>
          <p:cNvPr id="10" name="Image 1" descr="/mnt/data/185ec089-e156-4b06-9cd8-59d0822b8192.png"/>
          <p:cNvPicPr>
            <a:picLocks noChangeAspect="1"/>
          </p:cNvPicPr>
          <p:nvPr/>
        </p:nvPicPr>
        <p:blipFill>
          <a:blip r:embed="rId4"/>
          <a:stretch>
            <a:fillRect/>
          </a:stretch>
        </p:blipFill>
        <p:spPr>
          <a:xfrm>
            <a:off x="6355080" y="2072816"/>
            <a:ext cx="5166360" cy="2246023"/>
          </a:xfrm>
          <a:prstGeom prst="rect">
            <a:avLst/>
          </a:prstGeom>
        </p:spPr>
      </p:pic>
      <p:sp>
        <p:nvSpPr>
          <p:cNvPr id="11" name="Shape 7"/>
          <p:cNvSpPr/>
          <p:nvPr/>
        </p:nvSpPr>
        <p:spPr>
          <a:xfrm>
            <a:off x="822960" y="5577840"/>
            <a:ext cx="10561320" cy="758952"/>
          </a:xfrm>
          <a:prstGeom prst="roundRect">
            <a:avLst>
              <a:gd name="adj" fmla="val 14458"/>
            </a:avLst>
          </a:prstGeom>
          <a:solidFill>
            <a:srgbClr val="EEF6FF"/>
          </a:solidFill>
          <a:ln w="12700">
            <a:solidFill>
              <a:srgbClr val="CFE1F9"/>
            </a:solidFill>
            <a:prstDash val="solid"/>
          </a:ln>
          <a:effectLst>
            <a:outerShdw blurRad="12700" dist="19050" dir="2700000" algn="bl" rotWithShape="0">
              <a:srgbClr val="000000">
                <a:alpha val="12000"/>
              </a:srgbClr>
            </a:outerShdw>
          </a:effectLst>
        </p:spPr>
        <p:txBody>
          <a:bodyPr/>
          <a:lstStyle/>
          <a:p>
            <a:endParaRPr lang="en-US"/>
          </a:p>
        </p:txBody>
      </p:sp>
      <p:sp>
        <p:nvSpPr>
          <p:cNvPr id="12" name="Text 8"/>
          <p:cNvSpPr/>
          <p:nvPr/>
        </p:nvSpPr>
        <p:spPr>
          <a:xfrm>
            <a:off x="1042416" y="5788152"/>
            <a:ext cx="10104120" cy="256032"/>
          </a:xfrm>
          <a:prstGeom prst="rect">
            <a:avLst/>
          </a:prstGeom>
          <a:noFill/>
          <a:ln/>
        </p:spPr>
        <p:txBody>
          <a:bodyPr wrap="square" lIns="0" tIns="0" rIns="0" bIns="0" rtlCol="0" anchor="ctr"/>
          <a:lstStyle/>
          <a:p>
            <a:pPr marL="0" indent="0" algn="ctr">
              <a:buNone/>
            </a:pPr>
            <a:r>
              <a:rPr lang="en-US" sz="1750" b="1" dirty="0">
                <a:solidFill>
                  <a:srgbClr val="1F2937"/>
                </a:solidFill>
                <a:latin typeface="Aptos" pitchFamily="34" charset="0"/>
                <a:ea typeface="Aptos" pitchFamily="34" charset="-122"/>
                <a:cs typeface="Aptos" pitchFamily="34" charset="-120"/>
              </a:rPr>
              <a:t>Main message: FiB-MOBA-EAFG consistently pushed decisions toward very low privacy risk and the strongest robustness across the three modeled scenarios.</a:t>
            </a:r>
            <a:endParaRPr lang="en-US" sz="1750" dirty="0"/>
          </a:p>
        </p:txBody>
      </p:sp>
      <p:sp>
        <p:nvSpPr>
          <p:cNvPr id="13" name="Text 9"/>
          <p:cNvSpPr/>
          <p:nvPr/>
        </p:nvSpPr>
        <p:spPr>
          <a:xfrm>
            <a:off x="11475720" y="6510528"/>
            <a:ext cx="228600" cy="146304"/>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alpha val="0"/>
              </a:srgbClr>
            </a:solidFill>
            <a:prstDash val="solid"/>
          </a:ln>
        </p:spPr>
        <p:txBody>
          <a:bodyPr/>
          <a:lstStyle/>
          <a:p>
            <a:endParaRPr lang="en-US"/>
          </a:p>
        </p:txBody>
      </p:sp>
      <p:sp>
        <p:nvSpPr>
          <p:cNvPr id="3" name="Shape 1"/>
          <p:cNvSpPr/>
          <p:nvPr/>
        </p:nvSpPr>
        <p:spPr>
          <a:xfrm>
            <a:off x="0" y="658368"/>
            <a:ext cx="12191695" cy="45720"/>
          </a:xfrm>
          <a:prstGeom prst="rect">
            <a:avLst/>
          </a:prstGeom>
          <a:solidFill>
            <a:srgbClr val="14A36F"/>
          </a:solidFill>
          <a:ln w="12700">
            <a:solidFill>
              <a:srgbClr val="14A36F">
                <a:alpha val="0"/>
              </a:srgbClr>
            </a:solidFill>
            <a:prstDash val="solid"/>
          </a:ln>
        </p:spPr>
        <p:txBody>
          <a:bodyPr/>
          <a:lstStyle/>
          <a:p>
            <a:endParaRPr lang="en-US"/>
          </a:p>
        </p:txBody>
      </p:sp>
      <p:sp>
        <p:nvSpPr>
          <p:cNvPr id="4" name="Text 2"/>
          <p:cNvSpPr/>
          <p:nvPr/>
        </p:nvSpPr>
        <p:spPr>
          <a:xfrm>
            <a:off x="502920" y="155448"/>
            <a:ext cx="9052560" cy="274320"/>
          </a:xfrm>
          <a:prstGeom prst="rect">
            <a:avLst/>
          </a:prstGeom>
          <a:noFill/>
          <a:ln/>
        </p:spPr>
        <p:txBody>
          <a:bodyPr wrap="square" lIns="0" tIns="0" rIns="0" bIns="0" rtlCol="0" anchor="ctr"/>
          <a:lstStyle/>
          <a:p>
            <a:pPr marL="0" indent="0">
              <a:buNone/>
            </a:pPr>
            <a:r>
              <a:rPr lang="en-US" sz="2300" b="1" dirty="0">
                <a:solidFill>
                  <a:srgbClr val="FFFFFF"/>
                </a:solidFill>
                <a:latin typeface="Aptos Display" pitchFamily="34" charset="0"/>
                <a:ea typeface="Aptos Display" pitchFamily="34" charset="-122"/>
                <a:cs typeface="Aptos Display" pitchFamily="34" charset="-120"/>
              </a:rPr>
              <a:t>Results 3: selection stability</a:t>
            </a:r>
            <a:endParaRPr lang="en-US" sz="2300" dirty="0"/>
          </a:p>
        </p:txBody>
      </p:sp>
      <p:sp>
        <p:nvSpPr>
          <p:cNvPr id="5" name="Text 3"/>
          <p:cNvSpPr/>
          <p:nvPr/>
        </p:nvSpPr>
        <p:spPr>
          <a:xfrm>
            <a:off x="9829800" y="164592"/>
            <a:ext cx="1783080" cy="256032"/>
          </a:xfrm>
          <a:prstGeom prst="rect">
            <a:avLst/>
          </a:prstGeom>
          <a:noFill/>
          <a:ln/>
        </p:spPr>
        <p:txBody>
          <a:bodyPr wrap="square" lIns="0" tIns="0" rIns="0" bIns="0" rtlCol="0" anchor="ctr"/>
          <a:lstStyle/>
          <a:p>
            <a:pPr marL="0" indent="0" algn="r">
              <a:buNone/>
            </a:pPr>
            <a:r>
              <a:rPr lang="en-US" sz="950" dirty="0">
                <a:solidFill>
                  <a:srgbClr val="D8E2EE"/>
                </a:solidFill>
                <a:latin typeface="Aptos" pitchFamily="34" charset="0"/>
                <a:ea typeface="Aptos" pitchFamily="34" charset="-122"/>
                <a:cs typeface="Aptos" pitchFamily="34" charset="-120"/>
              </a:rPr>
              <a:t>Figure 6</a:t>
            </a:r>
            <a:endParaRPr lang="en-US" sz="950" dirty="0"/>
          </a:p>
        </p:txBody>
      </p:sp>
      <p:sp>
        <p:nvSpPr>
          <p:cNvPr id="6" name="Text 4"/>
          <p:cNvSpPr/>
          <p:nvPr/>
        </p:nvSpPr>
        <p:spPr>
          <a:xfrm>
            <a:off x="502920" y="6556248"/>
            <a:ext cx="3291840" cy="146304"/>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FiB-MOBA-EAFG • Health IoT governance</a:t>
            </a:r>
            <a:endParaRPr lang="en-US" sz="850" dirty="0"/>
          </a:p>
        </p:txBody>
      </p:sp>
      <p:sp>
        <p:nvSpPr>
          <p:cNvPr id="7" name="Shape 5"/>
          <p:cNvSpPr/>
          <p:nvPr/>
        </p:nvSpPr>
        <p:spPr>
          <a:xfrm>
            <a:off x="640080" y="1051560"/>
            <a:ext cx="6035040" cy="5074920"/>
          </a:xfrm>
          <a:prstGeom prst="roundRect">
            <a:avLst>
              <a:gd name="adj" fmla="val 2162"/>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pic>
        <p:nvPicPr>
          <p:cNvPr id="8" name="Image 0" descr="/mnt/data/f1d6bc7c-340b-498a-8da6-449934379ade.png"/>
          <p:cNvPicPr>
            <a:picLocks noChangeAspect="1"/>
          </p:cNvPicPr>
          <p:nvPr/>
        </p:nvPicPr>
        <p:blipFill>
          <a:blip r:embed="rId3"/>
          <a:stretch>
            <a:fillRect/>
          </a:stretch>
        </p:blipFill>
        <p:spPr>
          <a:xfrm>
            <a:off x="841248" y="2375080"/>
            <a:ext cx="5623560" cy="2418735"/>
          </a:xfrm>
          <a:prstGeom prst="rect">
            <a:avLst/>
          </a:prstGeom>
        </p:spPr>
      </p:pic>
      <p:sp>
        <p:nvSpPr>
          <p:cNvPr id="9" name="Shape 6"/>
          <p:cNvSpPr/>
          <p:nvPr/>
        </p:nvSpPr>
        <p:spPr>
          <a:xfrm>
            <a:off x="6967728" y="1051560"/>
            <a:ext cx="4572000" cy="5074920"/>
          </a:xfrm>
          <a:prstGeom prst="roundRect">
            <a:avLst>
              <a:gd name="adj" fmla="val 2400"/>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10" name="Text 7"/>
          <p:cNvSpPr/>
          <p:nvPr/>
        </p:nvSpPr>
        <p:spPr>
          <a:xfrm>
            <a:off x="7269480" y="1353312"/>
            <a:ext cx="2468880" cy="201168"/>
          </a:xfrm>
          <a:prstGeom prst="rect">
            <a:avLst/>
          </a:prstGeom>
          <a:noFill/>
          <a:ln/>
        </p:spPr>
        <p:txBody>
          <a:bodyPr wrap="square" lIns="0" tIns="0" rIns="0" bIns="0" rtlCol="0" anchor="ctr"/>
          <a:lstStyle/>
          <a:p>
            <a:pPr marL="0" indent="0">
              <a:buNone/>
            </a:pPr>
            <a:r>
              <a:rPr lang="en-US" sz="2000" b="1" dirty="0">
                <a:solidFill>
                  <a:srgbClr val="1F2937"/>
                </a:solidFill>
                <a:latin typeface="Aptos Display" pitchFamily="34" charset="0"/>
                <a:ea typeface="Aptos Display" pitchFamily="34" charset="-122"/>
                <a:cs typeface="Aptos Display" pitchFamily="34" charset="-120"/>
              </a:rPr>
              <a:t>How to read this figure</a:t>
            </a:r>
            <a:endParaRPr lang="en-US" sz="2000" dirty="0"/>
          </a:p>
        </p:txBody>
      </p:sp>
      <p:sp>
        <p:nvSpPr>
          <p:cNvPr id="11" name="Text 8"/>
          <p:cNvSpPr/>
          <p:nvPr/>
        </p:nvSpPr>
        <p:spPr>
          <a:xfrm>
            <a:off x="7269480" y="1847088"/>
            <a:ext cx="164592" cy="182880"/>
          </a:xfrm>
          <a:prstGeom prst="rect">
            <a:avLst/>
          </a:prstGeom>
          <a:noFill/>
          <a:ln/>
        </p:spPr>
        <p:txBody>
          <a:bodyPr wrap="square" lIns="0" tIns="0" rIns="0" bIns="0" rtlCol="0" anchor="ctr"/>
          <a:lstStyle/>
          <a:p>
            <a:pPr marL="0" indent="0">
              <a:buNone/>
            </a:pPr>
            <a:r>
              <a:rPr lang="en-US" sz="1660" b="1" dirty="0">
                <a:solidFill>
                  <a:srgbClr val="1F2937"/>
                </a:solidFill>
              </a:rPr>
              <a:t>•</a:t>
            </a:r>
            <a:endParaRPr lang="en-US" sz="1660" dirty="0"/>
          </a:p>
        </p:txBody>
      </p:sp>
      <p:sp>
        <p:nvSpPr>
          <p:cNvPr id="12" name="Text 9"/>
          <p:cNvSpPr/>
          <p:nvPr/>
        </p:nvSpPr>
        <p:spPr>
          <a:xfrm>
            <a:off x="7452360" y="1828800"/>
            <a:ext cx="3657600" cy="292608"/>
          </a:xfrm>
          <a:prstGeom prst="rect">
            <a:avLst/>
          </a:prstGeom>
          <a:noFill/>
          <a:ln/>
        </p:spPr>
        <p:txBody>
          <a:bodyPr wrap="square" lIns="0" tIns="0" rIns="0" bIns="0" rtlCol="0" anchor="ctr"/>
          <a:lstStyle/>
          <a:p>
            <a:pPr marL="0" indent="0">
              <a:buNone/>
            </a:pPr>
            <a:r>
              <a:rPr lang="en-US" sz="1460" dirty="0">
                <a:solidFill>
                  <a:srgbClr val="1F2937"/>
                </a:solidFill>
              </a:rPr>
              <a:t>Rule-based has zero instability because it always chooses the same fixed rule.</a:t>
            </a:r>
            <a:endParaRPr lang="en-US" sz="1460" dirty="0"/>
          </a:p>
        </p:txBody>
      </p:sp>
      <p:sp>
        <p:nvSpPr>
          <p:cNvPr id="13" name="Text 10"/>
          <p:cNvSpPr/>
          <p:nvPr/>
        </p:nvSpPr>
        <p:spPr>
          <a:xfrm>
            <a:off x="7269480" y="2423160"/>
            <a:ext cx="164592" cy="182880"/>
          </a:xfrm>
          <a:prstGeom prst="rect">
            <a:avLst/>
          </a:prstGeom>
          <a:noFill/>
          <a:ln/>
        </p:spPr>
        <p:txBody>
          <a:bodyPr wrap="square" lIns="0" tIns="0" rIns="0" bIns="0" rtlCol="0" anchor="ctr"/>
          <a:lstStyle/>
          <a:p>
            <a:pPr marL="0" indent="0">
              <a:buNone/>
            </a:pPr>
            <a:r>
              <a:rPr lang="en-US" sz="1660" b="1" dirty="0">
                <a:solidFill>
                  <a:srgbClr val="1F2937"/>
                </a:solidFill>
              </a:rPr>
              <a:t>•</a:t>
            </a:r>
            <a:endParaRPr lang="en-US" sz="1660" dirty="0"/>
          </a:p>
        </p:txBody>
      </p:sp>
      <p:sp>
        <p:nvSpPr>
          <p:cNvPr id="14" name="Text 11"/>
          <p:cNvSpPr/>
          <p:nvPr/>
        </p:nvSpPr>
        <p:spPr>
          <a:xfrm>
            <a:off x="7452360" y="2404872"/>
            <a:ext cx="3657600" cy="292608"/>
          </a:xfrm>
          <a:prstGeom prst="rect">
            <a:avLst/>
          </a:prstGeom>
          <a:noFill/>
          <a:ln/>
        </p:spPr>
        <p:txBody>
          <a:bodyPr wrap="square" lIns="0" tIns="0" rIns="0" bIns="0" rtlCol="0" anchor="ctr"/>
          <a:lstStyle/>
          <a:p>
            <a:pPr marL="0" indent="0">
              <a:buNone/>
            </a:pPr>
            <a:r>
              <a:rPr lang="en-US" sz="1460" dirty="0">
                <a:solidFill>
                  <a:srgbClr val="1F2937"/>
                </a:solidFill>
              </a:rPr>
              <a:t>Adaptive optimisation methods vary when conditions and candidate sets change.</a:t>
            </a:r>
            <a:endParaRPr lang="en-US" sz="1460" dirty="0"/>
          </a:p>
        </p:txBody>
      </p:sp>
      <p:sp>
        <p:nvSpPr>
          <p:cNvPr id="15" name="Text 12"/>
          <p:cNvSpPr/>
          <p:nvPr/>
        </p:nvSpPr>
        <p:spPr>
          <a:xfrm>
            <a:off x="7269480" y="2999232"/>
            <a:ext cx="164592" cy="182880"/>
          </a:xfrm>
          <a:prstGeom prst="rect">
            <a:avLst/>
          </a:prstGeom>
          <a:noFill/>
          <a:ln/>
        </p:spPr>
        <p:txBody>
          <a:bodyPr wrap="square" lIns="0" tIns="0" rIns="0" bIns="0" rtlCol="0" anchor="ctr"/>
          <a:lstStyle/>
          <a:p>
            <a:pPr marL="0" indent="0">
              <a:buNone/>
            </a:pPr>
            <a:r>
              <a:rPr lang="en-US" sz="1660" b="1" dirty="0">
                <a:solidFill>
                  <a:srgbClr val="1F2937"/>
                </a:solidFill>
              </a:rPr>
              <a:t>•</a:t>
            </a:r>
            <a:endParaRPr lang="en-US" sz="1660" dirty="0"/>
          </a:p>
        </p:txBody>
      </p:sp>
      <p:sp>
        <p:nvSpPr>
          <p:cNvPr id="16" name="Text 13"/>
          <p:cNvSpPr/>
          <p:nvPr/>
        </p:nvSpPr>
        <p:spPr>
          <a:xfrm>
            <a:off x="7452360" y="2980944"/>
            <a:ext cx="3657600" cy="292608"/>
          </a:xfrm>
          <a:prstGeom prst="rect">
            <a:avLst/>
          </a:prstGeom>
          <a:noFill/>
          <a:ln/>
        </p:spPr>
        <p:txBody>
          <a:bodyPr wrap="square" lIns="0" tIns="0" rIns="0" bIns="0" rtlCol="0" anchor="ctr"/>
          <a:lstStyle/>
          <a:p>
            <a:pPr marL="0" indent="0">
              <a:buNone/>
            </a:pPr>
            <a:r>
              <a:rPr lang="en-US" sz="1460" dirty="0">
                <a:solidFill>
                  <a:srgbClr val="1F2937"/>
                </a:solidFill>
              </a:rPr>
              <a:t>In our method, that variation is bounded by explicit feasibility and emergency constraints.</a:t>
            </a:r>
            <a:endParaRPr lang="en-US" sz="1460" dirty="0"/>
          </a:p>
        </p:txBody>
      </p:sp>
      <p:sp>
        <p:nvSpPr>
          <p:cNvPr id="17" name="Text 14"/>
          <p:cNvSpPr/>
          <p:nvPr/>
        </p:nvSpPr>
        <p:spPr>
          <a:xfrm>
            <a:off x="7269480" y="3575304"/>
            <a:ext cx="164592" cy="182880"/>
          </a:xfrm>
          <a:prstGeom prst="rect">
            <a:avLst/>
          </a:prstGeom>
          <a:noFill/>
          <a:ln/>
        </p:spPr>
        <p:txBody>
          <a:bodyPr wrap="square" lIns="0" tIns="0" rIns="0" bIns="0" rtlCol="0" anchor="ctr"/>
          <a:lstStyle/>
          <a:p>
            <a:pPr marL="0" indent="0">
              <a:buNone/>
            </a:pPr>
            <a:r>
              <a:rPr lang="en-US" sz="1660" b="1" dirty="0">
                <a:solidFill>
                  <a:srgbClr val="1F2937"/>
                </a:solidFill>
              </a:rPr>
              <a:t>•</a:t>
            </a:r>
            <a:endParaRPr lang="en-US" sz="1660" dirty="0"/>
          </a:p>
        </p:txBody>
      </p:sp>
      <p:sp>
        <p:nvSpPr>
          <p:cNvPr id="18" name="Text 15"/>
          <p:cNvSpPr/>
          <p:nvPr/>
        </p:nvSpPr>
        <p:spPr>
          <a:xfrm>
            <a:off x="7452360" y="3557016"/>
            <a:ext cx="3657600" cy="292608"/>
          </a:xfrm>
          <a:prstGeom prst="rect">
            <a:avLst/>
          </a:prstGeom>
          <a:noFill/>
          <a:ln/>
        </p:spPr>
        <p:txBody>
          <a:bodyPr wrap="square" lIns="0" tIns="0" rIns="0" bIns="0" rtlCol="0" anchor="ctr"/>
          <a:lstStyle/>
          <a:p>
            <a:pPr marL="0" indent="0">
              <a:buNone/>
            </a:pPr>
            <a:r>
              <a:rPr lang="en-US" sz="1460" dirty="0">
                <a:solidFill>
                  <a:srgbClr val="1F2937"/>
                </a:solidFill>
              </a:rPr>
              <a:t>So this is adaptation, not uncontrolled behaviour.</a:t>
            </a:r>
            <a:endParaRPr lang="en-US" sz="1460" dirty="0"/>
          </a:p>
        </p:txBody>
      </p:sp>
      <p:sp>
        <p:nvSpPr>
          <p:cNvPr id="19" name="Shape 16"/>
          <p:cNvSpPr/>
          <p:nvPr/>
        </p:nvSpPr>
        <p:spPr>
          <a:xfrm>
            <a:off x="7269480" y="5212080"/>
            <a:ext cx="3931920" cy="594360"/>
          </a:xfrm>
          <a:prstGeom prst="roundRect">
            <a:avLst>
              <a:gd name="adj" fmla="val 18462"/>
            </a:avLst>
          </a:prstGeom>
          <a:solidFill>
            <a:srgbClr val="F1FBF6"/>
          </a:solidFill>
          <a:ln w="12700">
            <a:solidFill>
              <a:srgbClr val="B9E4D1"/>
            </a:solidFill>
            <a:prstDash val="solid"/>
          </a:ln>
          <a:effectLst>
            <a:outerShdw blurRad="12700" dist="19050" dir="2700000" algn="bl" rotWithShape="0">
              <a:srgbClr val="000000">
                <a:alpha val="12000"/>
              </a:srgbClr>
            </a:outerShdw>
          </a:effectLst>
        </p:spPr>
        <p:txBody>
          <a:bodyPr/>
          <a:lstStyle/>
          <a:p>
            <a:endParaRPr lang="en-US"/>
          </a:p>
        </p:txBody>
      </p:sp>
      <p:sp>
        <p:nvSpPr>
          <p:cNvPr id="20" name="Text 17"/>
          <p:cNvSpPr/>
          <p:nvPr/>
        </p:nvSpPr>
        <p:spPr>
          <a:xfrm>
            <a:off x="7443216" y="5385816"/>
            <a:ext cx="3584448" cy="219456"/>
          </a:xfrm>
          <a:prstGeom prst="rect">
            <a:avLst/>
          </a:prstGeom>
          <a:noFill/>
          <a:ln/>
        </p:spPr>
        <p:txBody>
          <a:bodyPr wrap="square" lIns="0" tIns="0" rIns="0" bIns="0" rtlCol="0" anchor="ctr"/>
          <a:lstStyle/>
          <a:p>
            <a:pPr marL="0" indent="0" algn="ctr">
              <a:buNone/>
            </a:pPr>
            <a:r>
              <a:rPr lang="en-US" sz="1380" b="1" dirty="0">
                <a:solidFill>
                  <a:srgbClr val="14A36F"/>
                </a:solidFill>
                <a:latin typeface="Aptos" pitchFamily="34" charset="0"/>
                <a:ea typeface="Aptos" pitchFamily="34" charset="-122"/>
                <a:cs typeface="Aptos" pitchFamily="34" charset="-120"/>
              </a:rPr>
              <a:t>Practical reading: the method stays within safety bounds while still responding to changing context.</a:t>
            </a:r>
            <a:endParaRPr lang="en-US" sz="1380" dirty="0"/>
          </a:p>
        </p:txBody>
      </p:sp>
      <p:sp>
        <p:nvSpPr>
          <p:cNvPr id="21" name="Text 18"/>
          <p:cNvSpPr/>
          <p:nvPr/>
        </p:nvSpPr>
        <p:spPr>
          <a:xfrm>
            <a:off x="11475720" y="6510528"/>
            <a:ext cx="228600" cy="146304"/>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alpha val="0"/>
              </a:srgbClr>
            </a:solidFill>
            <a:prstDash val="solid"/>
          </a:ln>
        </p:spPr>
        <p:txBody>
          <a:bodyPr/>
          <a:lstStyle/>
          <a:p>
            <a:endParaRPr lang="en-US"/>
          </a:p>
        </p:txBody>
      </p:sp>
      <p:sp>
        <p:nvSpPr>
          <p:cNvPr id="3" name="Shape 1"/>
          <p:cNvSpPr/>
          <p:nvPr/>
        </p:nvSpPr>
        <p:spPr>
          <a:xfrm>
            <a:off x="0" y="658368"/>
            <a:ext cx="12191695" cy="45720"/>
          </a:xfrm>
          <a:prstGeom prst="rect">
            <a:avLst/>
          </a:prstGeom>
          <a:solidFill>
            <a:srgbClr val="14A36F"/>
          </a:solidFill>
          <a:ln w="12700">
            <a:solidFill>
              <a:srgbClr val="14A36F">
                <a:alpha val="0"/>
              </a:srgbClr>
            </a:solidFill>
            <a:prstDash val="solid"/>
          </a:ln>
        </p:spPr>
        <p:txBody>
          <a:bodyPr/>
          <a:lstStyle/>
          <a:p>
            <a:endParaRPr lang="en-US"/>
          </a:p>
        </p:txBody>
      </p:sp>
      <p:sp>
        <p:nvSpPr>
          <p:cNvPr id="4" name="Text 2"/>
          <p:cNvSpPr/>
          <p:nvPr/>
        </p:nvSpPr>
        <p:spPr>
          <a:xfrm>
            <a:off x="502920" y="155448"/>
            <a:ext cx="9052560" cy="274320"/>
          </a:xfrm>
          <a:prstGeom prst="rect">
            <a:avLst/>
          </a:prstGeom>
          <a:noFill/>
          <a:ln/>
        </p:spPr>
        <p:txBody>
          <a:bodyPr wrap="square" lIns="0" tIns="0" rIns="0" bIns="0" rtlCol="0" anchor="ctr"/>
          <a:lstStyle/>
          <a:p>
            <a:pPr marL="0" indent="0">
              <a:buNone/>
            </a:pPr>
            <a:r>
              <a:rPr lang="en-US" sz="2300" b="1" dirty="0">
                <a:solidFill>
                  <a:srgbClr val="FFFFFF"/>
                </a:solidFill>
                <a:latin typeface="Aptos Display" pitchFamily="34" charset="0"/>
                <a:ea typeface="Aptos Display" pitchFamily="34" charset="-122"/>
                <a:cs typeface="Aptos Display" pitchFamily="34" charset="-120"/>
              </a:rPr>
              <a:t>What is new here—and what remains to do</a:t>
            </a:r>
            <a:endParaRPr lang="en-US" sz="2300" dirty="0"/>
          </a:p>
        </p:txBody>
      </p:sp>
      <p:sp>
        <p:nvSpPr>
          <p:cNvPr id="5" name="Text 3"/>
          <p:cNvSpPr/>
          <p:nvPr/>
        </p:nvSpPr>
        <p:spPr>
          <a:xfrm>
            <a:off x="9829800" y="164592"/>
            <a:ext cx="1783080" cy="256032"/>
          </a:xfrm>
          <a:prstGeom prst="rect">
            <a:avLst/>
          </a:prstGeom>
          <a:noFill/>
          <a:ln/>
        </p:spPr>
        <p:txBody>
          <a:bodyPr wrap="square" lIns="0" tIns="0" rIns="0" bIns="0" rtlCol="0" anchor="ctr"/>
          <a:lstStyle/>
          <a:p>
            <a:pPr marL="0" indent="0" algn="r">
              <a:buNone/>
            </a:pPr>
            <a:r>
              <a:rPr lang="en-US" sz="950" dirty="0">
                <a:solidFill>
                  <a:srgbClr val="D8E2EE"/>
                </a:solidFill>
                <a:latin typeface="Aptos" pitchFamily="34" charset="0"/>
                <a:ea typeface="Aptos" pitchFamily="34" charset="-122"/>
                <a:cs typeface="Aptos" pitchFamily="34" charset="-120"/>
              </a:rPr>
              <a:t>Contributions</a:t>
            </a:r>
            <a:endParaRPr lang="en-US" sz="950" dirty="0"/>
          </a:p>
        </p:txBody>
      </p:sp>
      <p:sp>
        <p:nvSpPr>
          <p:cNvPr id="6" name="Text 4"/>
          <p:cNvSpPr/>
          <p:nvPr/>
        </p:nvSpPr>
        <p:spPr>
          <a:xfrm>
            <a:off x="502920" y="6556248"/>
            <a:ext cx="3291840" cy="146304"/>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FiB-MOBA-EAFG • Health IoT governance</a:t>
            </a:r>
            <a:endParaRPr lang="en-US" sz="850" dirty="0"/>
          </a:p>
        </p:txBody>
      </p:sp>
      <p:sp>
        <p:nvSpPr>
          <p:cNvPr id="7" name="Shape 5"/>
          <p:cNvSpPr/>
          <p:nvPr/>
        </p:nvSpPr>
        <p:spPr>
          <a:xfrm>
            <a:off x="713232" y="1097280"/>
            <a:ext cx="5303520" cy="4434840"/>
          </a:xfrm>
          <a:prstGeom prst="roundRect">
            <a:avLst>
              <a:gd name="adj" fmla="val 2474"/>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8" name="Shape 6"/>
          <p:cNvSpPr/>
          <p:nvPr/>
        </p:nvSpPr>
        <p:spPr>
          <a:xfrm>
            <a:off x="6217920" y="1097280"/>
            <a:ext cx="5257800" cy="4434840"/>
          </a:xfrm>
          <a:prstGeom prst="roundRect">
            <a:avLst>
              <a:gd name="adj" fmla="val 2474"/>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9" name="Text 7"/>
          <p:cNvSpPr/>
          <p:nvPr/>
        </p:nvSpPr>
        <p:spPr>
          <a:xfrm>
            <a:off x="960120" y="1417320"/>
            <a:ext cx="1645920" cy="219456"/>
          </a:xfrm>
          <a:prstGeom prst="rect">
            <a:avLst/>
          </a:prstGeom>
          <a:noFill/>
          <a:ln/>
        </p:spPr>
        <p:txBody>
          <a:bodyPr wrap="square" lIns="0" tIns="0" rIns="0" bIns="0" rtlCol="0" anchor="ctr"/>
          <a:lstStyle/>
          <a:p>
            <a:pPr marL="0" indent="0">
              <a:buNone/>
            </a:pPr>
            <a:r>
              <a:rPr lang="en-US" sz="2100" b="1" dirty="0">
                <a:solidFill>
                  <a:srgbClr val="1F2937"/>
                </a:solidFill>
                <a:latin typeface="Aptos Display" pitchFamily="34" charset="0"/>
                <a:ea typeface="Aptos Display" pitchFamily="34" charset="-122"/>
                <a:cs typeface="Aptos Display" pitchFamily="34" charset="-120"/>
              </a:rPr>
              <a:t>What is new</a:t>
            </a:r>
            <a:endParaRPr lang="en-US" sz="2100" dirty="0"/>
          </a:p>
        </p:txBody>
      </p:sp>
      <p:sp>
        <p:nvSpPr>
          <p:cNvPr id="10" name="Text 8"/>
          <p:cNvSpPr/>
          <p:nvPr/>
        </p:nvSpPr>
        <p:spPr>
          <a:xfrm>
            <a:off x="960120" y="1847088"/>
            <a:ext cx="164592" cy="182880"/>
          </a:xfrm>
          <a:prstGeom prst="rect">
            <a:avLst/>
          </a:prstGeom>
          <a:noFill/>
          <a:ln/>
        </p:spPr>
        <p:txBody>
          <a:bodyPr wrap="square" lIns="0" tIns="0" rIns="0" bIns="0" rtlCol="0" anchor="ctr"/>
          <a:lstStyle/>
          <a:p>
            <a:pPr marL="0" indent="0">
              <a:buNone/>
            </a:pPr>
            <a:r>
              <a:rPr lang="en-US" sz="1540" b="1" dirty="0">
                <a:solidFill>
                  <a:srgbClr val="1F2937"/>
                </a:solidFill>
              </a:rPr>
              <a:t>•</a:t>
            </a:r>
            <a:endParaRPr lang="en-US" sz="1540" dirty="0"/>
          </a:p>
        </p:txBody>
      </p:sp>
      <p:sp>
        <p:nvSpPr>
          <p:cNvPr id="11" name="Text 9"/>
          <p:cNvSpPr/>
          <p:nvPr/>
        </p:nvSpPr>
        <p:spPr>
          <a:xfrm>
            <a:off x="1143000" y="1828800"/>
            <a:ext cx="4434840" cy="292608"/>
          </a:xfrm>
          <a:prstGeom prst="rect">
            <a:avLst/>
          </a:prstGeom>
          <a:noFill/>
          <a:ln/>
        </p:spPr>
        <p:txBody>
          <a:bodyPr wrap="square" lIns="0" tIns="0" rIns="0" bIns="0" rtlCol="0" anchor="ctr"/>
          <a:lstStyle/>
          <a:p>
            <a:pPr marL="0" indent="0">
              <a:buNone/>
            </a:pPr>
            <a:r>
              <a:rPr lang="en-US" sz="1340" dirty="0">
                <a:solidFill>
                  <a:srgbClr val="1F2937"/>
                </a:solidFill>
              </a:rPr>
              <a:t>Blockchain is used for accountability, not heavy runtime decision-making.</a:t>
            </a:r>
            <a:endParaRPr lang="en-US" sz="1340" dirty="0"/>
          </a:p>
        </p:txBody>
      </p:sp>
      <p:sp>
        <p:nvSpPr>
          <p:cNvPr id="12" name="Text 10"/>
          <p:cNvSpPr/>
          <p:nvPr/>
        </p:nvSpPr>
        <p:spPr>
          <a:xfrm>
            <a:off x="960120" y="2395728"/>
            <a:ext cx="164592" cy="182880"/>
          </a:xfrm>
          <a:prstGeom prst="rect">
            <a:avLst/>
          </a:prstGeom>
          <a:noFill/>
          <a:ln/>
        </p:spPr>
        <p:txBody>
          <a:bodyPr wrap="square" lIns="0" tIns="0" rIns="0" bIns="0" rtlCol="0" anchor="ctr"/>
          <a:lstStyle/>
          <a:p>
            <a:pPr marL="0" indent="0">
              <a:buNone/>
            </a:pPr>
            <a:r>
              <a:rPr lang="en-US" sz="1540" b="1" dirty="0">
                <a:solidFill>
                  <a:srgbClr val="1F2937"/>
                </a:solidFill>
              </a:rPr>
              <a:t>•</a:t>
            </a:r>
            <a:endParaRPr lang="en-US" sz="1540" dirty="0"/>
          </a:p>
        </p:txBody>
      </p:sp>
      <p:sp>
        <p:nvSpPr>
          <p:cNvPr id="13" name="Text 11"/>
          <p:cNvSpPr/>
          <p:nvPr/>
        </p:nvSpPr>
        <p:spPr>
          <a:xfrm>
            <a:off x="1143000" y="2377440"/>
            <a:ext cx="4434840" cy="292608"/>
          </a:xfrm>
          <a:prstGeom prst="rect">
            <a:avLst/>
          </a:prstGeom>
          <a:noFill/>
          <a:ln/>
        </p:spPr>
        <p:txBody>
          <a:bodyPr wrap="square" lIns="0" tIns="0" rIns="0" bIns="0" rtlCol="0" anchor="ctr"/>
          <a:lstStyle/>
          <a:p>
            <a:pPr marL="0" indent="0">
              <a:buNone/>
            </a:pPr>
            <a:r>
              <a:rPr lang="en-US" sz="1340" dirty="0">
                <a:solidFill>
                  <a:srgbClr val="1F2937"/>
                </a:solidFill>
              </a:rPr>
              <a:t>Fuzzy context reasoning keeps the priority logic human-readable.</a:t>
            </a:r>
            <a:endParaRPr lang="en-US" sz="1340" dirty="0"/>
          </a:p>
        </p:txBody>
      </p:sp>
      <p:sp>
        <p:nvSpPr>
          <p:cNvPr id="14" name="Text 12"/>
          <p:cNvSpPr/>
          <p:nvPr/>
        </p:nvSpPr>
        <p:spPr>
          <a:xfrm>
            <a:off x="960120" y="2944368"/>
            <a:ext cx="164592" cy="182880"/>
          </a:xfrm>
          <a:prstGeom prst="rect">
            <a:avLst/>
          </a:prstGeom>
          <a:noFill/>
          <a:ln/>
        </p:spPr>
        <p:txBody>
          <a:bodyPr wrap="square" lIns="0" tIns="0" rIns="0" bIns="0" rtlCol="0" anchor="ctr"/>
          <a:lstStyle/>
          <a:p>
            <a:pPr marL="0" indent="0">
              <a:buNone/>
            </a:pPr>
            <a:r>
              <a:rPr lang="en-US" sz="1540" b="1" dirty="0">
                <a:solidFill>
                  <a:srgbClr val="1F2937"/>
                </a:solidFill>
              </a:rPr>
              <a:t>•</a:t>
            </a:r>
            <a:endParaRPr lang="en-US" sz="1540" dirty="0"/>
          </a:p>
        </p:txBody>
      </p:sp>
      <p:sp>
        <p:nvSpPr>
          <p:cNvPr id="15" name="Text 13"/>
          <p:cNvSpPr/>
          <p:nvPr/>
        </p:nvSpPr>
        <p:spPr>
          <a:xfrm>
            <a:off x="1143000" y="2926080"/>
            <a:ext cx="4434840" cy="292608"/>
          </a:xfrm>
          <a:prstGeom prst="rect">
            <a:avLst/>
          </a:prstGeom>
          <a:noFill/>
          <a:ln/>
        </p:spPr>
        <p:txBody>
          <a:bodyPr wrap="square" lIns="0" tIns="0" rIns="0" bIns="0" rtlCol="0" anchor="ctr"/>
          <a:lstStyle/>
          <a:p>
            <a:pPr marL="0" indent="0">
              <a:buNone/>
            </a:pPr>
            <a:r>
              <a:rPr lang="en-US" sz="1340" dirty="0">
                <a:solidFill>
                  <a:srgbClr val="1F2937"/>
                </a:solidFill>
              </a:rPr>
              <a:t>Feasibility-guarded bargaining selects one deployable policy from Pareto candidates.</a:t>
            </a:r>
            <a:endParaRPr lang="en-US" sz="1340" dirty="0"/>
          </a:p>
        </p:txBody>
      </p:sp>
      <p:sp>
        <p:nvSpPr>
          <p:cNvPr id="16" name="Text 14"/>
          <p:cNvSpPr/>
          <p:nvPr/>
        </p:nvSpPr>
        <p:spPr>
          <a:xfrm>
            <a:off x="960120" y="3493008"/>
            <a:ext cx="164592" cy="182880"/>
          </a:xfrm>
          <a:prstGeom prst="rect">
            <a:avLst/>
          </a:prstGeom>
          <a:noFill/>
          <a:ln/>
        </p:spPr>
        <p:txBody>
          <a:bodyPr wrap="square" lIns="0" tIns="0" rIns="0" bIns="0" rtlCol="0" anchor="ctr"/>
          <a:lstStyle/>
          <a:p>
            <a:pPr marL="0" indent="0">
              <a:buNone/>
            </a:pPr>
            <a:r>
              <a:rPr lang="en-US" sz="1540" b="1" dirty="0">
                <a:solidFill>
                  <a:srgbClr val="1F2937"/>
                </a:solidFill>
              </a:rPr>
              <a:t>•</a:t>
            </a:r>
            <a:endParaRPr lang="en-US" sz="1540" dirty="0"/>
          </a:p>
        </p:txBody>
      </p:sp>
      <p:sp>
        <p:nvSpPr>
          <p:cNvPr id="17" name="Text 15"/>
          <p:cNvSpPr/>
          <p:nvPr/>
        </p:nvSpPr>
        <p:spPr>
          <a:xfrm>
            <a:off x="1143000" y="3474720"/>
            <a:ext cx="4434840" cy="292608"/>
          </a:xfrm>
          <a:prstGeom prst="rect">
            <a:avLst/>
          </a:prstGeom>
          <a:noFill/>
          <a:ln/>
        </p:spPr>
        <p:txBody>
          <a:bodyPr wrap="square" lIns="0" tIns="0" rIns="0" bIns="0" rtlCol="0" anchor="ctr"/>
          <a:lstStyle/>
          <a:p>
            <a:pPr marL="0" indent="0">
              <a:buNone/>
            </a:pPr>
            <a:r>
              <a:rPr lang="en-US" sz="1340" dirty="0">
                <a:solidFill>
                  <a:srgbClr val="1F2937"/>
                </a:solidFill>
              </a:rPr>
              <a:t>Budget-matched ablations suggest structured Pareto search adds real value over random search.</a:t>
            </a:r>
            <a:endParaRPr lang="en-US" sz="1340" dirty="0"/>
          </a:p>
        </p:txBody>
      </p:sp>
      <p:sp>
        <p:nvSpPr>
          <p:cNvPr id="18" name="Text 16"/>
          <p:cNvSpPr/>
          <p:nvPr/>
        </p:nvSpPr>
        <p:spPr>
          <a:xfrm>
            <a:off x="6473952" y="1417320"/>
            <a:ext cx="2011680" cy="219456"/>
          </a:xfrm>
          <a:prstGeom prst="rect">
            <a:avLst/>
          </a:prstGeom>
          <a:noFill/>
          <a:ln/>
        </p:spPr>
        <p:txBody>
          <a:bodyPr wrap="square" lIns="0" tIns="0" rIns="0" bIns="0" rtlCol="0" anchor="ctr"/>
          <a:lstStyle/>
          <a:p>
            <a:pPr marL="0" indent="0">
              <a:buNone/>
            </a:pPr>
            <a:r>
              <a:rPr lang="en-US" sz="2100" b="1" dirty="0">
                <a:solidFill>
                  <a:srgbClr val="1F2937"/>
                </a:solidFill>
                <a:latin typeface="Aptos Display" pitchFamily="34" charset="0"/>
                <a:ea typeface="Aptos Display" pitchFamily="34" charset="-122"/>
                <a:cs typeface="Aptos Display" pitchFamily="34" charset="-120"/>
              </a:rPr>
              <a:t>Current limitations</a:t>
            </a:r>
            <a:endParaRPr lang="en-US" sz="2100" dirty="0"/>
          </a:p>
        </p:txBody>
      </p:sp>
      <p:sp>
        <p:nvSpPr>
          <p:cNvPr id="19" name="Text 17"/>
          <p:cNvSpPr/>
          <p:nvPr/>
        </p:nvSpPr>
        <p:spPr>
          <a:xfrm>
            <a:off x="6473952" y="1847088"/>
            <a:ext cx="164592" cy="182880"/>
          </a:xfrm>
          <a:prstGeom prst="rect">
            <a:avLst/>
          </a:prstGeom>
          <a:noFill/>
          <a:ln/>
        </p:spPr>
        <p:txBody>
          <a:bodyPr wrap="square" lIns="0" tIns="0" rIns="0" bIns="0" rtlCol="0" anchor="ctr"/>
          <a:lstStyle/>
          <a:p>
            <a:pPr marL="0" indent="0">
              <a:buNone/>
            </a:pPr>
            <a:r>
              <a:rPr lang="en-US" sz="1540" b="1" dirty="0">
                <a:solidFill>
                  <a:srgbClr val="1F2937"/>
                </a:solidFill>
              </a:rPr>
              <a:t>•</a:t>
            </a:r>
            <a:endParaRPr lang="en-US" sz="1540" dirty="0"/>
          </a:p>
        </p:txBody>
      </p:sp>
      <p:sp>
        <p:nvSpPr>
          <p:cNvPr id="20" name="Text 18"/>
          <p:cNvSpPr/>
          <p:nvPr/>
        </p:nvSpPr>
        <p:spPr>
          <a:xfrm>
            <a:off x="6656832" y="1828800"/>
            <a:ext cx="4343400" cy="292608"/>
          </a:xfrm>
          <a:prstGeom prst="rect">
            <a:avLst/>
          </a:prstGeom>
          <a:noFill/>
          <a:ln/>
        </p:spPr>
        <p:txBody>
          <a:bodyPr wrap="square" lIns="0" tIns="0" rIns="0" bIns="0" rtlCol="0" anchor="ctr"/>
          <a:lstStyle/>
          <a:p>
            <a:pPr marL="0" indent="0">
              <a:buNone/>
            </a:pPr>
            <a:r>
              <a:rPr lang="en-US" sz="1340" dirty="0">
                <a:solidFill>
                  <a:srgbClr val="1F2937"/>
                </a:solidFill>
              </a:rPr>
              <a:t>The evaluation is simulation-based, not a live clinical deployment.</a:t>
            </a:r>
            <a:endParaRPr lang="en-US" sz="1340" dirty="0"/>
          </a:p>
        </p:txBody>
      </p:sp>
      <p:sp>
        <p:nvSpPr>
          <p:cNvPr id="21" name="Text 19"/>
          <p:cNvSpPr/>
          <p:nvPr/>
        </p:nvSpPr>
        <p:spPr>
          <a:xfrm>
            <a:off x="6473952" y="2487168"/>
            <a:ext cx="164592" cy="182880"/>
          </a:xfrm>
          <a:prstGeom prst="rect">
            <a:avLst/>
          </a:prstGeom>
          <a:noFill/>
          <a:ln/>
        </p:spPr>
        <p:txBody>
          <a:bodyPr wrap="square" lIns="0" tIns="0" rIns="0" bIns="0" rtlCol="0" anchor="ctr"/>
          <a:lstStyle/>
          <a:p>
            <a:pPr marL="0" indent="0">
              <a:buNone/>
            </a:pPr>
            <a:r>
              <a:rPr lang="en-US" sz="1540" b="1" dirty="0">
                <a:solidFill>
                  <a:srgbClr val="1F2937"/>
                </a:solidFill>
              </a:rPr>
              <a:t>•</a:t>
            </a:r>
            <a:endParaRPr lang="en-US" sz="1540" dirty="0"/>
          </a:p>
        </p:txBody>
      </p:sp>
      <p:sp>
        <p:nvSpPr>
          <p:cNvPr id="22" name="Text 20"/>
          <p:cNvSpPr/>
          <p:nvPr/>
        </p:nvSpPr>
        <p:spPr>
          <a:xfrm>
            <a:off x="6656832" y="2468880"/>
            <a:ext cx="4343400" cy="292608"/>
          </a:xfrm>
          <a:prstGeom prst="rect">
            <a:avLst/>
          </a:prstGeom>
          <a:noFill/>
          <a:ln/>
        </p:spPr>
        <p:txBody>
          <a:bodyPr wrap="square" lIns="0" tIns="0" rIns="0" bIns="0" rtlCol="0" anchor="ctr"/>
          <a:lstStyle/>
          <a:p>
            <a:pPr marL="0" indent="0">
              <a:buNone/>
            </a:pPr>
            <a:r>
              <a:rPr lang="en-US" sz="1340" dirty="0">
                <a:solidFill>
                  <a:srgbClr val="1F2937"/>
                </a:solidFill>
              </a:rPr>
              <a:t>Latency, energy, privacy risk, and robustness use modeled proxies.</a:t>
            </a:r>
            <a:endParaRPr lang="en-US" sz="1340" dirty="0"/>
          </a:p>
        </p:txBody>
      </p:sp>
      <p:sp>
        <p:nvSpPr>
          <p:cNvPr id="23" name="Text 21"/>
          <p:cNvSpPr/>
          <p:nvPr/>
        </p:nvSpPr>
        <p:spPr>
          <a:xfrm>
            <a:off x="6473952" y="3127248"/>
            <a:ext cx="164592" cy="182880"/>
          </a:xfrm>
          <a:prstGeom prst="rect">
            <a:avLst/>
          </a:prstGeom>
          <a:noFill/>
          <a:ln/>
        </p:spPr>
        <p:txBody>
          <a:bodyPr wrap="square" lIns="0" tIns="0" rIns="0" bIns="0" rtlCol="0" anchor="ctr"/>
          <a:lstStyle/>
          <a:p>
            <a:pPr marL="0" indent="0">
              <a:buNone/>
            </a:pPr>
            <a:r>
              <a:rPr lang="en-US" sz="1540" b="1" dirty="0">
                <a:solidFill>
                  <a:srgbClr val="1F2937"/>
                </a:solidFill>
              </a:rPr>
              <a:t>•</a:t>
            </a:r>
            <a:endParaRPr lang="en-US" sz="1540" dirty="0"/>
          </a:p>
        </p:txBody>
      </p:sp>
      <p:sp>
        <p:nvSpPr>
          <p:cNvPr id="24" name="Text 22"/>
          <p:cNvSpPr/>
          <p:nvPr/>
        </p:nvSpPr>
        <p:spPr>
          <a:xfrm>
            <a:off x="6656832" y="3108960"/>
            <a:ext cx="4343400" cy="292608"/>
          </a:xfrm>
          <a:prstGeom prst="rect">
            <a:avLst/>
          </a:prstGeom>
          <a:noFill/>
          <a:ln/>
        </p:spPr>
        <p:txBody>
          <a:bodyPr wrap="square" lIns="0" tIns="0" rIns="0" bIns="0" rtlCol="0" anchor="ctr"/>
          <a:lstStyle/>
          <a:p>
            <a:pPr marL="0" indent="0">
              <a:buNone/>
            </a:pPr>
            <a:r>
              <a:rPr lang="en-US" sz="1340" dirty="0">
                <a:solidFill>
                  <a:srgbClr val="1F2937"/>
                </a:solidFill>
              </a:rPr>
              <a:t>Next steps need a small edge prototype, richer privacy leakage modeling, and stability-aware refinements.</a:t>
            </a:r>
            <a:endParaRPr lang="en-US" sz="1340" dirty="0"/>
          </a:p>
        </p:txBody>
      </p:sp>
      <p:sp>
        <p:nvSpPr>
          <p:cNvPr id="25" name="Shape 23"/>
          <p:cNvSpPr/>
          <p:nvPr/>
        </p:nvSpPr>
        <p:spPr>
          <a:xfrm>
            <a:off x="1005840" y="5715000"/>
            <a:ext cx="10287000" cy="347472"/>
          </a:xfrm>
          <a:prstGeom prst="roundRect">
            <a:avLst>
              <a:gd name="adj" fmla="val 31579"/>
            </a:avLst>
          </a:prstGeom>
          <a:solidFill>
            <a:srgbClr val="FFF7EB"/>
          </a:solidFill>
          <a:ln w="12700">
            <a:solidFill>
              <a:srgbClr val="F6D8A6"/>
            </a:solidFill>
            <a:prstDash val="solid"/>
          </a:ln>
          <a:effectLst>
            <a:outerShdw blurRad="12700" dist="19050" dir="2700000" algn="bl" rotWithShape="0">
              <a:srgbClr val="000000">
                <a:alpha val="12000"/>
              </a:srgbClr>
            </a:outerShdw>
          </a:effectLst>
        </p:spPr>
        <p:txBody>
          <a:bodyPr/>
          <a:lstStyle/>
          <a:p>
            <a:endParaRPr lang="en-US"/>
          </a:p>
        </p:txBody>
      </p:sp>
      <p:sp>
        <p:nvSpPr>
          <p:cNvPr id="26" name="Text 24"/>
          <p:cNvSpPr/>
          <p:nvPr/>
        </p:nvSpPr>
        <p:spPr>
          <a:xfrm>
            <a:off x="1234440" y="5788152"/>
            <a:ext cx="9829800" cy="128016"/>
          </a:xfrm>
          <a:prstGeom prst="rect">
            <a:avLst/>
          </a:prstGeom>
          <a:noFill/>
          <a:ln/>
        </p:spPr>
        <p:txBody>
          <a:bodyPr wrap="square" lIns="0" tIns="0" rIns="0" bIns="0" rtlCol="0" anchor="ctr"/>
          <a:lstStyle/>
          <a:p>
            <a:pPr marL="0" indent="0" algn="ctr">
              <a:buNone/>
            </a:pPr>
            <a:r>
              <a:rPr lang="en-US" sz="1480" b="1" dirty="0">
                <a:solidFill>
                  <a:srgbClr val="7C4C12"/>
                </a:solidFill>
                <a:latin typeface="Aptos" pitchFamily="34" charset="0"/>
                <a:ea typeface="Aptos" pitchFamily="34" charset="-122"/>
                <a:cs typeface="Aptos" pitchFamily="34" charset="-120"/>
              </a:rPr>
              <a:t>So the paper gives a strong framework and evidence base; the next step is prototype validation with colleagues and students.</a:t>
            </a:r>
            <a:endParaRPr lang="en-US" sz="1480" dirty="0"/>
          </a:p>
        </p:txBody>
      </p:sp>
      <p:sp>
        <p:nvSpPr>
          <p:cNvPr id="27" name="Text 25"/>
          <p:cNvSpPr/>
          <p:nvPr/>
        </p:nvSpPr>
        <p:spPr>
          <a:xfrm>
            <a:off x="11475720" y="6510528"/>
            <a:ext cx="228600" cy="146304"/>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F3A"/>
          </a:solidFill>
          <a:ln w="12700">
            <a:solidFill>
              <a:srgbClr val="0B1F3A">
                <a:alpha val="0"/>
              </a:srgbClr>
            </a:solidFill>
            <a:prstDash val="solid"/>
          </a:ln>
        </p:spPr>
        <p:txBody>
          <a:bodyPr/>
          <a:lstStyle/>
          <a:p>
            <a:endParaRPr lang="en-US"/>
          </a:p>
        </p:txBody>
      </p:sp>
      <p:sp>
        <p:nvSpPr>
          <p:cNvPr id="3" name="Shape 1"/>
          <p:cNvSpPr/>
          <p:nvPr/>
        </p:nvSpPr>
        <p:spPr>
          <a:xfrm>
            <a:off x="0" y="658368"/>
            <a:ext cx="12191695" cy="45720"/>
          </a:xfrm>
          <a:prstGeom prst="rect">
            <a:avLst/>
          </a:prstGeom>
          <a:solidFill>
            <a:srgbClr val="14A36F"/>
          </a:solidFill>
          <a:ln w="12700">
            <a:solidFill>
              <a:srgbClr val="14A36F">
                <a:alpha val="0"/>
              </a:srgbClr>
            </a:solidFill>
            <a:prstDash val="solid"/>
          </a:ln>
        </p:spPr>
        <p:txBody>
          <a:bodyPr/>
          <a:lstStyle/>
          <a:p>
            <a:endParaRPr lang="en-US"/>
          </a:p>
        </p:txBody>
      </p:sp>
      <p:sp>
        <p:nvSpPr>
          <p:cNvPr id="4" name="Text 2"/>
          <p:cNvSpPr/>
          <p:nvPr/>
        </p:nvSpPr>
        <p:spPr>
          <a:xfrm>
            <a:off x="502920" y="155448"/>
            <a:ext cx="9052560" cy="274320"/>
          </a:xfrm>
          <a:prstGeom prst="rect">
            <a:avLst/>
          </a:prstGeom>
          <a:noFill/>
          <a:ln/>
        </p:spPr>
        <p:txBody>
          <a:bodyPr wrap="square" lIns="0" tIns="0" rIns="0" bIns="0" rtlCol="0" anchor="ctr"/>
          <a:lstStyle/>
          <a:p>
            <a:pPr marL="0" indent="0">
              <a:buNone/>
            </a:pPr>
            <a:r>
              <a:rPr lang="en-US" sz="2300" b="1" dirty="0">
                <a:solidFill>
                  <a:srgbClr val="FFFFFF"/>
                </a:solidFill>
                <a:latin typeface="Aptos Display" pitchFamily="34" charset="0"/>
                <a:ea typeface="Aptos Display" pitchFamily="34" charset="-122"/>
                <a:cs typeface="Aptos Display" pitchFamily="34" charset="-120"/>
              </a:rPr>
              <a:t>Where I would value collaboration from SISTC colleagues</a:t>
            </a:r>
            <a:endParaRPr lang="en-US" sz="2300" dirty="0"/>
          </a:p>
        </p:txBody>
      </p:sp>
      <p:sp>
        <p:nvSpPr>
          <p:cNvPr id="5" name="Text 3"/>
          <p:cNvSpPr/>
          <p:nvPr/>
        </p:nvSpPr>
        <p:spPr>
          <a:xfrm>
            <a:off x="9829800" y="164592"/>
            <a:ext cx="1783080" cy="256032"/>
          </a:xfrm>
          <a:prstGeom prst="rect">
            <a:avLst/>
          </a:prstGeom>
          <a:noFill/>
          <a:ln/>
        </p:spPr>
        <p:txBody>
          <a:bodyPr wrap="square" lIns="0" tIns="0" rIns="0" bIns="0" rtlCol="0" anchor="ctr"/>
          <a:lstStyle/>
          <a:p>
            <a:pPr marL="0" indent="0" algn="r">
              <a:buNone/>
            </a:pPr>
            <a:r>
              <a:rPr lang="en-US" sz="950" dirty="0">
                <a:solidFill>
                  <a:srgbClr val="D8E2EE"/>
                </a:solidFill>
                <a:latin typeface="Aptos" pitchFamily="34" charset="0"/>
                <a:ea typeface="Aptos" pitchFamily="34" charset="-122"/>
                <a:cs typeface="Aptos" pitchFamily="34" charset="-120"/>
              </a:rPr>
              <a:t>Collaboration</a:t>
            </a:r>
            <a:endParaRPr lang="en-US" sz="950" dirty="0"/>
          </a:p>
        </p:txBody>
      </p:sp>
      <p:sp>
        <p:nvSpPr>
          <p:cNvPr id="6" name="Text 4"/>
          <p:cNvSpPr/>
          <p:nvPr/>
        </p:nvSpPr>
        <p:spPr>
          <a:xfrm>
            <a:off x="502920" y="6556248"/>
            <a:ext cx="3291840" cy="146304"/>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FiB-MOBA-EAFG • Health IoT governance</a:t>
            </a:r>
            <a:endParaRPr lang="en-US" sz="850" dirty="0"/>
          </a:p>
        </p:txBody>
      </p:sp>
      <p:sp>
        <p:nvSpPr>
          <p:cNvPr id="7" name="Shape 5"/>
          <p:cNvSpPr/>
          <p:nvPr/>
        </p:nvSpPr>
        <p:spPr>
          <a:xfrm>
            <a:off x="731520" y="1325880"/>
            <a:ext cx="4663440" cy="1783080"/>
          </a:xfrm>
          <a:prstGeom prst="roundRect">
            <a:avLst>
              <a:gd name="adj" fmla="val 6154"/>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8" name="Shape 6"/>
          <p:cNvSpPr/>
          <p:nvPr/>
        </p:nvSpPr>
        <p:spPr>
          <a:xfrm>
            <a:off x="950976" y="1563624"/>
            <a:ext cx="1600200" cy="310896"/>
          </a:xfrm>
          <a:prstGeom prst="roundRect">
            <a:avLst/>
          </a:prstGeom>
          <a:solidFill>
            <a:srgbClr val="2476D6"/>
          </a:solidFill>
          <a:ln w="12700">
            <a:solidFill>
              <a:srgbClr val="2476D6">
                <a:alpha val="0"/>
              </a:srgbClr>
            </a:solidFill>
            <a:prstDash val="solid"/>
          </a:ln>
        </p:spPr>
        <p:txBody>
          <a:bodyPr/>
          <a:lstStyle/>
          <a:p>
            <a:endParaRPr lang="en-US"/>
          </a:p>
        </p:txBody>
      </p:sp>
      <p:sp>
        <p:nvSpPr>
          <p:cNvPr id="9" name="Text 7"/>
          <p:cNvSpPr/>
          <p:nvPr/>
        </p:nvSpPr>
        <p:spPr>
          <a:xfrm>
            <a:off x="950976" y="1627632"/>
            <a:ext cx="1600200"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Prototype &amp; deployment</a:t>
            </a:r>
            <a:endParaRPr lang="en-US" sz="950" dirty="0"/>
          </a:p>
        </p:txBody>
      </p:sp>
      <p:sp>
        <p:nvSpPr>
          <p:cNvPr id="10" name="Text 8"/>
          <p:cNvSpPr/>
          <p:nvPr/>
        </p:nvSpPr>
        <p:spPr>
          <a:xfrm>
            <a:off x="969264" y="2130552"/>
            <a:ext cx="4160520" cy="594360"/>
          </a:xfrm>
          <a:prstGeom prst="rect">
            <a:avLst/>
          </a:prstGeom>
          <a:noFill/>
          <a:ln/>
        </p:spPr>
        <p:txBody>
          <a:bodyPr wrap="square" lIns="0" tIns="0" rIns="0" bIns="0" rtlCol="0" anchor="ctr"/>
          <a:lstStyle/>
          <a:p>
            <a:pPr marL="0" indent="0">
              <a:buNone/>
            </a:pPr>
            <a:r>
              <a:rPr lang="en-US" sz="1620" dirty="0">
                <a:solidFill>
                  <a:srgbClr val="1F2937"/>
                </a:solidFill>
                <a:latin typeface="Aptos" pitchFamily="34" charset="0"/>
                <a:ea typeface="Aptos" pitchFamily="34" charset="-122"/>
                <a:cs typeface="Aptos" pitchFamily="34" charset="-120"/>
              </a:rPr>
              <a:t>Build a small edge gateway + permissioned blockchain demo for realistic validation.</a:t>
            </a:r>
            <a:endParaRPr lang="en-US" sz="1620" dirty="0"/>
          </a:p>
        </p:txBody>
      </p:sp>
      <p:sp>
        <p:nvSpPr>
          <p:cNvPr id="11" name="Shape 9"/>
          <p:cNvSpPr/>
          <p:nvPr/>
        </p:nvSpPr>
        <p:spPr>
          <a:xfrm>
            <a:off x="6172200" y="1325880"/>
            <a:ext cx="4663440" cy="1783080"/>
          </a:xfrm>
          <a:prstGeom prst="roundRect">
            <a:avLst>
              <a:gd name="adj" fmla="val 6154"/>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12" name="Shape 10"/>
          <p:cNvSpPr/>
          <p:nvPr/>
        </p:nvSpPr>
        <p:spPr>
          <a:xfrm>
            <a:off x="6391656" y="1563624"/>
            <a:ext cx="1600200" cy="310896"/>
          </a:xfrm>
          <a:prstGeom prst="roundRect">
            <a:avLst/>
          </a:prstGeom>
          <a:solidFill>
            <a:srgbClr val="14A36F"/>
          </a:solidFill>
          <a:ln w="12700">
            <a:solidFill>
              <a:srgbClr val="14A36F">
                <a:alpha val="0"/>
              </a:srgbClr>
            </a:solidFill>
            <a:prstDash val="solid"/>
          </a:ln>
        </p:spPr>
        <p:txBody>
          <a:bodyPr/>
          <a:lstStyle/>
          <a:p>
            <a:endParaRPr lang="en-US"/>
          </a:p>
        </p:txBody>
      </p:sp>
      <p:sp>
        <p:nvSpPr>
          <p:cNvPr id="13" name="Text 11"/>
          <p:cNvSpPr/>
          <p:nvPr/>
        </p:nvSpPr>
        <p:spPr>
          <a:xfrm>
            <a:off x="6391656" y="1627632"/>
            <a:ext cx="1600200"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Governance rules</a:t>
            </a:r>
            <a:endParaRPr lang="en-US" sz="950" dirty="0"/>
          </a:p>
        </p:txBody>
      </p:sp>
      <p:sp>
        <p:nvSpPr>
          <p:cNvPr id="14" name="Text 12"/>
          <p:cNvSpPr/>
          <p:nvPr/>
        </p:nvSpPr>
        <p:spPr>
          <a:xfrm>
            <a:off x="6409944" y="2130552"/>
            <a:ext cx="4160520" cy="594360"/>
          </a:xfrm>
          <a:prstGeom prst="rect">
            <a:avLst/>
          </a:prstGeom>
          <a:noFill/>
          <a:ln/>
        </p:spPr>
        <p:txBody>
          <a:bodyPr wrap="square" lIns="0" tIns="0" rIns="0" bIns="0" rtlCol="0" anchor="ctr"/>
          <a:lstStyle/>
          <a:p>
            <a:pPr marL="0" indent="0">
              <a:buNone/>
            </a:pPr>
            <a:r>
              <a:rPr lang="en-US" sz="1620" dirty="0">
                <a:solidFill>
                  <a:srgbClr val="1F2937"/>
                </a:solidFill>
                <a:latin typeface="Aptos" pitchFamily="34" charset="0"/>
                <a:ea typeface="Aptos" pitchFamily="34" charset="-122"/>
                <a:cs typeface="Aptos" pitchFamily="34" charset="-120"/>
              </a:rPr>
              <a:t>Refine consent logic, emergency rules, and policy thresholds with domain feedback.</a:t>
            </a:r>
            <a:endParaRPr lang="en-US" sz="1620" dirty="0"/>
          </a:p>
        </p:txBody>
      </p:sp>
      <p:sp>
        <p:nvSpPr>
          <p:cNvPr id="15" name="Shape 13"/>
          <p:cNvSpPr/>
          <p:nvPr/>
        </p:nvSpPr>
        <p:spPr>
          <a:xfrm>
            <a:off x="731520" y="3703320"/>
            <a:ext cx="4663440" cy="1783080"/>
          </a:xfrm>
          <a:prstGeom prst="roundRect">
            <a:avLst>
              <a:gd name="adj" fmla="val 6154"/>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16" name="Shape 14"/>
          <p:cNvSpPr/>
          <p:nvPr/>
        </p:nvSpPr>
        <p:spPr>
          <a:xfrm>
            <a:off x="950976" y="3941064"/>
            <a:ext cx="1600200" cy="310896"/>
          </a:xfrm>
          <a:prstGeom prst="roundRect">
            <a:avLst/>
          </a:prstGeom>
          <a:solidFill>
            <a:srgbClr val="6A5ACD"/>
          </a:solidFill>
          <a:ln w="12700">
            <a:solidFill>
              <a:srgbClr val="6A5ACD">
                <a:alpha val="0"/>
              </a:srgbClr>
            </a:solidFill>
            <a:prstDash val="solid"/>
          </a:ln>
        </p:spPr>
        <p:txBody>
          <a:bodyPr/>
          <a:lstStyle/>
          <a:p>
            <a:endParaRPr lang="en-US"/>
          </a:p>
        </p:txBody>
      </p:sp>
      <p:sp>
        <p:nvSpPr>
          <p:cNvPr id="17" name="Text 15"/>
          <p:cNvSpPr/>
          <p:nvPr/>
        </p:nvSpPr>
        <p:spPr>
          <a:xfrm>
            <a:off x="950976" y="4005072"/>
            <a:ext cx="1600200"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Security &amp; AI</a:t>
            </a:r>
            <a:endParaRPr lang="en-US" sz="950" dirty="0"/>
          </a:p>
        </p:txBody>
      </p:sp>
      <p:sp>
        <p:nvSpPr>
          <p:cNvPr id="18" name="Text 16"/>
          <p:cNvSpPr/>
          <p:nvPr/>
        </p:nvSpPr>
        <p:spPr>
          <a:xfrm>
            <a:off x="969264" y="4507992"/>
            <a:ext cx="4160520" cy="594360"/>
          </a:xfrm>
          <a:prstGeom prst="rect">
            <a:avLst/>
          </a:prstGeom>
          <a:noFill/>
          <a:ln/>
        </p:spPr>
        <p:txBody>
          <a:bodyPr wrap="square" lIns="0" tIns="0" rIns="0" bIns="0" rtlCol="0" anchor="ctr"/>
          <a:lstStyle/>
          <a:p>
            <a:pPr marL="0" indent="0">
              <a:buNone/>
            </a:pPr>
            <a:r>
              <a:rPr lang="en-US" sz="1620" dirty="0">
                <a:solidFill>
                  <a:srgbClr val="1F2937"/>
                </a:solidFill>
                <a:latin typeface="Aptos" pitchFamily="34" charset="0"/>
                <a:ea typeface="Aptos" pitchFamily="34" charset="-122"/>
                <a:cs typeface="Aptos" pitchFamily="34" charset="-120"/>
              </a:rPr>
              <a:t>Add anomaly indicators, trust signals, and stronger attack simulations.</a:t>
            </a:r>
            <a:endParaRPr lang="en-US" sz="1620" dirty="0"/>
          </a:p>
        </p:txBody>
      </p:sp>
      <p:sp>
        <p:nvSpPr>
          <p:cNvPr id="19" name="Shape 17"/>
          <p:cNvSpPr/>
          <p:nvPr/>
        </p:nvSpPr>
        <p:spPr>
          <a:xfrm>
            <a:off x="6172200" y="3703320"/>
            <a:ext cx="4663440" cy="1783080"/>
          </a:xfrm>
          <a:prstGeom prst="roundRect">
            <a:avLst>
              <a:gd name="adj" fmla="val 6154"/>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sp>
        <p:nvSpPr>
          <p:cNvPr id="20" name="Shape 18"/>
          <p:cNvSpPr/>
          <p:nvPr/>
        </p:nvSpPr>
        <p:spPr>
          <a:xfrm>
            <a:off x="6391656" y="3941064"/>
            <a:ext cx="1600200" cy="310896"/>
          </a:xfrm>
          <a:prstGeom prst="roundRect">
            <a:avLst/>
          </a:prstGeom>
          <a:solidFill>
            <a:srgbClr val="C93C37"/>
          </a:solidFill>
          <a:ln w="12700">
            <a:solidFill>
              <a:srgbClr val="C93C37">
                <a:alpha val="0"/>
              </a:srgbClr>
            </a:solidFill>
            <a:prstDash val="solid"/>
          </a:ln>
        </p:spPr>
        <p:txBody>
          <a:bodyPr/>
          <a:lstStyle/>
          <a:p>
            <a:endParaRPr lang="en-US"/>
          </a:p>
        </p:txBody>
      </p:sp>
      <p:sp>
        <p:nvSpPr>
          <p:cNvPr id="21" name="Text 19"/>
          <p:cNvSpPr/>
          <p:nvPr/>
        </p:nvSpPr>
        <p:spPr>
          <a:xfrm>
            <a:off x="6391656" y="4005072"/>
            <a:ext cx="1600200"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Students &amp; funding</a:t>
            </a:r>
            <a:endParaRPr lang="en-US" sz="950" dirty="0"/>
          </a:p>
        </p:txBody>
      </p:sp>
      <p:sp>
        <p:nvSpPr>
          <p:cNvPr id="22" name="Text 20"/>
          <p:cNvSpPr/>
          <p:nvPr/>
        </p:nvSpPr>
        <p:spPr>
          <a:xfrm>
            <a:off x="6409944" y="4507992"/>
            <a:ext cx="4160520" cy="594360"/>
          </a:xfrm>
          <a:prstGeom prst="rect">
            <a:avLst/>
          </a:prstGeom>
          <a:noFill/>
          <a:ln/>
        </p:spPr>
        <p:txBody>
          <a:bodyPr wrap="square" lIns="0" tIns="0" rIns="0" bIns="0" rtlCol="0" anchor="ctr"/>
          <a:lstStyle/>
          <a:p>
            <a:pPr marL="0" indent="0">
              <a:buNone/>
            </a:pPr>
            <a:r>
              <a:rPr lang="en-US" sz="1620" dirty="0">
                <a:solidFill>
                  <a:srgbClr val="1F2937"/>
                </a:solidFill>
                <a:latin typeface="Aptos" pitchFamily="34" charset="0"/>
                <a:ea typeface="Aptos" pitchFamily="34" charset="-122"/>
                <a:cs typeface="Aptos" pitchFamily="34" charset="-120"/>
              </a:rPr>
              <a:t>Create honours/Masters topics, joint supervision, and pilot grant ideas.</a:t>
            </a:r>
            <a:endParaRPr lang="en-US" sz="1620" dirty="0"/>
          </a:p>
        </p:txBody>
      </p:sp>
      <p:sp>
        <p:nvSpPr>
          <p:cNvPr id="23" name="Shape 21"/>
          <p:cNvSpPr/>
          <p:nvPr/>
        </p:nvSpPr>
        <p:spPr>
          <a:xfrm>
            <a:off x="960120" y="5833872"/>
            <a:ext cx="10195560" cy="329184"/>
          </a:xfrm>
          <a:prstGeom prst="roundRect">
            <a:avLst>
              <a:gd name="adj" fmla="val 33333"/>
            </a:avLst>
          </a:prstGeom>
          <a:solidFill>
            <a:srgbClr val="EEF6FF"/>
          </a:solidFill>
          <a:ln w="12700">
            <a:solidFill>
              <a:srgbClr val="CFE1F9"/>
            </a:solidFill>
            <a:prstDash val="solid"/>
          </a:ln>
          <a:effectLst>
            <a:outerShdw blurRad="12700" dist="19050" dir="2700000" algn="bl" rotWithShape="0">
              <a:srgbClr val="000000">
                <a:alpha val="12000"/>
              </a:srgbClr>
            </a:outerShdw>
          </a:effectLst>
        </p:spPr>
        <p:txBody>
          <a:bodyPr/>
          <a:lstStyle/>
          <a:p>
            <a:endParaRPr lang="en-US"/>
          </a:p>
        </p:txBody>
      </p:sp>
      <p:sp>
        <p:nvSpPr>
          <p:cNvPr id="24" name="Text 22"/>
          <p:cNvSpPr/>
          <p:nvPr/>
        </p:nvSpPr>
        <p:spPr>
          <a:xfrm>
            <a:off x="1170432" y="5916168"/>
            <a:ext cx="9784080" cy="146304"/>
          </a:xfrm>
          <a:prstGeom prst="rect">
            <a:avLst/>
          </a:prstGeom>
          <a:noFill/>
          <a:ln/>
        </p:spPr>
        <p:txBody>
          <a:bodyPr wrap="square" lIns="0" tIns="0" rIns="0" bIns="0" rtlCol="0" anchor="ctr"/>
          <a:lstStyle/>
          <a:p>
            <a:pPr marL="0" indent="0" algn="ctr">
              <a:buNone/>
            </a:pPr>
            <a:r>
              <a:rPr lang="en-US" sz="1560" b="1" dirty="0">
                <a:solidFill>
                  <a:srgbClr val="1F2937"/>
                </a:solidFill>
                <a:latin typeface="Aptos" pitchFamily="34" charset="0"/>
                <a:ea typeface="Aptos" pitchFamily="34" charset="-122"/>
                <a:cs typeface="Aptos" pitchFamily="34" charset="-120"/>
              </a:rPr>
              <a:t>Specific help I would welcome: access to testbeds, feedback on policy rules, industry use cases, and co-supervision opportunities.</a:t>
            </a:r>
            <a:endParaRPr lang="en-US" sz="1560" dirty="0"/>
          </a:p>
        </p:txBody>
      </p:sp>
      <p:sp>
        <p:nvSpPr>
          <p:cNvPr id="25" name="Text 23"/>
          <p:cNvSpPr/>
          <p:nvPr/>
        </p:nvSpPr>
        <p:spPr>
          <a:xfrm>
            <a:off x="11475720" y="6510528"/>
            <a:ext cx="228600" cy="146304"/>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F8FC"/>
          </a:solidFill>
          <a:ln w="12700">
            <a:solidFill>
              <a:srgbClr val="F5F8FC">
                <a:alpha val="0"/>
              </a:srgbClr>
            </a:solidFill>
            <a:prstDash val="solid"/>
          </a:ln>
        </p:spPr>
        <p:txBody>
          <a:bodyPr/>
          <a:lstStyle/>
          <a:p>
            <a:endParaRPr lang="en-US"/>
          </a:p>
        </p:txBody>
      </p:sp>
      <p:sp>
        <p:nvSpPr>
          <p:cNvPr id="3" name="Shape 1"/>
          <p:cNvSpPr/>
          <p:nvPr/>
        </p:nvSpPr>
        <p:spPr>
          <a:xfrm>
            <a:off x="0" y="0"/>
            <a:ext cx="12191695" cy="68580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p:cNvSpPr/>
          <p:nvPr/>
        </p:nvSpPr>
        <p:spPr>
          <a:xfrm>
            <a:off x="731520" y="914400"/>
            <a:ext cx="2103120" cy="365760"/>
          </a:xfrm>
          <a:prstGeom prst="rect">
            <a:avLst/>
          </a:prstGeom>
          <a:noFill/>
          <a:ln/>
        </p:spPr>
        <p:txBody>
          <a:bodyPr wrap="square" lIns="0" tIns="0" rIns="0" bIns="0" rtlCol="0" anchor="ctr"/>
          <a:lstStyle/>
          <a:p>
            <a:pPr marL="0" indent="0">
              <a:buNone/>
            </a:pPr>
            <a:r>
              <a:rPr lang="en-US" sz="2800" b="1" dirty="0">
                <a:solidFill>
                  <a:srgbClr val="0B1F3A"/>
                </a:solidFill>
                <a:latin typeface="Aptos Display" pitchFamily="34" charset="0"/>
                <a:ea typeface="Aptos Display" pitchFamily="34" charset="-122"/>
                <a:cs typeface="Aptos Display" pitchFamily="34" charset="-120"/>
              </a:rPr>
              <a:t>Thank you</a:t>
            </a:r>
            <a:endParaRPr lang="en-US" sz="2800" dirty="0"/>
          </a:p>
        </p:txBody>
      </p:sp>
      <p:sp>
        <p:nvSpPr>
          <p:cNvPr id="5" name="Text 3"/>
          <p:cNvSpPr/>
          <p:nvPr/>
        </p:nvSpPr>
        <p:spPr>
          <a:xfrm>
            <a:off x="749808" y="1609344"/>
            <a:ext cx="2286000" cy="201168"/>
          </a:xfrm>
          <a:prstGeom prst="rect">
            <a:avLst/>
          </a:prstGeom>
          <a:noFill/>
          <a:ln/>
        </p:spPr>
        <p:txBody>
          <a:bodyPr wrap="square" lIns="0" tIns="0" rIns="0" bIns="0" rtlCol="0" anchor="ctr"/>
          <a:lstStyle/>
          <a:p>
            <a:pPr marL="0" indent="0">
              <a:buNone/>
            </a:pPr>
            <a:r>
              <a:rPr lang="en-US" sz="1400" b="1" dirty="0">
                <a:solidFill>
                  <a:srgbClr val="2476D6"/>
                </a:solidFill>
                <a:latin typeface="Aptos" pitchFamily="34" charset="0"/>
                <a:ea typeface="Aptos" pitchFamily="34" charset="-122"/>
                <a:cs typeface="Aptos" pitchFamily="34" charset="-120"/>
              </a:rPr>
              <a:t>Three take-aways</a:t>
            </a:r>
            <a:endParaRPr lang="en-US" sz="1400" dirty="0"/>
          </a:p>
        </p:txBody>
      </p:sp>
      <p:sp>
        <p:nvSpPr>
          <p:cNvPr id="6" name="Text 4"/>
          <p:cNvSpPr/>
          <p:nvPr/>
        </p:nvSpPr>
        <p:spPr>
          <a:xfrm>
            <a:off x="896112" y="1938528"/>
            <a:ext cx="164592" cy="182880"/>
          </a:xfrm>
          <a:prstGeom prst="rect">
            <a:avLst/>
          </a:prstGeom>
          <a:noFill/>
          <a:ln/>
        </p:spPr>
        <p:txBody>
          <a:bodyPr wrap="square" lIns="0" tIns="0" rIns="0" bIns="0" rtlCol="0" anchor="ctr"/>
          <a:lstStyle/>
          <a:p>
            <a:pPr marL="0" indent="0">
              <a:buNone/>
            </a:pPr>
            <a:r>
              <a:rPr lang="en-US" sz="1800" b="1" dirty="0">
                <a:solidFill>
                  <a:srgbClr val="1F2937"/>
                </a:solidFill>
              </a:rPr>
              <a:t>•</a:t>
            </a:r>
            <a:endParaRPr lang="en-US" sz="1800" dirty="0"/>
          </a:p>
        </p:txBody>
      </p:sp>
      <p:sp>
        <p:nvSpPr>
          <p:cNvPr id="7" name="Text 5"/>
          <p:cNvSpPr/>
          <p:nvPr/>
        </p:nvSpPr>
        <p:spPr>
          <a:xfrm>
            <a:off x="1078992" y="1920240"/>
            <a:ext cx="5486400" cy="292608"/>
          </a:xfrm>
          <a:prstGeom prst="rect">
            <a:avLst/>
          </a:prstGeom>
          <a:noFill/>
          <a:ln/>
        </p:spPr>
        <p:txBody>
          <a:bodyPr wrap="square" lIns="0" tIns="0" rIns="0" bIns="0" rtlCol="0" anchor="ctr"/>
          <a:lstStyle/>
          <a:p>
            <a:pPr marL="0" indent="0">
              <a:buNone/>
            </a:pPr>
            <a:r>
              <a:rPr lang="en-US" sz="1600" dirty="0">
                <a:solidFill>
                  <a:srgbClr val="1F2937"/>
                </a:solidFill>
              </a:rPr>
              <a:t>Health IoT governance is naturally a multi-objective decision problem.</a:t>
            </a:r>
            <a:endParaRPr lang="en-US" sz="1600" dirty="0"/>
          </a:p>
        </p:txBody>
      </p:sp>
      <p:sp>
        <p:nvSpPr>
          <p:cNvPr id="8" name="Text 6"/>
          <p:cNvSpPr/>
          <p:nvPr/>
        </p:nvSpPr>
        <p:spPr>
          <a:xfrm>
            <a:off x="896112" y="2688336"/>
            <a:ext cx="164592" cy="182880"/>
          </a:xfrm>
          <a:prstGeom prst="rect">
            <a:avLst/>
          </a:prstGeom>
          <a:noFill/>
          <a:ln/>
        </p:spPr>
        <p:txBody>
          <a:bodyPr wrap="square" lIns="0" tIns="0" rIns="0" bIns="0" rtlCol="0" anchor="ctr"/>
          <a:lstStyle/>
          <a:p>
            <a:pPr marL="0" indent="0">
              <a:buNone/>
            </a:pPr>
            <a:r>
              <a:rPr lang="en-US" sz="1800" b="1" dirty="0">
                <a:solidFill>
                  <a:srgbClr val="1F2937"/>
                </a:solidFill>
              </a:rPr>
              <a:t>•</a:t>
            </a:r>
            <a:endParaRPr lang="en-US" sz="1800" dirty="0"/>
          </a:p>
        </p:txBody>
      </p:sp>
      <p:sp>
        <p:nvSpPr>
          <p:cNvPr id="9" name="Text 7"/>
          <p:cNvSpPr/>
          <p:nvPr/>
        </p:nvSpPr>
        <p:spPr>
          <a:xfrm>
            <a:off x="1078992" y="2670048"/>
            <a:ext cx="5486400" cy="292608"/>
          </a:xfrm>
          <a:prstGeom prst="rect">
            <a:avLst/>
          </a:prstGeom>
          <a:noFill/>
          <a:ln/>
        </p:spPr>
        <p:txBody>
          <a:bodyPr wrap="square" lIns="0" tIns="0" rIns="0" bIns="0" rtlCol="0" anchor="ctr"/>
          <a:lstStyle/>
          <a:p>
            <a:pPr marL="0" indent="0">
              <a:buNone/>
            </a:pPr>
            <a:r>
              <a:rPr lang="en-US" sz="1600" dirty="0">
                <a:solidFill>
                  <a:srgbClr val="1F2937"/>
                </a:solidFill>
              </a:rPr>
              <a:t>The paper keeps intelligence off-chain and uses blockchain for auditability.</a:t>
            </a:r>
            <a:endParaRPr lang="en-US" sz="1600" dirty="0"/>
          </a:p>
        </p:txBody>
      </p:sp>
      <p:sp>
        <p:nvSpPr>
          <p:cNvPr id="10" name="Text 8"/>
          <p:cNvSpPr/>
          <p:nvPr/>
        </p:nvSpPr>
        <p:spPr>
          <a:xfrm>
            <a:off x="896112" y="3438144"/>
            <a:ext cx="164592" cy="182880"/>
          </a:xfrm>
          <a:prstGeom prst="rect">
            <a:avLst/>
          </a:prstGeom>
          <a:noFill/>
          <a:ln/>
        </p:spPr>
        <p:txBody>
          <a:bodyPr wrap="square" lIns="0" tIns="0" rIns="0" bIns="0" rtlCol="0" anchor="ctr"/>
          <a:lstStyle/>
          <a:p>
            <a:pPr marL="0" indent="0">
              <a:buNone/>
            </a:pPr>
            <a:r>
              <a:rPr lang="en-US" sz="1800" b="1" dirty="0">
                <a:solidFill>
                  <a:srgbClr val="1F2937"/>
                </a:solidFill>
              </a:rPr>
              <a:t>•</a:t>
            </a:r>
            <a:endParaRPr lang="en-US" sz="1800" dirty="0"/>
          </a:p>
        </p:txBody>
      </p:sp>
      <p:sp>
        <p:nvSpPr>
          <p:cNvPr id="11" name="Text 9"/>
          <p:cNvSpPr/>
          <p:nvPr/>
        </p:nvSpPr>
        <p:spPr>
          <a:xfrm>
            <a:off x="1078992" y="3419856"/>
            <a:ext cx="5486400" cy="292608"/>
          </a:xfrm>
          <a:prstGeom prst="rect">
            <a:avLst/>
          </a:prstGeom>
          <a:noFill/>
          <a:ln/>
        </p:spPr>
        <p:txBody>
          <a:bodyPr wrap="square" lIns="0" tIns="0" rIns="0" bIns="0" rtlCol="0" anchor="ctr"/>
          <a:lstStyle/>
          <a:p>
            <a:pPr marL="0" indent="0">
              <a:buNone/>
            </a:pPr>
            <a:r>
              <a:rPr lang="en-US" sz="1600" dirty="0">
                <a:solidFill>
                  <a:srgbClr val="1F2937"/>
                </a:solidFill>
              </a:rPr>
              <a:t>The proposed method improved privacy–robustness trade-offs in the modeled scenarios and opens a clear path for prototype collaboration.</a:t>
            </a:r>
            <a:endParaRPr lang="en-US" sz="1600" dirty="0"/>
          </a:p>
        </p:txBody>
      </p:sp>
      <p:sp>
        <p:nvSpPr>
          <p:cNvPr id="12" name="Shape 10"/>
          <p:cNvSpPr/>
          <p:nvPr/>
        </p:nvSpPr>
        <p:spPr>
          <a:xfrm>
            <a:off x="7315200" y="1143000"/>
            <a:ext cx="4251960" cy="4160520"/>
          </a:xfrm>
          <a:prstGeom prst="roundRect">
            <a:avLst>
              <a:gd name="adj" fmla="val 2637"/>
            </a:avLst>
          </a:prstGeom>
          <a:solidFill>
            <a:srgbClr val="FFFFFF"/>
          </a:solidFill>
          <a:ln w="12700">
            <a:solidFill>
              <a:srgbClr val="D8E2EE"/>
            </a:solidFill>
            <a:prstDash val="solid"/>
          </a:ln>
          <a:effectLst>
            <a:outerShdw blurRad="12700" dist="19050" dir="2700000" algn="bl" rotWithShape="0">
              <a:srgbClr val="000000">
                <a:alpha val="12000"/>
              </a:srgbClr>
            </a:outerShdw>
          </a:effectLst>
        </p:spPr>
        <p:txBody>
          <a:bodyPr/>
          <a:lstStyle/>
          <a:p>
            <a:endParaRPr lang="en-US"/>
          </a:p>
        </p:txBody>
      </p:sp>
      <p:pic>
        <p:nvPicPr>
          <p:cNvPr id="13" name="Image 0" descr="/mnt/data/0077cfb6-0409-4757-b762-90b411fd3f65.png"/>
          <p:cNvPicPr>
            <a:picLocks noChangeAspect="1"/>
          </p:cNvPicPr>
          <p:nvPr/>
        </p:nvPicPr>
        <p:blipFill>
          <a:blip r:embed="rId3"/>
          <a:stretch>
            <a:fillRect/>
          </a:stretch>
        </p:blipFill>
        <p:spPr>
          <a:xfrm>
            <a:off x="7479792" y="1952002"/>
            <a:ext cx="3913632" cy="1993877"/>
          </a:xfrm>
          <a:prstGeom prst="rect">
            <a:avLst/>
          </a:prstGeom>
        </p:spPr>
      </p:pic>
      <p:sp>
        <p:nvSpPr>
          <p:cNvPr id="14" name="Text 11"/>
          <p:cNvSpPr/>
          <p:nvPr/>
        </p:nvSpPr>
        <p:spPr>
          <a:xfrm>
            <a:off x="7543800" y="4645152"/>
            <a:ext cx="1645920" cy="182880"/>
          </a:xfrm>
          <a:prstGeom prst="rect">
            <a:avLst/>
          </a:prstGeom>
          <a:noFill/>
          <a:ln/>
        </p:spPr>
        <p:txBody>
          <a:bodyPr wrap="square" lIns="0" tIns="0" rIns="0" bIns="0" rtlCol="0" anchor="ctr"/>
          <a:lstStyle/>
          <a:p>
            <a:pPr marL="0" indent="0">
              <a:buNone/>
            </a:pPr>
            <a:r>
              <a:rPr lang="en-US" sz="1150" b="1" dirty="0">
                <a:solidFill>
                  <a:srgbClr val="14A36F"/>
                </a:solidFill>
                <a:latin typeface="Aptos" pitchFamily="34" charset="0"/>
                <a:ea typeface="Aptos" pitchFamily="34" charset="-122"/>
                <a:cs typeface="Aptos" pitchFamily="34" charset="-120"/>
              </a:rPr>
              <a:t>Discussion welcome</a:t>
            </a:r>
            <a:endParaRPr lang="en-US" sz="1150" dirty="0"/>
          </a:p>
        </p:txBody>
      </p:sp>
      <p:sp>
        <p:nvSpPr>
          <p:cNvPr id="15" name="Text 12"/>
          <p:cNvSpPr/>
          <p:nvPr/>
        </p:nvSpPr>
        <p:spPr>
          <a:xfrm>
            <a:off x="7543800" y="4864608"/>
            <a:ext cx="2423160" cy="384048"/>
          </a:xfrm>
          <a:prstGeom prst="rect">
            <a:avLst/>
          </a:prstGeom>
          <a:noFill/>
          <a:ln/>
        </p:spPr>
        <p:txBody>
          <a:bodyPr wrap="square" lIns="0" tIns="0" rIns="0" bIns="0" rtlCol="0" anchor="ctr"/>
          <a:lstStyle/>
          <a:p>
            <a:pPr marL="0" indent="0">
              <a:buNone/>
            </a:pPr>
            <a:r>
              <a:rPr lang="en-US" sz="1420" dirty="0">
                <a:solidFill>
                  <a:srgbClr val="1F2937"/>
                </a:solidFill>
                <a:latin typeface="Aptos" pitchFamily="34" charset="0"/>
                <a:ea typeface="Aptos" pitchFamily="34" charset="-122"/>
                <a:cs typeface="Aptos" pitchFamily="34" charset="-120"/>
              </a:rPr>
              <a:t>farshid.k@sistc.edu.au</a:t>
            </a:r>
            <a:endParaRPr lang="en-US" sz="1420" dirty="0"/>
          </a:p>
          <a:p>
            <a:pPr marL="0" indent="0">
              <a:buNone/>
            </a:pPr>
            <a:r>
              <a:rPr lang="en-US" sz="1420" dirty="0">
                <a:solidFill>
                  <a:srgbClr val="1F2937"/>
                </a:solidFill>
                <a:latin typeface="Aptos" pitchFamily="34" charset="0"/>
                <a:ea typeface="Aptos" pitchFamily="34" charset="-122"/>
                <a:cs typeface="Aptos" pitchFamily="34" charset="-120"/>
              </a:rPr>
              <a:t>keivanian@gmail.com</a:t>
            </a:r>
            <a:endParaRPr lang="en-US" sz="1420" dirty="0"/>
          </a:p>
        </p:txBody>
      </p:sp>
      <p:sp>
        <p:nvSpPr>
          <p:cNvPr id="16" name="Text 13"/>
          <p:cNvSpPr/>
          <p:nvPr/>
        </p:nvSpPr>
        <p:spPr>
          <a:xfrm>
            <a:off x="749808" y="5989320"/>
            <a:ext cx="4206240" cy="201168"/>
          </a:xfrm>
          <a:prstGeom prst="rect">
            <a:avLst/>
          </a:prstGeom>
          <a:noFill/>
          <a:ln/>
        </p:spPr>
        <p:txBody>
          <a:bodyPr wrap="square" lIns="0" tIns="0" rIns="0" bIns="0" rtlCol="0" anchor="ctr"/>
          <a:lstStyle/>
          <a:p>
            <a:pPr marL="0" indent="0">
              <a:buNone/>
            </a:pPr>
            <a:r>
              <a:rPr lang="en-US" sz="1650" b="1" dirty="0">
                <a:solidFill>
                  <a:srgbClr val="14A36F"/>
                </a:solidFill>
                <a:latin typeface="Aptos" pitchFamily="34" charset="0"/>
                <a:ea typeface="Aptos" pitchFamily="34" charset="-122"/>
                <a:cs typeface="Aptos" pitchFamily="34" charset="-120"/>
              </a:rPr>
              <a:t>Questions and suggestions for next-step collaboration</a:t>
            </a:r>
            <a:endParaRPr lang="en-US" sz="1650" dirty="0"/>
          </a:p>
        </p:txBody>
      </p:sp>
      <p:sp>
        <p:nvSpPr>
          <p:cNvPr id="17" name="Text 14"/>
          <p:cNvSpPr/>
          <p:nvPr/>
        </p:nvSpPr>
        <p:spPr>
          <a:xfrm>
            <a:off x="11475720" y="6510528"/>
            <a:ext cx="228600" cy="146304"/>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12</a:t>
            </a:r>
            <a:endParaRPr lang="en-US" sz="850" dirty="0"/>
          </a:p>
        </p:txBody>
      </p:sp>
      <p:sp>
        <p:nvSpPr>
          <p:cNvPr id="19" name="TextBox 18">
            <a:extLst>
              <a:ext uri="{FF2B5EF4-FFF2-40B4-BE49-F238E27FC236}">
                <a16:creationId xmlns:a16="http://schemas.microsoft.com/office/drawing/2014/main" id="{02839C17-7ABA-C9D7-4A1A-5D3C572E5638}"/>
              </a:ext>
            </a:extLst>
          </p:cNvPr>
          <p:cNvSpPr txBox="1"/>
          <p:nvPr/>
        </p:nvSpPr>
        <p:spPr>
          <a:xfrm>
            <a:off x="837670" y="4264443"/>
            <a:ext cx="6102626" cy="1200329"/>
          </a:xfrm>
          <a:prstGeom prst="rect">
            <a:avLst/>
          </a:prstGeom>
          <a:noFill/>
          <a:ln>
            <a:solidFill>
              <a:srgbClr val="FF0000"/>
            </a:solidFill>
          </a:ln>
        </p:spPr>
        <p:txBody>
          <a:bodyPr wrap="square">
            <a:spAutoFit/>
          </a:bodyPr>
          <a:lstStyle/>
          <a:p>
            <a:r>
              <a:rPr lang="en-US" dirty="0">
                <a:latin typeface="Calibri" panose="020F0502020204030204" pitchFamily="34" charset="0"/>
                <a:cs typeface="Calibri" panose="020F0502020204030204" pitchFamily="34" charset="0"/>
              </a:rPr>
              <a:t>Keivanian, F., </a:t>
            </a:r>
            <a:r>
              <a:rPr lang="en-US" dirty="0" err="1">
                <a:latin typeface="Calibri" panose="020F0502020204030204" pitchFamily="34" charset="0"/>
                <a:cs typeface="Calibri" panose="020F0502020204030204" pitchFamily="34" charset="0"/>
              </a:rPr>
              <a:t>Shojae</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Chaeika</a:t>
            </a:r>
            <a:r>
              <a:rPr lang="en-US" dirty="0">
                <a:latin typeface="Calibri" panose="020F0502020204030204" pitchFamily="34" charset="0"/>
                <a:cs typeface="Calibri" panose="020F0502020204030204" pitchFamily="34" charset="0"/>
              </a:rPr>
              <a:t>, S., Hu, Y.</a:t>
            </a:r>
            <a:br>
              <a:rPr lang="en-US" dirty="0">
                <a:latin typeface="Calibri" panose="020F0502020204030204" pitchFamily="34" charset="0"/>
                <a:cs typeface="Calibri" panose="020F0502020204030204" pitchFamily="34" charset="0"/>
              </a:rPr>
            </a:br>
            <a:r>
              <a:rPr lang="en-US" i="1" dirty="0">
                <a:latin typeface="Calibri" panose="020F0502020204030204" pitchFamily="34" charset="0"/>
                <a:cs typeface="Calibri" panose="020F0502020204030204" pitchFamily="34" charset="0"/>
              </a:rPr>
              <a:t>Blockchain-Enabled Governance for Health IoT Data Access...</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Electronics, 2026, 15(4), 864</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hlinkClick r:id="rId4"/>
              </a:rPr>
              <a:t>https://doi.org/10.3390/electronics15040864</a:t>
            </a:r>
            <a:endParaRPr lang="en-US" dirty="0">
              <a:latin typeface="Calibri" panose="020F0502020204030204" pitchFamily="34" charset="0"/>
              <a:cs typeface="Calibri" panose="020F050202020403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2637</Words>
  <Application>Microsoft Office PowerPoint</Application>
  <PresentationFormat>Widescreen</PresentationFormat>
  <Paragraphs>210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Interpretable Blockchain-Audited Governance for Health IoT</dc:title>
  <dc:subject>Presentation for accepted paper on Health IoT governance</dc:subject>
  <dc:creator>OpenAI</dc:creator>
  <cp:lastModifiedBy>Farshid Keivanian</cp:lastModifiedBy>
  <cp:revision>4</cp:revision>
  <dcterms:created xsi:type="dcterms:W3CDTF">2026-03-30T17:18:34Z</dcterms:created>
  <dcterms:modified xsi:type="dcterms:W3CDTF">2026-04-01T09:50:41Z</dcterms:modified>
</cp:coreProperties>
</file>