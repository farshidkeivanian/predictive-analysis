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1897" r:id="rId3"/>
    <p:sldId id="1899" r:id="rId4"/>
    <p:sldId id="1900" r:id="rId5"/>
    <p:sldId id="1901" r:id="rId6"/>
    <p:sldId id="1902" r:id="rId7"/>
    <p:sldId id="1903" r:id="rId8"/>
    <p:sldId id="1904" r:id="rId9"/>
    <p:sldId id="1905" r:id="rId10"/>
    <p:sldId id="1906" r:id="rId11"/>
    <p:sldId id="1907" r:id="rId12"/>
    <p:sldId id="1898" r:id="rId13"/>
    <p:sldId id="1908" r:id="rId14"/>
    <p:sldId id="1909" r:id="rId15"/>
    <p:sldId id="1910" r:id="rId16"/>
    <p:sldId id="1915" r:id="rId17"/>
    <p:sldId id="1911" r:id="rId18"/>
    <p:sldId id="1912" r:id="rId19"/>
    <p:sldId id="1913" r:id="rId20"/>
    <p:sldId id="1914" r:id="rId21"/>
    <p:sldId id="1916" r:id="rId22"/>
    <p:sldId id="1917" r:id="rId23"/>
    <p:sldId id="1918" r:id="rId24"/>
    <p:sldId id="1919" r:id="rId25"/>
    <p:sldId id="1920" r:id="rId26"/>
    <p:sldId id="1921" r:id="rId27"/>
    <p:sldId id="1922" r:id="rId28"/>
    <p:sldId id="1923" r:id="rId29"/>
    <p:sldId id="1924" r:id="rId30"/>
    <p:sldId id="1925" r:id="rId31"/>
    <p:sldId id="1926" r:id="rId32"/>
    <p:sldId id="1927" r:id="rId33"/>
    <p:sldId id="1928" r:id="rId34"/>
    <p:sldId id="1929" r:id="rId35"/>
    <p:sldId id="1930" r:id="rId36"/>
    <p:sldId id="1931" r:id="rId37"/>
    <p:sldId id="1871" r:id="rId38"/>
    <p:sldId id="749" r:id="rId39"/>
    <p:sldId id="35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1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97DCA-64BC-45F8-BF68-471B439726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D0D0B-8444-4E13-B800-D172D14A6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9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8BA0-3567-A69C-89D5-35649AD8A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FD70E-1D55-8D25-8E4D-7902E6D80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43844-3636-B493-A041-6B9449A0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AC05F-0F8E-0A34-83EA-FF89BD75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DFA5B-DBEC-459E-DE20-69CCB6B8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B09-6193-D2CF-28A5-F10D004F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5128D-32CD-ED17-13D9-5D1FEF1A3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0ACAA-AC57-8F09-F181-C7E6CEF4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EFC4-B2D3-6536-6686-3E345381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BAAB-91C7-139B-EB52-F4E31343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4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65FC-76F4-ADE5-9E7F-9C38C892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616C1-C975-6067-2B7F-DB9F1559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A170B-965A-0241-0525-B2ABC4FB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B2E0F-705A-6BE2-C9AF-3547914E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F3A05-66F5-6587-251F-AFB191B7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8300-E4D2-4208-EAB8-E99C531E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C9A71-89D7-144F-FF96-7956B29BA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2D053-F65C-300C-6B4C-811431D85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8B57A-8426-57B7-6B7B-D14D244B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5F8B9-6890-73AB-2F24-36801188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E8C89-2F91-3376-69B5-D80C544F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8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6761-A66D-1F0C-3137-C65C5E33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A34-8ED3-BB9C-9363-3066A9598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6FD0C-1CF8-4719-A49E-F09206577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B3EE-7150-36F7-0C76-A935571B0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F896F-DA57-2611-5C7C-88A5A722D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C29C8-8642-A852-811D-368E2555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A87AAF-B101-D6D4-A4AB-E18BFF1C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9846B1-A764-6F86-2BB1-3EFDCD04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93E2-A908-74A4-4A51-CDAC7C16F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027D4-B88A-94C4-F850-5434CC05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A6CA0-BB0E-2595-FBBE-57558425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27B39-0229-5495-4AF4-28EE9BCD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6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00644-265F-AAA9-1596-2848CF7F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1AA8B1-B0F3-5E64-3282-105EEDF2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C6DCF-6D35-E204-6296-59518601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9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15E1-7907-C9F2-CE58-E61415FC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2A7B-90E2-E613-EC88-72B99816E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77170-642E-6882-7340-E46C633F7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4D353-A3F6-8354-656B-826A364B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1F9B-817F-1676-DD52-A35BAC65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BAD93-244A-FB8B-A7B4-DA2A2ED8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2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595D-1F53-53E9-3B82-7CB3B8B6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08AA5-49B6-80BC-834E-629BE44AF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71CED-2C52-DD4D-5578-E9F6B0B2A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6541D-EEC6-080E-2610-4DF6FC66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29E2D-62A5-155F-F235-656326BE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874E9-562B-6D85-D536-BEC5BF7E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6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45D7-5390-D91F-E743-97E29EAFD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AFDCC-DE28-3F52-4634-F3FBDAF1C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ED6F8-D8E4-E68B-7727-216ACADF2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9CE75-4F1C-DE69-C05B-0916E139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737B7-C61D-DD5B-45F4-2A65BA3B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43388-E01D-7A9F-EC12-0CD0881CD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CEE70-4A8E-31D3-5BA2-E822E6F5D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C0CA9-5029-CEB4-3FAF-A452EFBD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7D8D2-C12E-5712-06DE-6F511DC1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22757-1319-FD30-A649-F781E286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7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4DBC-87E7-B994-958D-4334EA4C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84B89-260B-DA3B-282C-1AE14EFEB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049DE-292B-FF07-9E02-2FFFFA5AC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87918-C88E-4AE8-98BA-82190638546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973F-6051-28CF-6202-6AF37802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4D5BD-294A-4336-8EC3-EE921033D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Upu-mIDyh03dts5iaiXGguU_-zD80zdi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Upu-mIDyh03dts5iaiXGguU_-zD80zdi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Upu-mIDyh03dts5iaiXGguU_-zD80zdi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arshidKeivanian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0" y="746115"/>
            <a:ext cx="6089530" cy="3615678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HI6039 (Predictive Analysis)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Dr. Farshid Keivanian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endParaRPr lang="en-US" sz="3800" b="1" dirty="0">
              <a:latin typeface="Calibir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400" b="1" dirty="0">
                <a:latin typeface="Calibir"/>
                <a:ea typeface="+mj-ea"/>
                <a:cs typeface="+mj-cs"/>
              </a:rPr>
              <a:t>Week 6: </a:t>
            </a:r>
            <a:r>
              <a:rPr lang="en-US" sz="3400" b="1" dirty="0">
                <a:latin typeface="Calibir"/>
              </a:rPr>
              <a:t>Classification Analysis &amp; </a:t>
            </a:r>
            <a:r>
              <a:rPr lang="en-US" sz="3400" b="1" dirty="0">
                <a:latin typeface="Calibir"/>
                <a:ea typeface="+mj-ea"/>
                <a:cs typeface="+mj-cs"/>
              </a:rPr>
              <a:t>Preparation for </a:t>
            </a:r>
            <a:r>
              <a:rPr lang="en-US" sz="3400" b="1" dirty="0">
                <a:latin typeface="Calibir"/>
              </a:rPr>
              <a:t>Online Test 2</a:t>
            </a:r>
            <a:endParaRPr lang="en-US" sz="3400" b="1" dirty="0">
              <a:latin typeface="Calibir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2471" y="746115"/>
            <a:ext cx="4040011" cy="60088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47EF-CA19-2B80-555F-1928522B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D5E0246-14FB-D37C-C61E-AD4DC93AA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DD33C77-F48B-8EDB-CE77-5F3638EEF47D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1C9CE3CC-2052-B177-C938-25A6DE1ED67A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31742-0A22-CC37-FCE9-2DCF84A03CBB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algorithm is mainly used for predicting numbers?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Linear Regression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Decision Tree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K-Means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Logistic Regression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B1AF81-D291-E778-0D28-6EB020B78C30}"/>
              </a:ext>
            </a:extLst>
          </p:cNvPr>
          <p:cNvSpPr/>
          <p:nvPr/>
        </p:nvSpPr>
        <p:spPr>
          <a:xfrm>
            <a:off x="336331" y="2379646"/>
            <a:ext cx="4204138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A69A5-CD5E-49AB-19B1-9DF0AEC4CC23}"/>
              </a:ext>
            </a:extLst>
          </p:cNvPr>
          <p:cNvSpPr txBox="1"/>
          <p:nvPr/>
        </p:nvSpPr>
        <p:spPr>
          <a:xfrm>
            <a:off x="5945150" y="4247157"/>
            <a:ext cx="6140665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Linear Regression is used to predict continuous numeric values (like price or score).</a:t>
            </a:r>
          </a:p>
        </p:txBody>
      </p:sp>
    </p:spTree>
    <p:extLst>
      <p:ext uri="{BB962C8B-B14F-4D97-AF65-F5344CB8AC3E}">
        <p14:creationId xmlns:p14="http://schemas.microsoft.com/office/powerpoint/2010/main" val="321994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30CE-DDCF-DEF9-00A4-8EB8B411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FA9047F-DF5C-13B9-3858-A3F3C73E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F4FC5C8-A8F4-695E-BC5C-4D63CAACA6B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EA4DA4D-5A37-3468-56BC-14051340687C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AF766-2AB8-A8DD-14B5-6C64B26359F1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Where can you check model performance metrics?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Evaluation results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preview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Training settings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 inputs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4811B5-5D83-6B36-1735-3D75E2829A0D}"/>
              </a:ext>
            </a:extLst>
          </p:cNvPr>
          <p:cNvSpPr/>
          <p:nvPr/>
        </p:nvSpPr>
        <p:spPr>
          <a:xfrm>
            <a:off x="336331" y="2379646"/>
            <a:ext cx="4204138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7551A-7210-FD3B-27A2-028A75E2C401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Evaluation results show metrics like MAE and RMSE to measure accuracy.</a:t>
            </a:r>
          </a:p>
        </p:txBody>
      </p:sp>
    </p:spTree>
    <p:extLst>
      <p:ext uri="{BB962C8B-B14F-4D97-AF65-F5344CB8AC3E}">
        <p14:creationId xmlns:p14="http://schemas.microsoft.com/office/powerpoint/2010/main" val="364943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548A-BB96-C6E6-4223-0CA2B673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E2340CC-5219-AF7A-54D1-374914456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8C5F0BF-BBE3-3F50-60C7-8E0259E8EEF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C7C30BDD-A26A-1664-6A82-4F960B1027B1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15042-1F86-F1EB-7DB0-86F0A6398D82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Where can you see if your experiment is still running?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page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 list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Designer tools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Compute monitor tab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39F9F-DBA1-8BE9-ED75-5C587C0130FE}"/>
              </a:ext>
            </a:extLst>
          </p:cNvPr>
          <p:cNvSpPr/>
          <p:nvPr/>
        </p:nvSpPr>
        <p:spPr>
          <a:xfrm>
            <a:off x="0" y="4257667"/>
            <a:ext cx="4750676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5C7FA-E65E-B7AD-E514-A999E685EC88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 compute monitor tab shows job status (running, completed, failed).</a:t>
            </a:r>
          </a:p>
        </p:txBody>
      </p:sp>
    </p:spTree>
    <p:extLst>
      <p:ext uri="{BB962C8B-B14F-4D97-AF65-F5344CB8AC3E}">
        <p14:creationId xmlns:p14="http://schemas.microsoft.com/office/powerpoint/2010/main" val="210383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4D66C-0C43-95C7-CC7B-734C8BA4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6392CC9-0C86-47CC-5E9B-8F24A0C9C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D0C075F-0DFE-21EC-CFD7-CB851609E794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B9089D94-D407-86A7-419B-07AFA969631A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7BBDA-FC5F-40E0-D81A-20A48AC8B8EE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step comes first when building a model in Designer?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Train model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Open Designer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Deploy model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Evaluate model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E52D4B-7C3E-F422-5151-88235F36C6FD}"/>
              </a:ext>
            </a:extLst>
          </p:cNvPr>
          <p:cNvSpPr/>
          <p:nvPr/>
        </p:nvSpPr>
        <p:spPr>
          <a:xfrm>
            <a:off x="0" y="2967255"/>
            <a:ext cx="4750676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52506-0727-878E-69A8-D1B893662490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You must open Designer first to start creating your pipeline.</a:t>
            </a:r>
          </a:p>
        </p:txBody>
      </p:sp>
    </p:spTree>
    <p:extLst>
      <p:ext uri="{BB962C8B-B14F-4D97-AF65-F5344CB8AC3E}">
        <p14:creationId xmlns:p14="http://schemas.microsoft.com/office/powerpoint/2010/main" val="131427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4C3B-E9C3-B631-C62A-E33C6818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D7D1F0A-0B61-43D5-C07A-DD89A53CD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B101C39-DBFD-F59A-4440-C36E2B9C6B00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C23D9F12-BD4A-F606-5622-5F70208D44A0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94541-83B5-289B-1E2D-F6665308E082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After choosing your compute resource, what should you click?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Cancel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Save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Next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Refresh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BD78C9-FE3F-49C3-C327-C0412C6A2592}"/>
              </a:ext>
            </a:extLst>
          </p:cNvPr>
          <p:cNvSpPr/>
          <p:nvPr/>
        </p:nvSpPr>
        <p:spPr>
          <a:xfrm>
            <a:off x="0" y="3639917"/>
            <a:ext cx="4750676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58F61-1073-0DE0-267A-84B5BF5E9B92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Clicking “Next” moves you to the next step in setup.</a:t>
            </a:r>
          </a:p>
        </p:txBody>
      </p:sp>
    </p:spTree>
    <p:extLst>
      <p:ext uri="{BB962C8B-B14F-4D97-AF65-F5344CB8AC3E}">
        <p14:creationId xmlns:p14="http://schemas.microsoft.com/office/powerpoint/2010/main" val="25764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F460D-DEAB-39A1-2EAA-4F3B4FAE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BFF3ABB-E2EE-C007-FDF7-68621DBAB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054C5A0-3C63-06B7-FCCD-55DE794752E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7CAA1955-2612-3CF2-3D19-14BFD83137B7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AD848-3907-9E1E-0A90-1230E9F81422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6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required before running a machine learning pipeline?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a dataset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Train a model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an experiment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Deploy a service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67A3BF-459B-6A82-EA46-F1BC0E609480}"/>
              </a:ext>
            </a:extLst>
          </p:cNvPr>
          <p:cNvSpPr/>
          <p:nvPr/>
        </p:nvSpPr>
        <p:spPr>
          <a:xfrm>
            <a:off x="0" y="3639917"/>
            <a:ext cx="4750676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64EE5-0FAD-FB6E-1CEE-21BB7A912F6A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An experiment is needed to organize and run your job.</a:t>
            </a:r>
          </a:p>
        </p:txBody>
      </p:sp>
    </p:spTree>
    <p:extLst>
      <p:ext uri="{BB962C8B-B14F-4D97-AF65-F5344CB8AC3E}">
        <p14:creationId xmlns:p14="http://schemas.microsoft.com/office/powerpoint/2010/main" val="146750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1C42-75A5-9886-CC28-455D36C3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1511D6F-01E1-24A6-9037-703F4D0D9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0F114F4-321E-6FAB-3AF5-9D277142A2A0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5847E9C-69FA-B362-AD1B-8E46E59B7871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6944D-A6E4-3533-06E0-231CB1F22AD6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7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compute option is best for scalable training?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Local compute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Notebook VM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storage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Compute cluster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12C66B-47BD-A5B9-73DB-80EBA72E0EE3}"/>
              </a:ext>
            </a:extLst>
          </p:cNvPr>
          <p:cNvSpPr/>
          <p:nvPr/>
        </p:nvSpPr>
        <p:spPr>
          <a:xfrm>
            <a:off x="0" y="4247157"/>
            <a:ext cx="4750676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0FE6A-3F8B-ADCA-609B-7596EDF89165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Compute clusters can scale up for larger workloads.</a:t>
            </a:r>
          </a:p>
        </p:txBody>
      </p:sp>
    </p:spTree>
    <p:extLst>
      <p:ext uri="{BB962C8B-B14F-4D97-AF65-F5344CB8AC3E}">
        <p14:creationId xmlns:p14="http://schemas.microsoft.com/office/powerpoint/2010/main" val="182471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ED0C0-E67F-3334-2E81-4AC9B321B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807A54C-FA8B-035F-0443-7879A4649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ED11B57-DEF1-D557-78B8-86AA394A748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2989789-25F9-F831-1F4F-A887D56DE1F9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7C63B-69A9-DD4B-3C81-083BD359E5E5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8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module is used to split data into training and testing sets?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Train Model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Score Model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Split Data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Clean Data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B08C3D-808A-FB97-6E85-A59D8DC4E1BF}"/>
              </a:ext>
            </a:extLst>
          </p:cNvPr>
          <p:cNvSpPr/>
          <p:nvPr/>
        </p:nvSpPr>
        <p:spPr>
          <a:xfrm>
            <a:off x="0" y="3669088"/>
            <a:ext cx="4750676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71D0FF-56A7-9806-90CE-B4B7D155727A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Split Data divides the dataset for training and testing.</a:t>
            </a:r>
          </a:p>
        </p:txBody>
      </p:sp>
    </p:spTree>
    <p:extLst>
      <p:ext uri="{BB962C8B-B14F-4D97-AF65-F5344CB8AC3E}">
        <p14:creationId xmlns:p14="http://schemas.microsoft.com/office/powerpoint/2010/main" val="278726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45AA-B213-E231-F3CD-CA092249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C8788B6-CFF6-A644-9023-3F5F53AC8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2C218FB-022D-E8A0-9D33-8CB5F59A5E1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C75841E3-419D-6F62-9D66-C438459AAFB9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3994A-8108-7986-AAB0-ECBCAE8A66EE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9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button is used to start running a pipeline?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Upload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Save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Submit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Validate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B66DB7-1D40-48DA-1AB7-DC57D5D108C2}"/>
              </a:ext>
            </a:extLst>
          </p:cNvPr>
          <p:cNvSpPr/>
          <p:nvPr/>
        </p:nvSpPr>
        <p:spPr>
          <a:xfrm>
            <a:off x="0" y="3669088"/>
            <a:ext cx="4750676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9169E-F9D4-88F8-4452-7377E9572E46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Submit starts the execution of the pipeline.</a:t>
            </a:r>
          </a:p>
        </p:txBody>
      </p:sp>
    </p:spTree>
    <p:extLst>
      <p:ext uri="{BB962C8B-B14F-4D97-AF65-F5344CB8AC3E}">
        <p14:creationId xmlns:p14="http://schemas.microsoft.com/office/powerpoint/2010/main" val="342273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FFFF-5CE8-99A5-A891-B8768B2E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79E7431-C2E7-AFB7-0182-57DBBB885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874AF53-FF66-55AA-547F-0DEF4264E0A2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7A4503E9-6A89-F63F-AC27-9974F7F14B51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Preparation for Online 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FE0C4-B3B5-CF31-9F34-FE827A7818D3}"/>
              </a:ext>
            </a:extLst>
          </p:cNvPr>
          <p:cNvSpPr txBox="1"/>
          <p:nvPr/>
        </p:nvSpPr>
        <p:spPr>
          <a:xfrm>
            <a:off x="0" y="1015503"/>
            <a:ext cx="1152984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10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does RMSE measure?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Error between predicted and actual values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 speed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size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Training time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3E5DD9-3FF6-0A66-0971-730F52AB12F0}"/>
              </a:ext>
            </a:extLst>
          </p:cNvPr>
          <p:cNvSpPr/>
          <p:nvPr/>
        </p:nvSpPr>
        <p:spPr>
          <a:xfrm>
            <a:off x="-1" y="2370113"/>
            <a:ext cx="7283669" cy="710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B77C0-D7FD-7275-1EDB-E42849E677DA}"/>
              </a:ext>
            </a:extLst>
          </p:cNvPr>
          <p:cNvSpPr txBox="1"/>
          <p:nvPr/>
        </p:nvSpPr>
        <p:spPr>
          <a:xfrm>
            <a:off x="5945150" y="4247157"/>
            <a:ext cx="6140665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RMSE shows how far predictions are from real values (lower is better).</a:t>
            </a:r>
          </a:p>
        </p:txBody>
      </p:sp>
    </p:spTree>
    <p:extLst>
      <p:ext uri="{BB962C8B-B14F-4D97-AF65-F5344CB8AC3E}">
        <p14:creationId xmlns:p14="http://schemas.microsoft.com/office/powerpoint/2010/main" val="309640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2EDF-532B-2A6B-79BB-51A604BD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7D6A7DB-443D-957C-9C67-6FDFA33C1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965205F-73F5-CCE8-2A9A-A5759E1DE3D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7F79F094-52B0-4AC7-73C8-50F6831F6788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Quick Recap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03F97-C917-E563-52F8-172C017237CF}"/>
              </a:ext>
            </a:extLst>
          </p:cNvPr>
          <p:cNvSpPr txBox="1"/>
          <p:nvPr/>
        </p:nvSpPr>
        <p:spPr>
          <a:xfrm>
            <a:off x="0" y="1324303"/>
            <a:ext cx="1152984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Week 4:</a:t>
            </a:r>
            <a:r>
              <a:rPr lang="en-US" altLang="en-US" sz="2800" dirty="0">
                <a:latin typeface="Calibir"/>
              </a:rPr>
              <a:t> How to avoid overfitting (make models generalize better)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Week 5:</a:t>
            </a:r>
            <a:r>
              <a:rPr lang="en-US" altLang="en-US" sz="2800" dirty="0">
                <a:latin typeface="Calibir"/>
              </a:rPr>
              <a:t> Regression → Predict numbers (e.g., price, salary)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Week 6 (Today):</a:t>
            </a:r>
            <a:r>
              <a:rPr lang="en-US" altLang="en-US" sz="2800" dirty="0">
                <a:latin typeface="Calibir"/>
              </a:rPr>
              <a:t> Classification → Predict categories (e.g., Yes/No, Spam/Not Spam) </a:t>
            </a:r>
          </a:p>
        </p:txBody>
      </p:sp>
    </p:spTree>
    <p:extLst>
      <p:ext uri="{BB962C8B-B14F-4D97-AF65-F5344CB8AC3E}">
        <p14:creationId xmlns:p14="http://schemas.microsoft.com/office/powerpoint/2010/main" val="337431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B8F0-D12F-B8AA-C151-62D0146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3F0B5F2-537E-F203-F62C-94989C77B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9FEECA58-0804-BEF4-BD5A-EAAC8842A3C9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FB4C605-7408-3346-3415-762BCEB4DDF9}"/>
              </a:ext>
            </a:extLst>
          </p:cNvPr>
          <p:cNvSpPr txBox="1"/>
          <p:nvPr/>
        </p:nvSpPr>
        <p:spPr>
          <a:xfrm>
            <a:off x="94419" y="68639"/>
            <a:ext cx="585073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What is Classification?</a:t>
            </a:r>
            <a:endParaRPr lang="en-US" sz="33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F6653-EC1F-9D3F-5716-919C46E23AF0}"/>
              </a:ext>
            </a:extLst>
          </p:cNvPr>
          <p:cNvSpPr txBox="1"/>
          <p:nvPr/>
        </p:nvSpPr>
        <p:spPr>
          <a:xfrm>
            <a:off x="0" y="1324303"/>
            <a:ext cx="1152984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Classification means predicting a category (label) instead of a number.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Email → Spam or Not Spam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 → Will Buy or Not Buy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Loan → Approved or Rejected</a:t>
            </a:r>
          </a:p>
        </p:txBody>
      </p:sp>
    </p:spTree>
    <p:extLst>
      <p:ext uri="{BB962C8B-B14F-4D97-AF65-F5344CB8AC3E}">
        <p14:creationId xmlns:p14="http://schemas.microsoft.com/office/powerpoint/2010/main" val="333739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24A1-5E28-777C-805B-BEB10A4B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ABB2E7B-CF67-AE83-5E15-AD617BADC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AFAE539-26F3-AC7A-3124-53E1BC9CB5A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E7C1FFE-E9EC-BED7-CF4B-FBC80628D6DF}"/>
              </a:ext>
            </a:extLst>
          </p:cNvPr>
          <p:cNvSpPr txBox="1"/>
          <p:nvPr/>
        </p:nvSpPr>
        <p:spPr>
          <a:xfrm>
            <a:off x="94419" y="68639"/>
            <a:ext cx="585073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What is Classification?</a:t>
            </a:r>
            <a:endParaRPr lang="en-US" sz="33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70B75-CAAB-6F24-EB83-6B1A3D27B601}"/>
              </a:ext>
            </a:extLst>
          </p:cNvPr>
          <p:cNvSpPr txBox="1"/>
          <p:nvPr/>
        </p:nvSpPr>
        <p:spPr>
          <a:xfrm>
            <a:off x="0" y="1324303"/>
            <a:ext cx="1152984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Key Idea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Regression → Output = number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Classification → Output = category</a:t>
            </a:r>
          </a:p>
        </p:txBody>
      </p:sp>
    </p:spTree>
    <p:extLst>
      <p:ext uri="{BB962C8B-B14F-4D97-AF65-F5344CB8AC3E}">
        <p14:creationId xmlns:p14="http://schemas.microsoft.com/office/powerpoint/2010/main" val="1498882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DF7D-C8D4-1206-DCC1-271D50B0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5A5756F-AE2D-C71E-D58F-FA6EF0792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8B016CF-DB50-1860-95C7-E19E2F6E764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1351941" y="0"/>
            <a:ext cx="840059" cy="1045898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B4D7C3A7-A8BF-4E65-B18D-9578030D851B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1: Predict Diabetes (Yes/No)</a:t>
            </a:r>
            <a:endParaRPr lang="en-US" sz="3300" b="1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7F5C5-0B3E-78BB-5FF1-D9A8D6498DD2}"/>
              </a:ext>
            </a:extLst>
          </p:cNvPr>
          <p:cNvSpPr txBox="1"/>
          <p:nvPr/>
        </p:nvSpPr>
        <p:spPr>
          <a:xfrm>
            <a:off x="5419493" y="6137978"/>
            <a:ext cx="6772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https://colab.research.google.com/drive/1Upu-mIDyh03dts5iaiXGguU_-zD80zdi?usp=sharing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69404CFB-7828-716A-4075-D2AB709A71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549" b="10569"/>
          <a:stretch>
            <a:fillRect/>
          </a:stretch>
        </p:blipFill>
        <p:spPr>
          <a:xfrm>
            <a:off x="0" y="640736"/>
            <a:ext cx="5419493" cy="613317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7C406EE-4900-EF31-1C3C-38F031420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493" y="1045898"/>
            <a:ext cx="6772507" cy="5196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import pandas → helps work with data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train_test_split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splits data (learn + test)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RandomForestClassifier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machine learning model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fit() → model learns from data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predict() → model makes predictions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accuracy_score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() → checks how correct the model is </a:t>
            </a:r>
          </a:p>
        </p:txBody>
      </p:sp>
    </p:spTree>
    <p:extLst>
      <p:ext uri="{BB962C8B-B14F-4D97-AF65-F5344CB8AC3E}">
        <p14:creationId xmlns:p14="http://schemas.microsoft.com/office/powerpoint/2010/main" val="113492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AD512-2E6D-FDA4-866C-3649290C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050C7D3-58D4-980F-F08C-F095D59B8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B3766AF-D1A7-27E6-AC28-FD2999109352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0DEAA77-F97C-89EE-107E-0BE7AB5EA52A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1: Predict Diabetes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D9DD1-BCD8-8C82-8D12-48AE301924C5}"/>
              </a:ext>
            </a:extLst>
          </p:cNvPr>
          <p:cNvSpPr txBox="1"/>
          <p:nvPr/>
        </p:nvSpPr>
        <p:spPr>
          <a:xfrm>
            <a:off x="0" y="2018105"/>
            <a:ext cx="12192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1: Import libraries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  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for data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to split data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sklearn.ensemble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classification model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to check accuracy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A02DF9-8A04-5BE8-6803-095D9BE33C9E}"/>
              </a:ext>
            </a:extLst>
          </p:cNvPr>
          <p:cNvSpPr txBox="1"/>
          <p:nvPr/>
        </p:nvSpPr>
        <p:spPr>
          <a:xfrm>
            <a:off x="0" y="593802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https://colab.research.google.com/drive/1Upu-mIDyh03dts5iaiXGguU_-zD80zdi?usp=sharing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576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0365-4D53-278D-3421-B30939AA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D866ABB-5F4F-9012-5723-8863F97B9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384212C-6C08-52DB-8E0B-6A443A15925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314800A9-EEDE-3701-4EA7-12F7CF0AD51F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1: Predict Diabetes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64C90-D58F-4D49-C812-5C679EC1309C}"/>
              </a:ext>
            </a:extLst>
          </p:cNvPr>
          <p:cNvSpPr txBox="1"/>
          <p:nvPr/>
        </p:nvSpPr>
        <p:spPr>
          <a:xfrm>
            <a:off x="0" y="2018105"/>
            <a:ext cx="1219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2: Load dataset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sklearn.datasets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load_breast_cancer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data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load_breast_cancer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3: Create </a:t>
            </a:r>
            <a:r>
              <a:rPr lang="en-US" sz="2200" dirty="0" err="1">
                <a:solidFill>
                  <a:srgbClr val="008000"/>
                </a:solidFill>
                <a:latin typeface="Courier New" panose="02070309020205020404" pitchFamily="49" charset="0"/>
              </a:rPr>
              <a:t>DataFrame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X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pd.DataFrame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data.data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columns=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data.feature_names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  </a:t>
            </a: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features (input)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y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pd.Series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data.target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  </a:t>
            </a: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target (0 or 1)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664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52B8-91B7-C0D5-55E9-3E9DCDEC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A5E5F2B-FA82-6D29-0AA7-D37976D1E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CE69340-C09A-B405-5E32-6CB49FA5CCC9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1207FB0-9DE4-02F7-5270-6EB5A58D9B9F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1: Predict Diabetes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CA398-FF3B-964B-09DA-FE2DAF2E4310}"/>
              </a:ext>
            </a:extLst>
          </p:cNvPr>
          <p:cNvSpPr txBox="1"/>
          <p:nvPr/>
        </p:nvSpPr>
        <p:spPr>
          <a:xfrm>
            <a:off x="0" y="2018105"/>
            <a:ext cx="1219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4: Split data into training and testing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    X, y,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test_size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0.2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5: Create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RandomForestClassifier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n_estimators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100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3471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B49C-171C-3BBD-B845-9AFFE4D99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8E28F54-234C-E9A9-D38D-E20196082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C616B52-4B7C-834A-6646-AF40803E1524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B6FE4AC4-AA59-4150-CDE6-2707BD1980CE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1: Predict Diabetes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7E20B-427C-A6DE-21C2-F35BC5720CA1}"/>
              </a:ext>
            </a:extLst>
          </p:cNvPr>
          <p:cNvSpPr txBox="1"/>
          <p:nvPr/>
        </p:nvSpPr>
        <p:spPr>
          <a:xfrm>
            <a:off x="0" y="2018105"/>
            <a:ext cx="12192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6: Train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7: Make predictions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8: Check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accuracy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accuracy)</a:t>
            </a:r>
          </a:p>
        </p:txBody>
      </p:sp>
    </p:spTree>
    <p:extLst>
      <p:ext uri="{BB962C8B-B14F-4D97-AF65-F5344CB8AC3E}">
        <p14:creationId xmlns:p14="http://schemas.microsoft.com/office/powerpoint/2010/main" val="774588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D0CE-B172-69AA-7C53-8C124A06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A636A7B-11F1-83E8-CB80-55E466277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F926BA6-BD96-8E38-BB3D-4E7C9A55A5C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3562D6C6-7CC6-F9CE-D332-F2CA640839D9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1: Predict Diabetes (Yes/No)</a:t>
            </a:r>
            <a:endParaRPr lang="en-US" sz="3300" b="1" dirty="0">
              <a:latin typeface="Calibir"/>
            </a:endParaRP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1DC63BDF-E209-6EBB-CA0A-0D5DD15272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4" b="26829"/>
          <a:stretch>
            <a:fillRect/>
          </a:stretch>
        </p:blipFill>
        <p:spPr>
          <a:xfrm>
            <a:off x="0" y="919975"/>
            <a:ext cx="12097581" cy="50180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EB0C6B-F516-AB0F-9032-7CC1FAB7AB52}"/>
              </a:ext>
            </a:extLst>
          </p:cNvPr>
          <p:cNvSpPr txBox="1"/>
          <p:nvPr/>
        </p:nvSpPr>
        <p:spPr>
          <a:xfrm>
            <a:off x="5663329" y="1800412"/>
            <a:ext cx="6434252" cy="325717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What Does Accuracy Mean?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Accuracy = how many predictions are correct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96 correct out of 100 → Accuracy = 96%</a:t>
            </a:r>
          </a:p>
        </p:txBody>
      </p:sp>
    </p:spTree>
    <p:extLst>
      <p:ext uri="{BB962C8B-B14F-4D97-AF65-F5344CB8AC3E}">
        <p14:creationId xmlns:p14="http://schemas.microsoft.com/office/powerpoint/2010/main" val="1948257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0224-BA52-539E-979A-B6E27A3F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263753E-270F-AE3D-1DD1-7CE86A395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FC1FE85-1214-CA04-7FAE-7820A4A1917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1E89692-A08E-4CB7-5D46-24B70F330654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Task 1: Try a Different Model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2E6F5-F440-80AD-163B-D6B4DA62BCAD}"/>
              </a:ext>
            </a:extLst>
          </p:cNvPr>
          <p:cNvSpPr txBox="1"/>
          <p:nvPr/>
        </p:nvSpPr>
        <p:spPr>
          <a:xfrm>
            <a:off x="0" y="858643"/>
            <a:ext cx="1153036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Change model to: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sklearn.tree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DecisionTreeClassifier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model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DecisionTreeClassifier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accuracy higher or lower?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model is better?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Hint / Answer: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Random Forest is usually more accurate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Decision Tree is simpler but can overfit</a:t>
            </a:r>
          </a:p>
        </p:txBody>
      </p:sp>
    </p:spTree>
    <p:extLst>
      <p:ext uri="{BB962C8B-B14F-4D97-AF65-F5344CB8AC3E}">
        <p14:creationId xmlns:p14="http://schemas.microsoft.com/office/powerpoint/2010/main" val="1135898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27FF-EBA4-37F9-13AC-38D1EBFD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285C594-4BE8-FA87-36B8-A1B124DF2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422679B-D6EC-A5C7-B36B-98DA59102D4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6887089-F00D-9BA0-1032-BB784207F9AC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Task 2: Change Number of Trees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F59EA-503C-0187-9BF1-C51DC53719DF}"/>
              </a:ext>
            </a:extLst>
          </p:cNvPr>
          <p:cNvSpPr txBox="1"/>
          <p:nvPr/>
        </p:nvSpPr>
        <p:spPr>
          <a:xfrm>
            <a:off x="0" y="858643"/>
            <a:ext cx="1153036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Modify: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RandomForestClassifier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n_estimators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=50)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RandomForestClassifier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n_estimators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=200)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accuracy change?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bigger always better?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/ Answer: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Accuracy may increase slightly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Too many trees → slower, not always better</a:t>
            </a:r>
          </a:p>
        </p:txBody>
      </p:sp>
    </p:spTree>
    <p:extLst>
      <p:ext uri="{BB962C8B-B14F-4D97-AF65-F5344CB8AC3E}">
        <p14:creationId xmlns:p14="http://schemas.microsoft.com/office/powerpoint/2010/main" val="2149433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2F8A7-9CB4-4682-E19D-94AB8A48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2A0C240-F290-7F84-0204-140536A06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732FCF1-BECD-E63A-6144-0345F358C9F2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53F8D26-6787-5ECC-3977-22ED930C203B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Task 3: Remove Some Features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B231C-2F21-6EBA-C568-5FB1446696EE}"/>
              </a:ext>
            </a:extLst>
          </p:cNvPr>
          <p:cNvSpPr txBox="1"/>
          <p:nvPr/>
        </p:nvSpPr>
        <p:spPr>
          <a:xfrm>
            <a:off x="0" y="858643"/>
            <a:ext cx="1153036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Try: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X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X.iloc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[:, :10]  # use only first 10 features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accuracy decrease?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Why?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/ Answer: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Yes, accuracy may decrease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Less information → weaker predictions</a:t>
            </a:r>
          </a:p>
        </p:txBody>
      </p:sp>
    </p:spTree>
    <p:extLst>
      <p:ext uri="{BB962C8B-B14F-4D97-AF65-F5344CB8AC3E}">
        <p14:creationId xmlns:p14="http://schemas.microsoft.com/office/powerpoint/2010/main" val="3737201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7D45-0A79-6E9C-427A-44AE87F2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8496D9D-BA0E-6228-1445-EC5E758F0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4B8DDC5-084D-696C-9E13-A04DB8B3FE3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AB944389-9896-EE79-59BB-25FA20396F92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Ask Students to Explain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2A25B-3964-094B-6DE3-E991ABE6F00E}"/>
              </a:ext>
            </a:extLst>
          </p:cNvPr>
          <p:cNvSpPr txBox="1"/>
          <p:nvPr/>
        </p:nvSpPr>
        <p:spPr>
          <a:xfrm>
            <a:off x="0" y="858643"/>
            <a:ext cx="11530360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should do research and explain: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model performed best and why?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happened when features were reduced?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happens when we increase trees?</a:t>
            </a:r>
          </a:p>
        </p:txBody>
      </p:sp>
    </p:spTree>
    <p:extLst>
      <p:ext uri="{BB962C8B-B14F-4D97-AF65-F5344CB8AC3E}">
        <p14:creationId xmlns:p14="http://schemas.microsoft.com/office/powerpoint/2010/main" val="2562203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456E-C376-DFC6-D545-4D69949A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A72A9F9-C7A7-3A30-458B-05701285C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1EC4F65-E6A6-7206-00A8-2F206E7B658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6D19D5A-79C1-2CF4-FE57-10EF044073BF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Key Learning Points (Today)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055A2-1689-6447-D615-C027C0AEFB8D}"/>
              </a:ext>
            </a:extLst>
          </p:cNvPr>
          <p:cNvSpPr txBox="1"/>
          <p:nvPr/>
        </p:nvSpPr>
        <p:spPr>
          <a:xfrm>
            <a:off x="0" y="858643"/>
            <a:ext cx="1153036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learned:</a:t>
            </a:r>
          </a:p>
          <a:p>
            <a:pPr marL="623888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What classification is</a:t>
            </a:r>
          </a:p>
          <a:p>
            <a:pPr marL="623888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Difference between regression and classification</a:t>
            </a:r>
          </a:p>
          <a:p>
            <a:pPr marL="623888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How to build a classification model</a:t>
            </a:r>
          </a:p>
          <a:p>
            <a:pPr marL="623888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How to evaluate using accuracy</a:t>
            </a:r>
          </a:p>
          <a:p>
            <a:pPr marL="623888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How model parameters affect performance</a:t>
            </a:r>
          </a:p>
          <a:p>
            <a:pPr marL="623888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Why more features can improve prediction</a:t>
            </a:r>
          </a:p>
        </p:txBody>
      </p:sp>
    </p:spTree>
    <p:extLst>
      <p:ext uri="{BB962C8B-B14F-4D97-AF65-F5344CB8AC3E}">
        <p14:creationId xmlns:p14="http://schemas.microsoft.com/office/powerpoint/2010/main" val="2354212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C0A5-CC56-142A-8FB3-BEF715A9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3485489-66F6-B684-2B63-FA623774C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EE74F5E-CAE7-0CB4-316D-9608D5A7693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6DFECDD-17CD-60A9-AA11-ADE2266A0BF6}"/>
              </a:ext>
            </a:extLst>
          </p:cNvPr>
          <p:cNvSpPr txBox="1"/>
          <p:nvPr/>
        </p:nvSpPr>
        <p:spPr>
          <a:xfrm>
            <a:off x="94419" y="68639"/>
            <a:ext cx="8177222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Simple Summary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6E643-2A0C-7BA2-A67F-04D4AFF39517}"/>
              </a:ext>
            </a:extLst>
          </p:cNvPr>
          <p:cNvSpPr txBox="1"/>
          <p:nvPr/>
        </p:nvSpPr>
        <p:spPr>
          <a:xfrm>
            <a:off x="0" y="858643"/>
            <a:ext cx="11530360" cy="3257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Classification = predicting categories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Models learn from past data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Accuracy shows performance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More data/features usually help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Bigger models are not always better</a:t>
            </a:r>
          </a:p>
        </p:txBody>
      </p:sp>
    </p:spTree>
    <p:extLst>
      <p:ext uri="{BB962C8B-B14F-4D97-AF65-F5344CB8AC3E}">
        <p14:creationId xmlns:p14="http://schemas.microsoft.com/office/powerpoint/2010/main" val="950703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FA93-516F-A1D4-C79E-D28310F8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7E29EB7-3096-11C1-3AA9-60A45DD28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922ED05-C2BB-8B8C-DD8C-F35043B80D2C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58C6AAA-FB73-EAD9-73FE-9022EDFD0991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2: Predict Customer Purchase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61970-F930-22C0-D833-DFDDCBDE84C1}"/>
              </a:ext>
            </a:extLst>
          </p:cNvPr>
          <p:cNvSpPr txBox="1"/>
          <p:nvPr/>
        </p:nvSpPr>
        <p:spPr>
          <a:xfrm>
            <a:off x="0" y="925552"/>
            <a:ext cx="9601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Goal: Predict if a customer will buy a product (1 = Yes, 0 = No)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0AE1ED-D402-546F-31DA-6C37ADDA2527}"/>
              </a:ext>
            </a:extLst>
          </p:cNvPr>
          <p:cNvSpPr txBox="1"/>
          <p:nvPr/>
        </p:nvSpPr>
        <p:spPr>
          <a:xfrm>
            <a:off x="0" y="1597403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1: Import libraries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sklearn.linear_model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LogisticRegression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2: Create simple dataset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{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'Age'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22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47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52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46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56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27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'Salary'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60000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52000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65000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27000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30000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'Purchased'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pd.DataFrame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478400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A177-8A27-F752-838D-72C5A96E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2C8C202-516C-6C96-4FD0-C482256A9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44AF389-55BD-DCB9-524E-B6B43C6B4BA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6A712C7-3872-2F21-D58E-8E30FC866899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2: Predict Customer Purchase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6E737-66EA-2AFF-FB90-A0E7752847CE}"/>
              </a:ext>
            </a:extLst>
          </p:cNvPr>
          <p:cNvSpPr txBox="1"/>
          <p:nvPr/>
        </p:nvSpPr>
        <p:spPr>
          <a:xfrm>
            <a:off x="0" y="925552"/>
            <a:ext cx="9601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Goal: Predict if a customer will buy a product (1 = Yes, 0 = No)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E01AA-C14A-728A-0D4E-AE17356CA4EC}"/>
              </a:ext>
            </a:extLst>
          </p:cNvPr>
          <p:cNvSpPr txBox="1"/>
          <p:nvPr/>
        </p:nvSpPr>
        <p:spPr>
          <a:xfrm>
            <a:off x="0" y="1597403"/>
            <a:ext cx="1219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3: Define input and output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X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[[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'Age'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'Salary'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]]  </a:t>
            </a: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features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y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'Purchased'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]  </a:t>
            </a: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target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4: Split data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    X, y,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test_size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0.25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3683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50DC-FEA9-0C24-1DA8-A95FD48B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7EFC00F-E73D-3583-FF67-C6DF16AB0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805325B-7A8F-10B8-A6FA-F57E21F2D4B5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D8BE801-9A62-FCF7-ED41-DA53B5ADAEB8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2: Predict Customer Purchase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F5BA1-72AD-CC10-B76F-78AF3931832A}"/>
              </a:ext>
            </a:extLst>
          </p:cNvPr>
          <p:cNvSpPr txBox="1"/>
          <p:nvPr/>
        </p:nvSpPr>
        <p:spPr>
          <a:xfrm>
            <a:off x="0" y="925552"/>
            <a:ext cx="9601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Goal: Predict if a customer will buy a product (1 = Yes, 0 = No)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DEE122-2DF4-B0FC-970C-FC24943EB1DE}"/>
              </a:ext>
            </a:extLst>
          </p:cNvPr>
          <p:cNvSpPr txBox="1"/>
          <p:nvPr/>
        </p:nvSpPr>
        <p:spPr>
          <a:xfrm>
            <a:off x="0" y="1597403"/>
            <a:ext cx="12192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5: Create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LogisticRegression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6: Train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7: Predict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8: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accuracy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accuracy)</a:t>
            </a:r>
          </a:p>
        </p:txBody>
      </p:sp>
    </p:spTree>
    <p:extLst>
      <p:ext uri="{BB962C8B-B14F-4D97-AF65-F5344CB8AC3E}">
        <p14:creationId xmlns:p14="http://schemas.microsoft.com/office/powerpoint/2010/main" val="3149071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ECA94-1CCC-B958-7B62-42FAB03E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0B85A36-EE6B-61D9-08CB-72FF02BF0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97081F5-D225-B923-998C-0F3A32A27AB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A3E9050D-E544-E861-8007-3C32BE250E5A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2: Predict Customer Purchase (Yes/No)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F239C-6157-E3FE-0A0A-0D05AC13B8F0}"/>
              </a:ext>
            </a:extLst>
          </p:cNvPr>
          <p:cNvSpPr txBox="1"/>
          <p:nvPr/>
        </p:nvSpPr>
        <p:spPr>
          <a:xfrm>
            <a:off x="0" y="925552"/>
            <a:ext cx="9601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Goal: Predict if a customer will buy a product (1 = Yes, 0 = No)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E769C-F23D-280E-6F29-712DADB74164}"/>
              </a:ext>
            </a:extLst>
          </p:cNvPr>
          <p:cNvSpPr txBox="1"/>
          <p:nvPr/>
        </p:nvSpPr>
        <p:spPr>
          <a:xfrm>
            <a:off x="0" y="1597403"/>
            <a:ext cx="12192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5: Create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LogisticRegression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6: Train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7: Predict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Step 8: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accuracy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accuracy)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47483C-6C57-A8FE-E594-556DA3A8F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298" y="2123578"/>
            <a:ext cx="5804346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Age &amp; Salary → inputs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Purchased → output (Yes/No)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Model learns patterns like: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Higher salary → more likely to buy </a:t>
            </a:r>
          </a:p>
        </p:txBody>
      </p:sp>
    </p:spTree>
    <p:extLst>
      <p:ext uri="{BB962C8B-B14F-4D97-AF65-F5344CB8AC3E}">
        <p14:creationId xmlns:p14="http://schemas.microsoft.com/office/powerpoint/2010/main" val="3963595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0F535-9AB9-DE8A-88ED-F383AF18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A092483-573D-9D84-E026-18AD1B084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F227126-315E-1480-2F01-1C6E18729C3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8178644-8D41-1103-221D-EA7188D8D724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Task 1: Change the Model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AB9D5-86A4-8BA9-AB3E-1DA21B6DCB82}"/>
              </a:ext>
            </a:extLst>
          </p:cNvPr>
          <p:cNvSpPr txBox="1"/>
          <p:nvPr/>
        </p:nvSpPr>
        <p:spPr>
          <a:xfrm>
            <a:off x="0" y="925552"/>
            <a:ext cx="960119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Replace Logistic Regression with: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sklearn.neighbors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KNeighborsClassifier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model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KNeighborsClassifier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n_neighbors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=3)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Did accuracy change?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model is better?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KNN depends on neighbors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Sometimes better, sometimes worse</a:t>
            </a:r>
          </a:p>
        </p:txBody>
      </p:sp>
    </p:spTree>
    <p:extLst>
      <p:ext uri="{BB962C8B-B14F-4D97-AF65-F5344CB8AC3E}">
        <p14:creationId xmlns:p14="http://schemas.microsoft.com/office/powerpoint/2010/main" val="365457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9C49F-FDAF-A4D2-6ADB-CF27106B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27A43AD-B040-0297-6E43-DC7B259B9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2C23F29-A432-BCCE-B5D8-4DE53F130281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AFD0BFB-809F-4676-DA4A-47053ECC76B6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Task 2: Change Number of Neighbors</a:t>
            </a:r>
            <a:endParaRPr lang="en-US" sz="33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48870-8740-1C15-C4F5-D5D7F2D8B540}"/>
              </a:ext>
            </a:extLst>
          </p:cNvPr>
          <p:cNvSpPr txBox="1"/>
          <p:nvPr/>
        </p:nvSpPr>
        <p:spPr>
          <a:xfrm>
            <a:off x="94417" y="787041"/>
            <a:ext cx="9863621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Try: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KNeighborsClassifier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n_neighbors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=1)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 err="1">
                <a:highlight>
                  <a:srgbClr val="FFFF00"/>
                </a:highlight>
                <a:latin typeface="Calibir"/>
              </a:rPr>
              <a:t>KNeighborsClassifier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n_neighbors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=5)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gives higher accuracy?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happens when neighbors increase?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Hint: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Small neighbors → may overfit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Large neighbors → smoother but less precise</a:t>
            </a:r>
          </a:p>
        </p:txBody>
      </p:sp>
    </p:spTree>
    <p:extLst>
      <p:ext uri="{BB962C8B-B14F-4D97-AF65-F5344CB8AC3E}">
        <p14:creationId xmlns:p14="http://schemas.microsoft.com/office/powerpoint/2010/main" val="2438820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1A62-00BC-1E8E-3BF7-D25F6FF8F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52DB304-2482-5094-B4E6-BE6C25EA7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1C178A8-B3FF-0043-B029-9F252B0E0F1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252BB58-EACD-64DD-0A45-34D8FB6F718F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Task 3: Add a New Customer</a:t>
            </a:r>
            <a:endParaRPr lang="en-US" sz="33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F6986-8D63-0E64-C969-FC9ACA55DB8C}"/>
              </a:ext>
            </a:extLst>
          </p:cNvPr>
          <p:cNvSpPr txBox="1"/>
          <p:nvPr/>
        </p:nvSpPr>
        <p:spPr>
          <a:xfrm>
            <a:off x="0" y="485958"/>
            <a:ext cx="9863621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 new data: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new_customer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[[40, 48000]]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prediction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model.predict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new_customer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)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print(prediction)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is the prediction (0 or 1)?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it make sense?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Compare with similar data points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Model uses learned patterns </a:t>
            </a:r>
          </a:p>
        </p:txBody>
      </p:sp>
    </p:spTree>
    <p:extLst>
      <p:ext uri="{BB962C8B-B14F-4D97-AF65-F5344CB8AC3E}">
        <p14:creationId xmlns:p14="http://schemas.microsoft.com/office/powerpoint/2010/main" val="2020227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10D8-C2E7-7519-67F6-2ADB8C14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83FB550-80BB-04A9-99B0-402F018A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4952E85-9B03-5C40-D56E-A108C33485BB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A01BD3EE-9C9E-8EFE-52D1-33625278A367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Task 4 (Optional): Remove One Feature</a:t>
            </a:r>
            <a:endParaRPr lang="en-US" sz="33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6A5C2-3F07-9FF9-5B0F-04F28414D965}"/>
              </a:ext>
            </a:extLst>
          </p:cNvPr>
          <p:cNvSpPr txBox="1"/>
          <p:nvPr/>
        </p:nvSpPr>
        <p:spPr>
          <a:xfrm>
            <a:off x="0" y="629851"/>
            <a:ext cx="9863621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Try using only Age: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X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[['Age']]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accuracy change?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Why?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Less information → lower accuracy</a:t>
            </a:r>
          </a:p>
        </p:txBody>
      </p:sp>
    </p:spTree>
    <p:extLst>
      <p:ext uri="{BB962C8B-B14F-4D97-AF65-F5344CB8AC3E}">
        <p14:creationId xmlns:p14="http://schemas.microsoft.com/office/powerpoint/2010/main" val="2463194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91212-56EE-8803-BB40-8D24B14F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35A0694-CEB5-47BD-A85D-F6EE687D6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395E2F7-BB32-F645-98FC-A965AE4FEE34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34CD14F1-D64F-248E-7148-A45CA82E6463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Ask Students to Explain</a:t>
            </a:r>
            <a:endParaRPr lang="en-US" sz="33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B380F-E5B0-02F2-F6BD-5B86D251DCC3}"/>
              </a:ext>
            </a:extLst>
          </p:cNvPr>
          <p:cNvSpPr txBox="1"/>
          <p:nvPr/>
        </p:nvSpPr>
        <p:spPr>
          <a:xfrm>
            <a:off x="0" y="629851"/>
            <a:ext cx="9863621" cy="32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should do research and explain: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model worked best and why?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changing neighbors affected results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Why adding/removing features changed accuracy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Whether prediction for new customer makes sense</a:t>
            </a:r>
          </a:p>
        </p:txBody>
      </p:sp>
    </p:spTree>
    <p:extLst>
      <p:ext uri="{BB962C8B-B14F-4D97-AF65-F5344CB8AC3E}">
        <p14:creationId xmlns:p14="http://schemas.microsoft.com/office/powerpoint/2010/main" val="2202750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A3E9-F796-847D-3A63-1B09DF96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9AE572A-7367-F183-1E52-550F2ADCD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F686A25-4EE6-FDA4-75EC-C7BB20859F24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372F9334-19D8-8099-43DC-CF1040B879B9}"/>
              </a:ext>
            </a:extLst>
          </p:cNvPr>
          <p:cNvSpPr txBox="1"/>
          <p:nvPr/>
        </p:nvSpPr>
        <p:spPr>
          <a:xfrm>
            <a:off x="94418" y="68639"/>
            <a:ext cx="9506781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Key Learning from Example 2</a:t>
            </a:r>
            <a:endParaRPr lang="en-US" sz="33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AE5E9-CA46-F3B5-566E-8381651599C2}"/>
              </a:ext>
            </a:extLst>
          </p:cNvPr>
          <p:cNvSpPr txBox="1"/>
          <p:nvPr/>
        </p:nvSpPr>
        <p:spPr>
          <a:xfrm>
            <a:off x="0" y="629851"/>
            <a:ext cx="9863621" cy="2611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Classification can be used in business (customer behavior)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Different models give different results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Parameters affect model performance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Real-world prediction is based on patterns</a:t>
            </a:r>
          </a:p>
        </p:txBody>
      </p:sp>
    </p:spTree>
    <p:extLst>
      <p:ext uri="{BB962C8B-B14F-4D97-AF65-F5344CB8AC3E}">
        <p14:creationId xmlns:p14="http://schemas.microsoft.com/office/powerpoint/2010/main" val="1763069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CADA-C2BC-8C89-F224-6C84B30E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E8AB4A3-BE79-06FA-AC7C-BEC57E78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7517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Calibir"/>
              </a:rPr>
              <a:t>Let’s Answer Your Questions</a:t>
            </a:r>
            <a:endParaRPr lang="en-AU" sz="3000" b="1" dirty="0">
              <a:latin typeface="Calibir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84E5527E-4D0B-667B-4471-EFDB8B31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244" y="1036133"/>
            <a:ext cx="3385511" cy="2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BBB43-1E60-3AC7-6893-6AAB3EFF1E14}"/>
              </a:ext>
            </a:extLst>
          </p:cNvPr>
          <p:cNvSpPr txBox="1"/>
          <p:nvPr/>
        </p:nvSpPr>
        <p:spPr>
          <a:xfrm>
            <a:off x="0" y="3299222"/>
            <a:ext cx="12192000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during class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Ask directly during sessions.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Canvas Inbox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For structured academic queries.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For formal communications or attachments.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Canvas Discussion 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For sharing your questions.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Microsoft Team 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Send a reminder if I did not reply after 3 business days</a:t>
            </a:r>
          </a:p>
        </p:txBody>
      </p:sp>
    </p:spTree>
    <p:extLst>
      <p:ext uri="{BB962C8B-B14F-4D97-AF65-F5344CB8AC3E}">
        <p14:creationId xmlns:p14="http://schemas.microsoft.com/office/powerpoint/2010/main" val="3910630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1903064" y="1272864"/>
            <a:ext cx="4306642" cy="430664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90404" y="1272866"/>
            <a:ext cx="5664962" cy="4003328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defTabSz="68580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2800" b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Stay Connected:</a:t>
            </a:r>
            <a:b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  <a:hlinkClick r:id="rId3"/>
              </a:rPr>
              <a:t>linkedin.com/in/farshid-keivanian</a:t>
            </a: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 </a:t>
            </a:r>
            <a:b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  <a:hlinkClick r:id="rId4"/>
              </a:rPr>
              <a:t>github.com/FarshidKeivanian</a:t>
            </a: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 </a:t>
            </a:r>
          </a:p>
          <a:p>
            <a:pPr indent="-171450" defTabSz="68580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Education is the most powerful weapon you can use to change the world. </a:t>
            </a: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— Nelson Mandela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2EB8C87-8395-5CF8-FB02-8B57ECDD5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920865" cy="723788"/>
          </a:xfrm>
          <a:prstGeom prst="rect">
            <a:avLst/>
          </a:prstGeom>
        </p:spPr>
        <p:txBody>
          <a:bodyPr vert="horz" wrap="square" lIns="0" tIns="259588" rIns="0" bIns="0" rtlCol="0" anchor="ctr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sz="3000" b="1" spc="-20" dirty="0">
                <a:latin typeface="Calibir"/>
              </a:rPr>
              <a:t>Happy Learning and Bright Futures Ahead!</a:t>
            </a:r>
            <a:endParaRPr sz="3000" b="1" spc="-2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CB339-E632-9E22-A7B6-C9019F91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FBAC6E-9EAC-CF1D-420B-AB0E38575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553200" cy="5206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Calibir"/>
              </a:rPr>
              <a:t>Thank You</a:t>
            </a:r>
            <a:endParaRPr sz="3300" b="1" spc="-10" dirty="0">
              <a:latin typeface="Calibir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4FA3D3-2D48-1396-02E0-E592D20AE6B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5"/>
              </a:spcBef>
              <a:defRPr/>
            </a:pPr>
            <a:fld id="{81D60167-4931-47E6-BA6A-407CBD079E47}" type="slidenum">
              <a:rPr lang="en-US" smtClean="0"/>
              <a:pPr marL="38100">
                <a:spcBef>
                  <a:spcPts val="5"/>
                </a:spcBef>
                <a:defRPr/>
              </a:pPr>
              <a:t>39</a:t>
            </a:fld>
            <a:r>
              <a:rPr lang="en-US" spc="235"/>
              <a:t> </a:t>
            </a:r>
            <a:r>
              <a:rPr lang="en-US"/>
              <a:t>|</a:t>
            </a:r>
            <a:r>
              <a:rPr lang="en-US" spc="400"/>
              <a:t> </a:t>
            </a:r>
            <a:r>
              <a:rPr lang="en-US"/>
              <a:t>Faculty</a:t>
            </a:r>
            <a:r>
              <a:rPr lang="en-US" spc="-15"/>
              <a:t> </a:t>
            </a:r>
            <a:r>
              <a:rPr lang="en-US"/>
              <a:t>of</a:t>
            </a:r>
            <a:r>
              <a:rPr lang="en-US" spc="-20"/>
              <a:t> </a:t>
            </a:r>
            <a:r>
              <a:rPr lang="en-US"/>
              <a:t>Business</a:t>
            </a:r>
            <a:r>
              <a:rPr lang="en-US" spc="-20"/>
              <a:t> </a:t>
            </a:r>
            <a:r>
              <a:rPr lang="en-US"/>
              <a:t>and</a:t>
            </a:r>
            <a:r>
              <a:rPr lang="en-US" spc="-20"/>
              <a:t> </a:t>
            </a:r>
            <a:r>
              <a:rPr lang="en-US"/>
              <a:t>Law</a:t>
            </a:r>
            <a:r>
              <a:rPr lang="en-US" spc="-15"/>
              <a:t> </a:t>
            </a:r>
            <a:r>
              <a:rPr lang="en-US"/>
              <a:t>|</a:t>
            </a:r>
            <a:r>
              <a:rPr lang="en-US" spc="-15"/>
              <a:t> </a:t>
            </a:r>
            <a:r>
              <a:rPr lang="en-US"/>
              <a:t>Peter</a:t>
            </a:r>
            <a:r>
              <a:rPr lang="en-US" spc="-10"/>
              <a:t> </a:t>
            </a:r>
            <a:r>
              <a:rPr lang="en-US"/>
              <a:t>Faber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 spc="-10"/>
              <a:t>School</a:t>
            </a:r>
            <a:endParaRPr sz="1000" kern="0" spc="-10" dirty="0">
              <a:solidFill>
                <a:srgbClr val="3D3935"/>
              </a:solidFill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AB1092-95B3-7ACF-8F0C-CB846267DED1}"/>
              </a:ext>
            </a:extLst>
          </p:cNvPr>
          <p:cNvSpPr txBox="1"/>
          <p:nvPr/>
        </p:nvSpPr>
        <p:spPr>
          <a:xfrm>
            <a:off x="2043611" y="1416812"/>
            <a:ext cx="7745095" cy="51103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56565" indent="-443865">
              <a:spcBef>
                <a:spcPts val="625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456565" algn="l"/>
              </a:tabLst>
              <a:defRPr/>
            </a:pPr>
            <a:r>
              <a:rPr lang="en-US" sz="2800" i="1" kern="0" dirty="0">
                <a:solidFill>
                  <a:srgbClr val="3D3935"/>
                </a:solidFill>
                <a:latin typeface="Calibri"/>
                <a:cs typeface="Arial"/>
              </a:rPr>
              <a:t>Have a Great Learning Day!</a:t>
            </a:r>
            <a:endParaRPr sz="2800" kern="0" dirty="0">
              <a:solidFill>
                <a:sysClr val="windowText" lastClr="000000"/>
              </a:solidFill>
              <a:latin typeface="Calibri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0227068-EB5C-24F0-54DA-165117897DD9}"/>
              </a:ext>
            </a:extLst>
          </p:cNvPr>
          <p:cNvSpPr txBox="1"/>
          <p:nvPr/>
        </p:nvSpPr>
        <p:spPr>
          <a:xfrm>
            <a:off x="2076270" y="2107462"/>
            <a:ext cx="7745095" cy="51103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56565" indent="-443865">
              <a:spcBef>
                <a:spcPts val="625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456565" algn="l"/>
              </a:tabLst>
              <a:defRPr/>
            </a:pPr>
            <a:r>
              <a:rPr lang="en-US" sz="2800" kern="0" dirty="0">
                <a:solidFill>
                  <a:sysClr val="windowText" lastClr="000000"/>
                </a:solidFill>
                <a:latin typeface="Calibri"/>
              </a:rPr>
              <a:t>Feel free to reach out with any questions!</a:t>
            </a:r>
            <a:endParaRPr sz="2800" kern="0" dirty="0">
              <a:solidFill>
                <a:sysClr val="windowText" lastClr="000000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707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2065</Words>
  <Application>Microsoft Office PowerPoint</Application>
  <PresentationFormat>Widescreen</PresentationFormat>
  <Paragraphs>301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Calibir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Answer Your Questions</vt:lpstr>
      <vt:lpstr>Happy Learning and Bright Futures Ahead!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234</cp:revision>
  <dcterms:created xsi:type="dcterms:W3CDTF">2026-04-01T10:02:37Z</dcterms:created>
  <dcterms:modified xsi:type="dcterms:W3CDTF">2026-04-29T21:06:10Z</dcterms:modified>
</cp:coreProperties>
</file>