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2.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7" r:id="rId2"/>
    <p:sldId id="1897" r:id="rId3"/>
    <p:sldId id="1898" r:id="rId4"/>
    <p:sldId id="1899" r:id="rId5"/>
    <p:sldId id="1900" r:id="rId6"/>
    <p:sldId id="1901" r:id="rId7"/>
    <p:sldId id="1902" r:id="rId8"/>
    <p:sldId id="1903" r:id="rId9"/>
    <p:sldId id="1904" r:id="rId10"/>
    <p:sldId id="1905" r:id="rId11"/>
    <p:sldId id="1906" r:id="rId12"/>
    <p:sldId id="1919" r:id="rId13"/>
    <p:sldId id="1920" r:id="rId14"/>
    <p:sldId id="1921" r:id="rId15"/>
    <p:sldId id="1922" r:id="rId16"/>
    <p:sldId id="1928" r:id="rId17"/>
    <p:sldId id="1929" r:id="rId18"/>
    <p:sldId id="1930" r:id="rId19"/>
    <p:sldId id="1931" r:id="rId20"/>
    <p:sldId id="1932" r:id="rId21"/>
    <p:sldId id="1923" r:id="rId22"/>
    <p:sldId id="1933" r:id="rId23"/>
    <p:sldId id="1934" r:id="rId24"/>
    <p:sldId id="1907" r:id="rId25"/>
    <p:sldId id="1908" r:id="rId26"/>
    <p:sldId id="1909" r:id="rId27"/>
    <p:sldId id="1910" r:id="rId28"/>
    <p:sldId id="1911" r:id="rId29"/>
    <p:sldId id="1924" r:id="rId30"/>
    <p:sldId id="1925" r:id="rId31"/>
    <p:sldId id="1926" r:id="rId32"/>
    <p:sldId id="1912" r:id="rId33"/>
    <p:sldId id="1927" r:id="rId34"/>
    <p:sldId id="1936" r:id="rId35"/>
    <p:sldId id="1935" r:id="rId36"/>
    <p:sldId id="1913" r:id="rId37"/>
    <p:sldId id="1937" r:id="rId38"/>
    <p:sldId id="1938" r:id="rId39"/>
    <p:sldId id="1939" r:id="rId40"/>
    <p:sldId id="1940" r:id="rId41"/>
    <p:sldId id="1914" r:id="rId42"/>
    <p:sldId id="1915" r:id="rId43"/>
    <p:sldId id="1916" r:id="rId44"/>
    <p:sldId id="1917" r:id="rId45"/>
    <p:sldId id="1918" r:id="rId46"/>
    <p:sldId id="1871" r:id="rId47"/>
    <p:sldId id="749" r:id="rId48"/>
    <p:sldId id="353"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410" y="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697DCA-64BC-45F8-BF68-471B4397264F}"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D0D0B-8444-4E13-B800-D172D14A68D8}" type="slidenum">
              <a:rPr lang="en-US" smtClean="0"/>
              <a:t>‹#›</a:t>
            </a:fld>
            <a:endParaRPr lang="en-US"/>
          </a:p>
        </p:txBody>
      </p:sp>
    </p:spTree>
    <p:extLst>
      <p:ext uri="{BB962C8B-B14F-4D97-AF65-F5344CB8AC3E}">
        <p14:creationId xmlns:p14="http://schemas.microsoft.com/office/powerpoint/2010/main" val="2912098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E8BA0-3567-A69C-89D5-35649AD8AD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9BFD70E-1D55-8D25-8E4D-7902E6D809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743844-3636-B493-A041-6B9449A09C07}"/>
              </a:ext>
            </a:extLst>
          </p:cNvPr>
          <p:cNvSpPr>
            <a:spLocks noGrp="1"/>
          </p:cNvSpPr>
          <p:nvPr>
            <p:ph type="dt" sz="half" idx="10"/>
          </p:nvPr>
        </p:nvSpPr>
        <p:spPr/>
        <p:txBody>
          <a:bodyPr/>
          <a:lstStyle/>
          <a:p>
            <a:fld id="{65187918-C88E-4AE8-98BA-82190638546D}" type="datetimeFigureOut">
              <a:rPr lang="en-US" smtClean="0"/>
              <a:t>4/8/2026</a:t>
            </a:fld>
            <a:endParaRPr lang="en-US"/>
          </a:p>
        </p:txBody>
      </p:sp>
      <p:sp>
        <p:nvSpPr>
          <p:cNvPr id="5" name="Footer Placeholder 4">
            <a:extLst>
              <a:ext uri="{FF2B5EF4-FFF2-40B4-BE49-F238E27FC236}">
                <a16:creationId xmlns:a16="http://schemas.microsoft.com/office/drawing/2014/main" id="{1FFAC05F-0F8E-0A34-83EA-FF89BD7510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8DFA5B-DBEC-459E-DE20-69CCB6B8C422}"/>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112374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82B09-6193-D2CF-28A5-F10D004F88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35128D-32CD-ED17-13D9-5D1FEF1A32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F0ACAA-AC57-8F09-F181-C7E6CEF4DABA}"/>
              </a:ext>
            </a:extLst>
          </p:cNvPr>
          <p:cNvSpPr>
            <a:spLocks noGrp="1"/>
          </p:cNvSpPr>
          <p:nvPr>
            <p:ph type="dt" sz="half" idx="10"/>
          </p:nvPr>
        </p:nvSpPr>
        <p:spPr/>
        <p:txBody>
          <a:bodyPr/>
          <a:lstStyle/>
          <a:p>
            <a:fld id="{65187918-C88E-4AE8-98BA-82190638546D}" type="datetimeFigureOut">
              <a:rPr lang="en-US" smtClean="0"/>
              <a:t>4/8/2026</a:t>
            </a:fld>
            <a:endParaRPr lang="en-US"/>
          </a:p>
        </p:txBody>
      </p:sp>
      <p:sp>
        <p:nvSpPr>
          <p:cNvPr id="5" name="Footer Placeholder 4">
            <a:extLst>
              <a:ext uri="{FF2B5EF4-FFF2-40B4-BE49-F238E27FC236}">
                <a16:creationId xmlns:a16="http://schemas.microsoft.com/office/drawing/2014/main" id="{C75FEFC4-B2D3-6536-6686-3E34538126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BFBAAB-91C7-139B-EB52-F4E313439669}"/>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1306147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765FC-76F4-ADE5-9E7F-9C38C89277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8616C1-C975-6067-2B7F-DB9F155945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DA170B-965A-0241-0525-B2ABC4FB04DB}"/>
              </a:ext>
            </a:extLst>
          </p:cNvPr>
          <p:cNvSpPr>
            <a:spLocks noGrp="1"/>
          </p:cNvSpPr>
          <p:nvPr>
            <p:ph type="dt" sz="half" idx="10"/>
          </p:nvPr>
        </p:nvSpPr>
        <p:spPr/>
        <p:txBody>
          <a:bodyPr/>
          <a:lstStyle/>
          <a:p>
            <a:fld id="{65187918-C88E-4AE8-98BA-82190638546D}" type="datetimeFigureOut">
              <a:rPr lang="en-US" smtClean="0"/>
              <a:t>4/8/2026</a:t>
            </a:fld>
            <a:endParaRPr lang="en-US"/>
          </a:p>
        </p:txBody>
      </p:sp>
      <p:sp>
        <p:nvSpPr>
          <p:cNvPr id="5" name="Footer Placeholder 4">
            <a:extLst>
              <a:ext uri="{FF2B5EF4-FFF2-40B4-BE49-F238E27FC236}">
                <a16:creationId xmlns:a16="http://schemas.microsoft.com/office/drawing/2014/main" id="{F8FB2E0F-705A-6BE2-C9AF-3547914E22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FF3A05-66F5-6587-251F-AFB191B71610}"/>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20923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38300-E4D2-4208-EAB8-E99C531EFF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7C9A71-89D7-144F-FF96-7956B29BA1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92D053-F65C-300C-6B4C-811431D858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A8B57A-8426-57B7-6B7B-D14D244BEFAC}"/>
              </a:ext>
            </a:extLst>
          </p:cNvPr>
          <p:cNvSpPr>
            <a:spLocks noGrp="1"/>
          </p:cNvSpPr>
          <p:nvPr>
            <p:ph type="dt" sz="half" idx="10"/>
          </p:nvPr>
        </p:nvSpPr>
        <p:spPr/>
        <p:txBody>
          <a:bodyPr/>
          <a:lstStyle/>
          <a:p>
            <a:fld id="{65187918-C88E-4AE8-98BA-82190638546D}" type="datetimeFigureOut">
              <a:rPr lang="en-US" smtClean="0"/>
              <a:t>4/8/2026</a:t>
            </a:fld>
            <a:endParaRPr lang="en-US"/>
          </a:p>
        </p:txBody>
      </p:sp>
      <p:sp>
        <p:nvSpPr>
          <p:cNvPr id="6" name="Footer Placeholder 5">
            <a:extLst>
              <a:ext uri="{FF2B5EF4-FFF2-40B4-BE49-F238E27FC236}">
                <a16:creationId xmlns:a16="http://schemas.microsoft.com/office/drawing/2014/main" id="{43D5F8B9-6890-73AB-2F24-36801188A7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7E8C89-2F91-3376-69B5-D80C544F7A0E}"/>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502587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D6761-A66D-1F0C-3137-C65C5E333D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0D2A34-8ED3-BB9C-9363-3066A95983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A6FD0C-1CF8-4719-A49E-F09206577C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5BB3EE-7150-36F7-0C76-A935571B09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1F896F-DA57-2611-5C7C-88A5A722D2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DC29C8-8642-A852-811D-368E2555DD34}"/>
              </a:ext>
            </a:extLst>
          </p:cNvPr>
          <p:cNvSpPr>
            <a:spLocks noGrp="1"/>
          </p:cNvSpPr>
          <p:nvPr>
            <p:ph type="dt" sz="half" idx="10"/>
          </p:nvPr>
        </p:nvSpPr>
        <p:spPr/>
        <p:txBody>
          <a:bodyPr/>
          <a:lstStyle/>
          <a:p>
            <a:fld id="{65187918-C88E-4AE8-98BA-82190638546D}" type="datetimeFigureOut">
              <a:rPr lang="en-US" smtClean="0"/>
              <a:t>4/8/2026</a:t>
            </a:fld>
            <a:endParaRPr lang="en-US"/>
          </a:p>
        </p:txBody>
      </p:sp>
      <p:sp>
        <p:nvSpPr>
          <p:cNvPr id="8" name="Footer Placeholder 7">
            <a:extLst>
              <a:ext uri="{FF2B5EF4-FFF2-40B4-BE49-F238E27FC236}">
                <a16:creationId xmlns:a16="http://schemas.microsoft.com/office/drawing/2014/main" id="{15A87AAF-B101-D6D4-A4AB-E18BFF1C89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9846B1-A764-6F86-2BB1-3EFDCD04EB42}"/>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3540660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593E2-A908-74A4-4A51-CDAC7C16F23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6027D4-B88A-94C4-F850-5434CC0519D0}"/>
              </a:ext>
            </a:extLst>
          </p:cNvPr>
          <p:cNvSpPr>
            <a:spLocks noGrp="1"/>
          </p:cNvSpPr>
          <p:nvPr>
            <p:ph type="dt" sz="half" idx="10"/>
          </p:nvPr>
        </p:nvSpPr>
        <p:spPr/>
        <p:txBody>
          <a:bodyPr/>
          <a:lstStyle/>
          <a:p>
            <a:fld id="{65187918-C88E-4AE8-98BA-82190638546D}" type="datetimeFigureOut">
              <a:rPr lang="en-US" smtClean="0"/>
              <a:t>4/8/2026</a:t>
            </a:fld>
            <a:endParaRPr lang="en-US"/>
          </a:p>
        </p:txBody>
      </p:sp>
      <p:sp>
        <p:nvSpPr>
          <p:cNvPr id="4" name="Footer Placeholder 3">
            <a:extLst>
              <a:ext uri="{FF2B5EF4-FFF2-40B4-BE49-F238E27FC236}">
                <a16:creationId xmlns:a16="http://schemas.microsoft.com/office/drawing/2014/main" id="{112A6CA0-BB0E-2595-FBBE-57558425C66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3327B39-0229-5495-4AF4-28EE9BCD558A}"/>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3401860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900644-265F-AAA9-1596-2848CF7F0587}"/>
              </a:ext>
            </a:extLst>
          </p:cNvPr>
          <p:cNvSpPr>
            <a:spLocks noGrp="1"/>
          </p:cNvSpPr>
          <p:nvPr>
            <p:ph type="dt" sz="half" idx="10"/>
          </p:nvPr>
        </p:nvSpPr>
        <p:spPr/>
        <p:txBody>
          <a:bodyPr/>
          <a:lstStyle/>
          <a:p>
            <a:fld id="{65187918-C88E-4AE8-98BA-82190638546D}" type="datetimeFigureOut">
              <a:rPr lang="en-US" smtClean="0"/>
              <a:t>4/8/2026</a:t>
            </a:fld>
            <a:endParaRPr lang="en-US"/>
          </a:p>
        </p:txBody>
      </p:sp>
      <p:sp>
        <p:nvSpPr>
          <p:cNvPr id="3" name="Footer Placeholder 2">
            <a:extLst>
              <a:ext uri="{FF2B5EF4-FFF2-40B4-BE49-F238E27FC236}">
                <a16:creationId xmlns:a16="http://schemas.microsoft.com/office/drawing/2014/main" id="{581AA8B1-B0F3-5E64-3282-105EEDF2455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4C6DCF-6D35-E204-6296-59518601AE28}"/>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2191698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015E1-7907-C9F2-CE58-E61415FC48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C62A7B-90E2-E613-EC88-72B99816E6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777170-642E-6882-7340-E46C633F70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34D353-A3F6-8354-656B-826A364BC2E2}"/>
              </a:ext>
            </a:extLst>
          </p:cNvPr>
          <p:cNvSpPr>
            <a:spLocks noGrp="1"/>
          </p:cNvSpPr>
          <p:nvPr>
            <p:ph type="dt" sz="half" idx="10"/>
          </p:nvPr>
        </p:nvSpPr>
        <p:spPr/>
        <p:txBody>
          <a:bodyPr/>
          <a:lstStyle/>
          <a:p>
            <a:fld id="{65187918-C88E-4AE8-98BA-82190638546D}" type="datetimeFigureOut">
              <a:rPr lang="en-US" smtClean="0"/>
              <a:t>4/8/2026</a:t>
            </a:fld>
            <a:endParaRPr lang="en-US"/>
          </a:p>
        </p:txBody>
      </p:sp>
      <p:sp>
        <p:nvSpPr>
          <p:cNvPr id="6" name="Footer Placeholder 5">
            <a:extLst>
              <a:ext uri="{FF2B5EF4-FFF2-40B4-BE49-F238E27FC236}">
                <a16:creationId xmlns:a16="http://schemas.microsoft.com/office/drawing/2014/main" id="{8B081F9B-817F-1676-DD52-A35BAC6562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BBAD93-244A-FB8B-A7B4-DA2A2ED8F56A}"/>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1287724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C595D-1F53-53E9-3B82-7CB3B8B644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908AA5-49B6-80BC-834E-629BE44AF9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2571CED-2C52-DD4D-5578-E9F6B0B2AD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B6541D-EEC6-080E-2610-4DF6FC66EB47}"/>
              </a:ext>
            </a:extLst>
          </p:cNvPr>
          <p:cNvSpPr>
            <a:spLocks noGrp="1"/>
          </p:cNvSpPr>
          <p:nvPr>
            <p:ph type="dt" sz="half" idx="10"/>
          </p:nvPr>
        </p:nvSpPr>
        <p:spPr/>
        <p:txBody>
          <a:bodyPr/>
          <a:lstStyle/>
          <a:p>
            <a:fld id="{65187918-C88E-4AE8-98BA-82190638546D}" type="datetimeFigureOut">
              <a:rPr lang="en-US" smtClean="0"/>
              <a:t>4/8/2026</a:t>
            </a:fld>
            <a:endParaRPr lang="en-US"/>
          </a:p>
        </p:txBody>
      </p:sp>
      <p:sp>
        <p:nvSpPr>
          <p:cNvPr id="6" name="Footer Placeholder 5">
            <a:extLst>
              <a:ext uri="{FF2B5EF4-FFF2-40B4-BE49-F238E27FC236}">
                <a16:creationId xmlns:a16="http://schemas.microsoft.com/office/drawing/2014/main" id="{B1829E2D-62A5-155F-F235-656326BE06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A874E9-562B-6D85-D536-BEC5BF7E2604}"/>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3831160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445D7-5390-D91F-E743-97E29EAFD4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3AFDCC-DE28-3F52-4634-F3FBDAF1C3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FED6F8-D8E4-E68B-7727-216ACADF223D}"/>
              </a:ext>
            </a:extLst>
          </p:cNvPr>
          <p:cNvSpPr>
            <a:spLocks noGrp="1"/>
          </p:cNvSpPr>
          <p:nvPr>
            <p:ph type="dt" sz="half" idx="10"/>
          </p:nvPr>
        </p:nvSpPr>
        <p:spPr/>
        <p:txBody>
          <a:bodyPr/>
          <a:lstStyle/>
          <a:p>
            <a:fld id="{65187918-C88E-4AE8-98BA-82190638546D}" type="datetimeFigureOut">
              <a:rPr lang="en-US" smtClean="0"/>
              <a:t>4/8/2026</a:t>
            </a:fld>
            <a:endParaRPr lang="en-US"/>
          </a:p>
        </p:txBody>
      </p:sp>
      <p:sp>
        <p:nvSpPr>
          <p:cNvPr id="5" name="Footer Placeholder 4">
            <a:extLst>
              <a:ext uri="{FF2B5EF4-FFF2-40B4-BE49-F238E27FC236}">
                <a16:creationId xmlns:a16="http://schemas.microsoft.com/office/drawing/2014/main" id="{4379CE75-4F1C-DE69-C05B-0916E139A1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1737B7-C61D-DD5B-45F4-2A65BA3B649D}"/>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405206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A43388-E01D-7A9F-EC12-0CD0881CD7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4CEE70-4A8E-31D3-5BA2-E822E6F5D0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DC0CA9-5029-CEB4-3FAF-A452EFBDEDB7}"/>
              </a:ext>
            </a:extLst>
          </p:cNvPr>
          <p:cNvSpPr>
            <a:spLocks noGrp="1"/>
          </p:cNvSpPr>
          <p:nvPr>
            <p:ph type="dt" sz="half" idx="10"/>
          </p:nvPr>
        </p:nvSpPr>
        <p:spPr/>
        <p:txBody>
          <a:bodyPr/>
          <a:lstStyle/>
          <a:p>
            <a:fld id="{65187918-C88E-4AE8-98BA-82190638546D}" type="datetimeFigureOut">
              <a:rPr lang="en-US" smtClean="0"/>
              <a:t>4/8/2026</a:t>
            </a:fld>
            <a:endParaRPr lang="en-US"/>
          </a:p>
        </p:txBody>
      </p:sp>
      <p:sp>
        <p:nvSpPr>
          <p:cNvPr id="5" name="Footer Placeholder 4">
            <a:extLst>
              <a:ext uri="{FF2B5EF4-FFF2-40B4-BE49-F238E27FC236}">
                <a16:creationId xmlns:a16="http://schemas.microsoft.com/office/drawing/2014/main" id="{1457D8D2-C12E-5712-06DE-6F511DC144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722757-1319-FD30-A649-F781E2862956}"/>
              </a:ext>
            </a:extLst>
          </p:cNvPr>
          <p:cNvSpPr>
            <a:spLocks noGrp="1"/>
          </p:cNvSpPr>
          <p:nvPr>
            <p:ph type="sldNum" sz="quarter" idx="12"/>
          </p:nvPr>
        </p:nvSpPr>
        <p:spPr/>
        <p:txBody>
          <a:bodyPr/>
          <a:lstStyle/>
          <a:p>
            <a:fld id="{CDE7C756-0902-4473-83B7-28EB270F081E}" type="slidenum">
              <a:rPr lang="en-US" smtClean="0"/>
              <a:t>‹#›</a:t>
            </a:fld>
            <a:endParaRPr lang="en-US"/>
          </a:p>
        </p:txBody>
      </p:sp>
    </p:spTree>
    <p:extLst>
      <p:ext uri="{BB962C8B-B14F-4D97-AF65-F5344CB8AC3E}">
        <p14:creationId xmlns:p14="http://schemas.microsoft.com/office/powerpoint/2010/main" val="1141270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754DBC-87E7-B994-958D-4334EA4CBF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A84B89-260B-DA3B-282C-1AE14EFEBC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7049DE-292B-FF07-9E02-2FFFFA5AC0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187918-C88E-4AE8-98BA-82190638546D}" type="datetimeFigureOut">
              <a:rPr lang="en-US" smtClean="0"/>
              <a:t>4/8/2026</a:t>
            </a:fld>
            <a:endParaRPr lang="en-US"/>
          </a:p>
        </p:txBody>
      </p:sp>
      <p:sp>
        <p:nvSpPr>
          <p:cNvPr id="5" name="Footer Placeholder 4">
            <a:extLst>
              <a:ext uri="{FF2B5EF4-FFF2-40B4-BE49-F238E27FC236}">
                <a16:creationId xmlns:a16="http://schemas.microsoft.com/office/drawing/2014/main" id="{5A69973F-6051-28CF-6202-6AF3780218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EE4D5BD-294A-4336-8EC3-EE921033D4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E7C756-0902-4473-83B7-28EB270F081E}" type="slidenum">
              <a:rPr lang="en-US" smtClean="0"/>
              <a:t>‹#›</a:t>
            </a:fld>
            <a:endParaRPr lang="en-US"/>
          </a:p>
        </p:txBody>
      </p:sp>
    </p:spTree>
    <p:extLst>
      <p:ext uri="{BB962C8B-B14F-4D97-AF65-F5344CB8AC3E}">
        <p14:creationId xmlns:p14="http://schemas.microsoft.com/office/powerpoint/2010/main" val="1683534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colab.research.google.com/drive/1CI-nYzAYDFoSJIr4BvyxhODfdq7l_h9m?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colab.research.google.com/drive/1CI-nYzAYDFoSJIr4BvyxhODfdq7l_h9m?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colab.research.google.com/drive/1CI-nYzAYDFoSJIr4BvyxhODfdq7l_h9m?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s://colab.research.google.com/drive/1CI-nYzAYDFoSJIr4BvyxhODfdq7l_h9m?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colab.research.google.com/drive/1CI-nYzAYDFoSJIr4BvyxhODfdq7l_h9m?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colab.research.google.com/drive/1CI-nYzAYDFoSJIr4BvyxhODfdq7l_h9m?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hyperlink" Target="https://colab.research.google.com/drive/1CI-nYzAYDFoSJIr4BvyxhODfdq7l_h9m?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hyperlink" Target="https://colab.research.google.com/drive/1CI-nYzAYDFoSJIr4BvyxhODfdq7l_h9m?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colab.research.google.com/drive/1CI-nYzAYDFoSJIr4BvyxhODfdq7l_h9m?usp=sharing"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hyperlink" Target="https://github.com/FarshidKeivanian"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C8CCC5-7719-5429-9C16-F066E03793F0}"/>
              </a:ext>
            </a:extLst>
          </p:cNvPr>
          <p:cNvSpPr txBox="1"/>
          <p:nvPr/>
        </p:nvSpPr>
        <p:spPr>
          <a:xfrm>
            <a:off x="0" y="1134998"/>
            <a:ext cx="6089530" cy="2837912"/>
          </a:xfrm>
          <a:prstGeom prst="rect">
            <a:avLst/>
          </a:prstGeom>
        </p:spPr>
        <p:txBody>
          <a:bodyPr vert="horz" lIns="51434" tIns="25718" rIns="51434" bIns="25718" rtlCol="0" anchor="b">
            <a:noAutofit/>
          </a:bodyPr>
          <a:lstStyle/>
          <a:p>
            <a:pPr algn="ctr">
              <a:lnSpc>
                <a:spcPct val="90000"/>
              </a:lnSpc>
              <a:spcBef>
                <a:spcPct val="0"/>
              </a:spcBef>
              <a:spcAft>
                <a:spcPts val="338"/>
              </a:spcAft>
            </a:pPr>
            <a:r>
              <a:rPr lang="en-US" sz="3800" b="1" dirty="0">
                <a:solidFill>
                  <a:srgbClr val="595959"/>
                </a:solidFill>
                <a:latin typeface="Calibir"/>
                <a:ea typeface="+mj-ea"/>
                <a:cs typeface="+mj-cs"/>
              </a:rPr>
              <a:t>HI6039 (Predictive Analysis)</a:t>
            </a:r>
          </a:p>
          <a:p>
            <a:pPr algn="ctr">
              <a:lnSpc>
                <a:spcPct val="90000"/>
              </a:lnSpc>
              <a:spcBef>
                <a:spcPct val="0"/>
              </a:spcBef>
              <a:spcAft>
                <a:spcPts val="338"/>
              </a:spcAft>
            </a:pPr>
            <a:r>
              <a:rPr lang="en-US" sz="3800" b="1" dirty="0">
                <a:solidFill>
                  <a:srgbClr val="595959"/>
                </a:solidFill>
                <a:latin typeface="Calibir"/>
                <a:ea typeface="+mj-ea"/>
                <a:cs typeface="+mj-cs"/>
              </a:rPr>
              <a:t>Dr. Farshid Keivanian</a:t>
            </a:r>
          </a:p>
          <a:p>
            <a:pPr algn="ctr">
              <a:lnSpc>
                <a:spcPct val="90000"/>
              </a:lnSpc>
              <a:spcBef>
                <a:spcPct val="0"/>
              </a:spcBef>
              <a:spcAft>
                <a:spcPts val="338"/>
              </a:spcAft>
            </a:pPr>
            <a:r>
              <a:rPr lang="en-US" sz="3800" b="1" dirty="0">
                <a:solidFill>
                  <a:srgbClr val="595959"/>
                </a:solidFill>
                <a:latin typeface="Calibir"/>
                <a:ea typeface="+mj-ea"/>
                <a:cs typeface="+mj-cs"/>
              </a:rPr>
              <a:t>Week 3: Fitting a Predictive Model to Data</a:t>
            </a:r>
          </a:p>
        </p:txBody>
      </p:sp>
      <p:pic>
        <p:nvPicPr>
          <p:cNvPr id="4" name="Picture 3">
            <a:extLst>
              <a:ext uri="{FF2B5EF4-FFF2-40B4-BE49-F238E27FC236}">
                <a16:creationId xmlns:a16="http://schemas.microsoft.com/office/drawing/2014/main" id="{37BA1B80-27DD-FC4B-43BE-F15BBB7F77C0}"/>
              </a:ext>
            </a:extLst>
          </p:cNvPr>
          <p:cNvPicPr>
            <a:picLocks noChangeAspect="1"/>
          </p:cNvPicPr>
          <p:nvPr/>
        </p:nvPicPr>
        <p:blipFill>
          <a:blip r:embed="rId2">
            <a:extLst>
              <a:ext uri="{28A0092B-C50C-407E-A947-70E740481C1C}">
                <a14:useLocalDpi xmlns:a14="http://schemas.microsoft.com/office/drawing/2010/main" val="0"/>
              </a:ext>
            </a:extLst>
          </a:blip>
          <a:srcRect l="4968" r="24813" b="1"/>
          <a:stretch>
            <a:fillRect/>
          </a:stretch>
        </p:blipFill>
        <p:spPr>
          <a:xfrm>
            <a:off x="6102471" y="1165859"/>
            <a:ext cx="3043238" cy="4526280"/>
          </a:xfrm>
          <a:prstGeom prst="rect">
            <a:avLst/>
          </a:prstGeom>
        </p:spPr>
      </p:pic>
      <p:pic>
        <p:nvPicPr>
          <p:cNvPr id="3" name="object 3"/>
          <p:cNvPicPr/>
          <p:nvPr/>
        </p:nvPicPr>
        <p:blipFill>
          <a:blip r:embed="rId3" cstate="print"/>
          <a:srcRect l="24413" r="9390"/>
          <a:stretch>
            <a:fillRect/>
          </a:stretch>
        </p:blipFill>
        <p:spPr>
          <a:xfrm>
            <a:off x="10710041" y="73691"/>
            <a:ext cx="1481959" cy="19444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F47EF-CA19-2B80-555F-1928522B6C53}"/>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6D5E0246-14FB-D37C-C61E-AD4DC93AA7E2}"/>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64FA4A38-2887-8F7A-5AC6-CBE13C48E6DE}"/>
              </a:ext>
            </a:extLst>
          </p:cNvPr>
          <p:cNvSpPr txBox="1"/>
          <p:nvPr/>
        </p:nvSpPr>
        <p:spPr>
          <a:xfrm>
            <a:off x="1" y="1555532"/>
            <a:ext cx="10710040" cy="2614434"/>
          </a:xfrm>
          <a:prstGeom prst="rect">
            <a:avLst/>
          </a:prstGeom>
          <a:noFill/>
        </p:spPr>
        <p:txBody>
          <a:bodyPr wrap="square">
            <a:spAutoFit/>
          </a:bodyPr>
          <a:lstStyle/>
          <a:p>
            <a:pPr>
              <a:lnSpc>
                <a:spcPct val="150000"/>
              </a:lnSpc>
            </a:pPr>
            <a:r>
              <a:rPr lang="en-US" sz="2800" dirty="0">
                <a:latin typeface="Calibir"/>
              </a:rPr>
              <a:t>Students are expected to use a Python-based analytics environment. Google </a:t>
            </a:r>
            <a:r>
              <a:rPr lang="en-US" sz="2800" dirty="0" err="1">
                <a:latin typeface="Calibir"/>
              </a:rPr>
              <a:t>Colab</a:t>
            </a:r>
            <a:r>
              <a:rPr lang="en-US" sz="2800" dirty="0">
                <a:latin typeface="Calibir"/>
              </a:rPr>
              <a:t> is recommended. </a:t>
            </a:r>
            <a:r>
              <a:rPr lang="en-US" sz="2800" dirty="0" err="1">
                <a:latin typeface="Calibir"/>
              </a:rPr>
              <a:t>Jupyter</a:t>
            </a:r>
            <a:r>
              <a:rPr lang="en-US" sz="2800" dirty="0">
                <a:latin typeface="Calibir"/>
              </a:rPr>
              <a:t> Notebook or VS Code may also be used. Other analytics tools such as KNIME may be used only with lecturer approval.</a:t>
            </a:r>
            <a:endParaRPr lang="en-US" sz="2800" dirty="0">
              <a:highlight>
                <a:srgbClr val="FFFF00"/>
              </a:highlight>
              <a:latin typeface="Calibir"/>
            </a:endParaRPr>
          </a:p>
        </p:txBody>
      </p:sp>
      <p:pic>
        <p:nvPicPr>
          <p:cNvPr id="4" name="object 3">
            <a:extLst>
              <a:ext uri="{FF2B5EF4-FFF2-40B4-BE49-F238E27FC236}">
                <a16:creationId xmlns:a16="http://schemas.microsoft.com/office/drawing/2014/main" id="{6DD33C77-F48B-8EDB-CE77-5F3638EEF47D}"/>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1C9CE3CC-2052-B177-C938-25A6DE1ED67A}"/>
              </a:ext>
            </a:extLst>
          </p:cNvPr>
          <p:cNvSpPr txBox="1"/>
          <p:nvPr/>
        </p:nvSpPr>
        <p:spPr>
          <a:xfrm>
            <a:off x="94419" y="68639"/>
            <a:ext cx="5850731" cy="515045"/>
          </a:xfrm>
          <a:prstGeom prst="rect">
            <a:avLst/>
          </a:prstGeom>
        </p:spPr>
        <p:txBody>
          <a:bodyPr vert="horz" wrap="square" lIns="0" tIns="7144" rIns="0" bIns="0" rtlCol="0">
            <a:spAutoFit/>
          </a:bodyPr>
          <a:lstStyle/>
          <a:p>
            <a:r>
              <a:rPr lang="en-US" sz="3300" b="1" dirty="0">
                <a:latin typeface="Calibir"/>
              </a:rPr>
              <a:t>Group Assignment Note</a:t>
            </a:r>
          </a:p>
        </p:txBody>
      </p:sp>
    </p:spTree>
    <p:extLst>
      <p:ext uri="{BB962C8B-B14F-4D97-AF65-F5344CB8AC3E}">
        <p14:creationId xmlns:p14="http://schemas.microsoft.com/office/powerpoint/2010/main" val="3219943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977C0-7D48-A01B-F457-00977F1E7C61}"/>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04DBBF27-0445-DCC4-A1C6-8CA94A3218A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842978F-648D-E8F2-FDD9-1E3649CA2679}"/>
              </a:ext>
            </a:extLst>
          </p:cNvPr>
          <p:cNvSpPr txBox="1"/>
          <p:nvPr/>
        </p:nvSpPr>
        <p:spPr>
          <a:xfrm>
            <a:off x="1" y="1555532"/>
            <a:ext cx="10710040" cy="1968103"/>
          </a:xfrm>
          <a:prstGeom prst="rect">
            <a:avLst/>
          </a:prstGeom>
          <a:noFill/>
        </p:spPr>
        <p:txBody>
          <a:bodyPr wrap="square">
            <a:spAutoFit/>
          </a:bodyPr>
          <a:lstStyle/>
          <a:p>
            <a:pPr>
              <a:lnSpc>
                <a:spcPct val="150000"/>
              </a:lnSpc>
            </a:pPr>
            <a:r>
              <a:rPr lang="en-US" sz="2800" dirty="0">
                <a:latin typeface="Calibir"/>
              </a:rPr>
              <a:t>No coding or model implementation is required for this assessment. Students are expected to critically evaluate predictive analytics tools and environments in discussion only.</a:t>
            </a:r>
            <a:endParaRPr lang="en-US" sz="2800" dirty="0">
              <a:highlight>
                <a:srgbClr val="FFFF00"/>
              </a:highlight>
              <a:latin typeface="Calibir"/>
            </a:endParaRPr>
          </a:p>
        </p:txBody>
      </p:sp>
      <p:pic>
        <p:nvPicPr>
          <p:cNvPr id="4" name="object 3">
            <a:extLst>
              <a:ext uri="{FF2B5EF4-FFF2-40B4-BE49-F238E27FC236}">
                <a16:creationId xmlns:a16="http://schemas.microsoft.com/office/drawing/2014/main" id="{0A8DA876-19AE-086B-CEC4-3F9309C073F6}"/>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8D999C35-D593-CA94-774D-1C93D888B6DF}"/>
              </a:ext>
            </a:extLst>
          </p:cNvPr>
          <p:cNvSpPr txBox="1"/>
          <p:nvPr/>
        </p:nvSpPr>
        <p:spPr>
          <a:xfrm>
            <a:off x="94419" y="68639"/>
            <a:ext cx="5850731" cy="515045"/>
          </a:xfrm>
          <a:prstGeom prst="rect">
            <a:avLst/>
          </a:prstGeom>
        </p:spPr>
        <p:txBody>
          <a:bodyPr vert="horz" wrap="square" lIns="0" tIns="7144" rIns="0" bIns="0" rtlCol="0">
            <a:spAutoFit/>
          </a:bodyPr>
          <a:lstStyle/>
          <a:p>
            <a:r>
              <a:rPr lang="en-US" sz="3300" b="1" dirty="0">
                <a:latin typeface="Calibir"/>
              </a:rPr>
              <a:t>Individual Assignment Note</a:t>
            </a:r>
          </a:p>
        </p:txBody>
      </p:sp>
    </p:spTree>
    <p:extLst>
      <p:ext uri="{BB962C8B-B14F-4D97-AF65-F5344CB8AC3E}">
        <p14:creationId xmlns:p14="http://schemas.microsoft.com/office/powerpoint/2010/main" val="3235543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FA985-E5D5-38D0-852E-30D1B19F52A7}"/>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F77C5269-F35F-75EA-DAB8-1393436B3671}"/>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94D8A67-8C42-BB6C-899B-19390F8571DE}"/>
              </a:ext>
            </a:extLst>
          </p:cNvPr>
          <p:cNvSpPr txBox="1"/>
          <p:nvPr/>
        </p:nvSpPr>
        <p:spPr>
          <a:xfrm>
            <a:off x="1" y="1555532"/>
            <a:ext cx="10710040" cy="2610843"/>
          </a:xfrm>
          <a:prstGeom prst="rect">
            <a:avLst/>
          </a:prstGeom>
          <a:noFill/>
        </p:spPr>
        <p:txBody>
          <a:bodyPr wrap="square">
            <a:spAutoFit/>
          </a:bodyPr>
          <a:lstStyle/>
          <a:p>
            <a:pPr>
              <a:lnSpc>
                <a:spcPct val="150000"/>
              </a:lnSpc>
            </a:pPr>
            <a:r>
              <a:rPr lang="en-US" sz="2800" dirty="0">
                <a:latin typeface="Calibir"/>
              </a:rPr>
              <a:t>The referencing style should remain:</a:t>
            </a:r>
          </a:p>
          <a:p>
            <a:pPr marL="914400" lvl="1" indent="-457200">
              <a:lnSpc>
                <a:spcPct val="150000"/>
              </a:lnSpc>
              <a:buFont typeface="Arial" panose="020B0604020202020204" pitchFamily="34" charset="0"/>
              <a:buChar char="•"/>
            </a:pPr>
            <a:r>
              <a:rPr lang="en-US" sz="2800" b="1" dirty="0">
                <a:latin typeface="Calibir"/>
              </a:rPr>
              <a:t>Holmes Adapted Harvard</a:t>
            </a:r>
            <a:r>
              <a:rPr lang="en-US" sz="2800" dirty="0">
                <a:latin typeface="Calibir"/>
              </a:rPr>
              <a:t> </a:t>
            </a:r>
          </a:p>
          <a:p>
            <a:pPr>
              <a:lnSpc>
                <a:spcPct val="150000"/>
              </a:lnSpc>
            </a:pPr>
            <a:r>
              <a:rPr lang="en-US" sz="2800" dirty="0">
                <a:latin typeface="Calibir"/>
              </a:rPr>
              <a:t>This should be used consistently throughout the assessment documentation.</a:t>
            </a:r>
          </a:p>
        </p:txBody>
      </p:sp>
      <p:pic>
        <p:nvPicPr>
          <p:cNvPr id="4" name="object 3">
            <a:extLst>
              <a:ext uri="{FF2B5EF4-FFF2-40B4-BE49-F238E27FC236}">
                <a16:creationId xmlns:a16="http://schemas.microsoft.com/office/drawing/2014/main" id="{640C288D-BCEC-F6CF-6DD2-21E55E9FF986}"/>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2DB72A47-B2CB-3710-5427-7F9DC1FD1CC5}"/>
              </a:ext>
            </a:extLst>
          </p:cNvPr>
          <p:cNvSpPr txBox="1"/>
          <p:nvPr/>
        </p:nvSpPr>
        <p:spPr>
          <a:xfrm>
            <a:off x="94419" y="68639"/>
            <a:ext cx="5850731" cy="515045"/>
          </a:xfrm>
          <a:prstGeom prst="rect">
            <a:avLst/>
          </a:prstGeom>
        </p:spPr>
        <p:txBody>
          <a:bodyPr vert="horz" wrap="square" lIns="0" tIns="7144" rIns="0" bIns="0" rtlCol="0">
            <a:spAutoFit/>
          </a:bodyPr>
          <a:lstStyle/>
          <a:p>
            <a:r>
              <a:rPr lang="en-US" sz="3300" b="1" dirty="0">
                <a:latin typeface="Calibir"/>
              </a:rPr>
              <a:t>Referencing Style</a:t>
            </a:r>
          </a:p>
        </p:txBody>
      </p:sp>
    </p:spTree>
    <p:extLst>
      <p:ext uri="{BB962C8B-B14F-4D97-AF65-F5344CB8AC3E}">
        <p14:creationId xmlns:p14="http://schemas.microsoft.com/office/powerpoint/2010/main" val="1138716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73B17-3371-134F-8D46-DD3B04B56EB0}"/>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F47D7517-F353-6C85-F1C6-FD9FB925C99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CFF9106D-C888-D739-87D8-28E7A86924BA}"/>
              </a:ext>
            </a:extLst>
          </p:cNvPr>
          <p:cNvSpPr txBox="1"/>
          <p:nvPr/>
        </p:nvSpPr>
        <p:spPr>
          <a:xfrm>
            <a:off x="1" y="1555532"/>
            <a:ext cx="10710040" cy="1964512"/>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Regression (predict number) </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Classification (predict category) </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Basic pipeline (train → predict → evaluate) </a:t>
            </a:r>
          </a:p>
        </p:txBody>
      </p:sp>
      <p:pic>
        <p:nvPicPr>
          <p:cNvPr id="4" name="object 3">
            <a:extLst>
              <a:ext uri="{FF2B5EF4-FFF2-40B4-BE49-F238E27FC236}">
                <a16:creationId xmlns:a16="http://schemas.microsoft.com/office/drawing/2014/main" id="{8BC3F9A6-21D9-F91E-8B25-0722F2FB74CA}"/>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D9EC3361-E4AA-A42E-55CD-3E3FEE3EF4F1}"/>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What students already know (from Week 2)</a:t>
            </a:r>
          </a:p>
        </p:txBody>
      </p:sp>
    </p:spTree>
    <p:extLst>
      <p:ext uri="{BB962C8B-B14F-4D97-AF65-F5344CB8AC3E}">
        <p14:creationId xmlns:p14="http://schemas.microsoft.com/office/powerpoint/2010/main" val="4139310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744AE-2B55-29C5-9A4D-F3C5017956D1}"/>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8FD61D4-3506-A39D-993D-42C5948E9F2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C70DA00B-E2EB-B92E-8C7B-C54169C75FA1}"/>
              </a:ext>
            </a:extLst>
          </p:cNvPr>
          <p:cNvSpPr txBox="1"/>
          <p:nvPr/>
        </p:nvSpPr>
        <p:spPr>
          <a:xfrm>
            <a:off x="1" y="1555532"/>
            <a:ext cx="10710040" cy="2610843"/>
          </a:xfrm>
          <a:prstGeom prst="rect">
            <a:avLst/>
          </a:prstGeom>
          <a:noFill/>
        </p:spPr>
        <p:txBody>
          <a:bodyPr wrap="square">
            <a:spAutoFit/>
          </a:bodyPr>
          <a:lstStyle/>
          <a:p>
            <a:pPr>
              <a:lnSpc>
                <a:spcPct val="150000"/>
              </a:lnSpc>
            </a:pPr>
            <a:r>
              <a:rPr lang="en-US" sz="2800" dirty="0">
                <a:latin typeface="Calibir"/>
              </a:rPr>
              <a:t>Now students learn:</a:t>
            </a:r>
          </a:p>
          <a:p>
            <a:pPr marL="971550" lvl="1" indent="-514350">
              <a:lnSpc>
                <a:spcPct val="150000"/>
              </a:lnSpc>
              <a:buFont typeface="+mj-lt"/>
              <a:buAutoNum type="arabicPeriod"/>
            </a:pPr>
            <a:r>
              <a:rPr lang="en-US" sz="2800" b="1" dirty="0">
                <a:latin typeface="Calibir"/>
              </a:rPr>
              <a:t>How to improve models</a:t>
            </a:r>
            <a:r>
              <a:rPr lang="en-US" sz="2800" dirty="0">
                <a:latin typeface="Calibir"/>
              </a:rPr>
              <a:t> </a:t>
            </a:r>
          </a:p>
          <a:p>
            <a:pPr marL="971550" lvl="1" indent="-514350">
              <a:lnSpc>
                <a:spcPct val="150000"/>
              </a:lnSpc>
              <a:buFont typeface="+mj-lt"/>
              <a:buAutoNum type="arabicPeriod"/>
            </a:pPr>
            <a:r>
              <a:rPr lang="en-US" sz="2800" b="1" dirty="0">
                <a:latin typeface="Calibir"/>
              </a:rPr>
              <a:t>How to compare models</a:t>
            </a:r>
            <a:r>
              <a:rPr lang="en-US" sz="2800" dirty="0">
                <a:latin typeface="Calibir"/>
              </a:rPr>
              <a:t> </a:t>
            </a:r>
          </a:p>
          <a:p>
            <a:pPr marL="971550" lvl="1" indent="-514350">
              <a:lnSpc>
                <a:spcPct val="150000"/>
              </a:lnSpc>
              <a:buFont typeface="+mj-lt"/>
              <a:buAutoNum type="arabicPeriod"/>
            </a:pPr>
            <a:r>
              <a:rPr lang="en-US" sz="2800" b="1" dirty="0">
                <a:latin typeface="Calibir"/>
              </a:rPr>
              <a:t>How to understand predictions</a:t>
            </a:r>
            <a:endParaRPr lang="en-US" sz="2800" dirty="0">
              <a:latin typeface="Calibir"/>
            </a:endParaRPr>
          </a:p>
        </p:txBody>
      </p:sp>
      <p:pic>
        <p:nvPicPr>
          <p:cNvPr id="4" name="object 3">
            <a:extLst>
              <a:ext uri="{FF2B5EF4-FFF2-40B4-BE49-F238E27FC236}">
                <a16:creationId xmlns:a16="http://schemas.microsoft.com/office/drawing/2014/main" id="{F81ABDA7-6698-C205-BFA6-6B5ADC808134}"/>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FB395B48-BCF1-342E-62CC-DD2B14123B69}"/>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Week 3 Learning Focus</a:t>
            </a:r>
          </a:p>
        </p:txBody>
      </p:sp>
    </p:spTree>
    <p:extLst>
      <p:ext uri="{BB962C8B-B14F-4D97-AF65-F5344CB8AC3E}">
        <p14:creationId xmlns:p14="http://schemas.microsoft.com/office/powerpoint/2010/main" val="2739381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931CE-386B-50D0-4E6B-243DDDD5E993}"/>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799A726-A46B-9DBA-B1E8-6DDF8D352CA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2B4B9D7D-B788-8D13-F204-E0BA5DB45335}"/>
              </a:ext>
            </a:extLst>
          </p:cNvPr>
          <p:cNvSpPr txBox="1"/>
          <p:nvPr/>
        </p:nvSpPr>
        <p:spPr>
          <a:xfrm>
            <a:off x="1" y="1555532"/>
            <a:ext cx="10710040" cy="4549835"/>
          </a:xfrm>
          <a:prstGeom prst="rect">
            <a:avLst/>
          </a:prstGeom>
          <a:noFill/>
        </p:spPr>
        <p:txBody>
          <a:bodyPr wrap="square">
            <a:spAutoFit/>
          </a:bodyPr>
          <a:lstStyle/>
          <a:p>
            <a:pPr>
              <a:lnSpc>
                <a:spcPct val="150000"/>
              </a:lnSpc>
            </a:pPr>
            <a:r>
              <a:rPr lang="en-US" sz="2800" b="1" dirty="0">
                <a:latin typeface="Calibir"/>
              </a:rPr>
              <a:t>1. Why models are not perfect</a:t>
            </a:r>
          </a:p>
          <a:p>
            <a:pPr marL="914400" lvl="1" indent="-457200">
              <a:lnSpc>
                <a:spcPct val="150000"/>
              </a:lnSpc>
              <a:buFont typeface="Arial" panose="020B0604020202020204" pitchFamily="34" charset="0"/>
              <a:buChar char="•"/>
            </a:pPr>
            <a:r>
              <a:rPr lang="en-US" sz="2800" dirty="0">
                <a:latin typeface="Calibir"/>
              </a:rPr>
              <a:t>Models make mistakes </a:t>
            </a:r>
          </a:p>
          <a:p>
            <a:pPr marL="914400" lvl="1" indent="-457200">
              <a:lnSpc>
                <a:spcPct val="150000"/>
              </a:lnSpc>
              <a:buFont typeface="Arial" panose="020B0604020202020204" pitchFamily="34" charset="0"/>
              <a:buChar char="•"/>
            </a:pPr>
            <a:r>
              <a:rPr lang="en-US" sz="2800" dirty="0">
                <a:latin typeface="Calibir"/>
              </a:rPr>
              <a:t>Predictions are not always correct </a:t>
            </a:r>
          </a:p>
          <a:p>
            <a:pPr marL="914400" lvl="1" indent="-457200">
              <a:lnSpc>
                <a:spcPct val="150000"/>
              </a:lnSpc>
              <a:buFont typeface="Arial" panose="020B0604020202020204" pitchFamily="34" charset="0"/>
              <a:buChar char="•"/>
            </a:pPr>
            <a:r>
              <a:rPr lang="en-US" sz="2800" dirty="0">
                <a:latin typeface="Calibir"/>
              </a:rPr>
              <a:t>Why? </a:t>
            </a:r>
          </a:p>
          <a:p>
            <a:pPr marL="1371600" lvl="2" indent="-457200">
              <a:lnSpc>
                <a:spcPct val="150000"/>
              </a:lnSpc>
              <a:buFont typeface="Arial" panose="020B0604020202020204" pitchFamily="34" charset="0"/>
              <a:buChar char="•"/>
            </a:pPr>
            <a:r>
              <a:rPr lang="en-US" sz="2800" dirty="0">
                <a:latin typeface="Calibir"/>
              </a:rPr>
              <a:t>Data can be messy </a:t>
            </a:r>
          </a:p>
          <a:p>
            <a:pPr marL="1371600" lvl="2" indent="-457200">
              <a:lnSpc>
                <a:spcPct val="150000"/>
              </a:lnSpc>
              <a:buFont typeface="Arial" panose="020B0604020202020204" pitchFamily="34" charset="0"/>
              <a:buChar char="•"/>
            </a:pPr>
            <a:r>
              <a:rPr lang="en-US" sz="2800" dirty="0">
                <a:latin typeface="Calibir"/>
              </a:rPr>
              <a:t>Not enough information </a:t>
            </a:r>
          </a:p>
          <a:p>
            <a:pPr marL="1371600" lvl="2" indent="-457200">
              <a:lnSpc>
                <a:spcPct val="150000"/>
              </a:lnSpc>
              <a:buFont typeface="Arial" panose="020B0604020202020204" pitchFamily="34" charset="0"/>
              <a:buChar char="•"/>
            </a:pPr>
            <a:r>
              <a:rPr lang="en-US" sz="2800" dirty="0">
                <a:latin typeface="Calibir"/>
              </a:rPr>
              <a:t>Real life is complex</a:t>
            </a:r>
          </a:p>
        </p:txBody>
      </p:sp>
      <p:pic>
        <p:nvPicPr>
          <p:cNvPr id="4" name="object 3">
            <a:extLst>
              <a:ext uri="{FF2B5EF4-FFF2-40B4-BE49-F238E27FC236}">
                <a16:creationId xmlns:a16="http://schemas.microsoft.com/office/drawing/2014/main" id="{BFBD07C0-4DFC-88DE-7782-32B031128A00}"/>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271292FF-1CE6-A8B1-A572-462AEC7233AD}"/>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Week 3 Learning Focus</a:t>
            </a:r>
          </a:p>
        </p:txBody>
      </p:sp>
    </p:spTree>
    <p:extLst>
      <p:ext uri="{BB962C8B-B14F-4D97-AF65-F5344CB8AC3E}">
        <p14:creationId xmlns:p14="http://schemas.microsoft.com/office/powerpoint/2010/main" val="665978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fade">
                                      <p:cBhvr>
                                        <p:cTn id="7" dur="1000"/>
                                        <p:tgtEl>
                                          <p:spTgt spid="5">
                                            <p:txEl>
                                              <p:pRg st="4" end="4"/>
                                            </p:txEl>
                                          </p:spTgt>
                                        </p:tgtEl>
                                      </p:cBhvr>
                                    </p:animEffect>
                                    <p:anim calcmode="lin" valueType="num">
                                      <p:cBhvr>
                                        <p:cTn id="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5" end="5"/>
                                            </p:txEl>
                                          </p:spTgt>
                                        </p:tgtEl>
                                        <p:attrNameLst>
                                          <p:attrName>style.visibility</p:attrName>
                                        </p:attrNameLst>
                                      </p:cBhvr>
                                      <p:to>
                                        <p:strVal val="visible"/>
                                      </p:to>
                                    </p:set>
                                    <p:animEffect transition="in" filter="fade">
                                      <p:cBhvr>
                                        <p:cTn id="12" dur="1000"/>
                                        <p:tgtEl>
                                          <p:spTgt spid="5">
                                            <p:txEl>
                                              <p:pRg st="5" end="5"/>
                                            </p:txEl>
                                          </p:spTgt>
                                        </p:tgtEl>
                                      </p:cBhvr>
                                    </p:animEffect>
                                    <p:anim calcmode="lin" valueType="num">
                                      <p:cBhvr>
                                        <p:cTn id="13"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animEffect transition="in" filter="fade">
                                      <p:cBhvr>
                                        <p:cTn id="17" dur="1000"/>
                                        <p:tgtEl>
                                          <p:spTgt spid="5">
                                            <p:txEl>
                                              <p:pRg st="6" end="6"/>
                                            </p:txEl>
                                          </p:spTgt>
                                        </p:tgtEl>
                                      </p:cBhvr>
                                    </p:animEffect>
                                    <p:anim calcmode="lin" valueType="num">
                                      <p:cBhvr>
                                        <p:cTn id="1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CA3F6-454F-31F3-3575-818E2F79F67F}"/>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AE68B891-AE1D-0E62-BFAE-3D7F1D0F77A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F3A2DF63-9D3C-54D8-1CD4-CF10E6FADAC9}"/>
              </a:ext>
            </a:extLst>
          </p:cNvPr>
          <p:cNvSpPr txBox="1"/>
          <p:nvPr/>
        </p:nvSpPr>
        <p:spPr>
          <a:xfrm>
            <a:off x="1" y="1555532"/>
            <a:ext cx="10710040" cy="1964512"/>
          </a:xfrm>
          <a:prstGeom prst="rect">
            <a:avLst/>
          </a:prstGeom>
          <a:noFill/>
        </p:spPr>
        <p:txBody>
          <a:bodyPr wrap="square">
            <a:spAutoFit/>
          </a:bodyPr>
          <a:lstStyle/>
          <a:p>
            <a:pPr>
              <a:lnSpc>
                <a:spcPct val="150000"/>
              </a:lnSpc>
            </a:pPr>
            <a:r>
              <a:rPr lang="en-US" sz="2800" dirty="0">
                <a:latin typeface="Calibir"/>
              </a:rPr>
              <a:t>Example:</a:t>
            </a:r>
          </a:p>
          <a:p>
            <a:pPr marL="914400" lvl="1" indent="-457200">
              <a:lnSpc>
                <a:spcPct val="150000"/>
              </a:lnSpc>
              <a:buFont typeface="Arial" panose="020B0604020202020204" pitchFamily="34" charset="0"/>
              <a:buChar char="•"/>
            </a:pPr>
            <a:r>
              <a:rPr lang="en-US" sz="2800" dirty="0">
                <a:latin typeface="Calibir"/>
              </a:rPr>
              <a:t>Model predicts income = &lt;=50K </a:t>
            </a:r>
          </a:p>
          <a:p>
            <a:pPr marL="914400" lvl="1" indent="-457200">
              <a:lnSpc>
                <a:spcPct val="150000"/>
              </a:lnSpc>
              <a:buFont typeface="Arial" panose="020B0604020202020204" pitchFamily="34" charset="0"/>
              <a:buChar char="•"/>
            </a:pPr>
            <a:r>
              <a:rPr lang="en-US" sz="2800" dirty="0">
                <a:latin typeface="Calibir"/>
              </a:rPr>
              <a:t>But actual = &gt;50K</a:t>
            </a:r>
          </a:p>
        </p:txBody>
      </p:sp>
      <p:pic>
        <p:nvPicPr>
          <p:cNvPr id="4" name="object 3">
            <a:extLst>
              <a:ext uri="{FF2B5EF4-FFF2-40B4-BE49-F238E27FC236}">
                <a16:creationId xmlns:a16="http://schemas.microsoft.com/office/drawing/2014/main" id="{35736C7E-CAE2-8988-8F32-9AB51D3903FC}"/>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D4B658A9-16A9-E274-BF1A-8C0F1F58E823}"/>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Week 3 Learning Focus</a:t>
            </a:r>
          </a:p>
        </p:txBody>
      </p:sp>
    </p:spTree>
    <p:extLst>
      <p:ext uri="{BB962C8B-B14F-4D97-AF65-F5344CB8AC3E}">
        <p14:creationId xmlns:p14="http://schemas.microsoft.com/office/powerpoint/2010/main" val="3155470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F2E24-0388-0D0E-0048-C5099B1D84CF}"/>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D0825E63-2970-F4AC-B6C2-9BF94C724A7B}"/>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8FB82094-4168-5239-C224-FD3BBBF21917}"/>
              </a:ext>
            </a:extLst>
          </p:cNvPr>
          <p:cNvSpPr txBox="1"/>
          <p:nvPr/>
        </p:nvSpPr>
        <p:spPr>
          <a:xfrm>
            <a:off x="1" y="1555532"/>
            <a:ext cx="10710040" cy="3903504"/>
          </a:xfrm>
          <a:prstGeom prst="rect">
            <a:avLst/>
          </a:prstGeom>
          <a:noFill/>
        </p:spPr>
        <p:txBody>
          <a:bodyPr wrap="square">
            <a:spAutoFit/>
          </a:bodyPr>
          <a:lstStyle/>
          <a:p>
            <a:pPr>
              <a:lnSpc>
                <a:spcPct val="150000"/>
              </a:lnSpc>
            </a:pPr>
            <a:r>
              <a:rPr lang="en-US" sz="2800" b="1" dirty="0">
                <a:latin typeface="Calibir"/>
              </a:rPr>
              <a:t>2. How to improve models</a:t>
            </a:r>
          </a:p>
          <a:p>
            <a:pPr>
              <a:lnSpc>
                <a:spcPct val="150000"/>
              </a:lnSpc>
            </a:pPr>
            <a:r>
              <a:rPr lang="en-US" sz="2800" dirty="0">
                <a:latin typeface="Calibir"/>
              </a:rPr>
              <a:t>We can make models better by:</a:t>
            </a:r>
          </a:p>
          <a:p>
            <a:pPr marL="914400" lvl="1" indent="-457200">
              <a:lnSpc>
                <a:spcPct val="150000"/>
              </a:lnSpc>
              <a:buFont typeface="Arial" panose="020B0604020202020204" pitchFamily="34" charset="0"/>
              <a:buChar char="•"/>
            </a:pPr>
            <a:r>
              <a:rPr lang="en-US" sz="2800" dirty="0">
                <a:latin typeface="Calibir"/>
              </a:rPr>
              <a:t>Using a different model </a:t>
            </a:r>
          </a:p>
          <a:p>
            <a:pPr marL="914400" lvl="1" indent="-457200">
              <a:lnSpc>
                <a:spcPct val="150000"/>
              </a:lnSpc>
              <a:buFont typeface="Arial" panose="020B0604020202020204" pitchFamily="34" charset="0"/>
              <a:buChar char="•"/>
            </a:pPr>
            <a:r>
              <a:rPr lang="en-US" sz="2800" dirty="0">
                <a:latin typeface="Calibir"/>
              </a:rPr>
              <a:t>Changing model settings </a:t>
            </a:r>
          </a:p>
          <a:p>
            <a:pPr marL="914400" lvl="1" indent="-457200">
              <a:lnSpc>
                <a:spcPct val="150000"/>
              </a:lnSpc>
              <a:buFont typeface="Arial" panose="020B0604020202020204" pitchFamily="34" charset="0"/>
              <a:buChar char="•"/>
            </a:pPr>
            <a:r>
              <a:rPr lang="en-US" sz="2800" dirty="0">
                <a:latin typeface="Calibir"/>
              </a:rPr>
              <a:t>Using better data </a:t>
            </a:r>
          </a:p>
          <a:p>
            <a:pPr marL="914400" lvl="1" indent="-457200">
              <a:lnSpc>
                <a:spcPct val="150000"/>
              </a:lnSpc>
              <a:buFont typeface="Arial" panose="020B0604020202020204" pitchFamily="34" charset="0"/>
              <a:buChar char="•"/>
            </a:pPr>
            <a:r>
              <a:rPr lang="en-US" sz="2800" dirty="0">
                <a:latin typeface="Calibir"/>
              </a:rPr>
              <a:t>Removing unimportant features</a:t>
            </a:r>
          </a:p>
        </p:txBody>
      </p:sp>
      <p:pic>
        <p:nvPicPr>
          <p:cNvPr id="4" name="object 3">
            <a:extLst>
              <a:ext uri="{FF2B5EF4-FFF2-40B4-BE49-F238E27FC236}">
                <a16:creationId xmlns:a16="http://schemas.microsoft.com/office/drawing/2014/main" id="{BB711551-13C1-73BB-85F6-37367DB51875}"/>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7DCF73C5-1FD4-248E-A17B-7E73984B1F17}"/>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Week 3 Learning Focus</a:t>
            </a:r>
          </a:p>
        </p:txBody>
      </p:sp>
    </p:spTree>
    <p:extLst>
      <p:ext uri="{BB962C8B-B14F-4D97-AF65-F5344CB8AC3E}">
        <p14:creationId xmlns:p14="http://schemas.microsoft.com/office/powerpoint/2010/main" val="3446246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6F3C0-971D-A7A9-7116-F2CB26EC1CAE}"/>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3667B4A1-FB90-369D-6532-03B15451FED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07CCBCF2-E96B-D117-7FC6-01B8AD58EF9F}"/>
              </a:ext>
            </a:extLst>
          </p:cNvPr>
          <p:cNvSpPr txBox="1"/>
          <p:nvPr/>
        </p:nvSpPr>
        <p:spPr>
          <a:xfrm>
            <a:off x="1" y="1555532"/>
            <a:ext cx="10710040" cy="2614434"/>
          </a:xfrm>
          <a:prstGeom prst="rect">
            <a:avLst/>
          </a:prstGeom>
          <a:noFill/>
        </p:spPr>
        <p:txBody>
          <a:bodyPr wrap="square">
            <a:spAutoFit/>
          </a:bodyPr>
          <a:lstStyle/>
          <a:p>
            <a:pPr>
              <a:lnSpc>
                <a:spcPct val="150000"/>
              </a:lnSpc>
            </a:pPr>
            <a:r>
              <a:rPr lang="en-US" sz="2800" dirty="0">
                <a:latin typeface="Calibir"/>
              </a:rPr>
              <a:t>Simple idea:</a:t>
            </a:r>
          </a:p>
          <a:p>
            <a:pPr>
              <a:lnSpc>
                <a:spcPct val="150000"/>
              </a:lnSpc>
            </a:pPr>
            <a:r>
              <a:rPr lang="en-US" sz="2800" dirty="0">
                <a:latin typeface="Calibir"/>
              </a:rPr>
              <a:t>Try different options → choose the best one</a:t>
            </a:r>
          </a:p>
          <a:p>
            <a:pPr>
              <a:lnSpc>
                <a:spcPct val="150000"/>
              </a:lnSpc>
            </a:pPr>
            <a:r>
              <a:rPr lang="en-US" sz="2800" dirty="0">
                <a:latin typeface="Calibir"/>
              </a:rPr>
              <a:t>Models are useful, but not perfect. Our goal is to improve them step by step by testing different approaches.</a:t>
            </a:r>
          </a:p>
        </p:txBody>
      </p:sp>
      <p:pic>
        <p:nvPicPr>
          <p:cNvPr id="4" name="object 3">
            <a:extLst>
              <a:ext uri="{FF2B5EF4-FFF2-40B4-BE49-F238E27FC236}">
                <a16:creationId xmlns:a16="http://schemas.microsoft.com/office/drawing/2014/main" id="{8CB7E9FA-B271-E80C-A5AF-7F7CFB14B674}"/>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50699D31-6B47-11A7-9AE6-358E58DC15B4}"/>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Week 3 Learning Focus</a:t>
            </a:r>
          </a:p>
        </p:txBody>
      </p:sp>
    </p:spTree>
    <p:extLst>
      <p:ext uri="{BB962C8B-B14F-4D97-AF65-F5344CB8AC3E}">
        <p14:creationId xmlns:p14="http://schemas.microsoft.com/office/powerpoint/2010/main" val="2440407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56AE5-146F-853D-B68E-0CD41F402DF1}"/>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EEE88A1C-C93C-77B9-7D09-EB45B6DC07A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1C36E945-EC32-194E-9B28-6C8721A03370}"/>
              </a:ext>
            </a:extLst>
          </p:cNvPr>
          <p:cNvSpPr txBox="1"/>
          <p:nvPr/>
        </p:nvSpPr>
        <p:spPr>
          <a:xfrm>
            <a:off x="1" y="1555532"/>
            <a:ext cx="10710040" cy="1315296"/>
          </a:xfrm>
          <a:prstGeom prst="rect">
            <a:avLst/>
          </a:prstGeom>
          <a:noFill/>
        </p:spPr>
        <p:txBody>
          <a:bodyPr wrap="square">
            <a:spAutoFit/>
          </a:bodyPr>
          <a:lstStyle/>
          <a:p>
            <a:pPr>
              <a:lnSpc>
                <a:spcPct val="150000"/>
              </a:lnSpc>
            </a:pPr>
            <a:r>
              <a:rPr lang="en-US" sz="2800" dirty="0">
                <a:latin typeface="Calibir"/>
              </a:rPr>
              <a:t>Goal (simple)</a:t>
            </a:r>
          </a:p>
          <a:p>
            <a:pPr>
              <a:lnSpc>
                <a:spcPct val="150000"/>
              </a:lnSpc>
            </a:pPr>
            <a:r>
              <a:rPr lang="en-US" sz="2800" dirty="0">
                <a:latin typeface="Calibir"/>
              </a:rPr>
              <a:t>Predict income better than before</a:t>
            </a:r>
          </a:p>
        </p:txBody>
      </p:sp>
      <p:pic>
        <p:nvPicPr>
          <p:cNvPr id="4" name="object 3">
            <a:extLst>
              <a:ext uri="{FF2B5EF4-FFF2-40B4-BE49-F238E27FC236}">
                <a16:creationId xmlns:a16="http://schemas.microsoft.com/office/drawing/2014/main" id="{F8AE3FAC-3915-BF65-25ED-B8A0BA43C9CD}"/>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451317CE-FAFC-3705-B55F-36D6FD2E3E22}"/>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Example 1 (Classification – Improve Model)</a:t>
            </a:r>
          </a:p>
        </p:txBody>
      </p:sp>
      <p:sp>
        <p:nvSpPr>
          <p:cNvPr id="3" name="TextBox 2">
            <a:extLst>
              <a:ext uri="{FF2B5EF4-FFF2-40B4-BE49-F238E27FC236}">
                <a16:creationId xmlns:a16="http://schemas.microsoft.com/office/drawing/2014/main" id="{B623C3D9-FF88-DA62-87AE-5B85EB07C178}"/>
              </a:ext>
            </a:extLst>
          </p:cNvPr>
          <p:cNvSpPr txBox="1"/>
          <p:nvPr/>
        </p:nvSpPr>
        <p:spPr>
          <a:xfrm>
            <a:off x="94419" y="6143030"/>
            <a:ext cx="6427076" cy="646331"/>
          </a:xfrm>
          <a:prstGeom prst="rect">
            <a:avLst/>
          </a:prstGeom>
          <a:noFill/>
        </p:spPr>
        <p:txBody>
          <a:bodyPr wrap="square">
            <a:spAutoFit/>
          </a:bodyPr>
          <a:lstStyle/>
          <a:p>
            <a:r>
              <a:rPr lang="en-US" dirty="0">
                <a:hlinkClick r:id="rId3"/>
              </a:rPr>
              <a:t>https://colab.research.google.com/drive/1CI-nYzAYDFoSJIr4BvyxhODfdq7l_h9m?usp=sharing</a:t>
            </a:r>
            <a:r>
              <a:rPr lang="en-US" dirty="0"/>
              <a:t> </a:t>
            </a:r>
          </a:p>
        </p:txBody>
      </p:sp>
    </p:spTree>
    <p:extLst>
      <p:ext uri="{BB962C8B-B14F-4D97-AF65-F5344CB8AC3E}">
        <p14:creationId xmlns:p14="http://schemas.microsoft.com/office/powerpoint/2010/main" val="1587837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002EA-53D6-7E15-ADC6-5317E4225890}"/>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B4D497D6-749F-D347-592D-DDFB6B16355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F6EB3671-B63F-ACDE-07EE-97A7D5D15592}"/>
              </a:ext>
            </a:extLst>
          </p:cNvPr>
          <p:cNvPicPr/>
          <p:nvPr/>
        </p:nvPicPr>
        <p:blipFill>
          <a:blip r:embed="rId2" cstate="print"/>
          <a:srcRect l="24413" r="9390"/>
          <a:stretch>
            <a:fillRect/>
          </a:stretch>
        </p:blipFill>
        <p:spPr>
          <a:xfrm>
            <a:off x="10710041" y="73691"/>
            <a:ext cx="1481959" cy="1944414"/>
          </a:xfrm>
          <a:prstGeom prst="rect">
            <a:avLst/>
          </a:prstGeom>
        </p:spPr>
      </p:pic>
      <p:sp>
        <p:nvSpPr>
          <p:cNvPr id="8" name="TextBox 7">
            <a:extLst>
              <a:ext uri="{FF2B5EF4-FFF2-40B4-BE49-F238E27FC236}">
                <a16:creationId xmlns:a16="http://schemas.microsoft.com/office/drawing/2014/main" id="{55847F79-303D-8239-5027-47BF1F6521F5}"/>
              </a:ext>
            </a:extLst>
          </p:cNvPr>
          <p:cNvSpPr txBox="1"/>
          <p:nvPr/>
        </p:nvSpPr>
        <p:spPr>
          <a:xfrm>
            <a:off x="-1" y="1"/>
            <a:ext cx="10750875" cy="5078313"/>
          </a:xfrm>
          <a:prstGeom prst="rect">
            <a:avLst/>
          </a:prstGeom>
          <a:noFill/>
        </p:spPr>
        <p:txBody>
          <a:bodyPr wrap="square">
            <a:spAutoFit/>
          </a:bodyPr>
          <a:lstStyle/>
          <a:p>
            <a:pPr>
              <a:buNone/>
            </a:pPr>
            <a:r>
              <a:rPr lang="en-US" b="0" dirty="0">
                <a:solidFill>
                  <a:srgbClr val="008000"/>
                </a:solidFill>
                <a:effectLst/>
                <a:latin typeface="Courier New" panose="02070309020205020404" pitchFamily="49" charset="0"/>
              </a:rPr>
              <a:t># IMPROVED CLASSIFICATION EXAMPLE (FULL CODE)</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pandas </a:t>
            </a:r>
            <a:r>
              <a:rPr lang="en-US" b="0" dirty="0">
                <a:solidFill>
                  <a:srgbClr val="9723B4"/>
                </a:solidFill>
                <a:effectLst/>
                <a:latin typeface="Courier New" panose="02070309020205020404" pitchFamily="49" charset="0"/>
              </a:rPr>
              <a:t>as</a:t>
            </a:r>
            <a:r>
              <a:rPr lang="en-US" b="0" dirty="0">
                <a:solidFill>
                  <a:srgbClr val="000000"/>
                </a:solidFill>
                <a:effectLst/>
                <a:latin typeface="Courier New" panose="02070309020205020404" pitchFamily="49" charset="0"/>
              </a:rPr>
              <a:t> pd</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sklearn.model_selection</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train_test_split</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sklearn.compose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ColumnTransformer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sklearn.pipeline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Pipeline</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sklearn.impute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SimpleImputer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sklearn.preprocessing</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OneHotEncoder</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StandardScaler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sklearn.ensemble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RandomForestClassifier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sklearn.metrics</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accuracy_score</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classification_report</a:t>
            </a:r>
            <a:endParaRPr lang="en-US" b="0" dirty="0">
              <a:solidFill>
                <a:srgbClr val="000000"/>
              </a:solidFill>
              <a:effectLst/>
              <a:latin typeface="Courier New" panose="02070309020205020404" pitchFamily="49" charset="0"/>
            </a:endParaRPr>
          </a:p>
          <a:p>
            <a:pPr>
              <a:buNone/>
            </a:pPr>
            <a:r>
              <a:rPr lang="en-US" b="0" dirty="0">
                <a:solidFill>
                  <a:srgbClr val="008000"/>
                </a:solidFill>
                <a:effectLst/>
                <a:latin typeface="Courier New" panose="02070309020205020404" pitchFamily="49" charset="0"/>
              </a:rPr>
              <a:t># 1. Load data</a:t>
            </a:r>
            <a:endParaRPr lang="en-US" b="0" dirty="0">
              <a:solidFill>
                <a:srgbClr val="000000"/>
              </a:solidFill>
              <a:effectLst/>
              <a:latin typeface="Courier New" panose="02070309020205020404" pitchFamily="49" charset="0"/>
            </a:endParaRPr>
          </a:p>
          <a:p>
            <a:pPr>
              <a:buNone/>
            </a:pPr>
            <a:r>
              <a:rPr lang="en-US" b="0" dirty="0" err="1">
                <a:solidFill>
                  <a:srgbClr val="000000"/>
                </a:solidFill>
                <a:effectLst/>
                <a:latin typeface="Courier New" panose="02070309020205020404" pitchFamily="49" charset="0"/>
              </a:rPr>
              <a:t>url</a:t>
            </a:r>
            <a:r>
              <a:rPr lang="en-US" b="0" dirty="0">
                <a:solidFill>
                  <a:srgbClr val="000000"/>
                </a:solidFill>
                <a:effectLst/>
                <a:latin typeface="Courier New" panose="02070309020205020404" pitchFamily="49" charset="0"/>
              </a:rPr>
              <a:t> = </a:t>
            </a:r>
            <a:r>
              <a:rPr lang="en-US" b="0" dirty="0">
                <a:solidFill>
                  <a:srgbClr val="A31515"/>
                </a:solidFill>
                <a:effectLst/>
                <a:latin typeface="Courier New" panose="02070309020205020404" pitchFamily="49" charset="0"/>
              </a:rPr>
              <a:t>"https://archive.ics.uci.edu/ml/machine-learning-databases/adult/</a:t>
            </a:r>
            <a:r>
              <a:rPr lang="en-US" b="0" dirty="0" err="1">
                <a:solidFill>
                  <a:srgbClr val="A31515"/>
                </a:solidFill>
                <a:effectLst/>
                <a:latin typeface="Courier New" panose="02070309020205020404" pitchFamily="49" charset="0"/>
              </a:rPr>
              <a:t>adult.data</a:t>
            </a:r>
            <a:r>
              <a:rPr lang="en-US" b="0" dirty="0">
                <a:solidFill>
                  <a:srgbClr val="A31515"/>
                </a:solidFill>
                <a:effectLst/>
                <a:latin typeface="Courier New" panose="02070309020205020404" pitchFamily="49" charset="0"/>
              </a:rPr>
              <a:t>"</a:t>
            </a:r>
            <a:endParaRPr lang="en-US" b="0" dirty="0">
              <a:solidFill>
                <a:srgbClr val="000000"/>
              </a:solidFill>
              <a:effectLst/>
              <a:latin typeface="Courier New" panose="02070309020205020404" pitchFamily="49" charset="0"/>
            </a:endParaRPr>
          </a:p>
          <a:p>
            <a:pPr>
              <a:buNone/>
            </a:pPr>
            <a:r>
              <a:rPr lang="en-US" b="0" dirty="0">
                <a:solidFill>
                  <a:srgbClr val="000000"/>
                </a:solidFill>
                <a:effectLst/>
                <a:latin typeface="Courier New" panose="02070309020205020404" pitchFamily="49" charset="0"/>
              </a:rPr>
              <a:t>columns = [</a:t>
            </a:r>
          </a:p>
          <a:p>
            <a:pPr>
              <a:buNone/>
            </a:pP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"age"</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a:t>
            </a:r>
            <a:r>
              <a:rPr lang="en-US" b="0" dirty="0" err="1">
                <a:solidFill>
                  <a:srgbClr val="A31515"/>
                </a:solidFill>
                <a:effectLst/>
                <a:latin typeface="Courier New" panose="02070309020205020404" pitchFamily="49" charset="0"/>
              </a:rPr>
              <a:t>workclass</a:t>
            </a:r>
            <a:r>
              <a:rPr lang="en-US" b="0" dirty="0">
                <a:solidFill>
                  <a:srgbClr val="A31515"/>
                </a:solidFill>
                <a:effectLst/>
                <a:latin typeface="Courier New" panose="02070309020205020404" pitchFamily="49" charset="0"/>
              </a:rPr>
              <a:t>"</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a:t>
            </a:r>
            <a:r>
              <a:rPr lang="en-US" b="0" dirty="0" err="1">
                <a:solidFill>
                  <a:srgbClr val="A31515"/>
                </a:solidFill>
                <a:effectLst/>
                <a:latin typeface="Courier New" panose="02070309020205020404" pitchFamily="49" charset="0"/>
              </a:rPr>
              <a:t>fnlwgt</a:t>
            </a:r>
            <a:r>
              <a:rPr lang="en-US" b="0" dirty="0">
                <a:solidFill>
                  <a:srgbClr val="A31515"/>
                </a:solidFill>
                <a:effectLst/>
                <a:latin typeface="Courier New" panose="02070309020205020404" pitchFamily="49" charset="0"/>
              </a:rPr>
              <a:t>"</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"education"</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a:t>
            </a:r>
            <a:r>
              <a:rPr lang="en-US" b="0" dirty="0" err="1">
                <a:solidFill>
                  <a:srgbClr val="A31515"/>
                </a:solidFill>
                <a:effectLst/>
                <a:latin typeface="Courier New" panose="02070309020205020404" pitchFamily="49" charset="0"/>
              </a:rPr>
              <a:t>education_num</a:t>
            </a:r>
            <a:r>
              <a:rPr lang="en-US" b="0" dirty="0">
                <a:solidFill>
                  <a:srgbClr val="A31515"/>
                </a:solidFill>
                <a:effectLst/>
                <a:latin typeface="Courier New" panose="02070309020205020404" pitchFamily="49" charset="0"/>
              </a:rPr>
              <a:t>"</a:t>
            </a:r>
            <a:r>
              <a:rPr lang="en-US" b="0" dirty="0">
                <a:solidFill>
                  <a:srgbClr val="000000"/>
                </a:solidFill>
                <a:effectLst/>
                <a:latin typeface="Courier New" panose="02070309020205020404" pitchFamily="49" charset="0"/>
              </a:rPr>
              <a:t>,</a:t>
            </a:r>
          </a:p>
          <a:p>
            <a:pPr>
              <a:buNone/>
            </a:pP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a:t>
            </a:r>
            <a:r>
              <a:rPr lang="en-US" b="0" dirty="0" err="1">
                <a:solidFill>
                  <a:srgbClr val="A31515"/>
                </a:solidFill>
                <a:effectLst/>
                <a:latin typeface="Courier New" panose="02070309020205020404" pitchFamily="49" charset="0"/>
              </a:rPr>
              <a:t>marital_status</a:t>
            </a:r>
            <a:r>
              <a:rPr lang="en-US" b="0" dirty="0">
                <a:solidFill>
                  <a:srgbClr val="A31515"/>
                </a:solidFill>
                <a:effectLst/>
                <a:latin typeface="Courier New" panose="02070309020205020404" pitchFamily="49" charset="0"/>
              </a:rPr>
              <a:t>"</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"occupation"</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"relationship"</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"race"</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"sex"</a:t>
            </a:r>
            <a:r>
              <a:rPr lang="en-US" b="0" dirty="0">
                <a:solidFill>
                  <a:srgbClr val="000000"/>
                </a:solidFill>
                <a:effectLst/>
                <a:latin typeface="Courier New" panose="02070309020205020404" pitchFamily="49" charset="0"/>
              </a:rPr>
              <a:t>,</a:t>
            </a:r>
          </a:p>
          <a:p>
            <a:pPr>
              <a:buNone/>
            </a:pP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a:t>
            </a:r>
            <a:r>
              <a:rPr lang="en-US" b="0" dirty="0" err="1">
                <a:solidFill>
                  <a:srgbClr val="A31515"/>
                </a:solidFill>
                <a:effectLst/>
                <a:latin typeface="Courier New" panose="02070309020205020404" pitchFamily="49" charset="0"/>
              </a:rPr>
              <a:t>capital_gain</a:t>
            </a:r>
            <a:r>
              <a:rPr lang="en-US" b="0" dirty="0">
                <a:solidFill>
                  <a:srgbClr val="A31515"/>
                </a:solidFill>
                <a:effectLst/>
                <a:latin typeface="Courier New" panose="02070309020205020404" pitchFamily="49" charset="0"/>
              </a:rPr>
              <a:t>"</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a:t>
            </a:r>
            <a:r>
              <a:rPr lang="en-US" b="0" dirty="0" err="1">
                <a:solidFill>
                  <a:srgbClr val="A31515"/>
                </a:solidFill>
                <a:effectLst/>
                <a:latin typeface="Courier New" panose="02070309020205020404" pitchFamily="49" charset="0"/>
              </a:rPr>
              <a:t>capital_loss</a:t>
            </a:r>
            <a:r>
              <a:rPr lang="en-US" b="0" dirty="0">
                <a:solidFill>
                  <a:srgbClr val="A31515"/>
                </a:solidFill>
                <a:effectLst/>
                <a:latin typeface="Courier New" panose="02070309020205020404" pitchFamily="49" charset="0"/>
              </a:rPr>
              <a:t>"</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a:t>
            </a:r>
            <a:r>
              <a:rPr lang="en-US" b="0" dirty="0" err="1">
                <a:solidFill>
                  <a:srgbClr val="A31515"/>
                </a:solidFill>
                <a:effectLst/>
                <a:latin typeface="Courier New" panose="02070309020205020404" pitchFamily="49" charset="0"/>
              </a:rPr>
              <a:t>hours_per_week</a:t>
            </a:r>
            <a:r>
              <a:rPr lang="en-US" b="0" dirty="0">
                <a:solidFill>
                  <a:srgbClr val="A31515"/>
                </a:solidFill>
                <a:effectLst/>
                <a:latin typeface="Courier New" panose="02070309020205020404" pitchFamily="49" charset="0"/>
              </a:rPr>
              <a:t>"</a:t>
            </a: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a:t>
            </a:r>
            <a:r>
              <a:rPr lang="en-US" b="0" dirty="0" err="1">
                <a:solidFill>
                  <a:srgbClr val="A31515"/>
                </a:solidFill>
                <a:effectLst/>
                <a:latin typeface="Courier New" panose="02070309020205020404" pitchFamily="49" charset="0"/>
              </a:rPr>
              <a:t>native_country</a:t>
            </a:r>
            <a:r>
              <a:rPr lang="en-US" b="0" dirty="0">
                <a:solidFill>
                  <a:srgbClr val="A31515"/>
                </a:solidFill>
                <a:effectLst/>
                <a:latin typeface="Courier New" panose="02070309020205020404" pitchFamily="49" charset="0"/>
              </a:rPr>
              <a:t>"</a:t>
            </a:r>
            <a:r>
              <a:rPr lang="en-US" b="0" dirty="0">
                <a:solidFill>
                  <a:srgbClr val="000000"/>
                </a:solidFill>
                <a:effectLst/>
                <a:latin typeface="Courier New" panose="02070309020205020404" pitchFamily="49" charset="0"/>
              </a:rPr>
              <a:t>,</a:t>
            </a:r>
          </a:p>
          <a:p>
            <a:pPr>
              <a:buNone/>
            </a:pPr>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"income"</a:t>
            </a:r>
            <a:endParaRPr lang="en-US" b="0" dirty="0">
              <a:solidFill>
                <a:srgbClr val="000000"/>
              </a:solidFill>
              <a:effectLst/>
              <a:latin typeface="Courier New" panose="02070309020205020404" pitchFamily="49" charset="0"/>
            </a:endParaRPr>
          </a:p>
          <a:p>
            <a:pPr>
              <a:buNone/>
            </a:pPr>
            <a:r>
              <a:rPr lang="en-US" b="0" dirty="0">
                <a:solidFill>
                  <a:srgbClr val="000000"/>
                </a:solidFill>
                <a:effectLst/>
                <a:latin typeface="Courier New" panose="02070309020205020404" pitchFamily="49" charset="0"/>
              </a:rPr>
              <a:t>]</a:t>
            </a:r>
          </a:p>
        </p:txBody>
      </p:sp>
      <p:sp>
        <p:nvSpPr>
          <p:cNvPr id="9" name="TextBox 8">
            <a:extLst>
              <a:ext uri="{FF2B5EF4-FFF2-40B4-BE49-F238E27FC236}">
                <a16:creationId xmlns:a16="http://schemas.microsoft.com/office/drawing/2014/main" id="{C4F05FF8-D7E8-4CFF-530C-E982DC2483B9}"/>
              </a:ext>
            </a:extLst>
          </p:cNvPr>
          <p:cNvSpPr txBox="1"/>
          <p:nvPr/>
        </p:nvSpPr>
        <p:spPr>
          <a:xfrm>
            <a:off x="94419" y="6143030"/>
            <a:ext cx="6427076" cy="646331"/>
          </a:xfrm>
          <a:prstGeom prst="rect">
            <a:avLst/>
          </a:prstGeom>
          <a:noFill/>
        </p:spPr>
        <p:txBody>
          <a:bodyPr wrap="square">
            <a:spAutoFit/>
          </a:bodyPr>
          <a:lstStyle/>
          <a:p>
            <a:r>
              <a:rPr lang="en-US" dirty="0">
                <a:hlinkClick r:id="rId3"/>
              </a:rPr>
              <a:t>https://colab.research.google.com/drive/1CI-nYzAYDFoSJIr4BvyxhODfdq7l_h9m?usp=sharing</a:t>
            </a:r>
            <a:r>
              <a:rPr lang="en-US" dirty="0"/>
              <a:t> </a:t>
            </a:r>
          </a:p>
        </p:txBody>
      </p:sp>
    </p:spTree>
    <p:extLst>
      <p:ext uri="{BB962C8B-B14F-4D97-AF65-F5344CB8AC3E}">
        <p14:creationId xmlns:p14="http://schemas.microsoft.com/office/powerpoint/2010/main" val="352669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181AA-C2B0-1C36-0366-6611ED4C9C0D}"/>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A671277C-89F9-8282-B0CF-F0C318B64CEC}"/>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4CA1D13B-DC7B-C29F-C37F-F63B4E15E8F8}"/>
              </a:ext>
            </a:extLst>
          </p:cNvPr>
          <p:cNvPicPr/>
          <p:nvPr/>
        </p:nvPicPr>
        <p:blipFill>
          <a:blip r:embed="rId2" cstate="print"/>
          <a:srcRect l="24413" r="9390"/>
          <a:stretch>
            <a:fillRect/>
          </a:stretch>
        </p:blipFill>
        <p:spPr>
          <a:xfrm>
            <a:off x="10710041" y="73691"/>
            <a:ext cx="1481959" cy="1944414"/>
          </a:xfrm>
          <a:prstGeom prst="rect">
            <a:avLst/>
          </a:prstGeom>
        </p:spPr>
      </p:pic>
      <p:sp>
        <p:nvSpPr>
          <p:cNvPr id="8" name="TextBox 7">
            <a:extLst>
              <a:ext uri="{FF2B5EF4-FFF2-40B4-BE49-F238E27FC236}">
                <a16:creationId xmlns:a16="http://schemas.microsoft.com/office/drawing/2014/main" id="{BE5D7A11-C7AE-685D-C0BF-BE0F4ACE13D4}"/>
              </a:ext>
            </a:extLst>
          </p:cNvPr>
          <p:cNvSpPr txBox="1"/>
          <p:nvPr/>
        </p:nvSpPr>
        <p:spPr>
          <a:xfrm>
            <a:off x="-1" y="1"/>
            <a:ext cx="10750875" cy="3970318"/>
          </a:xfrm>
          <a:prstGeom prst="rect">
            <a:avLst/>
          </a:prstGeom>
          <a:noFill/>
        </p:spPr>
        <p:txBody>
          <a:bodyPr wrap="square">
            <a:spAutoFit/>
          </a:bodyPr>
          <a:lstStyle/>
          <a:p>
            <a:pPr>
              <a:buNone/>
            </a:pPr>
            <a:r>
              <a:rPr lang="en-US" dirty="0" err="1">
                <a:solidFill>
                  <a:srgbClr val="000000"/>
                </a:solidFill>
                <a:latin typeface="Courier New" panose="02070309020205020404" pitchFamily="49" charset="0"/>
              </a:rPr>
              <a:t>df</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pd.read_csv</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url</a:t>
            </a:r>
            <a:r>
              <a:rPr lang="en-US" dirty="0">
                <a:solidFill>
                  <a:srgbClr val="000000"/>
                </a:solidFill>
                <a:latin typeface="Courier New" panose="02070309020205020404" pitchFamily="49" charset="0"/>
              </a:rPr>
              <a:t>, header=</a:t>
            </a:r>
            <a:r>
              <a:rPr lang="en-US" dirty="0">
                <a:solidFill>
                  <a:srgbClr val="0000FF"/>
                </a:solidFill>
                <a:latin typeface="Courier New" panose="02070309020205020404" pitchFamily="49" charset="0"/>
              </a:rPr>
              <a:t>None</a:t>
            </a:r>
            <a:r>
              <a:rPr lang="en-US" dirty="0">
                <a:solidFill>
                  <a:srgbClr val="000000"/>
                </a:solidFill>
                <a:latin typeface="Courier New" panose="02070309020205020404" pitchFamily="49" charset="0"/>
              </a:rPr>
              <a:t>, names=columns, </a:t>
            </a:r>
            <a:r>
              <a:rPr lang="en-US" dirty="0" err="1">
                <a:solidFill>
                  <a:srgbClr val="000000"/>
                </a:solidFill>
                <a:latin typeface="Courier New" panose="02070309020205020404" pitchFamily="49" charset="0"/>
              </a:rPr>
              <a:t>na_values</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 ?"</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skipinitialspace</a:t>
            </a:r>
            <a:r>
              <a:rPr lang="en-US" dirty="0">
                <a:solidFill>
                  <a:srgbClr val="000000"/>
                </a:solidFill>
                <a:latin typeface="Courier New" panose="02070309020205020404" pitchFamily="49" charset="0"/>
              </a:rPr>
              <a:t>=</a:t>
            </a:r>
            <a:r>
              <a:rPr lang="en-US" dirty="0">
                <a:solidFill>
                  <a:srgbClr val="0000FF"/>
                </a:solidFill>
                <a:latin typeface="Courier New" panose="02070309020205020404" pitchFamily="49" charset="0"/>
              </a:rPr>
              <a:t>True</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2. Split input and target</a:t>
            </a:r>
            <a:endParaRPr lang="en-US" dirty="0">
              <a:solidFill>
                <a:srgbClr val="000000"/>
              </a:solidFill>
              <a:latin typeface="Courier New" panose="02070309020205020404" pitchFamily="49" charset="0"/>
            </a:endParaRPr>
          </a:p>
          <a:p>
            <a:pPr>
              <a:buNone/>
            </a:pPr>
            <a:r>
              <a:rPr lang="en-US" dirty="0">
                <a:solidFill>
                  <a:srgbClr val="000000"/>
                </a:solidFill>
                <a:latin typeface="Courier New" panose="02070309020205020404" pitchFamily="49" charset="0"/>
              </a:rPr>
              <a:t>X = </a:t>
            </a:r>
            <a:r>
              <a:rPr lang="en-US" dirty="0" err="1">
                <a:solidFill>
                  <a:srgbClr val="000000"/>
                </a:solidFill>
                <a:latin typeface="Courier New" panose="02070309020205020404" pitchFamily="49" charset="0"/>
              </a:rPr>
              <a:t>df.drop</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"income"</a:t>
            </a:r>
            <a:r>
              <a:rPr lang="en-US" dirty="0">
                <a:solidFill>
                  <a:srgbClr val="000000"/>
                </a:solidFill>
                <a:latin typeface="Courier New" panose="02070309020205020404" pitchFamily="49" charset="0"/>
              </a:rPr>
              <a:t>, axis=</a:t>
            </a:r>
            <a:r>
              <a:rPr lang="en-US" dirty="0">
                <a:solidFill>
                  <a:srgbClr val="116644"/>
                </a:solidFill>
                <a:latin typeface="Courier New" panose="02070309020205020404" pitchFamily="49" charset="0"/>
              </a:rPr>
              <a:t>1</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y = </a:t>
            </a:r>
            <a:r>
              <a:rPr lang="en-US" dirty="0" err="1">
                <a:solidFill>
                  <a:srgbClr val="000000"/>
                </a:solidFill>
                <a:latin typeface="Courier New" panose="02070309020205020404" pitchFamily="49" charset="0"/>
              </a:rPr>
              <a:t>df</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"income"</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3. Separate column types</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numeric_features</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X.select_dtypes</a:t>
            </a:r>
            <a:r>
              <a:rPr lang="en-US" dirty="0">
                <a:solidFill>
                  <a:srgbClr val="000000"/>
                </a:solidFill>
                <a:latin typeface="Courier New" panose="02070309020205020404" pitchFamily="49" charset="0"/>
              </a:rPr>
              <a:t>(include=[</a:t>
            </a:r>
            <a:r>
              <a:rPr lang="en-US" dirty="0">
                <a:solidFill>
                  <a:srgbClr val="A31515"/>
                </a:solidFill>
                <a:latin typeface="Courier New" panose="02070309020205020404" pitchFamily="49" charset="0"/>
              </a:rPr>
              <a:t>"int64"</a:t>
            </a: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"float64"</a:t>
            </a:r>
            <a:r>
              <a:rPr lang="en-US" dirty="0">
                <a:solidFill>
                  <a:srgbClr val="000000"/>
                </a:solidFill>
                <a:latin typeface="Courier New" panose="02070309020205020404" pitchFamily="49" charset="0"/>
              </a:rPr>
              <a:t>]).columns</a:t>
            </a:r>
          </a:p>
          <a:p>
            <a:pPr>
              <a:buNone/>
            </a:pPr>
            <a:r>
              <a:rPr lang="en-US" dirty="0" err="1">
                <a:solidFill>
                  <a:srgbClr val="000000"/>
                </a:solidFill>
                <a:latin typeface="Courier New" panose="02070309020205020404" pitchFamily="49" charset="0"/>
              </a:rPr>
              <a:t>categorical_features</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X.select_dtypes</a:t>
            </a:r>
            <a:r>
              <a:rPr lang="en-US" dirty="0">
                <a:solidFill>
                  <a:srgbClr val="000000"/>
                </a:solidFill>
                <a:latin typeface="Courier New" panose="02070309020205020404" pitchFamily="49" charset="0"/>
              </a:rPr>
              <a:t>(include=[</a:t>
            </a:r>
            <a:r>
              <a:rPr lang="en-US" dirty="0">
                <a:solidFill>
                  <a:srgbClr val="A31515"/>
                </a:solidFill>
                <a:latin typeface="Courier New" panose="02070309020205020404" pitchFamily="49" charset="0"/>
              </a:rPr>
              <a:t>"object"</a:t>
            </a:r>
            <a:r>
              <a:rPr lang="en-US" dirty="0">
                <a:solidFill>
                  <a:srgbClr val="000000"/>
                </a:solidFill>
                <a:latin typeface="Courier New" panose="02070309020205020404" pitchFamily="49" charset="0"/>
              </a:rPr>
              <a:t>]).columns</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1213173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FFCED-5820-83C1-63C9-C157736CE2F2}"/>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E1065ADA-28EC-76A0-AA79-8F3498ADA249}"/>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1CC545AD-3B83-BACB-6736-998B1BD3160D}"/>
              </a:ext>
            </a:extLst>
          </p:cNvPr>
          <p:cNvPicPr/>
          <p:nvPr/>
        </p:nvPicPr>
        <p:blipFill>
          <a:blip r:embed="rId2" cstate="print"/>
          <a:srcRect l="24413" r="9390"/>
          <a:stretch>
            <a:fillRect/>
          </a:stretch>
        </p:blipFill>
        <p:spPr>
          <a:xfrm>
            <a:off x="10710041" y="73691"/>
            <a:ext cx="1481959" cy="1944414"/>
          </a:xfrm>
          <a:prstGeom prst="rect">
            <a:avLst/>
          </a:prstGeom>
        </p:spPr>
      </p:pic>
      <p:sp>
        <p:nvSpPr>
          <p:cNvPr id="8" name="TextBox 7">
            <a:extLst>
              <a:ext uri="{FF2B5EF4-FFF2-40B4-BE49-F238E27FC236}">
                <a16:creationId xmlns:a16="http://schemas.microsoft.com/office/drawing/2014/main" id="{196A31A3-5390-62D8-D930-620A5C6A776A}"/>
              </a:ext>
            </a:extLst>
          </p:cNvPr>
          <p:cNvSpPr txBox="1"/>
          <p:nvPr/>
        </p:nvSpPr>
        <p:spPr>
          <a:xfrm>
            <a:off x="-1" y="1"/>
            <a:ext cx="10750875" cy="4801314"/>
          </a:xfrm>
          <a:prstGeom prst="rect">
            <a:avLst/>
          </a:prstGeom>
          <a:noFill/>
        </p:spPr>
        <p:txBody>
          <a:bodyPr wrap="square">
            <a:spAutoFit/>
          </a:bodyPr>
          <a:lstStyle/>
          <a:p>
            <a:pPr>
              <a:buNone/>
            </a:pPr>
            <a:r>
              <a:rPr lang="en-US" dirty="0">
                <a:solidFill>
                  <a:srgbClr val="008000"/>
                </a:solidFill>
                <a:latin typeface="Courier New" panose="02070309020205020404" pitchFamily="49" charset="0"/>
              </a:rPr>
              <a:t># 4. Preprocessing</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numeric_transformer</a:t>
            </a:r>
            <a:r>
              <a:rPr lang="en-US" dirty="0">
                <a:solidFill>
                  <a:srgbClr val="000000"/>
                </a:solidFill>
                <a:latin typeface="Courier New" panose="02070309020205020404" pitchFamily="49" charset="0"/>
              </a:rPr>
              <a:t> = Pipeline([</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"imputer"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SimpleImputer</a:t>
            </a:r>
            <a:r>
              <a:rPr lang="en-US" dirty="0">
                <a:solidFill>
                  <a:srgbClr val="000000"/>
                </a:solidFill>
                <a:latin typeface="Courier New" panose="02070309020205020404" pitchFamily="49" charset="0"/>
              </a:rPr>
              <a:t>(strategy=</a:t>
            </a:r>
            <a:r>
              <a:rPr lang="en-US" dirty="0">
                <a:solidFill>
                  <a:srgbClr val="A31515"/>
                </a:solidFill>
                <a:latin typeface="Courier New" panose="02070309020205020404" pitchFamily="49" charset="0"/>
              </a:rPr>
              <a:t>"median"</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"scaler"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StandardScaler</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categorical_transformer</a:t>
            </a:r>
            <a:r>
              <a:rPr lang="en-US" dirty="0">
                <a:solidFill>
                  <a:srgbClr val="000000"/>
                </a:solidFill>
                <a:latin typeface="Courier New" panose="02070309020205020404" pitchFamily="49" charset="0"/>
              </a:rPr>
              <a:t> = Pipeline([</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"imputer"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SimpleImputer</a:t>
            </a:r>
            <a:r>
              <a:rPr lang="en-US" dirty="0">
                <a:solidFill>
                  <a:srgbClr val="000000"/>
                </a:solidFill>
                <a:latin typeface="Courier New" panose="02070309020205020404" pitchFamily="49" charset="0"/>
              </a:rPr>
              <a:t>(strategy=</a:t>
            </a:r>
            <a:r>
              <a:rPr lang="en-US" dirty="0">
                <a:solidFill>
                  <a:srgbClr val="A31515"/>
                </a:solidFill>
                <a:latin typeface="Courier New" panose="02070309020205020404" pitchFamily="49" charset="0"/>
              </a:rPr>
              <a:t>"</a:t>
            </a:r>
            <a:r>
              <a:rPr lang="en-US" dirty="0" err="1">
                <a:solidFill>
                  <a:srgbClr val="A31515"/>
                </a:solidFill>
                <a:latin typeface="Courier New" panose="02070309020205020404" pitchFamily="49" charset="0"/>
              </a:rPr>
              <a:t>most_frequent</a:t>
            </a:r>
            <a:r>
              <a:rPr lang="en-US" dirty="0">
                <a:solidFill>
                  <a:srgbClr val="A31515"/>
                </a:solidFill>
                <a:latin typeface="Courier New" panose="02070309020205020404" pitchFamily="49" charset="0"/>
              </a:rPr>
              <a:t>"</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a:t>
            </a:r>
            <a:r>
              <a:rPr lang="en-US" dirty="0" err="1">
                <a:solidFill>
                  <a:srgbClr val="A31515"/>
                </a:solidFill>
                <a:latin typeface="Courier New" panose="02070309020205020404" pitchFamily="49" charset="0"/>
              </a:rPr>
              <a:t>onehot</a:t>
            </a:r>
            <a:r>
              <a:rPr lang="en-US" dirty="0">
                <a:solidFill>
                  <a:srgbClr val="A31515"/>
                </a:solidFill>
                <a:latin typeface="Courier New" panose="02070309020205020404" pitchFamily="49" charset="0"/>
              </a:rPr>
              <a: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OneHotEncoder</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handle_unknown</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"ignore"</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000000"/>
                </a:solidFill>
                <a:latin typeface="Courier New" panose="02070309020205020404" pitchFamily="49" charset="0"/>
              </a:rPr>
              <a:t>preprocessor = </a:t>
            </a:r>
            <a:r>
              <a:rPr lang="en-US" dirty="0" err="1">
                <a:solidFill>
                  <a:srgbClr val="000000"/>
                </a:solidFill>
                <a:latin typeface="Courier New" panose="02070309020205020404" pitchFamily="49" charset="0"/>
              </a:rPr>
              <a:t>ColumnTransformer</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"num"</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numeric_transformer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numeric_features</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"cat"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categorical_transformer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categorical_features</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a:t>
            </a:r>
          </a:p>
        </p:txBody>
      </p:sp>
    </p:spTree>
    <p:extLst>
      <p:ext uri="{BB962C8B-B14F-4D97-AF65-F5344CB8AC3E}">
        <p14:creationId xmlns:p14="http://schemas.microsoft.com/office/powerpoint/2010/main" val="2131558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1CC15-FF65-B095-A569-894FFF1DA61F}"/>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07361EE3-E205-F075-008B-23C3F527A7E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F248A35C-2C9E-7FFB-D8CB-789A74A09BAA}"/>
              </a:ext>
            </a:extLst>
          </p:cNvPr>
          <p:cNvPicPr/>
          <p:nvPr/>
        </p:nvPicPr>
        <p:blipFill>
          <a:blip r:embed="rId2" cstate="print"/>
          <a:srcRect l="24413" r="9390"/>
          <a:stretch>
            <a:fillRect/>
          </a:stretch>
        </p:blipFill>
        <p:spPr>
          <a:xfrm>
            <a:off x="10710041" y="73691"/>
            <a:ext cx="1481959" cy="1944414"/>
          </a:xfrm>
          <a:prstGeom prst="rect">
            <a:avLst/>
          </a:prstGeom>
        </p:spPr>
      </p:pic>
      <p:sp>
        <p:nvSpPr>
          <p:cNvPr id="8" name="TextBox 7">
            <a:extLst>
              <a:ext uri="{FF2B5EF4-FFF2-40B4-BE49-F238E27FC236}">
                <a16:creationId xmlns:a16="http://schemas.microsoft.com/office/drawing/2014/main" id="{042FAF6E-BE78-20B8-2D7E-48AFB831F600}"/>
              </a:ext>
            </a:extLst>
          </p:cNvPr>
          <p:cNvSpPr txBox="1"/>
          <p:nvPr/>
        </p:nvSpPr>
        <p:spPr>
          <a:xfrm>
            <a:off x="-1" y="1"/>
            <a:ext cx="10750875" cy="6740307"/>
          </a:xfrm>
          <a:prstGeom prst="rect">
            <a:avLst/>
          </a:prstGeom>
          <a:noFill/>
        </p:spPr>
        <p:txBody>
          <a:bodyPr wrap="square">
            <a:spAutoFit/>
          </a:bodyPr>
          <a:lstStyle/>
          <a:p>
            <a:pPr>
              <a:buNone/>
            </a:pPr>
            <a:r>
              <a:rPr lang="en-US" dirty="0">
                <a:solidFill>
                  <a:srgbClr val="008000"/>
                </a:solidFill>
                <a:latin typeface="Courier New" panose="02070309020205020404" pitchFamily="49" charset="0"/>
              </a:rPr>
              <a:t># 5. Build model (Random Forest)</a:t>
            </a:r>
            <a:endParaRPr lang="en-US" dirty="0">
              <a:solidFill>
                <a:srgbClr val="000000"/>
              </a:solidFill>
              <a:latin typeface="Courier New" panose="02070309020205020404" pitchFamily="49" charset="0"/>
            </a:endParaRPr>
          </a:p>
          <a:p>
            <a:pPr>
              <a:buNone/>
            </a:pPr>
            <a:r>
              <a:rPr lang="en-US" dirty="0">
                <a:solidFill>
                  <a:srgbClr val="000000"/>
                </a:solidFill>
                <a:latin typeface="Courier New" panose="02070309020205020404" pitchFamily="49" charset="0"/>
              </a:rPr>
              <a:t>model = Pipeline([</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"preprocessor"</a:t>
            </a:r>
            <a:r>
              <a:rPr lang="en-US" dirty="0">
                <a:solidFill>
                  <a:srgbClr val="000000"/>
                </a:solidFill>
                <a:latin typeface="Courier New" panose="02070309020205020404" pitchFamily="49" charset="0"/>
              </a:rPr>
              <a:t>, preprocessor),</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"classifier"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RandomForestClassifier</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n_estimators</a:t>
            </a:r>
            <a:r>
              <a:rPr lang="en-US" dirty="0">
                <a:solidFill>
                  <a:srgbClr val="000000"/>
                </a:solidFill>
                <a:latin typeface="Courier New" panose="02070309020205020404" pitchFamily="49" charset="0"/>
              </a:rPr>
              <a:t>=</a:t>
            </a:r>
            <a:r>
              <a:rPr lang="en-US" dirty="0">
                <a:solidFill>
                  <a:srgbClr val="116644"/>
                </a:solidFill>
                <a:latin typeface="Courier New" panose="02070309020205020404" pitchFamily="49" charset="0"/>
              </a:rPr>
              <a:t>100</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random_state</a:t>
            </a:r>
            <a:r>
              <a:rPr lang="en-US" dirty="0">
                <a:solidFill>
                  <a:srgbClr val="000000"/>
                </a:solidFill>
                <a:latin typeface="Courier New" panose="02070309020205020404" pitchFamily="49" charset="0"/>
              </a:rPr>
              <a:t>=</a:t>
            </a:r>
            <a:r>
              <a:rPr lang="en-US" dirty="0">
                <a:solidFill>
                  <a:srgbClr val="116644"/>
                </a:solidFill>
                <a:latin typeface="Courier New" panose="02070309020205020404" pitchFamily="49" charset="0"/>
              </a:rPr>
              <a:t>42</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r>
              <a:rPr lang="en-US" dirty="0">
                <a:solidFill>
                  <a:srgbClr val="008000"/>
                </a:solidFill>
                <a:latin typeface="Courier New" panose="02070309020205020404" pitchFamily="49" charset="0"/>
              </a:rPr>
              <a:t># 6. Split data</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X_train</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X_test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y_train</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y_test</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train_test_split</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X, y, </a:t>
            </a:r>
            <a:r>
              <a:rPr lang="en-US" dirty="0" err="1">
                <a:solidFill>
                  <a:srgbClr val="000000"/>
                </a:solidFill>
                <a:latin typeface="Courier New" panose="02070309020205020404" pitchFamily="49" charset="0"/>
              </a:rPr>
              <a:t>test_size</a:t>
            </a:r>
            <a:r>
              <a:rPr lang="en-US" dirty="0">
                <a:solidFill>
                  <a:srgbClr val="000000"/>
                </a:solidFill>
                <a:latin typeface="Courier New" panose="02070309020205020404" pitchFamily="49" charset="0"/>
              </a:rPr>
              <a:t>=</a:t>
            </a:r>
            <a:r>
              <a:rPr lang="en-US" dirty="0">
                <a:solidFill>
                  <a:srgbClr val="116644"/>
                </a:solidFill>
                <a:latin typeface="Courier New" panose="02070309020205020404" pitchFamily="49" charset="0"/>
              </a:rPr>
              <a:t>0.2</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random_state</a:t>
            </a:r>
            <a:r>
              <a:rPr lang="en-US" dirty="0">
                <a:solidFill>
                  <a:srgbClr val="000000"/>
                </a:solidFill>
                <a:latin typeface="Courier New" panose="02070309020205020404" pitchFamily="49" charset="0"/>
              </a:rPr>
              <a:t>=</a:t>
            </a:r>
            <a:r>
              <a:rPr lang="en-US" dirty="0">
                <a:solidFill>
                  <a:srgbClr val="116644"/>
                </a:solidFill>
                <a:latin typeface="Courier New" panose="02070309020205020404" pitchFamily="49" charset="0"/>
              </a:rPr>
              <a:t>42</a:t>
            </a:r>
            <a:r>
              <a:rPr lang="en-US" dirty="0">
                <a:solidFill>
                  <a:srgbClr val="000000"/>
                </a:solidFill>
                <a:latin typeface="Courier New" panose="02070309020205020404" pitchFamily="49" charset="0"/>
              </a:rPr>
              <a:t>, stratify=y</a:t>
            </a:r>
          </a:p>
          <a:p>
            <a:pPr>
              <a:buNone/>
            </a:pP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r>
              <a:rPr lang="en-US" dirty="0">
                <a:solidFill>
                  <a:srgbClr val="008000"/>
                </a:solidFill>
                <a:latin typeface="Courier New" panose="02070309020205020404" pitchFamily="49" charset="0"/>
              </a:rPr>
              <a:t># 7. Train</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model.fit</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X_train</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y_train</a:t>
            </a:r>
            <a:r>
              <a:rPr lang="en-US" dirty="0">
                <a:solidFill>
                  <a:srgbClr val="000000"/>
                </a:solidFill>
                <a:latin typeface="Courier New" panose="02070309020205020404" pitchFamily="49" charset="0"/>
              </a:rPr>
              <a:t>)</a:t>
            </a:r>
          </a:p>
          <a:p>
            <a:pPr>
              <a:buNone/>
            </a:pP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8. Predict</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y_pred</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model.predict</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X_test</a:t>
            </a:r>
            <a:r>
              <a:rPr lang="en-US" dirty="0">
                <a:solidFill>
                  <a:srgbClr val="000000"/>
                </a:solidFill>
                <a:latin typeface="Courier New" panose="02070309020205020404" pitchFamily="49" charset="0"/>
              </a:rPr>
              <a:t>)</a:t>
            </a:r>
          </a:p>
          <a:p>
            <a:pPr>
              <a:buNone/>
            </a:pP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9. Evaluate</a:t>
            </a:r>
            <a:endParaRPr lang="en-US" dirty="0">
              <a:solidFill>
                <a:srgbClr val="000000"/>
              </a:solidFill>
              <a:latin typeface="Courier New" panose="02070309020205020404" pitchFamily="49" charset="0"/>
            </a:endParaRPr>
          </a:p>
          <a:p>
            <a:pPr>
              <a:buNone/>
            </a:pPr>
            <a:r>
              <a:rPr lang="en-US" dirty="0">
                <a:solidFill>
                  <a:srgbClr val="000000"/>
                </a:solidFill>
                <a:latin typeface="Courier New" panose="02070309020205020404" pitchFamily="49" charset="0"/>
              </a:rPr>
              <a:t>acc = </a:t>
            </a:r>
            <a:r>
              <a:rPr lang="en-US" dirty="0" err="1">
                <a:solidFill>
                  <a:srgbClr val="000000"/>
                </a:solidFill>
                <a:latin typeface="Courier New" panose="02070309020205020404" pitchFamily="49" charset="0"/>
              </a:rPr>
              <a:t>accuracy_score</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y_test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y_pred</a:t>
            </a:r>
            <a:r>
              <a:rPr lang="en-US" dirty="0">
                <a:solidFill>
                  <a:srgbClr val="000000"/>
                </a:solidFill>
                <a:latin typeface="Courier New" panose="02070309020205020404" pitchFamily="49" charset="0"/>
              </a:rPr>
              <a:t>)</a:t>
            </a: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"Accuracy:"</a:t>
            </a:r>
            <a:r>
              <a:rPr lang="en-US" dirty="0">
                <a:solidFill>
                  <a:srgbClr val="000000"/>
                </a:solidFill>
                <a:latin typeface="Courier New" panose="02070309020205020404" pitchFamily="49" charset="0"/>
              </a:rPr>
              <a:t>, </a:t>
            </a:r>
            <a:r>
              <a:rPr lang="en-US" dirty="0">
                <a:solidFill>
                  <a:srgbClr val="6A5221"/>
                </a:solidFill>
                <a:latin typeface="Courier New" panose="02070309020205020404" pitchFamily="49" charset="0"/>
              </a:rPr>
              <a:t>round</a:t>
            </a:r>
            <a:r>
              <a:rPr lang="en-US" dirty="0">
                <a:solidFill>
                  <a:srgbClr val="000000"/>
                </a:solidFill>
                <a:latin typeface="Courier New" panose="02070309020205020404" pitchFamily="49" charset="0"/>
              </a:rPr>
              <a:t>(acc, </a:t>
            </a:r>
            <a:r>
              <a:rPr lang="en-US" dirty="0">
                <a:solidFill>
                  <a:srgbClr val="116644"/>
                </a:solidFill>
                <a:latin typeface="Courier New" panose="02070309020205020404" pitchFamily="49" charset="0"/>
              </a:rPr>
              <a:t>3</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a:t>
            </a:r>
            <a:r>
              <a:rPr lang="en-US" dirty="0" err="1">
                <a:solidFill>
                  <a:srgbClr val="A31515"/>
                </a:solidFill>
                <a:latin typeface="Courier New" panose="02070309020205020404" pitchFamily="49" charset="0"/>
              </a:rPr>
              <a:t>nClassification</a:t>
            </a:r>
            <a:r>
              <a:rPr lang="en-US" dirty="0">
                <a:solidFill>
                  <a:srgbClr val="A31515"/>
                </a:solidFill>
                <a:latin typeface="Courier New" panose="02070309020205020404" pitchFamily="49" charset="0"/>
              </a:rPr>
              <a:t> Report:"</a:t>
            </a:r>
            <a:r>
              <a:rPr lang="en-US" dirty="0">
                <a:solidFill>
                  <a:srgbClr val="000000"/>
                </a:solidFill>
                <a:latin typeface="Courier New" panose="02070309020205020404" pitchFamily="49" charset="0"/>
              </a:rPr>
              <a:t>)</a:t>
            </a: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classification_report</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y_test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y_pred</a:t>
            </a:r>
            <a:r>
              <a:rPr lang="en-US" dirty="0">
                <a:solidFill>
                  <a:srgbClr val="000000"/>
                </a:solidFill>
                <a:latin typeface="Courier New" panose="02070309020205020404" pitchFamily="49" charset="0"/>
              </a:rPr>
              <a:t>))</a:t>
            </a:r>
          </a:p>
        </p:txBody>
      </p:sp>
    </p:spTree>
    <p:extLst>
      <p:ext uri="{BB962C8B-B14F-4D97-AF65-F5344CB8AC3E}">
        <p14:creationId xmlns:p14="http://schemas.microsoft.com/office/powerpoint/2010/main" val="2131046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93C8B-2F5D-5203-59DF-AB843F3A2FE7}"/>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A647EF10-FD52-7380-388F-8838730E232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9ED55C30-1499-033A-0603-51BA2B2987C9}"/>
              </a:ext>
            </a:extLst>
          </p:cNvPr>
          <p:cNvPicPr/>
          <p:nvPr/>
        </p:nvPicPr>
        <p:blipFill>
          <a:blip r:embed="rId2" cstate="print"/>
          <a:srcRect l="24413" r="9390"/>
          <a:stretch>
            <a:fillRect/>
          </a:stretch>
        </p:blipFill>
        <p:spPr>
          <a:xfrm>
            <a:off x="10710041" y="73691"/>
            <a:ext cx="1481959" cy="1944414"/>
          </a:xfrm>
          <a:prstGeom prst="rect">
            <a:avLst/>
          </a:prstGeom>
        </p:spPr>
      </p:pic>
      <p:pic>
        <p:nvPicPr>
          <p:cNvPr id="3" name="Picture 2">
            <a:extLst>
              <a:ext uri="{FF2B5EF4-FFF2-40B4-BE49-F238E27FC236}">
                <a16:creationId xmlns:a16="http://schemas.microsoft.com/office/drawing/2014/main" id="{641D5FD5-2869-3D0F-0252-3B0DA9324E7F}"/>
              </a:ext>
            </a:extLst>
          </p:cNvPr>
          <p:cNvPicPr>
            <a:picLocks noChangeAspect="1"/>
          </p:cNvPicPr>
          <p:nvPr/>
        </p:nvPicPr>
        <p:blipFill>
          <a:blip r:embed="rId3"/>
          <a:srcRect l="9678" t="41935" r="53911" b="29248"/>
          <a:stretch>
            <a:fillRect/>
          </a:stretch>
        </p:blipFill>
        <p:spPr>
          <a:xfrm>
            <a:off x="0" y="0"/>
            <a:ext cx="10205884" cy="4543485"/>
          </a:xfrm>
          <a:prstGeom prst="rect">
            <a:avLst/>
          </a:prstGeom>
        </p:spPr>
      </p:pic>
      <p:sp>
        <p:nvSpPr>
          <p:cNvPr id="9" name="TextBox 8">
            <a:extLst>
              <a:ext uri="{FF2B5EF4-FFF2-40B4-BE49-F238E27FC236}">
                <a16:creationId xmlns:a16="http://schemas.microsoft.com/office/drawing/2014/main" id="{0EC2E121-7D0D-FA49-ECCA-235592AD39BB}"/>
              </a:ext>
            </a:extLst>
          </p:cNvPr>
          <p:cNvSpPr txBox="1"/>
          <p:nvPr/>
        </p:nvSpPr>
        <p:spPr>
          <a:xfrm>
            <a:off x="0" y="4247157"/>
            <a:ext cx="12192000" cy="2610843"/>
          </a:xfrm>
          <a:prstGeom prst="rect">
            <a:avLst/>
          </a:prstGeom>
          <a:noFill/>
        </p:spPr>
        <p:txBody>
          <a:bodyPr wrap="square">
            <a:spAutoFit/>
          </a:bodyPr>
          <a:lstStyle/>
          <a:p>
            <a:pPr>
              <a:lnSpc>
                <a:spcPct val="150000"/>
              </a:lnSpc>
            </a:pPr>
            <a:r>
              <a:rPr lang="en-US" sz="2800" dirty="0">
                <a:latin typeface="Calibir"/>
              </a:rPr>
              <a:t>Accuracy: 0.857 (≈ 86%)</a:t>
            </a:r>
          </a:p>
          <a:p>
            <a:pPr>
              <a:lnSpc>
                <a:spcPct val="150000"/>
              </a:lnSpc>
            </a:pPr>
            <a:r>
              <a:rPr lang="en-US" sz="2800" dirty="0">
                <a:latin typeface="Calibir"/>
              </a:rPr>
              <a:t>This means:</a:t>
            </a:r>
          </a:p>
          <a:p>
            <a:pPr marL="914400" lvl="1" indent="-457200">
              <a:lnSpc>
                <a:spcPct val="150000"/>
              </a:lnSpc>
              <a:buFont typeface="Arial" panose="020B0604020202020204" pitchFamily="34" charset="0"/>
              <a:buChar char="•"/>
            </a:pPr>
            <a:r>
              <a:rPr lang="en-US" sz="2800" dirty="0">
                <a:latin typeface="Calibir"/>
              </a:rPr>
              <a:t>The model is correct 86 out of 100 times </a:t>
            </a:r>
          </a:p>
          <a:p>
            <a:pPr marL="914400" lvl="1" indent="-457200">
              <a:lnSpc>
                <a:spcPct val="150000"/>
              </a:lnSpc>
              <a:buFont typeface="Arial" panose="020B0604020202020204" pitchFamily="34" charset="0"/>
              <a:buChar char="•"/>
            </a:pPr>
            <a:r>
              <a:rPr lang="en-US" sz="2800" dirty="0">
                <a:latin typeface="Calibir"/>
              </a:rPr>
              <a:t>This is good performance</a:t>
            </a:r>
          </a:p>
        </p:txBody>
      </p:sp>
    </p:spTree>
    <p:extLst>
      <p:ext uri="{BB962C8B-B14F-4D97-AF65-F5344CB8AC3E}">
        <p14:creationId xmlns:p14="http://schemas.microsoft.com/office/powerpoint/2010/main" val="2896800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09D31-2EEA-71F1-6026-E63370DEC740}"/>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F100216A-E8C6-43D2-B94C-1766E69401E3}"/>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7DFC9754-6689-418F-6981-3E022F162618}"/>
              </a:ext>
            </a:extLst>
          </p:cNvPr>
          <p:cNvPicPr/>
          <p:nvPr/>
        </p:nvPicPr>
        <p:blipFill>
          <a:blip r:embed="rId2" cstate="print"/>
          <a:srcRect l="24413" r="9390"/>
          <a:stretch>
            <a:fillRect/>
          </a:stretch>
        </p:blipFill>
        <p:spPr>
          <a:xfrm>
            <a:off x="10710041" y="73691"/>
            <a:ext cx="1481959" cy="1944414"/>
          </a:xfrm>
          <a:prstGeom prst="rect">
            <a:avLst/>
          </a:prstGeom>
        </p:spPr>
      </p:pic>
      <p:pic>
        <p:nvPicPr>
          <p:cNvPr id="3" name="Picture 2">
            <a:extLst>
              <a:ext uri="{FF2B5EF4-FFF2-40B4-BE49-F238E27FC236}">
                <a16:creationId xmlns:a16="http://schemas.microsoft.com/office/drawing/2014/main" id="{D94E57E6-77B3-4BA9-7C95-40F656205DD2}"/>
              </a:ext>
            </a:extLst>
          </p:cNvPr>
          <p:cNvPicPr>
            <a:picLocks noChangeAspect="1"/>
          </p:cNvPicPr>
          <p:nvPr/>
        </p:nvPicPr>
        <p:blipFill>
          <a:blip r:embed="rId3"/>
          <a:srcRect l="9678" t="41935" r="53911" b="29248"/>
          <a:stretch>
            <a:fillRect/>
          </a:stretch>
        </p:blipFill>
        <p:spPr>
          <a:xfrm>
            <a:off x="0" y="0"/>
            <a:ext cx="7598515" cy="3382729"/>
          </a:xfrm>
          <a:prstGeom prst="rect">
            <a:avLst/>
          </a:prstGeom>
        </p:spPr>
      </p:pic>
      <p:sp>
        <p:nvSpPr>
          <p:cNvPr id="9" name="TextBox 8">
            <a:extLst>
              <a:ext uri="{FF2B5EF4-FFF2-40B4-BE49-F238E27FC236}">
                <a16:creationId xmlns:a16="http://schemas.microsoft.com/office/drawing/2014/main" id="{0EA9CAEB-88D1-0DA3-DCB4-914B5ABF34C5}"/>
              </a:ext>
            </a:extLst>
          </p:cNvPr>
          <p:cNvSpPr txBox="1"/>
          <p:nvPr/>
        </p:nvSpPr>
        <p:spPr>
          <a:xfrm>
            <a:off x="0" y="3271765"/>
            <a:ext cx="12192000" cy="3257174"/>
          </a:xfrm>
          <a:prstGeom prst="rect">
            <a:avLst/>
          </a:prstGeom>
          <a:noFill/>
        </p:spPr>
        <p:txBody>
          <a:bodyPr wrap="square">
            <a:spAutoFit/>
          </a:bodyPr>
          <a:lstStyle/>
          <a:p>
            <a:pPr>
              <a:lnSpc>
                <a:spcPct val="150000"/>
              </a:lnSpc>
            </a:pPr>
            <a:r>
              <a:rPr lang="en-US" sz="2800" b="1" dirty="0">
                <a:latin typeface="Calibir"/>
              </a:rPr>
              <a:t>For &lt;=50K (low income)</a:t>
            </a:r>
          </a:p>
          <a:p>
            <a:pPr marL="457200" indent="-457200">
              <a:lnSpc>
                <a:spcPct val="150000"/>
              </a:lnSpc>
              <a:buFont typeface="Arial" panose="020B0604020202020204" pitchFamily="34" charset="0"/>
              <a:buChar char="•"/>
            </a:pPr>
            <a:r>
              <a:rPr lang="en-US" sz="2800" dirty="0">
                <a:latin typeface="Calibir"/>
              </a:rPr>
              <a:t>Precision = 0.89</a:t>
            </a:r>
            <a:br>
              <a:rPr lang="en-US" sz="2800" dirty="0">
                <a:latin typeface="Calibir"/>
              </a:rPr>
            </a:br>
            <a:r>
              <a:rPr lang="en-US" sz="2800" dirty="0">
                <a:latin typeface="Calibir"/>
              </a:rPr>
              <a:t>When model says “&lt;=50K”, it is correct 89% of the time </a:t>
            </a:r>
          </a:p>
          <a:p>
            <a:pPr marL="457200" indent="-457200">
              <a:lnSpc>
                <a:spcPct val="150000"/>
              </a:lnSpc>
              <a:buFont typeface="Arial" panose="020B0604020202020204" pitchFamily="34" charset="0"/>
              <a:buChar char="•"/>
            </a:pPr>
            <a:r>
              <a:rPr lang="en-US" sz="2800" dirty="0">
                <a:latin typeface="Calibir"/>
              </a:rPr>
              <a:t>Recall = 0.93</a:t>
            </a:r>
            <a:br>
              <a:rPr lang="en-US" sz="2800" dirty="0">
                <a:latin typeface="Calibir"/>
              </a:rPr>
            </a:br>
            <a:r>
              <a:rPr lang="en-US" sz="2800" dirty="0">
                <a:latin typeface="Calibir"/>
              </a:rPr>
              <a:t>It finds 93% of all low-income people </a:t>
            </a:r>
          </a:p>
        </p:txBody>
      </p:sp>
    </p:spTree>
    <p:extLst>
      <p:ext uri="{BB962C8B-B14F-4D97-AF65-F5344CB8AC3E}">
        <p14:creationId xmlns:p14="http://schemas.microsoft.com/office/powerpoint/2010/main" val="1886488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6B0BB-5052-94A6-4EB8-B2263AD06007}"/>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DAD20A92-F6C0-12AE-4F12-2D844659DA8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4E7C677F-1422-AA75-7628-E99E52F6659A}"/>
              </a:ext>
            </a:extLst>
          </p:cNvPr>
          <p:cNvPicPr/>
          <p:nvPr/>
        </p:nvPicPr>
        <p:blipFill>
          <a:blip r:embed="rId2" cstate="print"/>
          <a:srcRect l="24413" r="9390"/>
          <a:stretch>
            <a:fillRect/>
          </a:stretch>
        </p:blipFill>
        <p:spPr>
          <a:xfrm>
            <a:off x="10710041" y="73691"/>
            <a:ext cx="1481959" cy="1944414"/>
          </a:xfrm>
          <a:prstGeom prst="rect">
            <a:avLst/>
          </a:prstGeom>
        </p:spPr>
      </p:pic>
      <p:pic>
        <p:nvPicPr>
          <p:cNvPr id="3" name="Picture 2">
            <a:extLst>
              <a:ext uri="{FF2B5EF4-FFF2-40B4-BE49-F238E27FC236}">
                <a16:creationId xmlns:a16="http://schemas.microsoft.com/office/drawing/2014/main" id="{BBE28C88-489F-8E1D-AD4E-DD636DF25E2D}"/>
              </a:ext>
            </a:extLst>
          </p:cNvPr>
          <p:cNvPicPr>
            <a:picLocks noChangeAspect="1"/>
          </p:cNvPicPr>
          <p:nvPr/>
        </p:nvPicPr>
        <p:blipFill>
          <a:blip r:embed="rId3"/>
          <a:srcRect l="9678" t="41935" r="53911" b="29248"/>
          <a:stretch>
            <a:fillRect/>
          </a:stretch>
        </p:blipFill>
        <p:spPr>
          <a:xfrm>
            <a:off x="0" y="0"/>
            <a:ext cx="7598515" cy="3382729"/>
          </a:xfrm>
          <a:prstGeom prst="rect">
            <a:avLst/>
          </a:prstGeom>
        </p:spPr>
      </p:pic>
      <p:sp>
        <p:nvSpPr>
          <p:cNvPr id="9" name="TextBox 8">
            <a:extLst>
              <a:ext uri="{FF2B5EF4-FFF2-40B4-BE49-F238E27FC236}">
                <a16:creationId xmlns:a16="http://schemas.microsoft.com/office/drawing/2014/main" id="{96F2CCAF-60B1-3AD2-D62C-A9A438F52DA3}"/>
              </a:ext>
            </a:extLst>
          </p:cNvPr>
          <p:cNvSpPr txBox="1"/>
          <p:nvPr/>
        </p:nvSpPr>
        <p:spPr>
          <a:xfrm>
            <a:off x="0" y="3271765"/>
            <a:ext cx="12192000" cy="261084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F1-score = 0.91</a:t>
            </a:r>
            <a:br>
              <a:rPr lang="en-US" sz="2800" dirty="0">
                <a:latin typeface="Calibir"/>
              </a:rPr>
            </a:br>
            <a:r>
              <a:rPr lang="en-US" sz="2800" dirty="0">
                <a:latin typeface="Calibir"/>
              </a:rPr>
              <a:t>Overall performance is very good </a:t>
            </a:r>
          </a:p>
          <a:p>
            <a:pPr>
              <a:lnSpc>
                <a:spcPct val="150000"/>
              </a:lnSpc>
            </a:pPr>
            <a:r>
              <a:rPr lang="en-US" sz="2800" dirty="0">
                <a:latin typeface="Calibir"/>
              </a:rPr>
              <a:t>Conclusion:</a:t>
            </a:r>
            <a:br>
              <a:rPr lang="en-US" sz="2800" dirty="0">
                <a:latin typeface="Calibir"/>
              </a:rPr>
            </a:br>
            <a:r>
              <a:rPr lang="en-US" sz="2800" dirty="0">
                <a:latin typeface="Calibir"/>
              </a:rPr>
              <a:t>Model is very strong at predicting low income</a:t>
            </a:r>
          </a:p>
        </p:txBody>
      </p:sp>
    </p:spTree>
    <p:extLst>
      <p:ext uri="{BB962C8B-B14F-4D97-AF65-F5344CB8AC3E}">
        <p14:creationId xmlns:p14="http://schemas.microsoft.com/office/powerpoint/2010/main" val="3915945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BED14-C52A-1B16-B13E-C872C81B18F4}"/>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222C378-C2CC-8DE8-EE77-AEB5075BF7C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8A351451-DA6B-2C98-B26F-F59234A75C26}"/>
              </a:ext>
            </a:extLst>
          </p:cNvPr>
          <p:cNvPicPr/>
          <p:nvPr/>
        </p:nvPicPr>
        <p:blipFill>
          <a:blip r:embed="rId2" cstate="print"/>
          <a:srcRect l="24413" r="9390"/>
          <a:stretch>
            <a:fillRect/>
          </a:stretch>
        </p:blipFill>
        <p:spPr>
          <a:xfrm>
            <a:off x="10710041" y="73691"/>
            <a:ext cx="1481959" cy="1944414"/>
          </a:xfrm>
          <a:prstGeom prst="rect">
            <a:avLst/>
          </a:prstGeom>
        </p:spPr>
      </p:pic>
      <p:pic>
        <p:nvPicPr>
          <p:cNvPr id="3" name="Picture 2">
            <a:extLst>
              <a:ext uri="{FF2B5EF4-FFF2-40B4-BE49-F238E27FC236}">
                <a16:creationId xmlns:a16="http://schemas.microsoft.com/office/drawing/2014/main" id="{9AA80E05-73BC-34AF-CEA5-D32082842F61}"/>
              </a:ext>
            </a:extLst>
          </p:cNvPr>
          <p:cNvPicPr>
            <a:picLocks noChangeAspect="1"/>
          </p:cNvPicPr>
          <p:nvPr/>
        </p:nvPicPr>
        <p:blipFill>
          <a:blip r:embed="rId3"/>
          <a:srcRect l="9678" t="41935" r="53911" b="29248"/>
          <a:stretch>
            <a:fillRect/>
          </a:stretch>
        </p:blipFill>
        <p:spPr>
          <a:xfrm>
            <a:off x="0" y="0"/>
            <a:ext cx="7598515" cy="3382729"/>
          </a:xfrm>
          <a:prstGeom prst="rect">
            <a:avLst/>
          </a:prstGeom>
        </p:spPr>
      </p:pic>
      <p:sp>
        <p:nvSpPr>
          <p:cNvPr id="9" name="TextBox 8">
            <a:extLst>
              <a:ext uri="{FF2B5EF4-FFF2-40B4-BE49-F238E27FC236}">
                <a16:creationId xmlns:a16="http://schemas.microsoft.com/office/drawing/2014/main" id="{7CCDB718-D3F4-8119-0EC4-E61669BE7118}"/>
              </a:ext>
            </a:extLst>
          </p:cNvPr>
          <p:cNvSpPr txBox="1"/>
          <p:nvPr/>
        </p:nvSpPr>
        <p:spPr>
          <a:xfrm>
            <a:off x="0" y="3271765"/>
            <a:ext cx="12192000" cy="3257174"/>
          </a:xfrm>
          <a:prstGeom prst="rect">
            <a:avLst/>
          </a:prstGeom>
          <a:noFill/>
        </p:spPr>
        <p:txBody>
          <a:bodyPr wrap="square">
            <a:spAutoFit/>
          </a:bodyPr>
          <a:lstStyle/>
          <a:p>
            <a:pPr>
              <a:lnSpc>
                <a:spcPct val="150000"/>
              </a:lnSpc>
            </a:pPr>
            <a:r>
              <a:rPr lang="en-US" sz="2800" b="1" dirty="0">
                <a:latin typeface="Calibir"/>
              </a:rPr>
              <a:t>For &gt;50K (high income)</a:t>
            </a:r>
          </a:p>
          <a:p>
            <a:pPr marL="457200" indent="-457200">
              <a:lnSpc>
                <a:spcPct val="150000"/>
              </a:lnSpc>
              <a:buFont typeface="Arial" panose="020B0604020202020204" pitchFamily="34" charset="0"/>
              <a:buChar char="•"/>
            </a:pPr>
            <a:r>
              <a:rPr lang="en-US" sz="2800" dirty="0">
                <a:latin typeface="Calibir"/>
              </a:rPr>
              <a:t>Precision = 0.73</a:t>
            </a:r>
            <a:br>
              <a:rPr lang="en-US" sz="2800" dirty="0">
                <a:latin typeface="Calibir"/>
              </a:rPr>
            </a:br>
            <a:r>
              <a:rPr lang="en-US" sz="2800" dirty="0">
                <a:latin typeface="Calibir"/>
              </a:rPr>
              <a:t>When model says “&gt;50K”, it is correct 73% of the time </a:t>
            </a:r>
          </a:p>
          <a:p>
            <a:pPr marL="457200" indent="-457200">
              <a:lnSpc>
                <a:spcPct val="150000"/>
              </a:lnSpc>
              <a:buFont typeface="Arial" panose="020B0604020202020204" pitchFamily="34" charset="0"/>
              <a:buChar char="•"/>
            </a:pPr>
            <a:r>
              <a:rPr lang="en-US" sz="2800" dirty="0">
                <a:latin typeface="Calibir"/>
              </a:rPr>
              <a:t>Recall = 0.64</a:t>
            </a:r>
            <a:br>
              <a:rPr lang="en-US" sz="2800" dirty="0">
                <a:latin typeface="Calibir"/>
              </a:rPr>
            </a:br>
            <a:r>
              <a:rPr lang="en-US" sz="2800" dirty="0">
                <a:latin typeface="Calibir"/>
              </a:rPr>
              <a:t>It only finds 64% of high-income people </a:t>
            </a:r>
          </a:p>
        </p:txBody>
      </p:sp>
    </p:spTree>
    <p:extLst>
      <p:ext uri="{BB962C8B-B14F-4D97-AF65-F5344CB8AC3E}">
        <p14:creationId xmlns:p14="http://schemas.microsoft.com/office/powerpoint/2010/main" val="2490215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1252D-F210-C86F-7F26-8508704C472C}"/>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8DD2C50F-5A83-9FFD-A0FA-C680A2DE48C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9E3D6120-8301-17E6-4313-0CC6A7D5C12A}"/>
              </a:ext>
            </a:extLst>
          </p:cNvPr>
          <p:cNvPicPr/>
          <p:nvPr/>
        </p:nvPicPr>
        <p:blipFill>
          <a:blip r:embed="rId2" cstate="print"/>
          <a:srcRect l="24413" r="9390"/>
          <a:stretch>
            <a:fillRect/>
          </a:stretch>
        </p:blipFill>
        <p:spPr>
          <a:xfrm>
            <a:off x="10710041" y="73691"/>
            <a:ext cx="1481959" cy="1944414"/>
          </a:xfrm>
          <a:prstGeom prst="rect">
            <a:avLst/>
          </a:prstGeom>
        </p:spPr>
      </p:pic>
      <p:pic>
        <p:nvPicPr>
          <p:cNvPr id="3" name="Picture 2">
            <a:extLst>
              <a:ext uri="{FF2B5EF4-FFF2-40B4-BE49-F238E27FC236}">
                <a16:creationId xmlns:a16="http://schemas.microsoft.com/office/drawing/2014/main" id="{C43490E2-9C6B-A1F0-BE1A-F25736F6EA4A}"/>
              </a:ext>
            </a:extLst>
          </p:cNvPr>
          <p:cNvPicPr>
            <a:picLocks noChangeAspect="1"/>
          </p:cNvPicPr>
          <p:nvPr/>
        </p:nvPicPr>
        <p:blipFill>
          <a:blip r:embed="rId3"/>
          <a:srcRect l="9678" t="41935" r="53911" b="29248"/>
          <a:stretch>
            <a:fillRect/>
          </a:stretch>
        </p:blipFill>
        <p:spPr>
          <a:xfrm>
            <a:off x="0" y="0"/>
            <a:ext cx="7598515" cy="3382729"/>
          </a:xfrm>
          <a:prstGeom prst="rect">
            <a:avLst/>
          </a:prstGeom>
        </p:spPr>
      </p:pic>
      <p:sp>
        <p:nvSpPr>
          <p:cNvPr id="9" name="TextBox 8">
            <a:extLst>
              <a:ext uri="{FF2B5EF4-FFF2-40B4-BE49-F238E27FC236}">
                <a16:creationId xmlns:a16="http://schemas.microsoft.com/office/drawing/2014/main" id="{3E1EB06D-A284-A141-A466-1DBE8DDE1BDE}"/>
              </a:ext>
            </a:extLst>
          </p:cNvPr>
          <p:cNvSpPr txBox="1"/>
          <p:nvPr/>
        </p:nvSpPr>
        <p:spPr>
          <a:xfrm>
            <a:off x="0" y="3271765"/>
            <a:ext cx="12192000" cy="261084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F1-score = 0.68</a:t>
            </a:r>
            <a:br>
              <a:rPr lang="en-US" sz="2800" dirty="0">
                <a:latin typeface="Calibir"/>
              </a:rPr>
            </a:br>
            <a:r>
              <a:rPr lang="en-US" sz="2800" dirty="0">
                <a:latin typeface="Calibir"/>
              </a:rPr>
              <a:t>Performance is moderate </a:t>
            </a:r>
          </a:p>
          <a:p>
            <a:pPr>
              <a:lnSpc>
                <a:spcPct val="150000"/>
              </a:lnSpc>
            </a:pPr>
            <a:r>
              <a:rPr lang="en-US" sz="2800" dirty="0">
                <a:latin typeface="Calibir"/>
              </a:rPr>
              <a:t>Conclusion:</a:t>
            </a:r>
            <a:br>
              <a:rPr lang="en-US" sz="2800" dirty="0">
                <a:latin typeface="Calibir"/>
              </a:rPr>
            </a:br>
            <a:r>
              <a:rPr lang="en-US" sz="2800" dirty="0">
                <a:latin typeface="Calibir"/>
              </a:rPr>
              <a:t>Model is not as good at predicting high income</a:t>
            </a:r>
          </a:p>
        </p:txBody>
      </p:sp>
    </p:spTree>
    <p:extLst>
      <p:ext uri="{BB962C8B-B14F-4D97-AF65-F5344CB8AC3E}">
        <p14:creationId xmlns:p14="http://schemas.microsoft.com/office/powerpoint/2010/main" val="25041281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D7FD-1043-C329-15DF-705FBE515563}"/>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DB56202A-8BA8-476D-F036-351C3CFACD29}"/>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932C33FF-D5B9-5327-6751-B447498B2AB5}"/>
              </a:ext>
            </a:extLst>
          </p:cNvPr>
          <p:cNvPicPr/>
          <p:nvPr/>
        </p:nvPicPr>
        <p:blipFill>
          <a:blip r:embed="rId2" cstate="print"/>
          <a:srcRect l="24413" r="9390"/>
          <a:stretch>
            <a:fillRect/>
          </a:stretch>
        </p:blipFill>
        <p:spPr>
          <a:xfrm>
            <a:off x="10710041" y="73691"/>
            <a:ext cx="1481959" cy="1944414"/>
          </a:xfrm>
          <a:prstGeom prst="rect">
            <a:avLst/>
          </a:prstGeom>
        </p:spPr>
      </p:pic>
      <p:pic>
        <p:nvPicPr>
          <p:cNvPr id="3" name="Picture 2">
            <a:extLst>
              <a:ext uri="{FF2B5EF4-FFF2-40B4-BE49-F238E27FC236}">
                <a16:creationId xmlns:a16="http://schemas.microsoft.com/office/drawing/2014/main" id="{FB633D3B-5374-A402-E5ED-FD7FE7B259DC}"/>
              </a:ext>
            </a:extLst>
          </p:cNvPr>
          <p:cNvPicPr>
            <a:picLocks noChangeAspect="1"/>
          </p:cNvPicPr>
          <p:nvPr/>
        </p:nvPicPr>
        <p:blipFill>
          <a:blip r:embed="rId3"/>
          <a:srcRect l="9678" t="41935" r="53911" b="29248"/>
          <a:stretch>
            <a:fillRect/>
          </a:stretch>
        </p:blipFill>
        <p:spPr>
          <a:xfrm>
            <a:off x="0" y="73691"/>
            <a:ext cx="10555655" cy="4699197"/>
          </a:xfrm>
          <a:prstGeom prst="rect">
            <a:avLst/>
          </a:prstGeom>
        </p:spPr>
      </p:pic>
      <p:sp>
        <p:nvSpPr>
          <p:cNvPr id="9" name="TextBox 8">
            <a:extLst>
              <a:ext uri="{FF2B5EF4-FFF2-40B4-BE49-F238E27FC236}">
                <a16:creationId xmlns:a16="http://schemas.microsoft.com/office/drawing/2014/main" id="{401D460C-6247-5051-FD91-ED62F104643F}"/>
              </a:ext>
            </a:extLst>
          </p:cNvPr>
          <p:cNvSpPr txBox="1"/>
          <p:nvPr/>
        </p:nvSpPr>
        <p:spPr>
          <a:xfrm>
            <a:off x="0" y="4839896"/>
            <a:ext cx="12192000" cy="1318181"/>
          </a:xfrm>
          <a:prstGeom prst="rect">
            <a:avLst/>
          </a:prstGeom>
          <a:noFill/>
        </p:spPr>
        <p:txBody>
          <a:bodyPr wrap="square">
            <a:spAutoFit/>
          </a:bodyPr>
          <a:lstStyle/>
          <a:p>
            <a:pPr>
              <a:lnSpc>
                <a:spcPct val="150000"/>
              </a:lnSpc>
            </a:pPr>
            <a:r>
              <a:rPr lang="en-US" sz="2800" dirty="0">
                <a:latin typeface="Calibir"/>
              </a:rPr>
              <a:t>We used Random Forest to improve classification performance and compared it with Logistic Regression.</a:t>
            </a:r>
          </a:p>
        </p:txBody>
      </p:sp>
    </p:spTree>
    <p:extLst>
      <p:ext uri="{BB962C8B-B14F-4D97-AF65-F5344CB8AC3E}">
        <p14:creationId xmlns:p14="http://schemas.microsoft.com/office/powerpoint/2010/main" val="32938447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239E1-32BD-A014-3EE0-C759D917EE88}"/>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DB937EE0-74B1-BA9E-9340-74958D8928B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C56D992E-418A-897A-6328-9E888B4E9712}"/>
              </a:ext>
            </a:extLst>
          </p:cNvPr>
          <p:cNvPicPr/>
          <p:nvPr/>
        </p:nvPicPr>
        <p:blipFill>
          <a:blip r:embed="rId2" cstate="print"/>
          <a:srcRect l="24413" r="9390"/>
          <a:stretch>
            <a:fillRect/>
          </a:stretch>
        </p:blipFill>
        <p:spPr>
          <a:xfrm>
            <a:off x="10710041" y="73691"/>
            <a:ext cx="1481959" cy="1944414"/>
          </a:xfrm>
          <a:prstGeom prst="rect">
            <a:avLst/>
          </a:prstGeom>
        </p:spPr>
      </p:pic>
      <p:pic>
        <p:nvPicPr>
          <p:cNvPr id="3" name="Picture 2">
            <a:extLst>
              <a:ext uri="{FF2B5EF4-FFF2-40B4-BE49-F238E27FC236}">
                <a16:creationId xmlns:a16="http://schemas.microsoft.com/office/drawing/2014/main" id="{29786A38-0E62-4C67-1A54-DE675FB92CE9}"/>
              </a:ext>
            </a:extLst>
          </p:cNvPr>
          <p:cNvPicPr>
            <a:picLocks noChangeAspect="1"/>
          </p:cNvPicPr>
          <p:nvPr/>
        </p:nvPicPr>
        <p:blipFill>
          <a:blip r:embed="rId3"/>
          <a:srcRect l="9678" t="41935" r="53911" b="29248"/>
          <a:stretch>
            <a:fillRect/>
          </a:stretch>
        </p:blipFill>
        <p:spPr>
          <a:xfrm>
            <a:off x="1" y="73692"/>
            <a:ext cx="5276102" cy="2348830"/>
          </a:xfrm>
          <a:prstGeom prst="rect">
            <a:avLst/>
          </a:prstGeom>
        </p:spPr>
      </p:pic>
      <p:sp>
        <p:nvSpPr>
          <p:cNvPr id="9" name="TextBox 8">
            <a:extLst>
              <a:ext uri="{FF2B5EF4-FFF2-40B4-BE49-F238E27FC236}">
                <a16:creationId xmlns:a16="http://schemas.microsoft.com/office/drawing/2014/main" id="{A7F04CED-BD15-D5AF-9C62-0A8BE09F18A6}"/>
              </a:ext>
            </a:extLst>
          </p:cNvPr>
          <p:cNvSpPr txBox="1"/>
          <p:nvPr/>
        </p:nvSpPr>
        <p:spPr>
          <a:xfrm>
            <a:off x="0" y="2308165"/>
            <a:ext cx="12192000" cy="4549835"/>
          </a:xfrm>
          <a:prstGeom prst="rect">
            <a:avLst/>
          </a:prstGeom>
          <a:noFill/>
        </p:spPr>
        <p:txBody>
          <a:bodyPr wrap="square">
            <a:spAutoFit/>
          </a:bodyPr>
          <a:lstStyle/>
          <a:p>
            <a:pPr>
              <a:lnSpc>
                <a:spcPct val="150000"/>
              </a:lnSpc>
            </a:pPr>
            <a:r>
              <a:rPr lang="en-US" sz="2800" b="1" dirty="0">
                <a:latin typeface="Calibir"/>
              </a:rPr>
              <a:t>Overall insight</a:t>
            </a:r>
          </a:p>
          <a:p>
            <a:pPr>
              <a:lnSpc>
                <a:spcPct val="150000"/>
              </a:lnSpc>
            </a:pPr>
            <a:r>
              <a:rPr lang="en-US" sz="2800" dirty="0">
                <a:latin typeface="Calibir"/>
              </a:rPr>
              <a:t>The model:</a:t>
            </a:r>
          </a:p>
          <a:p>
            <a:pPr marL="914400" lvl="1" indent="-457200">
              <a:lnSpc>
                <a:spcPct val="150000"/>
              </a:lnSpc>
              <a:buFont typeface="Arial" panose="020B0604020202020204" pitchFamily="34" charset="0"/>
              <a:buChar char="•"/>
            </a:pPr>
            <a:r>
              <a:rPr lang="en-US" sz="2800" dirty="0">
                <a:latin typeface="Calibir"/>
              </a:rPr>
              <a:t>Works better for &lt;=50K </a:t>
            </a:r>
          </a:p>
          <a:p>
            <a:pPr marL="914400" lvl="1" indent="-457200">
              <a:lnSpc>
                <a:spcPct val="150000"/>
              </a:lnSpc>
              <a:buFont typeface="Arial" panose="020B0604020202020204" pitchFamily="34" charset="0"/>
              <a:buChar char="•"/>
            </a:pPr>
            <a:r>
              <a:rPr lang="en-US" sz="2800" dirty="0">
                <a:latin typeface="Calibir"/>
              </a:rPr>
              <a:t>Works worse for &gt;50K </a:t>
            </a:r>
          </a:p>
          <a:p>
            <a:pPr>
              <a:lnSpc>
                <a:spcPct val="150000"/>
              </a:lnSpc>
            </a:pPr>
            <a:r>
              <a:rPr lang="en-US" sz="2800" dirty="0">
                <a:latin typeface="Calibir"/>
              </a:rPr>
              <a:t>Why?</a:t>
            </a:r>
          </a:p>
          <a:p>
            <a:pPr marL="914400" lvl="1" indent="-457200">
              <a:lnSpc>
                <a:spcPct val="150000"/>
              </a:lnSpc>
              <a:buFont typeface="Arial" panose="020B0604020202020204" pitchFamily="34" charset="0"/>
              <a:buChar char="•"/>
            </a:pPr>
            <a:r>
              <a:rPr lang="en-US" sz="2800" dirty="0">
                <a:latin typeface="Calibir"/>
              </a:rPr>
              <a:t>There are more &lt;=50K samples in the data </a:t>
            </a:r>
          </a:p>
          <a:p>
            <a:pPr marL="914400" lvl="1" indent="-457200">
              <a:lnSpc>
                <a:spcPct val="150000"/>
              </a:lnSpc>
              <a:buFont typeface="Arial" panose="020B0604020202020204" pitchFamily="34" charset="0"/>
              <a:buChar char="•"/>
            </a:pPr>
            <a:r>
              <a:rPr lang="en-US" sz="2800" dirty="0">
                <a:latin typeface="Calibir"/>
              </a:rPr>
              <a:t>So model learns that class better</a:t>
            </a:r>
          </a:p>
        </p:txBody>
      </p:sp>
    </p:spTree>
    <p:extLst>
      <p:ext uri="{BB962C8B-B14F-4D97-AF65-F5344CB8AC3E}">
        <p14:creationId xmlns:p14="http://schemas.microsoft.com/office/powerpoint/2010/main" val="3365624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5" end="5"/>
                                            </p:txEl>
                                          </p:spTgt>
                                        </p:tgtEl>
                                        <p:attrNameLst>
                                          <p:attrName>style.visibility</p:attrName>
                                        </p:attrNameLst>
                                      </p:cBhvr>
                                      <p:to>
                                        <p:strVal val="visible"/>
                                      </p:to>
                                    </p:set>
                                    <p:animEffect transition="in" filter="fade">
                                      <p:cBhvr>
                                        <p:cTn id="7" dur="1000"/>
                                        <p:tgtEl>
                                          <p:spTgt spid="9">
                                            <p:txEl>
                                              <p:pRg st="5" end="5"/>
                                            </p:txEl>
                                          </p:spTgt>
                                        </p:tgtEl>
                                      </p:cBhvr>
                                    </p:animEffect>
                                    <p:anim calcmode="lin" valueType="num">
                                      <p:cBhvr>
                                        <p:cTn id="8"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9">
                                            <p:txEl>
                                              <p:pRg st="6" end="6"/>
                                            </p:txEl>
                                          </p:spTgt>
                                        </p:tgtEl>
                                        <p:attrNameLst>
                                          <p:attrName>style.visibility</p:attrName>
                                        </p:attrNameLst>
                                      </p:cBhvr>
                                      <p:to>
                                        <p:strVal val="visible"/>
                                      </p:to>
                                    </p:set>
                                    <p:animEffect transition="in" filter="fade">
                                      <p:cBhvr>
                                        <p:cTn id="12" dur="1000"/>
                                        <p:tgtEl>
                                          <p:spTgt spid="9">
                                            <p:txEl>
                                              <p:pRg st="6" end="6"/>
                                            </p:txEl>
                                          </p:spTgt>
                                        </p:tgtEl>
                                      </p:cBhvr>
                                    </p:animEffect>
                                    <p:anim calcmode="lin" valueType="num">
                                      <p:cBhvr>
                                        <p:cTn id="13"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A4AB0-D9E3-BF35-D2CA-0ECCA422E06A}"/>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3685C742-4A76-172C-76F5-DCBCCFC03A4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C994AB9A-DD8B-1782-9407-5575CC310379}"/>
              </a:ext>
            </a:extLst>
          </p:cNvPr>
          <p:cNvPicPr/>
          <p:nvPr/>
        </p:nvPicPr>
        <p:blipFill>
          <a:blip r:embed="rId2" cstate="print"/>
          <a:srcRect l="24413" r="9390"/>
          <a:stretch>
            <a:fillRect/>
          </a:stretch>
        </p:blipFill>
        <p:spPr>
          <a:xfrm>
            <a:off x="10710041" y="73691"/>
            <a:ext cx="1481959" cy="1944414"/>
          </a:xfrm>
          <a:prstGeom prst="rect">
            <a:avLst/>
          </a:prstGeom>
        </p:spPr>
      </p:pic>
      <p:pic>
        <p:nvPicPr>
          <p:cNvPr id="3" name="Picture 2">
            <a:extLst>
              <a:ext uri="{FF2B5EF4-FFF2-40B4-BE49-F238E27FC236}">
                <a16:creationId xmlns:a16="http://schemas.microsoft.com/office/drawing/2014/main" id="{45E3310F-3568-C0A9-B367-41350F078322}"/>
              </a:ext>
            </a:extLst>
          </p:cNvPr>
          <p:cNvPicPr>
            <a:picLocks noChangeAspect="1"/>
          </p:cNvPicPr>
          <p:nvPr/>
        </p:nvPicPr>
        <p:blipFill>
          <a:blip r:embed="rId3"/>
          <a:srcRect l="9678" t="41935" r="53911" b="29248"/>
          <a:stretch>
            <a:fillRect/>
          </a:stretch>
        </p:blipFill>
        <p:spPr>
          <a:xfrm>
            <a:off x="0" y="73692"/>
            <a:ext cx="9703627" cy="4319888"/>
          </a:xfrm>
          <a:prstGeom prst="rect">
            <a:avLst/>
          </a:prstGeom>
        </p:spPr>
      </p:pic>
      <p:sp>
        <p:nvSpPr>
          <p:cNvPr id="9" name="TextBox 8">
            <a:extLst>
              <a:ext uri="{FF2B5EF4-FFF2-40B4-BE49-F238E27FC236}">
                <a16:creationId xmlns:a16="http://schemas.microsoft.com/office/drawing/2014/main" id="{E6E13FED-9411-94CC-74E6-D64DB919A9AF}"/>
              </a:ext>
            </a:extLst>
          </p:cNvPr>
          <p:cNvSpPr txBox="1"/>
          <p:nvPr/>
        </p:nvSpPr>
        <p:spPr>
          <a:xfrm>
            <a:off x="0" y="4716919"/>
            <a:ext cx="12192000" cy="1968103"/>
          </a:xfrm>
          <a:prstGeom prst="rect">
            <a:avLst/>
          </a:prstGeom>
          <a:noFill/>
        </p:spPr>
        <p:txBody>
          <a:bodyPr wrap="square">
            <a:spAutoFit/>
          </a:bodyPr>
          <a:lstStyle/>
          <a:p>
            <a:pPr>
              <a:lnSpc>
                <a:spcPct val="150000"/>
              </a:lnSpc>
            </a:pPr>
            <a:r>
              <a:rPr lang="en-US" sz="2800" dirty="0">
                <a:latin typeface="Calibir"/>
              </a:rPr>
              <a:t>The model performs well overall (86% accuracy), but it is much better at predicting low income than high income. This is because the dataset has more low-income examples.</a:t>
            </a:r>
          </a:p>
        </p:txBody>
      </p:sp>
    </p:spTree>
    <p:extLst>
      <p:ext uri="{BB962C8B-B14F-4D97-AF65-F5344CB8AC3E}">
        <p14:creationId xmlns:p14="http://schemas.microsoft.com/office/powerpoint/2010/main" val="4665032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D934D-96B5-3B6A-3787-7E01DDDE5646}"/>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ABAC3AA6-776C-94E6-4426-46E4E40DC88D}"/>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7D500975-F126-9AEB-D647-1AF4BBFF0F00}"/>
              </a:ext>
            </a:extLst>
          </p:cNvPr>
          <p:cNvSpPr txBox="1"/>
          <p:nvPr/>
        </p:nvSpPr>
        <p:spPr>
          <a:xfrm>
            <a:off x="94419" y="1083203"/>
            <a:ext cx="10710040" cy="3257174"/>
          </a:xfrm>
          <a:prstGeom prst="rect">
            <a:avLst/>
          </a:prstGeom>
          <a:noFill/>
        </p:spPr>
        <p:txBody>
          <a:bodyPr wrap="square">
            <a:spAutoFit/>
          </a:bodyPr>
          <a:lstStyle/>
          <a:p>
            <a:pPr>
              <a:lnSpc>
                <a:spcPct val="150000"/>
              </a:lnSpc>
            </a:pPr>
            <a:r>
              <a:rPr lang="en-US" sz="2800" dirty="0">
                <a:latin typeface="Calibir"/>
              </a:rPr>
              <a:t>We changed the model:</a:t>
            </a:r>
          </a:p>
          <a:p>
            <a:pPr marL="914400" lvl="1" indent="-457200">
              <a:lnSpc>
                <a:spcPct val="150000"/>
              </a:lnSpc>
              <a:buFont typeface="Arial" panose="020B0604020202020204" pitchFamily="34" charset="0"/>
              <a:buChar char="•"/>
            </a:pPr>
            <a:r>
              <a:rPr lang="en-US" sz="2800" dirty="0">
                <a:latin typeface="Calibir"/>
              </a:rPr>
              <a:t>Before → Logistic Regression </a:t>
            </a:r>
          </a:p>
          <a:p>
            <a:pPr marL="914400" lvl="1" indent="-457200">
              <a:lnSpc>
                <a:spcPct val="150000"/>
              </a:lnSpc>
              <a:buFont typeface="Arial" panose="020B0604020202020204" pitchFamily="34" charset="0"/>
              <a:buChar char="•"/>
            </a:pPr>
            <a:r>
              <a:rPr lang="en-US" sz="2800" dirty="0">
                <a:latin typeface="Calibir"/>
              </a:rPr>
              <a:t>Now → Random Forest </a:t>
            </a:r>
          </a:p>
          <a:p>
            <a:pPr>
              <a:lnSpc>
                <a:spcPct val="150000"/>
              </a:lnSpc>
            </a:pPr>
            <a:r>
              <a:rPr lang="en-US" sz="2800" dirty="0">
                <a:latin typeface="Calibir"/>
              </a:rPr>
              <a:t>Why?</a:t>
            </a:r>
          </a:p>
          <a:p>
            <a:pPr marL="914400" lvl="1" indent="-457200">
              <a:lnSpc>
                <a:spcPct val="150000"/>
              </a:lnSpc>
              <a:buFont typeface="Arial" panose="020B0604020202020204" pitchFamily="34" charset="0"/>
              <a:buChar char="•"/>
            </a:pPr>
            <a:r>
              <a:rPr lang="en-US" sz="2800" dirty="0">
                <a:latin typeface="Calibir"/>
              </a:rPr>
              <a:t>Random Forest can learn more complex patterns</a:t>
            </a:r>
          </a:p>
        </p:txBody>
      </p:sp>
      <p:pic>
        <p:nvPicPr>
          <p:cNvPr id="4" name="object 3">
            <a:extLst>
              <a:ext uri="{FF2B5EF4-FFF2-40B4-BE49-F238E27FC236}">
                <a16:creationId xmlns:a16="http://schemas.microsoft.com/office/drawing/2014/main" id="{47E1AC6C-8058-1010-F59A-36222418BA73}"/>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45D8B0AA-7F33-ACE0-5F73-BC32DA515DEE}"/>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Example 1 (Classification – Improve Model)</a:t>
            </a:r>
          </a:p>
        </p:txBody>
      </p:sp>
      <p:sp>
        <p:nvSpPr>
          <p:cNvPr id="2" name="TextBox 1">
            <a:extLst>
              <a:ext uri="{FF2B5EF4-FFF2-40B4-BE49-F238E27FC236}">
                <a16:creationId xmlns:a16="http://schemas.microsoft.com/office/drawing/2014/main" id="{F375ED1F-1ED3-8FBB-BF9C-E08094A31AAA}"/>
              </a:ext>
            </a:extLst>
          </p:cNvPr>
          <p:cNvSpPr txBox="1"/>
          <p:nvPr/>
        </p:nvSpPr>
        <p:spPr>
          <a:xfrm>
            <a:off x="94419" y="6143030"/>
            <a:ext cx="6427076" cy="646331"/>
          </a:xfrm>
          <a:prstGeom prst="rect">
            <a:avLst/>
          </a:prstGeom>
          <a:noFill/>
        </p:spPr>
        <p:txBody>
          <a:bodyPr wrap="square">
            <a:spAutoFit/>
          </a:bodyPr>
          <a:lstStyle/>
          <a:p>
            <a:r>
              <a:rPr lang="en-US" dirty="0">
                <a:hlinkClick r:id="rId3"/>
              </a:rPr>
              <a:t>https://colab.research.google.com/drive/1CI-nYzAYDFoSJIr4BvyxhODfdq7l_h9m?usp=sharing</a:t>
            </a:r>
            <a:r>
              <a:rPr lang="en-US" dirty="0"/>
              <a:t> </a:t>
            </a:r>
          </a:p>
        </p:txBody>
      </p:sp>
    </p:spTree>
    <p:extLst>
      <p:ext uri="{BB962C8B-B14F-4D97-AF65-F5344CB8AC3E}">
        <p14:creationId xmlns:p14="http://schemas.microsoft.com/office/powerpoint/2010/main" val="1242042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fade">
                                      <p:cBhvr>
                                        <p:cTn id="7" dur="1000"/>
                                        <p:tgtEl>
                                          <p:spTgt spid="5">
                                            <p:txEl>
                                              <p:pRg st="4" end="4"/>
                                            </p:txEl>
                                          </p:spTgt>
                                        </p:tgtEl>
                                      </p:cBhvr>
                                    </p:animEffect>
                                    <p:anim calcmode="lin" valueType="num">
                                      <p:cBhvr>
                                        <p:cTn id="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98140-2A53-EEC2-910D-64D6AEC32FD9}"/>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B775B022-2D2E-B655-5983-F2359CC7CA25}"/>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65A9305A-27C0-ABCA-8C8D-2EE1D80A9D98}"/>
              </a:ext>
            </a:extLst>
          </p:cNvPr>
          <p:cNvSpPr txBox="1"/>
          <p:nvPr/>
        </p:nvSpPr>
        <p:spPr>
          <a:xfrm>
            <a:off x="1" y="1555532"/>
            <a:ext cx="10710040" cy="3903504"/>
          </a:xfrm>
          <a:prstGeom prst="rect">
            <a:avLst/>
          </a:prstGeom>
          <a:noFill/>
        </p:spPr>
        <p:txBody>
          <a:bodyPr wrap="square">
            <a:spAutoFit/>
          </a:bodyPr>
          <a:lstStyle/>
          <a:p>
            <a:pPr>
              <a:lnSpc>
                <a:spcPct val="150000"/>
              </a:lnSpc>
            </a:pPr>
            <a:r>
              <a:rPr lang="en-US" sz="2800" b="1" dirty="0">
                <a:latin typeface="Calibir"/>
              </a:rPr>
              <a:t>Expected result</a:t>
            </a:r>
          </a:p>
          <a:p>
            <a:pPr>
              <a:lnSpc>
                <a:spcPct val="150000"/>
              </a:lnSpc>
            </a:pPr>
            <a:r>
              <a:rPr lang="en-US" sz="2800" dirty="0">
                <a:latin typeface="Calibir"/>
              </a:rPr>
              <a:t>Accuracy will usually:</a:t>
            </a:r>
          </a:p>
          <a:p>
            <a:pPr marL="914400" lvl="1" indent="-457200">
              <a:lnSpc>
                <a:spcPct val="150000"/>
              </a:lnSpc>
              <a:buFont typeface="Arial" panose="020B0604020202020204" pitchFamily="34" charset="0"/>
              <a:buChar char="•"/>
            </a:pPr>
            <a:r>
              <a:rPr lang="en-US" sz="2800" dirty="0">
                <a:latin typeface="Calibir"/>
              </a:rPr>
              <a:t>stay similar or </a:t>
            </a:r>
          </a:p>
          <a:p>
            <a:pPr marL="914400" lvl="1" indent="-457200">
              <a:lnSpc>
                <a:spcPct val="150000"/>
              </a:lnSpc>
              <a:buFont typeface="Arial" panose="020B0604020202020204" pitchFamily="34" charset="0"/>
              <a:buChar char="•"/>
            </a:pPr>
            <a:r>
              <a:rPr lang="en-US" sz="2800" dirty="0">
                <a:latin typeface="Calibir"/>
              </a:rPr>
              <a:t>improve slightly </a:t>
            </a:r>
          </a:p>
          <a:p>
            <a:pPr>
              <a:lnSpc>
                <a:spcPct val="150000"/>
              </a:lnSpc>
            </a:pPr>
            <a:r>
              <a:rPr lang="en-US" sz="2800" dirty="0">
                <a:latin typeface="Calibir"/>
              </a:rPr>
              <a:t>Students learn:</a:t>
            </a:r>
          </a:p>
          <a:p>
            <a:pPr marL="914400" lvl="1" indent="-457200">
              <a:lnSpc>
                <a:spcPct val="150000"/>
              </a:lnSpc>
              <a:buFont typeface="Arial" panose="020B0604020202020204" pitchFamily="34" charset="0"/>
              <a:buChar char="•"/>
            </a:pPr>
            <a:r>
              <a:rPr lang="en-US" sz="2800" dirty="0">
                <a:latin typeface="Calibir"/>
              </a:rPr>
              <a:t>Different models → different results</a:t>
            </a:r>
          </a:p>
        </p:txBody>
      </p:sp>
      <p:pic>
        <p:nvPicPr>
          <p:cNvPr id="4" name="object 3">
            <a:extLst>
              <a:ext uri="{FF2B5EF4-FFF2-40B4-BE49-F238E27FC236}">
                <a16:creationId xmlns:a16="http://schemas.microsoft.com/office/drawing/2014/main" id="{C188A8A7-08CB-E68A-3740-54993F226117}"/>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F8F4FB8E-854E-33EE-4DB8-98C62A5E9E41}"/>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Example 1 (Classification – Improve Model)</a:t>
            </a:r>
          </a:p>
        </p:txBody>
      </p:sp>
      <p:sp>
        <p:nvSpPr>
          <p:cNvPr id="9" name="TextBox 8">
            <a:extLst>
              <a:ext uri="{FF2B5EF4-FFF2-40B4-BE49-F238E27FC236}">
                <a16:creationId xmlns:a16="http://schemas.microsoft.com/office/drawing/2014/main" id="{D4A4EA55-CACD-DA2F-F643-F2337DB8E74D}"/>
              </a:ext>
            </a:extLst>
          </p:cNvPr>
          <p:cNvSpPr txBox="1"/>
          <p:nvPr/>
        </p:nvSpPr>
        <p:spPr>
          <a:xfrm>
            <a:off x="94419" y="6143030"/>
            <a:ext cx="6427076" cy="646331"/>
          </a:xfrm>
          <a:prstGeom prst="rect">
            <a:avLst/>
          </a:prstGeom>
          <a:noFill/>
        </p:spPr>
        <p:txBody>
          <a:bodyPr wrap="square">
            <a:spAutoFit/>
          </a:bodyPr>
          <a:lstStyle/>
          <a:p>
            <a:r>
              <a:rPr lang="en-US" dirty="0">
                <a:hlinkClick r:id="rId3"/>
              </a:rPr>
              <a:t>https://colab.research.google.com/drive/1CI-nYzAYDFoSJIr4BvyxhODfdq7l_h9m?usp=sharing</a:t>
            </a:r>
            <a:r>
              <a:rPr lang="en-US" dirty="0"/>
              <a:t> </a:t>
            </a:r>
          </a:p>
        </p:txBody>
      </p:sp>
    </p:spTree>
    <p:extLst>
      <p:ext uri="{BB962C8B-B14F-4D97-AF65-F5344CB8AC3E}">
        <p14:creationId xmlns:p14="http://schemas.microsoft.com/office/powerpoint/2010/main" val="1508240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2277A-00F2-B796-6BEF-49530408A2E5}"/>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70442432-0862-29A3-4FE5-721C76996C3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A6E6DB91-9BA0-2897-DBCD-B2611973D697}"/>
              </a:ext>
            </a:extLst>
          </p:cNvPr>
          <p:cNvSpPr txBox="1"/>
          <p:nvPr/>
        </p:nvSpPr>
        <p:spPr>
          <a:xfrm>
            <a:off x="1" y="1555532"/>
            <a:ext cx="10710040" cy="2610843"/>
          </a:xfrm>
          <a:prstGeom prst="rect">
            <a:avLst/>
          </a:prstGeom>
          <a:noFill/>
        </p:spPr>
        <p:txBody>
          <a:bodyPr wrap="square">
            <a:spAutoFit/>
          </a:bodyPr>
          <a:lstStyle/>
          <a:p>
            <a:pPr>
              <a:lnSpc>
                <a:spcPct val="150000"/>
              </a:lnSpc>
            </a:pPr>
            <a:r>
              <a:rPr lang="en-US" sz="2800" b="1" dirty="0">
                <a:latin typeface="Calibir"/>
              </a:rPr>
              <a:t>Task 1:</a:t>
            </a:r>
          </a:p>
          <a:p>
            <a:pPr>
              <a:lnSpc>
                <a:spcPct val="150000"/>
              </a:lnSpc>
            </a:pPr>
            <a:r>
              <a:rPr lang="en-US" sz="2800" dirty="0">
                <a:latin typeface="Calibir"/>
              </a:rPr>
              <a:t>Compare two models</a:t>
            </a:r>
          </a:p>
          <a:p>
            <a:pPr marL="914400" lvl="1" indent="-457200">
              <a:lnSpc>
                <a:spcPct val="150000"/>
              </a:lnSpc>
              <a:buFont typeface="Arial" panose="020B0604020202020204" pitchFamily="34" charset="0"/>
              <a:buChar char="•"/>
            </a:pPr>
            <a:r>
              <a:rPr lang="en-US" sz="2800" dirty="0">
                <a:latin typeface="Calibir"/>
              </a:rPr>
              <a:t>Which model has higher accuracy? </a:t>
            </a:r>
          </a:p>
          <a:p>
            <a:pPr marL="914400" lvl="1" indent="-457200">
              <a:lnSpc>
                <a:spcPct val="150000"/>
              </a:lnSpc>
              <a:buFont typeface="Arial" panose="020B0604020202020204" pitchFamily="34" charset="0"/>
              <a:buChar char="•"/>
            </a:pPr>
            <a:r>
              <a:rPr lang="en-US" sz="2800" dirty="0">
                <a:latin typeface="Calibir"/>
              </a:rPr>
              <a:t>Which model is better for &gt;50K?</a:t>
            </a:r>
          </a:p>
        </p:txBody>
      </p:sp>
      <p:pic>
        <p:nvPicPr>
          <p:cNvPr id="4" name="object 3">
            <a:extLst>
              <a:ext uri="{FF2B5EF4-FFF2-40B4-BE49-F238E27FC236}">
                <a16:creationId xmlns:a16="http://schemas.microsoft.com/office/drawing/2014/main" id="{842E19A9-1435-FC59-3BF5-ADA40D406B26}"/>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E183761C-95C5-3054-541F-C8C890F37E6F}"/>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Task for Example 1</a:t>
            </a:r>
          </a:p>
        </p:txBody>
      </p:sp>
      <p:sp>
        <p:nvSpPr>
          <p:cNvPr id="2" name="TextBox 1">
            <a:extLst>
              <a:ext uri="{FF2B5EF4-FFF2-40B4-BE49-F238E27FC236}">
                <a16:creationId xmlns:a16="http://schemas.microsoft.com/office/drawing/2014/main" id="{3CF96119-9EFC-618C-75D8-EFB9E2774286}"/>
              </a:ext>
            </a:extLst>
          </p:cNvPr>
          <p:cNvSpPr txBox="1"/>
          <p:nvPr/>
        </p:nvSpPr>
        <p:spPr>
          <a:xfrm>
            <a:off x="94419" y="6143030"/>
            <a:ext cx="6427076" cy="646331"/>
          </a:xfrm>
          <a:prstGeom prst="rect">
            <a:avLst/>
          </a:prstGeom>
          <a:noFill/>
        </p:spPr>
        <p:txBody>
          <a:bodyPr wrap="square">
            <a:spAutoFit/>
          </a:bodyPr>
          <a:lstStyle/>
          <a:p>
            <a:r>
              <a:rPr lang="en-US" dirty="0">
                <a:hlinkClick r:id="rId3"/>
              </a:rPr>
              <a:t>https://colab.research.google.com/drive/1CI-nYzAYDFoSJIr4BvyxhODfdq7l_h9m?usp=sharing</a:t>
            </a:r>
            <a:r>
              <a:rPr lang="en-US" dirty="0"/>
              <a:t> </a:t>
            </a:r>
          </a:p>
        </p:txBody>
      </p:sp>
    </p:spTree>
    <p:extLst>
      <p:ext uri="{BB962C8B-B14F-4D97-AF65-F5344CB8AC3E}">
        <p14:creationId xmlns:p14="http://schemas.microsoft.com/office/powerpoint/2010/main" val="38377818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D7AFF-843C-7135-CD4A-BBEEE97FD8E1}"/>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8DFB5AA2-F616-342F-B0A6-3C2E86824E5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F18322EB-270F-134B-3A82-87C0A411B8B5}"/>
              </a:ext>
            </a:extLst>
          </p:cNvPr>
          <p:cNvSpPr txBox="1"/>
          <p:nvPr/>
        </p:nvSpPr>
        <p:spPr>
          <a:xfrm>
            <a:off x="1" y="1088439"/>
            <a:ext cx="10710040" cy="4549835"/>
          </a:xfrm>
          <a:prstGeom prst="rect">
            <a:avLst/>
          </a:prstGeom>
          <a:noFill/>
        </p:spPr>
        <p:txBody>
          <a:bodyPr wrap="square">
            <a:spAutoFit/>
          </a:bodyPr>
          <a:lstStyle/>
          <a:p>
            <a:pPr>
              <a:lnSpc>
                <a:spcPct val="150000"/>
              </a:lnSpc>
            </a:pPr>
            <a:r>
              <a:rPr lang="en-US" sz="2800" b="1" dirty="0">
                <a:latin typeface="Calibir"/>
              </a:rPr>
              <a:t>Task 2:</a:t>
            </a:r>
          </a:p>
          <a:p>
            <a:pPr>
              <a:lnSpc>
                <a:spcPct val="150000"/>
              </a:lnSpc>
            </a:pPr>
            <a:r>
              <a:rPr lang="en-US" sz="2800" dirty="0">
                <a:latin typeface="Calibir"/>
              </a:rPr>
              <a:t>Change number of trees</a:t>
            </a:r>
          </a:p>
          <a:p>
            <a:pPr>
              <a:lnSpc>
                <a:spcPct val="150000"/>
              </a:lnSpc>
            </a:pPr>
            <a:r>
              <a:rPr lang="en-US" sz="2800" dirty="0" err="1">
                <a:highlight>
                  <a:srgbClr val="FFFF00"/>
                </a:highlight>
                <a:latin typeface="Calibir"/>
              </a:rPr>
              <a:t>n_estimators</a:t>
            </a:r>
            <a:r>
              <a:rPr lang="en-US" sz="2800" dirty="0">
                <a:highlight>
                  <a:srgbClr val="FFFF00"/>
                </a:highlight>
                <a:latin typeface="Calibir"/>
              </a:rPr>
              <a:t>=50</a:t>
            </a:r>
            <a:br>
              <a:rPr lang="en-US" sz="2800" dirty="0">
                <a:highlight>
                  <a:srgbClr val="FFFF00"/>
                </a:highlight>
                <a:latin typeface="Calibir"/>
              </a:rPr>
            </a:br>
            <a:r>
              <a:rPr lang="en-US" sz="2800" dirty="0" err="1">
                <a:highlight>
                  <a:srgbClr val="FFFF00"/>
                </a:highlight>
                <a:latin typeface="Calibir"/>
              </a:rPr>
              <a:t>n_estimators</a:t>
            </a:r>
            <a:r>
              <a:rPr lang="en-US" sz="2800" dirty="0">
                <a:highlight>
                  <a:srgbClr val="FFFF00"/>
                </a:highlight>
                <a:latin typeface="Calibir"/>
              </a:rPr>
              <a:t>=200</a:t>
            </a:r>
          </a:p>
          <a:p>
            <a:pPr>
              <a:lnSpc>
                <a:spcPct val="150000"/>
              </a:lnSpc>
            </a:pPr>
            <a:r>
              <a:rPr lang="en-US" sz="2800" dirty="0">
                <a:latin typeface="Calibir"/>
              </a:rPr>
              <a:t>Questions:</a:t>
            </a:r>
          </a:p>
          <a:p>
            <a:pPr marL="914400" lvl="1" indent="-457200">
              <a:lnSpc>
                <a:spcPct val="150000"/>
              </a:lnSpc>
              <a:buFont typeface="Arial" panose="020B0604020202020204" pitchFamily="34" charset="0"/>
              <a:buChar char="•"/>
            </a:pPr>
            <a:r>
              <a:rPr lang="en-US" sz="2800" dirty="0">
                <a:latin typeface="Calibir"/>
              </a:rPr>
              <a:t>Does accuracy change? </a:t>
            </a:r>
          </a:p>
          <a:p>
            <a:pPr marL="914400" lvl="1" indent="-457200">
              <a:lnSpc>
                <a:spcPct val="150000"/>
              </a:lnSpc>
              <a:buFont typeface="Arial" panose="020B0604020202020204" pitchFamily="34" charset="0"/>
              <a:buChar char="•"/>
            </a:pPr>
            <a:r>
              <a:rPr lang="en-US" sz="2800" dirty="0">
                <a:latin typeface="Calibir"/>
              </a:rPr>
              <a:t>Is bigger always better?</a:t>
            </a:r>
          </a:p>
        </p:txBody>
      </p:sp>
      <p:pic>
        <p:nvPicPr>
          <p:cNvPr id="4" name="object 3">
            <a:extLst>
              <a:ext uri="{FF2B5EF4-FFF2-40B4-BE49-F238E27FC236}">
                <a16:creationId xmlns:a16="http://schemas.microsoft.com/office/drawing/2014/main" id="{DB50DA87-038F-C482-5521-B2F98702E678}"/>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A78B5830-3EE1-D0FF-8F4F-9282A669DD8B}"/>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Task for Example 1</a:t>
            </a:r>
          </a:p>
        </p:txBody>
      </p:sp>
      <p:sp>
        <p:nvSpPr>
          <p:cNvPr id="2" name="TextBox 1">
            <a:extLst>
              <a:ext uri="{FF2B5EF4-FFF2-40B4-BE49-F238E27FC236}">
                <a16:creationId xmlns:a16="http://schemas.microsoft.com/office/drawing/2014/main" id="{7310AF18-AB60-834B-F0AF-D65006957278}"/>
              </a:ext>
            </a:extLst>
          </p:cNvPr>
          <p:cNvSpPr txBox="1"/>
          <p:nvPr/>
        </p:nvSpPr>
        <p:spPr>
          <a:xfrm>
            <a:off x="94419" y="6143030"/>
            <a:ext cx="6427076" cy="646331"/>
          </a:xfrm>
          <a:prstGeom prst="rect">
            <a:avLst/>
          </a:prstGeom>
          <a:noFill/>
        </p:spPr>
        <p:txBody>
          <a:bodyPr wrap="square">
            <a:spAutoFit/>
          </a:bodyPr>
          <a:lstStyle/>
          <a:p>
            <a:r>
              <a:rPr lang="en-US" dirty="0">
                <a:hlinkClick r:id="rId3"/>
              </a:rPr>
              <a:t>https://colab.research.google.com/drive/1CI-nYzAYDFoSJIr4BvyxhODfdq7l_h9m?usp=sharing</a:t>
            </a:r>
            <a:r>
              <a:rPr lang="en-US" dirty="0"/>
              <a:t> </a:t>
            </a:r>
          </a:p>
        </p:txBody>
      </p:sp>
    </p:spTree>
    <p:extLst>
      <p:ext uri="{BB962C8B-B14F-4D97-AF65-F5344CB8AC3E}">
        <p14:creationId xmlns:p14="http://schemas.microsoft.com/office/powerpoint/2010/main" val="13324827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D8B49-F3B4-7AD5-9E90-EDA8B55E272C}"/>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817084EC-6DB4-1FCA-20BD-0281C71B2589}"/>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8C6E7CC3-6148-31C2-3615-E9E6DD40A7FF}"/>
              </a:ext>
            </a:extLst>
          </p:cNvPr>
          <p:cNvSpPr txBox="1"/>
          <p:nvPr/>
        </p:nvSpPr>
        <p:spPr>
          <a:xfrm>
            <a:off x="1" y="1555532"/>
            <a:ext cx="10710040" cy="1315296"/>
          </a:xfrm>
          <a:prstGeom prst="rect">
            <a:avLst/>
          </a:prstGeom>
          <a:noFill/>
        </p:spPr>
        <p:txBody>
          <a:bodyPr wrap="square">
            <a:spAutoFit/>
          </a:bodyPr>
          <a:lstStyle/>
          <a:p>
            <a:pPr>
              <a:lnSpc>
                <a:spcPct val="150000"/>
              </a:lnSpc>
            </a:pPr>
            <a:r>
              <a:rPr lang="en-US" sz="2800" dirty="0">
                <a:latin typeface="Calibir"/>
              </a:rPr>
              <a:t>Goal (simple)</a:t>
            </a:r>
          </a:p>
          <a:p>
            <a:pPr>
              <a:lnSpc>
                <a:spcPct val="150000"/>
              </a:lnSpc>
            </a:pPr>
            <a:r>
              <a:rPr lang="en-US" sz="2800" dirty="0">
                <a:latin typeface="Calibir"/>
              </a:rPr>
              <a:t>Predict wine quality using two models</a:t>
            </a:r>
          </a:p>
        </p:txBody>
      </p:sp>
      <p:pic>
        <p:nvPicPr>
          <p:cNvPr id="4" name="object 3">
            <a:extLst>
              <a:ext uri="{FF2B5EF4-FFF2-40B4-BE49-F238E27FC236}">
                <a16:creationId xmlns:a16="http://schemas.microsoft.com/office/drawing/2014/main" id="{65ECF7EC-5599-8757-717B-D9D6F4D0D956}"/>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F1CF4B0B-21FC-007F-3FE7-E1994B36047E}"/>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Example 2 (Regression – Compare Models)</a:t>
            </a:r>
          </a:p>
        </p:txBody>
      </p:sp>
    </p:spTree>
    <p:extLst>
      <p:ext uri="{BB962C8B-B14F-4D97-AF65-F5344CB8AC3E}">
        <p14:creationId xmlns:p14="http://schemas.microsoft.com/office/powerpoint/2010/main" val="21300342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02C54-CB07-5348-F7DF-32D6B072C947}"/>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FCFFE05C-1BA5-98BA-EC82-CC1BD183C9D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B56984A7-0961-6866-B11E-E53AA91E25B6}"/>
              </a:ext>
            </a:extLst>
          </p:cNvPr>
          <p:cNvPicPr/>
          <p:nvPr/>
        </p:nvPicPr>
        <p:blipFill>
          <a:blip r:embed="rId2" cstate="print"/>
          <a:srcRect l="24413" r="9390"/>
          <a:stretch>
            <a:fillRect/>
          </a:stretch>
        </p:blipFill>
        <p:spPr>
          <a:xfrm>
            <a:off x="10710041" y="73691"/>
            <a:ext cx="1481959" cy="1944414"/>
          </a:xfrm>
          <a:prstGeom prst="rect">
            <a:avLst/>
          </a:prstGeom>
        </p:spPr>
      </p:pic>
      <p:sp>
        <p:nvSpPr>
          <p:cNvPr id="8" name="TextBox 7">
            <a:extLst>
              <a:ext uri="{FF2B5EF4-FFF2-40B4-BE49-F238E27FC236}">
                <a16:creationId xmlns:a16="http://schemas.microsoft.com/office/drawing/2014/main" id="{ED4365C3-9DAD-FE16-2906-A3F3AC1EFD02}"/>
              </a:ext>
            </a:extLst>
          </p:cNvPr>
          <p:cNvSpPr txBox="1"/>
          <p:nvPr/>
        </p:nvSpPr>
        <p:spPr>
          <a:xfrm>
            <a:off x="0" y="0"/>
            <a:ext cx="10574594" cy="6186309"/>
          </a:xfrm>
          <a:prstGeom prst="rect">
            <a:avLst/>
          </a:prstGeom>
          <a:noFill/>
        </p:spPr>
        <p:txBody>
          <a:bodyPr wrap="square">
            <a:spAutoFit/>
          </a:bodyPr>
          <a:lstStyle/>
          <a:p>
            <a:pPr>
              <a:buNone/>
            </a:pPr>
            <a:r>
              <a:rPr lang="en-US" b="0" dirty="0">
                <a:solidFill>
                  <a:srgbClr val="008000"/>
                </a:solidFill>
                <a:effectLst/>
                <a:latin typeface="Courier New" panose="02070309020205020404" pitchFamily="49" charset="0"/>
              </a:rPr>
              <a:t># REGRESSION MODEL COMPARISON (FULL CODE)</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pandas </a:t>
            </a:r>
            <a:r>
              <a:rPr lang="en-US" b="0" dirty="0">
                <a:solidFill>
                  <a:srgbClr val="9723B4"/>
                </a:solidFill>
                <a:effectLst/>
                <a:latin typeface="Courier New" panose="02070309020205020404" pitchFamily="49" charset="0"/>
              </a:rPr>
              <a:t>as</a:t>
            </a:r>
            <a:r>
              <a:rPr lang="en-US" b="0" dirty="0">
                <a:solidFill>
                  <a:srgbClr val="000000"/>
                </a:solidFill>
                <a:effectLst/>
                <a:latin typeface="Courier New" panose="02070309020205020404" pitchFamily="49" charset="0"/>
              </a:rPr>
              <a:t> pd</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sklearn.model_selection</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train_test_split</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sklearn.pipeline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Pipeline</a:t>
            </a: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sklearn.impute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SimpleImputer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sklearn.ensemble</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RandomForestRegressor</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sklearn.linear_model</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LinearRegression</a:t>
            </a:r>
            <a:endParaRPr lang="en-US" b="0" dirty="0">
              <a:solidFill>
                <a:srgbClr val="000000"/>
              </a:solidFill>
              <a:effectLst/>
              <a:latin typeface="Courier New" panose="02070309020205020404" pitchFamily="49" charset="0"/>
            </a:endParaRPr>
          </a:p>
          <a:p>
            <a:pPr>
              <a:buNone/>
            </a:pPr>
            <a:r>
              <a:rPr lang="en-US" b="0" dirty="0">
                <a:solidFill>
                  <a:srgbClr val="9723B4"/>
                </a:solidFill>
                <a:effectLst/>
                <a:latin typeface="Courier New" panose="02070309020205020404" pitchFamily="49" charset="0"/>
              </a:rPr>
              <a:t>from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sklearn.metrics</a:t>
            </a:r>
            <a:r>
              <a:rPr lang="en-US" b="0" dirty="0">
                <a:solidFill>
                  <a:srgbClr val="000000"/>
                </a:solidFill>
                <a:effectLst/>
                <a:latin typeface="Courier New" panose="02070309020205020404" pitchFamily="49" charset="0"/>
              </a:rPr>
              <a:t> </a:t>
            </a:r>
            <a:r>
              <a:rPr lang="en-US" b="0" dirty="0">
                <a:solidFill>
                  <a:srgbClr val="9723B4"/>
                </a:solidFill>
                <a:effectLst/>
                <a:latin typeface="Courier New" panose="02070309020205020404" pitchFamily="49" charset="0"/>
              </a:rPr>
              <a:t>import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mean_absolute_error</a:t>
            </a:r>
            <a:r>
              <a:rPr lang="en-US" b="0" dirty="0">
                <a:solidFill>
                  <a:srgbClr val="000000"/>
                </a:solidFill>
                <a:effectLst/>
                <a:latin typeface="Courier New" panose="02070309020205020404" pitchFamily="49" charset="0"/>
              </a:rPr>
              <a:t>, r2_score</a:t>
            </a:r>
          </a:p>
          <a:p>
            <a:pPr>
              <a:buNone/>
            </a:pPr>
            <a:br>
              <a:rPr lang="en-US" b="0" dirty="0">
                <a:solidFill>
                  <a:srgbClr val="000000"/>
                </a:solidFill>
                <a:effectLst/>
                <a:latin typeface="Courier New" panose="02070309020205020404" pitchFamily="49" charset="0"/>
              </a:rPr>
            </a:br>
            <a:r>
              <a:rPr lang="en-US" b="0" dirty="0">
                <a:solidFill>
                  <a:srgbClr val="008000"/>
                </a:solidFill>
                <a:effectLst/>
                <a:latin typeface="Courier New" panose="02070309020205020404" pitchFamily="49" charset="0"/>
              </a:rPr>
              <a:t># 1. Load data</a:t>
            </a:r>
            <a:endParaRPr lang="en-US" b="0" dirty="0">
              <a:solidFill>
                <a:srgbClr val="000000"/>
              </a:solidFill>
              <a:effectLst/>
              <a:latin typeface="Courier New" panose="02070309020205020404" pitchFamily="49" charset="0"/>
            </a:endParaRPr>
          </a:p>
          <a:p>
            <a:pPr>
              <a:buNone/>
            </a:pPr>
            <a:r>
              <a:rPr lang="en-US" b="0" dirty="0" err="1">
                <a:solidFill>
                  <a:srgbClr val="000000"/>
                </a:solidFill>
                <a:effectLst/>
                <a:latin typeface="Courier New" panose="02070309020205020404" pitchFamily="49" charset="0"/>
              </a:rPr>
              <a:t>url</a:t>
            </a:r>
            <a:r>
              <a:rPr lang="en-US" b="0" dirty="0">
                <a:solidFill>
                  <a:srgbClr val="000000"/>
                </a:solidFill>
                <a:effectLst/>
                <a:latin typeface="Courier New" panose="02070309020205020404" pitchFamily="49" charset="0"/>
              </a:rPr>
              <a:t> = </a:t>
            </a:r>
            <a:r>
              <a:rPr lang="en-US" b="0" dirty="0">
                <a:solidFill>
                  <a:srgbClr val="A31515"/>
                </a:solidFill>
                <a:effectLst/>
                <a:latin typeface="Courier New" panose="02070309020205020404" pitchFamily="49" charset="0"/>
              </a:rPr>
              <a:t>"https://archive.ics.uci.edu/ml/machine-learning-databases/wine-quality/winequality-red.csv"</a:t>
            </a:r>
            <a:endParaRPr lang="en-US" b="0" dirty="0">
              <a:solidFill>
                <a:srgbClr val="000000"/>
              </a:solidFill>
              <a:effectLst/>
              <a:latin typeface="Courier New" panose="02070309020205020404" pitchFamily="49" charset="0"/>
            </a:endParaRPr>
          </a:p>
          <a:p>
            <a:pPr>
              <a:buNone/>
            </a:pPr>
            <a:r>
              <a:rPr lang="en-US" b="0" dirty="0" err="1">
                <a:solidFill>
                  <a:srgbClr val="000000"/>
                </a:solidFill>
                <a:effectLst/>
                <a:latin typeface="Courier New" panose="02070309020205020404" pitchFamily="49" charset="0"/>
              </a:rPr>
              <a:t>df</a:t>
            </a:r>
            <a:r>
              <a:rPr lang="en-US" b="0" dirty="0">
                <a:solidFill>
                  <a:srgbClr val="000000"/>
                </a:solidFill>
                <a:effectLst/>
                <a:latin typeface="Courier New" panose="02070309020205020404" pitchFamily="49" charset="0"/>
              </a:rPr>
              <a:t> = </a:t>
            </a:r>
            <a:r>
              <a:rPr lang="en-US" b="0" dirty="0" err="1">
                <a:solidFill>
                  <a:srgbClr val="000000"/>
                </a:solidFill>
                <a:effectLst/>
                <a:latin typeface="Courier New" panose="02070309020205020404" pitchFamily="49" charset="0"/>
              </a:rPr>
              <a:t>pd.read_csv</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url</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sep</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a:t>
            </a:r>
            <a:r>
              <a:rPr lang="en-US" b="0" dirty="0">
                <a:solidFill>
                  <a:srgbClr val="000000"/>
                </a:solidFill>
                <a:effectLst/>
                <a:latin typeface="Courier New" panose="02070309020205020404" pitchFamily="49" charset="0"/>
              </a:rPr>
              <a:t>)</a:t>
            </a:r>
          </a:p>
          <a:p>
            <a:pPr>
              <a:buNone/>
            </a:pPr>
            <a:br>
              <a:rPr lang="en-US" b="0" dirty="0">
                <a:solidFill>
                  <a:srgbClr val="000000"/>
                </a:solidFill>
                <a:effectLst/>
                <a:latin typeface="Courier New" panose="02070309020205020404" pitchFamily="49" charset="0"/>
              </a:rPr>
            </a:br>
            <a:r>
              <a:rPr lang="en-US" b="0" dirty="0">
                <a:solidFill>
                  <a:srgbClr val="008000"/>
                </a:solidFill>
                <a:effectLst/>
                <a:latin typeface="Courier New" panose="02070309020205020404" pitchFamily="49" charset="0"/>
              </a:rPr>
              <a:t># 2. Split input and target</a:t>
            </a:r>
            <a:endParaRPr lang="en-US" b="0" dirty="0">
              <a:solidFill>
                <a:srgbClr val="000000"/>
              </a:solidFill>
              <a:effectLst/>
              <a:latin typeface="Courier New" panose="02070309020205020404" pitchFamily="49" charset="0"/>
            </a:endParaRPr>
          </a:p>
          <a:p>
            <a:pPr>
              <a:buNone/>
            </a:pPr>
            <a:r>
              <a:rPr lang="en-US" b="0" dirty="0">
                <a:solidFill>
                  <a:srgbClr val="000000"/>
                </a:solidFill>
                <a:effectLst/>
                <a:latin typeface="Courier New" panose="02070309020205020404" pitchFamily="49" charset="0"/>
              </a:rPr>
              <a:t>X = </a:t>
            </a:r>
            <a:r>
              <a:rPr lang="en-US" b="0" dirty="0" err="1">
                <a:solidFill>
                  <a:srgbClr val="000000"/>
                </a:solidFill>
                <a:effectLst/>
                <a:latin typeface="Courier New" panose="02070309020205020404" pitchFamily="49" charset="0"/>
              </a:rPr>
              <a:t>df.drop</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"quality"</a:t>
            </a:r>
            <a:r>
              <a:rPr lang="en-US" b="0" dirty="0">
                <a:solidFill>
                  <a:srgbClr val="000000"/>
                </a:solidFill>
                <a:effectLst/>
                <a:latin typeface="Courier New" panose="02070309020205020404" pitchFamily="49" charset="0"/>
              </a:rPr>
              <a:t>, axis=</a:t>
            </a:r>
            <a:r>
              <a:rPr lang="en-US" b="0" dirty="0">
                <a:solidFill>
                  <a:srgbClr val="116644"/>
                </a:solidFill>
                <a:effectLst/>
                <a:latin typeface="Courier New" panose="02070309020205020404" pitchFamily="49" charset="0"/>
              </a:rPr>
              <a:t>1</a:t>
            </a:r>
            <a:r>
              <a:rPr lang="en-US" b="0" dirty="0">
                <a:solidFill>
                  <a:srgbClr val="000000"/>
                </a:solidFill>
                <a:effectLst/>
                <a:latin typeface="Courier New" panose="02070309020205020404" pitchFamily="49" charset="0"/>
              </a:rPr>
              <a:t>)</a:t>
            </a:r>
          </a:p>
          <a:p>
            <a:pPr>
              <a:buNone/>
            </a:pPr>
            <a:r>
              <a:rPr lang="en-US" b="0" dirty="0">
                <a:solidFill>
                  <a:srgbClr val="000000"/>
                </a:solidFill>
                <a:effectLst/>
                <a:latin typeface="Courier New" panose="02070309020205020404" pitchFamily="49" charset="0"/>
              </a:rPr>
              <a:t>y = </a:t>
            </a:r>
            <a:r>
              <a:rPr lang="en-US" b="0" dirty="0" err="1">
                <a:solidFill>
                  <a:srgbClr val="000000"/>
                </a:solidFill>
                <a:effectLst/>
                <a:latin typeface="Courier New" panose="02070309020205020404" pitchFamily="49" charset="0"/>
              </a:rPr>
              <a:t>df</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"quality"</a:t>
            </a:r>
            <a:r>
              <a:rPr lang="en-US" b="0" dirty="0">
                <a:solidFill>
                  <a:srgbClr val="000000"/>
                </a:solidFill>
                <a:effectLst/>
                <a:latin typeface="Courier New" panose="02070309020205020404" pitchFamily="49" charset="0"/>
              </a:rPr>
              <a:t>]</a:t>
            </a:r>
          </a:p>
          <a:p>
            <a:pPr>
              <a:buNone/>
            </a:pPr>
            <a:endParaRPr lang="en-US" b="0" dirty="0">
              <a:solidFill>
                <a:srgbClr val="000000"/>
              </a:solidFill>
              <a:effectLst/>
              <a:latin typeface="Courier New" panose="02070309020205020404" pitchFamily="49" charset="0"/>
            </a:endParaRPr>
          </a:p>
          <a:p>
            <a:pPr>
              <a:buNone/>
            </a:pPr>
            <a:r>
              <a:rPr lang="en-US" b="0" dirty="0">
                <a:solidFill>
                  <a:srgbClr val="008000"/>
                </a:solidFill>
                <a:effectLst/>
                <a:latin typeface="Courier New" panose="02070309020205020404" pitchFamily="49" charset="0"/>
              </a:rPr>
              <a:t># 3. Train/test split</a:t>
            </a:r>
            <a:endParaRPr lang="en-US" b="0" dirty="0">
              <a:solidFill>
                <a:srgbClr val="000000"/>
              </a:solidFill>
              <a:effectLst/>
              <a:latin typeface="Courier New" panose="02070309020205020404" pitchFamily="49" charset="0"/>
            </a:endParaRPr>
          </a:p>
          <a:p>
            <a:pPr>
              <a:buNone/>
            </a:pPr>
            <a:r>
              <a:rPr lang="en-US" b="0" dirty="0" err="1">
                <a:solidFill>
                  <a:srgbClr val="000000"/>
                </a:solidFill>
                <a:effectLst/>
                <a:latin typeface="Courier New" panose="02070309020205020404" pitchFamily="49" charset="0"/>
              </a:rPr>
              <a:t>X_train</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X_test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y_train</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y_test</a:t>
            </a:r>
            <a:r>
              <a:rPr lang="en-US" b="0" dirty="0">
                <a:solidFill>
                  <a:srgbClr val="000000"/>
                </a:solidFill>
                <a:effectLst/>
                <a:latin typeface="Courier New" panose="02070309020205020404" pitchFamily="49" charset="0"/>
              </a:rPr>
              <a:t> = </a:t>
            </a:r>
            <a:r>
              <a:rPr lang="en-US" b="0" dirty="0" err="1">
                <a:solidFill>
                  <a:srgbClr val="000000"/>
                </a:solidFill>
                <a:effectLst/>
                <a:latin typeface="Courier New" panose="02070309020205020404" pitchFamily="49" charset="0"/>
              </a:rPr>
              <a:t>train_test_split</a:t>
            </a:r>
            <a:r>
              <a:rPr lang="en-US" b="0" dirty="0">
                <a:solidFill>
                  <a:srgbClr val="000000"/>
                </a:solidFill>
                <a:effectLst/>
                <a:latin typeface="Courier New" panose="02070309020205020404" pitchFamily="49" charset="0"/>
              </a:rPr>
              <a:t>(</a:t>
            </a:r>
          </a:p>
          <a:p>
            <a:pPr>
              <a:buNone/>
            </a:pPr>
            <a:r>
              <a:rPr lang="en-US" b="0" dirty="0">
                <a:solidFill>
                  <a:srgbClr val="000000"/>
                </a:solidFill>
                <a:effectLst/>
                <a:latin typeface="Courier New" panose="02070309020205020404" pitchFamily="49" charset="0"/>
              </a:rPr>
              <a:t>    X, y, </a:t>
            </a:r>
            <a:r>
              <a:rPr lang="en-US" b="0" dirty="0" err="1">
                <a:solidFill>
                  <a:srgbClr val="000000"/>
                </a:solidFill>
                <a:effectLst/>
                <a:latin typeface="Courier New" panose="02070309020205020404" pitchFamily="49" charset="0"/>
              </a:rPr>
              <a:t>test_size</a:t>
            </a:r>
            <a:r>
              <a:rPr lang="en-US" b="0" dirty="0">
                <a:solidFill>
                  <a:srgbClr val="000000"/>
                </a:solidFill>
                <a:effectLst/>
                <a:latin typeface="Courier New" panose="02070309020205020404" pitchFamily="49" charset="0"/>
              </a:rPr>
              <a:t>=</a:t>
            </a:r>
            <a:r>
              <a:rPr lang="en-US" b="0" dirty="0">
                <a:solidFill>
                  <a:srgbClr val="116644"/>
                </a:solidFill>
                <a:effectLst/>
                <a:latin typeface="Courier New" panose="02070309020205020404" pitchFamily="49" charset="0"/>
              </a:rPr>
              <a:t>0.2</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random_state</a:t>
            </a:r>
            <a:r>
              <a:rPr lang="en-US" b="0" dirty="0">
                <a:solidFill>
                  <a:srgbClr val="000000"/>
                </a:solidFill>
                <a:effectLst/>
                <a:latin typeface="Courier New" panose="02070309020205020404" pitchFamily="49" charset="0"/>
              </a:rPr>
              <a:t>=</a:t>
            </a:r>
            <a:r>
              <a:rPr lang="en-US" b="0" dirty="0">
                <a:solidFill>
                  <a:srgbClr val="116644"/>
                </a:solidFill>
                <a:effectLst/>
                <a:latin typeface="Courier New" panose="02070309020205020404" pitchFamily="49" charset="0"/>
              </a:rPr>
              <a:t>42</a:t>
            </a:r>
            <a:endParaRPr lang="en-US" b="0" dirty="0">
              <a:solidFill>
                <a:srgbClr val="000000"/>
              </a:solidFill>
              <a:effectLst/>
              <a:latin typeface="Courier New" panose="02070309020205020404" pitchFamily="49" charset="0"/>
            </a:endParaRPr>
          </a:p>
          <a:p>
            <a:pPr>
              <a:buNone/>
            </a:pPr>
            <a:r>
              <a:rPr lang="en-US" b="0" dirty="0">
                <a:solidFill>
                  <a:srgbClr val="000000"/>
                </a:solidFill>
                <a:effectLst/>
                <a:latin typeface="Courier New" panose="02070309020205020404" pitchFamily="49" charset="0"/>
              </a:rPr>
              <a:t>)</a:t>
            </a:r>
          </a:p>
        </p:txBody>
      </p:sp>
      <p:sp>
        <p:nvSpPr>
          <p:cNvPr id="9" name="TextBox 8">
            <a:extLst>
              <a:ext uri="{FF2B5EF4-FFF2-40B4-BE49-F238E27FC236}">
                <a16:creationId xmlns:a16="http://schemas.microsoft.com/office/drawing/2014/main" id="{9D49B6FF-0354-A13B-63F4-D7E54EB0CC1D}"/>
              </a:ext>
            </a:extLst>
          </p:cNvPr>
          <p:cNvSpPr txBox="1"/>
          <p:nvPr/>
        </p:nvSpPr>
        <p:spPr>
          <a:xfrm>
            <a:off x="94419" y="6143030"/>
            <a:ext cx="6427076" cy="646331"/>
          </a:xfrm>
          <a:prstGeom prst="rect">
            <a:avLst/>
          </a:prstGeom>
          <a:noFill/>
        </p:spPr>
        <p:txBody>
          <a:bodyPr wrap="square">
            <a:spAutoFit/>
          </a:bodyPr>
          <a:lstStyle/>
          <a:p>
            <a:r>
              <a:rPr lang="en-US" dirty="0">
                <a:hlinkClick r:id="rId3"/>
              </a:rPr>
              <a:t>https://colab.research.google.com/drive/1CI-nYzAYDFoSJIr4BvyxhODfdq7l_h9m?usp=sharing</a:t>
            </a:r>
            <a:r>
              <a:rPr lang="en-US" dirty="0"/>
              <a:t> </a:t>
            </a:r>
          </a:p>
        </p:txBody>
      </p:sp>
    </p:spTree>
    <p:extLst>
      <p:ext uri="{BB962C8B-B14F-4D97-AF65-F5344CB8AC3E}">
        <p14:creationId xmlns:p14="http://schemas.microsoft.com/office/powerpoint/2010/main" val="34357947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88848-C74E-FA71-E5F2-7FEB24E2864C}"/>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D579B2B7-C98A-80A6-71C7-06E730DCD0F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6776FAAA-A3FB-2C45-CF7D-E34794134709}"/>
              </a:ext>
            </a:extLst>
          </p:cNvPr>
          <p:cNvPicPr/>
          <p:nvPr/>
        </p:nvPicPr>
        <p:blipFill>
          <a:blip r:embed="rId2" cstate="print"/>
          <a:srcRect l="24413" r="9390"/>
          <a:stretch>
            <a:fillRect/>
          </a:stretch>
        </p:blipFill>
        <p:spPr>
          <a:xfrm>
            <a:off x="10710041" y="73691"/>
            <a:ext cx="1481959" cy="1944414"/>
          </a:xfrm>
          <a:prstGeom prst="rect">
            <a:avLst/>
          </a:prstGeom>
        </p:spPr>
      </p:pic>
      <p:sp>
        <p:nvSpPr>
          <p:cNvPr id="8" name="TextBox 7">
            <a:extLst>
              <a:ext uri="{FF2B5EF4-FFF2-40B4-BE49-F238E27FC236}">
                <a16:creationId xmlns:a16="http://schemas.microsoft.com/office/drawing/2014/main" id="{B15E3BFB-8BB9-C134-9DFB-AF7B88A5B664}"/>
              </a:ext>
            </a:extLst>
          </p:cNvPr>
          <p:cNvSpPr txBox="1"/>
          <p:nvPr/>
        </p:nvSpPr>
        <p:spPr>
          <a:xfrm>
            <a:off x="0" y="0"/>
            <a:ext cx="10574594" cy="5355312"/>
          </a:xfrm>
          <a:prstGeom prst="rect">
            <a:avLst/>
          </a:prstGeom>
          <a:noFill/>
        </p:spPr>
        <p:txBody>
          <a:bodyPr wrap="square">
            <a:spAutoFit/>
          </a:bodyPr>
          <a:lstStyle/>
          <a:p>
            <a:pPr>
              <a:buNone/>
            </a:pPr>
            <a:r>
              <a:rPr lang="en-US" dirty="0">
                <a:solidFill>
                  <a:srgbClr val="008000"/>
                </a:solidFill>
                <a:latin typeface="Courier New" panose="02070309020205020404" pitchFamily="49" charset="0"/>
              </a:rPr>
              <a:t># -------------------------</a:t>
            </a: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Model 1: Linear Regression</a:t>
            </a: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model_lr</a:t>
            </a:r>
            <a:r>
              <a:rPr lang="en-US" dirty="0">
                <a:solidFill>
                  <a:srgbClr val="000000"/>
                </a:solidFill>
                <a:latin typeface="Courier New" panose="02070309020205020404" pitchFamily="49" charset="0"/>
              </a:rPr>
              <a:t> = Pipeline([</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"imputer"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SimpleImputer</a:t>
            </a:r>
            <a:r>
              <a:rPr lang="en-US" dirty="0">
                <a:solidFill>
                  <a:srgbClr val="000000"/>
                </a:solidFill>
                <a:latin typeface="Courier New" panose="02070309020205020404" pitchFamily="49" charset="0"/>
              </a:rPr>
              <a:t>(strategy=</a:t>
            </a:r>
            <a:r>
              <a:rPr lang="en-US" dirty="0">
                <a:solidFill>
                  <a:srgbClr val="A31515"/>
                </a:solidFill>
                <a:latin typeface="Courier New" panose="02070309020205020404" pitchFamily="49" charset="0"/>
              </a:rPr>
              <a:t>"median"</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"regressor"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LinearRegression</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model_lr.fit</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X_train</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y_train</a:t>
            </a:r>
            <a:r>
              <a:rPr lang="en-US" dirty="0">
                <a:solidFill>
                  <a:srgbClr val="000000"/>
                </a:solidFill>
                <a:latin typeface="Courier New" panose="02070309020205020404" pitchFamily="49" charset="0"/>
              </a:rPr>
              <a:t>)</a:t>
            </a:r>
          </a:p>
          <a:p>
            <a:pPr>
              <a:buNone/>
            </a:pPr>
            <a:r>
              <a:rPr lang="en-US" dirty="0" err="1">
                <a:solidFill>
                  <a:srgbClr val="000000"/>
                </a:solidFill>
                <a:latin typeface="Courier New" panose="02070309020205020404" pitchFamily="49" charset="0"/>
              </a:rPr>
              <a:t>y_pred_lr</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model_lr.predict</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X_test</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mae_lr</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mean_absolute_error</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y_test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y_pred_lr</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r2_lr = r2_score(</a:t>
            </a:r>
            <a:r>
              <a:rPr lang="en-US" dirty="0" err="1">
                <a:solidFill>
                  <a:srgbClr val="000000"/>
                </a:solidFill>
                <a:latin typeface="Courier New" panose="02070309020205020404" pitchFamily="49" charset="0"/>
              </a:rPr>
              <a:t>y_test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y_pred_lr</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"Linear Regression MAE:"</a:t>
            </a:r>
            <a:r>
              <a:rPr lang="en-US" dirty="0">
                <a:solidFill>
                  <a:srgbClr val="000000"/>
                </a:solidFill>
                <a:latin typeface="Courier New" panose="02070309020205020404" pitchFamily="49" charset="0"/>
              </a:rPr>
              <a:t>, </a:t>
            </a:r>
            <a:r>
              <a:rPr lang="en-US" dirty="0">
                <a:solidFill>
                  <a:srgbClr val="6A5221"/>
                </a:solidFill>
                <a:latin typeface="Courier New" panose="02070309020205020404" pitchFamily="49" charset="0"/>
              </a:rPr>
              <a:t>round</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mae_lr</a:t>
            </a:r>
            <a:r>
              <a:rPr lang="en-US" dirty="0">
                <a:solidFill>
                  <a:srgbClr val="000000"/>
                </a:solidFill>
                <a:latin typeface="Courier New" panose="02070309020205020404" pitchFamily="49" charset="0"/>
              </a:rPr>
              <a:t>, </a:t>
            </a:r>
            <a:r>
              <a:rPr lang="en-US" dirty="0">
                <a:solidFill>
                  <a:srgbClr val="116644"/>
                </a:solidFill>
                <a:latin typeface="Courier New" panose="02070309020205020404" pitchFamily="49" charset="0"/>
              </a:rPr>
              <a:t>3</a:t>
            </a:r>
            <a:r>
              <a:rPr lang="en-US" dirty="0">
                <a:solidFill>
                  <a:srgbClr val="000000"/>
                </a:solidFill>
                <a:latin typeface="Courier New" panose="02070309020205020404" pitchFamily="49" charset="0"/>
              </a:rPr>
              <a:t>))</a:t>
            </a: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"Linear Regression R2:"</a:t>
            </a:r>
            <a:r>
              <a:rPr lang="en-US" dirty="0">
                <a:solidFill>
                  <a:srgbClr val="000000"/>
                </a:solidFill>
                <a:latin typeface="Courier New" panose="02070309020205020404" pitchFamily="49" charset="0"/>
              </a:rPr>
              <a:t>, </a:t>
            </a:r>
            <a:r>
              <a:rPr lang="en-US" dirty="0">
                <a:solidFill>
                  <a:srgbClr val="6A5221"/>
                </a:solidFill>
                <a:latin typeface="Courier New" panose="02070309020205020404" pitchFamily="49" charset="0"/>
              </a:rPr>
              <a:t>round</a:t>
            </a:r>
            <a:r>
              <a:rPr lang="en-US" dirty="0">
                <a:solidFill>
                  <a:srgbClr val="000000"/>
                </a:solidFill>
                <a:latin typeface="Courier New" panose="02070309020205020404" pitchFamily="49" charset="0"/>
              </a:rPr>
              <a:t>(r2_lr, </a:t>
            </a:r>
            <a:r>
              <a:rPr lang="en-US" dirty="0">
                <a:solidFill>
                  <a:srgbClr val="116644"/>
                </a:solidFill>
                <a:latin typeface="Courier New" panose="02070309020205020404" pitchFamily="49" charset="0"/>
              </a:rPr>
              <a:t>3</a:t>
            </a:r>
            <a:r>
              <a:rPr lang="en-US" dirty="0">
                <a:solidFill>
                  <a:srgbClr val="000000"/>
                </a:solidFill>
                <a:latin typeface="Courier New" panose="02070309020205020404" pitchFamily="49" charset="0"/>
              </a:rPr>
              <a:t>))</a:t>
            </a:r>
          </a:p>
        </p:txBody>
      </p:sp>
      <p:sp>
        <p:nvSpPr>
          <p:cNvPr id="2" name="TextBox 1">
            <a:extLst>
              <a:ext uri="{FF2B5EF4-FFF2-40B4-BE49-F238E27FC236}">
                <a16:creationId xmlns:a16="http://schemas.microsoft.com/office/drawing/2014/main" id="{DE984F84-8C60-908F-025C-098AF213D19B}"/>
              </a:ext>
            </a:extLst>
          </p:cNvPr>
          <p:cNvSpPr txBox="1"/>
          <p:nvPr/>
        </p:nvSpPr>
        <p:spPr>
          <a:xfrm>
            <a:off x="94419" y="6143030"/>
            <a:ext cx="6427076" cy="646331"/>
          </a:xfrm>
          <a:prstGeom prst="rect">
            <a:avLst/>
          </a:prstGeom>
          <a:noFill/>
        </p:spPr>
        <p:txBody>
          <a:bodyPr wrap="square">
            <a:spAutoFit/>
          </a:bodyPr>
          <a:lstStyle/>
          <a:p>
            <a:r>
              <a:rPr lang="en-US" dirty="0">
                <a:hlinkClick r:id="rId3"/>
              </a:rPr>
              <a:t>https://colab.research.google.com/drive/1CI-nYzAYDFoSJIr4BvyxhODfdq7l_h9m?usp=sharing</a:t>
            </a:r>
            <a:r>
              <a:rPr lang="en-US" dirty="0"/>
              <a:t> </a:t>
            </a:r>
          </a:p>
        </p:txBody>
      </p:sp>
    </p:spTree>
    <p:extLst>
      <p:ext uri="{BB962C8B-B14F-4D97-AF65-F5344CB8AC3E}">
        <p14:creationId xmlns:p14="http://schemas.microsoft.com/office/powerpoint/2010/main" val="34210199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14875-16FA-915C-F38E-468A6D136068}"/>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C61D3A6F-6130-E3E9-229D-1C75B158C01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027F4AEA-5E93-C146-D397-FFC03C342956}"/>
              </a:ext>
            </a:extLst>
          </p:cNvPr>
          <p:cNvPicPr/>
          <p:nvPr/>
        </p:nvPicPr>
        <p:blipFill>
          <a:blip r:embed="rId2" cstate="print"/>
          <a:srcRect l="24413" r="9390"/>
          <a:stretch>
            <a:fillRect/>
          </a:stretch>
        </p:blipFill>
        <p:spPr>
          <a:xfrm>
            <a:off x="10710041" y="73691"/>
            <a:ext cx="1481959" cy="1944414"/>
          </a:xfrm>
          <a:prstGeom prst="rect">
            <a:avLst/>
          </a:prstGeom>
        </p:spPr>
      </p:pic>
      <p:sp>
        <p:nvSpPr>
          <p:cNvPr id="8" name="TextBox 7">
            <a:extLst>
              <a:ext uri="{FF2B5EF4-FFF2-40B4-BE49-F238E27FC236}">
                <a16:creationId xmlns:a16="http://schemas.microsoft.com/office/drawing/2014/main" id="{3DC243AF-AF9F-DE9F-C042-954D001FD210}"/>
              </a:ext>
            </a:extLst>
          </p:cNvPr>
          <p:cNvSpPr txBox="1"/>
          <p:nvPr/>
        </p:nvSpPr>
        <p:spPr>
          <a:xfrm>
            <a:off x="0" y="0"/>
            <a:ext cx="10574594" cy="5355312"/>
          </a:xfrm>
          <a:prstGeom prst="rect">
            <a:avLst/>
          </a:prstGeom>
          <a:noFill/>
        </p:spPr>
        <p:txBody>
          <a:bodyPr wrap="square">
            <a:spAutoFit/>
          </a:bodyPr>
          <a:lstStyle/>
          <a:p>
            <a:pPr>
              <a:buNone/>
            </a:pPr>
            <a:r>
              <a:rPr lang="en-US" dirty="0">
                <a:solidFill>
                  <a:srgbClr val="008000"/>
                </a:solidFill>
                <a:latin typeface="Courier New" panose="02070309020205020404" pitchFamily="49" charset="0"/>
              </a:rPr>
              <a:t># -------------------------</a:t>
            </a: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Model 2: Random Forest</a:t>
            </a:r>
            <a:endParaRPr lang="en-US" dirty="0">
              <a:solidFill>
                <a:srgbClr val="000000"/>
              </a:solidFill>
              <a:latin typeface="Courier New" panose="02070309020205020404" pitchFamily="49" charset="0"/>
            </a:endParaRPr>
          </a:p>
          <a:p>
            <a:pPr>
              <a:buNone/>
            </a:pPr>
            <a:r>
              <a:rPr lang="en-US" dirty="0">
                <a:solidFill>
                  <a:srgbClr val="008000"/>
                </a:solidFill>
                <a:latin typeface="Courier New" panose="02070309020205020404" pitchFamily="49" charset="0"/>
              </a:rPr>
              <a:t># -------------------------</a:t>
            </a: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model_rf</a:t>
            </a:r>
            <a:r>
              <a:rPr lang="en-US" dirty="0">
                <a:solidFill>
                  <a:srgbClr val="000000"/>
                </a:solidFill>
                <a:latin typeface="Courier New" panose="02070309020205020404" pitchFamily="49" charset="0"/>
              </a:rPr>
              <a:t> = Pipeline([</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"imputer"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SimpleImputer</a:t>
            </a:r>
            <a:r>
              <a:rPr lang="en-US" dirty="0">
                <a:solidFill>
                  <a:srgbClr val="000000"/>
                </a:solidFill>
                <a:latin typeface="Courier New" panose="02070309020205020404" pitchFamily="49" charset="0"/>
              </a:rPr>
              <a:t>(strategy=</a:t>
            </a:r>
            <a:r>
              <a:rPr lang="en-US" dirty="0">
                <a:solidFill>
                  <a:srgbClr val="A31515"/>
                </a:solidFill>
                <a:latin typeface="Courier New" panose="02070309020205020404" pitchFamily="49" charset="0"/>
              </a:rPr>
              <a:t>"median"</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    (</a:t>
            </a:r>
            <a:r>
              <a:rPr lang="en-US" dirty="0">
                <a:solidFill>
                  <a:srgbClr val="A31515"/>
                </a:solidFill>
                <a:latin typeface="Courier New" panose="02070309020205020404" pitchFamily="49" charset="0"/>
              </a:rPr>
              <a:t>"regressor"</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RandomForestRegressor</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n_estimators</a:t>
            </a:r>
            <a:r>
              <a:rPr lang="en-US" dirty="0">
                <a:solidFill>
                  <a:srgbClr val="000000"/>
                </a:solidFill>
                <a:latin typeface="Courier New" panose="02070309020205020404" pitchFamily="49" charset="0"/>
              </a:rPr>
              <a:t>=</a:t>
            </a:r>
            <a:r>
              <a:rPr lang="en-US" dirty="0">
                <a:solidFill>
                  <a:srgbClr val="116644"/>
                </a:solidFill>
                <a:latin typeface="Courier New" panose="02070309020205020404" pitchFamily="49" charset="0"/>
              </a:rPr>
              <a:t>200</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random_state</a:t>
            </a:r>
            <a:r>
              <a:rPr lang="en-US" dirty="0">
                <a:solidFill>
                  <a:srgbClr val="000000"/>
                </a:solidFill>
                <a:latin typeface="Courier New" panose="02070309020205020404" pitchFamily="49" charset="0"/>
              </a:rPr>
              <a:t>=</a:t>
            </a:r>
            <a:r>
              <a:rPr lang="en-US" dirty="0">
                <a:solidFill>
                  <a:srgbClr val="116644"/>
                </a:solidFill>
                <a:latin typeface="Courier New" panose="02070309020205020404" pitchFamily="49" charset="0"/>
              </a:rPr>
              <a:t>42</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model_rf.fit</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X_train</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y_train</a:t>
            </a:r>
            <a:r>
              <a:rPr lang="en-US" dirty="0">
                <a:solidFill>
                  <a:srgbClr val="000000"/>
                </a:solidFill>
                <a:latin typeface="Courier New" panose="02070309020205020404" pitchFamily="49" charset="0"/>
              </a:rPr>
              <a:t>)</a:t>
            </a:r>
          </a:p>
          <a:p>
            <a:pPr>
              <a:buNone/>
            </a:pPr>
            <a:r>
              <a:rPr lang="en-US" dirty="0" err="1">
                <a:solidFill>
                  <a:srgbClr val="000000"/>
                </a:solidFill>
                <a:latin typeface="Courier New" panose="02070309020205020404" pitchFamily="49" charset="0"/>
              </a:rPr>
              <a:t>y_pred_rf</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model_rf.predict</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X_test</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err="1">
                <a:solidFill>
                  <a:srgbClr val="000000"/>
                </a:solidFill>
                <a:latin typeface="Courier New" panose="02070309020205020404" pitchFamily="49" charset="0"/>
              </a:rPr>
              <a:t>mae_rf</a:t>
            </a:r>
            <a:r>
              <a:rPr lang="en-US" dirty="0">
                <a:solidFill>
                  <a:srgbClr val="000000"/>
                </a:solidFill>
                <a:latin typeface="Courier New" panose="02070309020205020404" pitchFamily="49" charset="0"/>
              </a:rPr>
              <a:t> = </a:t>
            </a:r>
            <a:r>
              <a:rPr lang="en-US" dirty="0" err="1">
                <a:solidFill>
                  <a:srgbClr val="000000"/>
                </a:solidFill>
                <a:latin typeface="Courier New" panose="02070309020205020404" pitchFamily="49" charset="0"/>
              </a:rPr>
              <a:t>mean_absolute_error</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y_test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y_pred_rf</a:t>
            </a:r>
            <a:r>
              <a:rPr lang="en-US" dirty="0">
                <a:solidFill>
                  <a:srgbClr val="000000"/>
                </a:solidFill>
                <a:latin typeface="Courier New" panose="02070309020205020404" pitchFamily="49" charset="0"/>
              </a:rPr>
              <a:t>)</a:t>
            </a:r>
          </a:p>
          <a:p>
            <a:pPr>
              <a:buNone/>
            </a:pPr>
            <a:r>
              <a:rPr lang="en-US" dirty="0">
                <a:solidFill>
                  <a:srgbClr val="000000"/>
                </a:solidFill>
                <a:latin typeface="Courier New" panose="02070309020205020404" pitchFamily="49" charset="0"/>
              </a:rPr>
              <a:t>r2_rf = r2_score(</a:t>
            </a:r>
            <a:r>
              <a:rPr lang="en-US" dirty="0" err="1">
                <a:solidFill>
                  <a:srgbClr val="000000"/>
                </a:solidFill>
                <a:latin typeface="Courier New" panose="02070309020205020404" pitchFamily="49" charset="0"/>
              </a:rPr>
              <a:t>y_test</a:t>
            </a:r>
            <a:r>
              <a:rPr lang="en-US" dirty="0">
                <a:solidFill>
                  <a:srgbClr val="000000"/>
                </a:solidFill>
                <a:latin typeface="Courier New" panose="02070309020205020404" pitchFamily="49" charset="0"/>
              </a:rPr>
              <a:t>, </a:t>
            </a:r>
            <a:r>
              <a:rPr lang="en-US" dirty="0" err="1">
                <a:solidFill>
                  <a:srgbClr val="000000"/>
                </a:solidFill>
                <a:latin typeface="Courier New" panose="02070309020205020404" pitchFamily="49" charset="0"/>
              </a:rPr>
              <a:t>y_pred_rf</a:t>
            </a:r>
            <a:r>
              <a:rPr lang="en-US" dirty="0">
                <a:solidFill>
                  <a:srgbClr val="000000"/>
                </a:solidFill>
                <a:latin typeface="Courier New" panose="02070309020205020404" pitchFamily="49" charset="0"/>
              </a:rPr>
              <a:t>)</a:t>
            </a:r>
          </a:p>
          <a:p>
            <a:pPr>
              <a:buNone/>
            </a:pPr>
            <a:br>
              <a:rPr lang="en-US" dirty="0">
                <a:solidFill>
                  <a:srgbClr val="000000"/>
                </a:solidFill>
                <a:latin typeface="Courier New" panose="02070309020205020404" pitchFamily="49" charset="0"/>
              </a:rPr>
            </a:br>
            <a:endParaRPr lang="en-US" dirty="0">
              <a:solidFill>
                <a:srgbClr val="000000"/>
              </a:solidFill>
              <a:latin typeface="Courier New" panose="02070309020205020404" pitchFamily="49" charset="0"/>
            </a:endParaRP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a:t>
            </a:r>
            <a:r>
              <a:rPr lang="en-US" dirty="0" err="1">
                <a:solidFill>
                  <a:srgbClr val="A31515"/>
                </a:solidFill>
                <a:latin typeface="Courier New" panose="02070309020205020404" pitchFamily="49" charset="0"/>
              </a:rPr>
              <a:t>nRandom</a:t>
            </a:r>
            <a:r>
              <a:rPr lang="en-US" dirty="0">
                <a:solidFill>
                  <a:srgbClr val="A31515"/>
                </a:solidFill>
                <a:latin typeface="Courier New" panose="02070309020205020404" pitchFamily="49" charset="0"/>
              </a:rPr>
              <a:t> Forest MAE:"</a:t>
            </a:r>
            <a:r>
              <a:rPr lang="en-US" dirty="0">
                <a:solidFill>
                  <a:srgbClr val="000000"/>
                </a:solidFill>
                <a:latin typeface="Courier New" panose="02070309020205020404" pitchFamily="49" charset="0"/>
              </a:rPr>
              <a:t>, </a:t>
            </a:r>
            <a:r>
              <a:rPr lang="en-US" dirty="0">
                <a:solidFill>
                  <a:srgbClr val="6A5221"/>
                </a:solidFill>
                <a:latin typeface="Courier New" panose="02070309020205020404" pitchFamily="49" charset="0"/>
              </a:rPr>
              <a:t>round</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mae_rf</a:t>
            </a:r>
            <a:r>
              <a:rPr lang="en-US" dirty="0">
                <a:solidFill>
                  <a:srgbClr val="000000"/>
                </a:solidFill>
                <a:latin typeface="Courier New" panose="02070309020205020404" pitchFamily="49" charset="0"/>
              </a:rPr>
              <a:t>, </a:t>
            </a:r>
            <a:r>
              <a:rPr lang="en-US" dirty="0">
                <a:solidFill>
                  <a:srgbClr val="116644"/>
                </a:solidFill>
                <a:latin typeface="Courier New" panose="02070309020205020404" pitchFamily="49" charset="0"/>
              </a:rPr>
              <a:t>3</a:t>
            </a:r>
            <a:r>
              <a:rPr lang="en-US" dirty="0">
                <a:solidFill>
                  <a:srgbClr val="000000"/>
                </a:solidFill>
                <a:latin typeface="Courier New" panose="02070309020205020404" pitchFamily="49" charset="0"/>
              </a:rPr>
              <a:t>))</a:t>
            </a:r>
          </a:p>
          <a:p>
            <a:pPr>
              <a:buNone/>
            </a:pPr>
            <a:r>
              <a:rPr lang="en-US" dirty="0">
                <a:solidFill>
                  <a:srgbClr val="6A5221"/>
                </a:solidFill>
                <a:latin typeface="Courier New" panose="02070309020205020404" pitchFamily="49" charset="0"/>
              </a:rPr>
              <a:t>print</a:t>
            </a:r>
            <a:r>
              <a:rPr lang="en-US" dirty="0">
                <a:solidFill>
                  <a:srgbClr val="000000"/>
                </a:solidFill>
                <a:latin typeface="Courier New" panose="02070309020205020404" pitchFamily="49" charset="0"/>
              </a:rPr>
              <a:t>(</a:t>
            </a:r>
            <a:r>
              <a:rPr lang="en-US" dirty="0">
                <a:solidFill>
                  <a:srgbClr val="A31515"/>
                </a:solidFill>
                <a:latin typeface="Courier New" panose="02070309020205020404" pitchFamily="49" charset="0"/>
              </a:rPr>
              <a:t>"Random Forest R2:"</a:t>
            </a:r>
            <a:r>
              <a:rPr lang="en-US" dirty="0">
                <a:solidFill>
                  <a:srgbClr val="000000"/>
                </a:solidFill>
                <a:latin typeface="Courier New" panose="02070309020205020404" pitchFamily="49" charset="0"/>
              </a:rPr>
              <a:t>, </a:t>
            </a:r>
            <a:r>
              <a:rPr lang="en-US" dirty="0">
                <a:solidFill>
                  <a:srgbClr val="6A5221"/>
                </a:solidFill>
                <a:latin typeface="Courier New" panose="02070309020205020404" pitchFamily="49" charset="0"/>
              </a:rPr>
              <a:t>round</a:t>
            </a:r>
            <a:r>
              <a:rPr lang="en-US" dirty="0">
                <a:solidFill>
                  <a:srgbClr val="000000"/>
                </a:solidFill>
                <a:latin typeface="Courier New" panose="02070309020205020404" pitchFamily="49" charset="0"/>
              </a:rPr>
              <a:t>(r2_rf, </a:t>
            </a:r>
            <a:r>
              <a:rPr lang="en-US" dirty="0">
                <a:solidFill>
                  <a:srgbClr val="116644"/>
                </a:solidFill>
                <a:latin typeface="Courier New" panose="02070309020205020404" pitchFamily="49" charset="0"/>
              </a:rPr>
              <a:t>3</a:t>
            </a:r>
            <a:r>
              <a:rPr lang="en-US" dirty="0">
                <a:solidFill>
                  <a:srgbClr val="000000"/>
                </a:solidFill>
                <a:latin typeface="Courier New" panose="02070309020205020404" pitchFamily="49" charset="0"/>
              </a:rPr>
              <a:t>))</a:t>
            </a:r>
          </a:p>
        </p:txBody>
      </p:sp>
      <p:sp>
        <p:nvSpPr>
          <p:cNvPr id="2" name="TextBox 1">
            <a:extLst>
              <a:ext uri="{FF2B5EF4-FFF2-40B4-BE49-F238E27FC236}">
                <a16:creationId xmlns:a16="http://schemas.microsoft.com/office/drawing/2014/main" id="{4D330891-A472-E569-E2F3-4D03A24A3023}"/>
              </a:ext>
            </a:extLst>
          </p:cNvPr>
          <p:cNvSpPr txBox="1"/>
          <p:nvPr/>
        </p:nvSpPr>
        <p:spPr>
          <a:xfrm>
            <a:off x="94419" y="6143030"/>
            <a:ext cx="6427076" cy="646331"/>
          </a:xfrm>
          <a:prstGeom prst="rect">
            <a:avLst/>
          </a:prstGeom>
          <a:noFill/>
        </p:spPr>
        <p:txBody>
          <a:bodyPr wrap="square">
            <a:spAutoFit/>
          </a:bodyPr>
          <a:lstStyle/>
          <a:p>
            <a:r>
              <a:rPr lang="en-US" dirty="0">
                <a:hlinkClick r:id="rId3"/>
              </a:rPr>
              <a:t>https://colab.research.google.com/drive/1CI-nYzAYDFoSJIr4BvyxhODfdq7l_h9m?usp=sharing</a:t>
            </a:r>
            <a:r>
              <a:rPr lang="en-US" dirty="0"/>
              <a:t> </a:t>
            </a:r>
          </a:p>
        </p:txBody>
      </p:sp>
    </p:spTree>
    <p:extLst>
      <p:ext uri="{BB962C8B-B14F-4D97-AF65-F5344CB8AC3E}">
        <p14:creationId xmlns:p14="http://schemas.microsoft.com/office/powerpoint/2010/main" val="39692928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7794F-7340-5716-69D3-FD07690D9241}"/>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27A8B85-DF62-8405-CAF5-26949DF5008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sp>
        <p:nvSpPr>
          <p:cNvPr id="5" name="TextBox 4">
            <a:extLst>
              <a:ext uri="{FF2B5EF4-FFF2-40B4-BE49-F238E27FC236}">
                <a16:creationId xmlns:a16="http://schemas.microsoft.com/office/drawing/2014/main" id="{6245D289-B7C2-1169-A6B0-90B8B7750101}"/>
              </a:ext>
            </a:extLst>
          </p:cNvPr>
          <p:cNvSpPr txBox="1"/>
          <p:nvPr/>
        </p:nvSpPr>
        <p:spPr>
          <a:xfrm>
            <a:off x="1" y="1045898"/>
            <a:ext cx="10710040" cy="4549835"/>
          </a:xfrm>
          <a:prstGeom prst="rect">
            <a:avLst/>
          </a:prstGeom>
          <a:noFill/>
        </p:spPr>
        <p:txBody>
          <a:bodyPr wrap="square">
            <a:spAutoFit/>
          </a:bodyPr>
          <a:lstStyle/>
          <a:p>
            <a:pPr>
              <a:lnSpc>
                <a:spcPct val="150000"/>
              </a:lnSpc>
            </a:pPr>
            <a:r>
              <a:rPr lang="en-US" sz="2800" b="1" dirty="0">
                <a:latin typeface="Calibir"/>
              </a:rPr>
              <a:t>Simple explanation</a:t>
            </a:r>
          </a:p>
          <a:p>
            <a:pPr>
              <a:lnSpc>
                <a:spcPct val="150000"/>
              </a:lnSpc>
            </a:pPr>
            <a:r>
              <a:rPr lang="en-US" sz="2800" dirty="0">
                <a:latin typeface="Calibir"/>
              </a:rPr>
              <a:t>Linear Regression:</a:t>
            </a:r>
          </a:p>
          <a:p>
            <a:pPr marL="914400" lvl="1" indent="-457200">
              <a:lnSpc>
                <a:spcPct val="150000"/>
              </a:lnSpc>
              <a:buFont typeface="Arial" panose="020B0604020202020204" pitchFamily="34" charset="0"/>
              <a:buChar char="•"/>
            </a:pPr>
            <a:r>
              <a:rPr lang="en-US" sz="2800" dirty="0">
                <a:latin typeface="Calibir"/>
              </a:rPr>
              <a:t>Simple model </a:t>
            </a:r>
          </a:p>
          <a:p>
            <a:pPr marL="914400" lvl="1" indent="-457200">
              <a:lnSpc>
                <a:spcPct val="150000"/>
              </a:lnSpc>
              <a:buFont typeface="Arial" panose="020B0604020202020204" pitchFamily="34" charset="0"/>
              <a:buChar char="•"/>
            </a:pPr>
            <a:r>
              <a:rPr lang="en-US" sz="2800" dirty="0">
                <a:latin typeface="Calibir"/>
              </a:rPr>
              <a:t>Draws a straight line </a:t>
            </a:r>
          </a:p>
          <a:p>
            <a:pPr>
              <a:lnSpc>
                <a:spcPct val="150000"/>
              </a:lnSpc>
            </a:pPr>
            <a:r>
              <a:rPr lang="en-US" sz="2800" dirty="0">
                <a:latin typeface="Calibir"/>
              </a:rPr>
              <a:t>Random Forest:</a:t>
            </a:r>
          </a:p>
          <a:p>
            <a:pPr marL="914400" lvl="1" indent="-457200">
              <a:lnSpc>
                <a:spcPct val="150000"/>
              </a:lnSpc>
              <a:buFont typeface="Arial" panose="020B0604020202020204" pitchFamily="34" charset="0"/>
              <a:buChar char="•"/>
            </a:pPr>
            <a:r>
              <a:rPr lang="en-US" sz="2800" dirty="0">
                <a:latin typeface="Calibir"/>
              </a:rPr>
              <a:t>Complex model </a:t>
            </a:r>
          </a:p>
          <a:p>
            <a:pPr marL="914400" lvl="1" indent="-457200">
              <a:lnSpc>
                <a:spcPct val="150000"/>
              </a:lnSpc>
              <a:buFont typeface="Arial" panose="020B0604020202020204" pitchFamily="34" charset="0"/>
              <a:buChar char="•"/>
            </a:pPr>
            <a:r>
              <a:rPr lang="en-US" sz="2800" dirty="0">
                <a:latin typeface="Calibir"/>
              </a:rPr>
              <a:t>Uses many decision trees</a:t>
            </a:r>
          </a:p>
        </p:txBody>
      </p:sp>
      <p:pic>
        <p:nvPicPr>
          <p:cNvPr id="4" name="object 3">
            <a:extLst>
              <a:ext uri="{FF2B5EF4-FFF2-40B4-BE49-F238E27FC236}">
                <a16:creationId xmlns:a16="http://schemas.microsoft.com/office/drawing/2014/main" id="{0D4EEE05-C61F-4C69-F34D-E1211C85C16D}"/>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51A32B64-0D61-5605-201B-CB8C4FEDF734}"/>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Example 2 (Regression – Compare Models)</a:t>
            </a:r>
          </a:p>
        </p:txBody>
      </p:sp>
    </p:spTree>
    <p:extLst>
      <p:ext uri="{BB962C8B-B14F-4D97-AF65-F5344CB8AC3E}">
        <p14:creationId xmlns:p14="http://schemas.microsoft.com/office/powerpoint/2010/main" val="8463699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58675-F47A-C824-7B8F-465AE0B9C08C}"/>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E5589AEC-E1E5-8379-CF6D-8C6D0B0DAD98}"/>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EB41E618-2C7C-91F6-68DB-26DD5E3EAAE4}"/>
              </a:ext>
            </a:extLst>
          </p:cNvPr>
          <p:cNvPicPr/>
          <p:nvPr/>
        </p:nvPicPr>
        <p:blipFill>
          <a:blip r:embed="rId2" cstate="print"/>
          <a:srcRect l="24413" r="9390"/>
          <a:stretch>
            <a:fillRect/>
          </a:stretch>
        </p:blipFill>
        <p:spPr>
          <a:xfrm>
            <a:off x="10710041" y="73691"/>
            <a:ext cx="1481959" cy="1944414"/>
          </a:xfrm>
          <a:prstGeom prst="rect">
            <a:avLst/>
          </a:prstGeom>
        </p:spPr>
      </p:pic>
      <p:pic>
        <p:nvPicPr>
          <p:cNvPr id="8" name="Picture 7">
            <a:extLst>
              <a:ext uri="{FF2B5EF4-FFF2-40B4-BE49-F238E27FC236}">
                <a16:creationId xmlns:a16="http://schemas.microsoft.com/office/drawing/2014/main" id="{BED9D328-90A4-06AD-978E-C3A04140DB77}"/>
              </a:ext>
            </a:extLst>
          </p:cNvPr>
          <p:cNvPicPr>
            <a:picLocks noChangeAspect="1"/>
          </p:cNvPicPr>
          <p:nvPr/>
        </p:nvPicPr>
        <p:blipFill>
          <a:blip r:embed="rId3"/>
          <a:srcRect l="11008" t="47527" r="52822" b="37634"/>
          <a:stretch>
            <a:fillRect/>
          </a:stretch>
        </p:blipFill>
        <p:spPr>
          <a:xfrm>
            <a:off x="76091" y="0"/>
            <a:ext cx="9524092" cy="2197865"/>
          </a:xfrm>
          <a:prstGeom prst="rect">
            <a:avLst/>
          </a:prstGeom>
        </p:spPr>
      </p:pic>
      <p:sp>
        <p:nvSpPr>
          <p:cNvPr id="10" name="TextBox 9">
            <a:extLst>
              <a:ext uri="{FF2B5EF4-FFF2-40B4-BE49-F238E27FC236}">
                <a16:creationId xmlns:a16="http://schemas.microsoft.com/office/drawing/2014/main" id="{C1367769-9EB8-B0B2-5B88-F6B4F7AA625B}"/>
              </a:ext>
            </a:extLst>
          </p:cNvPr>
          <p:cNvSpPr txBox="1"/>
          <p:nvPr/>
        </p:nvSpPr>
        <p:spPr>
          <a:xfrm>
            <a:off x="36980" y="2197865"/>
            <a:ext cx="12078929" cy="4546950"/>
          </a:xfrm>
          <a:prstGeom prst="rect">
            <a:avLst/>
          </a:prstGeom>
          <a:solidFill>
            <a:schemeClr val="bg1"/>
          </a:solidFill>
        </p:spPr>
        <p:txBody>
          <a:bodyPr wrap="square">
            <a:spAutoFit/>
          </a:bodyPr>
          <a:lstStyle/>
          <a:p>
            <a:pPr>
              <a:lnSpc>
                <a:spcPct val="150000"/>
              </a:lnSpc>
            </a:pPr>
            <a:r>
              <a:rPr lang="en-US" sz="2800" b="1" dirty="0">
                <a:latin typeface="Calibir"/>
              </a:rPr>
              <a:t>Linear Regression</a:t>
            </a:r>
          </a:p>
          <a:p>
            <a:pPr marL="457200" indent="-457200">
              <a:lnSpc>
                <a:spcPct val="150000"/>
              </a:lnSpc>
              <a:buFont typeface="Arial" panose="020B0604020202020204" pitchFamily="34" charset="0"/>
              <a:buChar char="•"/>
            </a:pPr>
            <a:r>
              <a:rPr lang="en-US" sz="2800" dirty="0">
                <a:latin typeface="Calibir"/>
              </a:rPr>
              <a:t>MAE = 0.504</a:t>
            </a:r>
            <a:br>
              <a:rPr lang="en-US" sz="2800" dirty="0">
                <a:latin typeface="Calibir"/>
              </a:rPr>
            </a:br>
            <a:r>
              <a:rPr lang="en-US" sz="2800" dirty="0">
                <a:latin typeface="Calibir"/>
              </a:rPr>
              <a:t>Predictions are off by about 0.5 </a:t>
            </a:r>
          </a:p>
          <a:p>
            <a:pPr marL="457200" indent="-457200">
              <a:lnSpc>
                <a:spcPct val="150000"/>
              </a:lnSpc>
              <a:buFont typeface="Arial" panose="020B0604020202020204" pitchFamily="34" charset="0"/>
              <a:buChar char="•"/>
            </a:pPr>
            <a:r>
              <a:rPr lang="en-US" sz="2800" dirty="0">
                <a:latin typeface="Calibir"/>
              </a:rPr>
              <a:t>R² = 0.403</a:t>
            </a:r>
            <a:br>
              <a:rPr lang="en-US" sz="2800" dirty="0">
                <a:latin typeface="Calibir"/>
              </a:rPr>
            </a:br>
            <a:r>
              <a:rPr lang="en-US" sz="2800" dirty="0">
                <a:latin typeface="Calibir"/>
              </a:rPr>
              <a:t>Model explains about 40% of the data </a:t>
            </a:r>
          </a:p>
          <a:p>
            <a:pPr>
              <a:lnSpc>
                <a:spcPct val="150000"/>
              </a:lnSpc>
            </a:pPr>
            <a:r>
              <a:rPr lang="en-US" sz="2800" dirty="0">
                <a:latin typeface="Calibir"/>
              </a:rPr>
              <a:t>Conclusion:</a:t>
            </a:r>
            <a:br>
              <a:rPr lang="en-US" sz="2800" dirty="0">
                <a:latin typeface="Calibir"/>
              </a:rPr>
            </a:br>
            <a:r>
              <a:rPr lang="en-US" sz="2800" dirty="0">
                <a:latin typeface="Calibir"/>
              </a:rPr>
              <a:t>Not very strong model</a:t>
            </a:r>
          </a:p>
        </p:txBody>
      </p:sp>
    </p:spTree>
    <p:extLst>
      <p:ext uri="{BB962C8B-B14F-4D97-AF65-F5344CB8AC3E}">
        <p14:creationId xmlns:p14="http://schemas.microsoft.com/office/powerpoint/2010/main" val="23248453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0D731-2667-F716-4C9C-D89A1FE3349C}"/>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EF61D164-465C-BEB1-B66C-56614830B52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939FCACC-A86D-1C2F-8D0D-9CD953AA50C9}"/>
              </a:ext>
            </a:extLst>
          </p:cNvPr>
          <p:cNvPicPr/>
          <p:nvPr/>
        </p:nvPicPr>
        <p:blipFill>
          <a:blip r:embed="rId2" cstate="print"/>
          <a:srcRect l="24413" r="9390"/>
          <a:stretch>
            <a:fillRect/>
          </a:stretch>
        </p:blipFill>
        <p:spPr>
          <a:xfrm>
            <a:off x="10710041" y="73691"/>
            <a:ext cx="1481959" cy="1944414"/>
          </a:xfrm>
          <a:prstGeom prst="rect">
            <a:avLst/>
          </a:prstGeom>
        </p:spPr>
      </p:pic>
      <p:pic>
        <p:nvPicPr>
          <p:cNvPr id="8" name="Picture 7">
            <a:extLst>
              <a:ext uri="{FF2B5EF4-FFF2-40B4-BE49-F238E27FC236}">
                <a16:creationId xmlns:a16="http://schemas.microsoft.com/office/drawing/2014/main" id="{B2E8B5F4-0813-A183-EA9B-5A970E6F890D}"/>
              </a:ext>
            </a:extLst>
          </p:cNvPr>
          <p:cNvPicPr>
            <a:picLocks noChangeAspect="1"/>
          </p:cNvPicPr>
          <p:nvPr/>
        </p:nvPicPr>
        <p:blipFill>
          <a:blip r:embed="rId3"/>
          <a:srcRect l="11008" t="47527" r="52822" b="37634"/>
          <a:stretch>
            <a:fillRect/>
          </a:stretch>
        </p:blipFill>
        <p:spPr>
          <a:xfrm>
            <a:off x="76091" y="0"/>
            <a:ext cx="9524092" cy="2197865"/>
          </a:xfrm>
          <a:prstGeom prst="rect">
            <a:avLst/>
          </a:prstGeom>
        </p:spPr>
      </p:pic>
      <p:sp>
        <p:nvSpPr>
          <p:cNvPr id="10" name="TextBox 9">
            <a:extLst>
              <a:ext uri="{FF2B5EF4-FFF2-40B4-BE49-F238E27FC236}">
                <a16:creationId xmlns:a16="http://schemas.microsoft.com/office/drawing/2014/main" id="{B0414382-CC50-56A7-776D-EC2E7F32335E}"/>
              </a:ext>
            </a:extLst>
          </p:cNvPr>
          <p:cNvSpPr txBox="1"/>
          <p:nvPr/>
        </p:nvSpPr>
        <p:spPr>
          <a:xfrm>
            <a:off x="36980" y="2197865"/>
            <a:ext cx="12078929" cy="4546950"/>
          </a:xfrm>
          <a:prstGeom prst="rect">
            <a:avLst/>
          </a:prstGeom>
          <a:solidFill>
            <a:schemeClr val="bg1"/>
          </a:solidFill>
        </p:spPr>
        <p:txBody>
          <a:bodyPr wrap="square">
            <a:spAutoFit/>
          </a:bodyPr>
          <a:lstStyle/>
          <a:p>
            <a:pPr>
              <a:lnSpc>
                <a:spcPct val="150000"/>
              </a:lnSpc>
            </a:pPr>
            <a:r>
              <a:rPr lang="en-US" sz="2800" b="1" dirty="0">
                <a:latin typeface="Calibir"/>
              </a:rPr>
              <a:t>Random Forest</a:t>
            </a:r>
          </a:p>
          <a:p>
            <a:pPr marL="457200" indent="-457200">
              <a:lnSpc>
                <a:spcPct val="150000"/>
              </a:lnSpc>
              <a:buFont typeface="Arial" panose="020B0604020202020204" pitchFamily="34" charset="0"/>
              <a:buChar char="•"/>
            </a:pPr>
            <a:r>
              <a:rPr lang="en-US" sz="2800" dirty="0">
                <a:latin typeface="Calibir"/>
              </a:rPr>
              <a:t>MAE = 0.425</a:t>
            </a:r>
            <a:br>
              <a:rPr lang="en-US" sz="2800" dirty="0">
                <a:latin typeface="Calibir"/>
              </a:rPr>
            </a:br>
            <a:r>
              <a:rPr lang="en-US" sz="2800" dirty="0">
                <a:latin typeface="Calibir"/>
              </a:rPr>
              <a:t>Error is smaller → better predictions </a:t>
            </a:r>
          </a:p>
          <a:p>
            <a:pPr marL="457200" indent="-457200">
              <a:lnSpc>
                <a:spcPct val="150000"/>
              </a:lnSpc>
              <a:buFont typeface="Arial" panose="020B0604020202020204" pitchFamily="34" charset="0"/>
              <a:buChar char="•"/>
            </a:pPr>
            <a:r>
              <a:rPr lang="en-US" sz="2800" dirty="0">
                <a:latin typeface="Calibir"/>
              </a:rPr>
              <a:t>R² = 0.532</a:t>
            </a:r>
            <a:br>
              <a:rPr lang="en-US" sz="2800" dirty="0">
                <a:latin typeface="Calibir"/>
              </a:rPr>
            </a:br>
            <a:r>
              <a:rPr lang="en-US" sz="2800" dirty="0">
                <a:latin typeface="Calibir"/>
              </a:rPr>
              <a:t>Explains about 53% of the data </a:t>
            </a:r>
          </a:p>
          <a:p>
            <a:pPr>
              <a:lnSpc>
                <a:spcPct val="150000"/>
              </a:lnSpc>
            </a:pPr>
            <a:r>
              <a:rPr lang="en-US" sz="2800" dirty="0">
                <a:latin typeface="Calibir"/>
              </a:rPr>
              <a:t>Conclusion:</a:t>
            </a:r>
            <a:br>
              <a:rPr lang="en-US" sz="2800" dirty="0">
                <a:latin typeface="Calibir"/>
              </a:rPr>
            </a:br>
            <a:r>
              <a:rPr lang="en-US" sz="2800" dirty="0">
                <a:latin typeface="Calibir"/>
              </a:rPr>
              <a:t>Better model than Linear Regression</a:t>
            </a:r>
          </a:p>
        </p:txBody>
      </p:sp>
    </p:spTree>
    <p:extLst>
      <p:ext uri="{BB962C8B-B14F-4D97-AF65-F5344CB8AC3E}">
        <p14:creationId xmlns:p14="http://schemas.microsoft.com/office/powerpoint/2010/main" val="36905506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F9A56-24CF-65E4-064B-A1EAB8018FB2}"/>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6C8ADC6-A2C7-30A7-0064-D7CE955DF58B}"/>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A30D7D2C-59B1-1389-23BC-FE7BBBE2DE2C}"/>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5F3E6EB0-3934-DCC8-09A0-B5A359FC55B1}"/>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Example 2 (Regression – Compare Models)</a:t>
            </a:r>
          </a:p>
        </p:txBody>
      </p:sp>
      <p:pic>
        <p:nvPicPr>
          <p:cNvPr id="8" name="Picture 7">
            <a:extLst>
              <a:ext uri="{FF2B5EF4-FFF2-40B4-BE49-F238E27FC236}">
                <a16:creationId xmlns:a16="http://schemas.microsoft.com/office/drawing/2014/main" id="{C3F389CC-FF89-373B-21A3-7247743A2AC8}"/>
              </a:ext>
            </a:extLst>
          </p:cNvPr>
          <p:cNvPicPr>
            <a:picLocks noChangeAspect="1"/>
          </p:cNvPicPr>
          <p:nvPr/>
        </p:nvPicPr>
        <p:blipFill>
          <a:blip r:embed="rId3"/>
          <a:srcRect l="11008" t="47527" r="52822" b="37634"/>
          <a:stretch>
            <a:fillRect/>
          </a:stretch>
        </p:blipFill>
        <p:spPr>
          <a:xfrm>
            <a:off x="0" y="1000467"/>
            <a:ext cx="12078929" cy="2787442"/>
          </a:xfrm>
          <a:prstGeom prst="rect">
            <a:avLst/>
          </a:prstGeom>
        </p:spPr>
      </p:pic>
      <p:sp>
        <p:nvSpPr>
          <p:cNvPr id="10" name="TextBox 9">
            <a:extLst>
              <a:ext uri="{FF2B5EF4-FFF2-40B4-BE49-F238E27FC236}">
                <a16:creationId xmlns:a16="http://schemas.microsoft.com/office/drawing/2014/main" id="{E326E949-6149-4C23-E627-E8E713C397E1}"/>
              </a:ext>
            </a:extLst>
          </p:cNvPr>
          <p:cNvSpPr txBox="1"/>
          <p:nvPr/>
        </p:nvSpPr>
        <p:spPr>
          <a:xfrm>
            <a:off x="94418" y="3970225"/>
            <a:ext cx="12078929" cy="1318181"/>
          </a:xfrm>
          <a:prstGeom prst="rect">
            <a:avLst/>
          </a:prstGeom>
          <a:noFill/>
        </p:spPr>
        <p:txBody>
          <a:bodyPr wrap="square">
            <a:spAutoFit/>
          </a:bodyPr>
          <a:lstStyle/>
          <a:p>
            <a:pPr>
              <a:lnSpc>
                <a:spcPct val="150000"/>
              </a:lnSpc>
            </a:pPr>
            <a:r>
              <a:rPr lang="en-US" sz="2800" dirty="0">
                <a:latin typeface="Calibir"/>
              </a:rPr>
              <a:t>We compared a simple model (Linear Regression) with a more advanced model (Random Forest) to see which predicts wine quality better.</a:t>
            </a:r>
          </a:p>
        </p:txBody>
      </p:sp>
    </p:spTree>
    <p:extLst>
      <p:ext uri="{BB962C8B-B14F-4D97-AF65-F5344CB8AC3E}">
        <p14:creationId xmlns:p14="http://schemas.microsoft.com/office/powerpoint/2010/main" val="38551349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F471E-EBBE-DE93-303C-DA188C2B58E4}"/>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731DF747-D362-FD5E-930F-15BDDAE172E3}"/>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9781776C-8F8C-872C-EDD3-2E06CEAE56EF}"/>
              </a:ext>
            </a:extLst>
          </p:cNvPr>
          <p:cNvPicPr/>
          <p:nvPr/>
        </p:nvPicPr>
        <p:blipFill>
          <a:blip r:embed="rId2" cstate="print"/>
          <a:srcRect l="24413" r="9390"/>
          <a:stretch>
            <a:fillRect/>
          </a:stretch>
        </p:blipFill>
        <p:spPr>
          <a:xfrm>
            <a:off x="10710041" y="73691"/>
            <a:ext cx="1481959" cy="1944414"/>
          </a:xfrm>
          <a:prstGeom prst="rect">
            <a:avLst/>
          </a:prstGeom>
        </p:spPr>
      </p:pic>
      <p:graphicFrame>
        <p:nvGraphicFramePr>
          <p:cNvPr id="2" name="Table 1">
            <a:extLst>
              <a:ext uri="{FF2B5EF4-FFF2-40B4-BE49-F238E27FC236}">
                <a16:creationId xmlns:a16="http://schemas.microsoft.com/office/drawing/2014/main" id="{6C7E94C6-D6FF-7CE3-9878-AF26440979B7}"/>
              </a:ext>
            </a:extLst>
          </p:cNvPr>
          <p:cNvGraphicFramePr>
            <a:graphicFrameLocks noGrp="1"/>
          </p:cNvGraphicFramePr>
          <p:nvPr>
            <p:extLst>
              <p:ext uri="{D42A27DB-BD31-4B8C-83A1-F6EECF244321}">
                <p14:modId xmlns:p14="http://schemas.microsoft.com/office/powerpoint/2010/main" val="1906922974"/>
              </p:ext>
            </p:extLst>
          </p:nvPr>
        </p:nvGraphicFramePr>
        <p:xfrm>
          <a:off x="838200" y="2018105"/>
          <a:ext cx="10515600" cy="1996059"/>
        </p:xfrm>
        <a:graphic>
          <a:graphicData uri="http://schemas.openxmlformats.org/drawingml/2006/table">
            <a:tbl>
              <a:tblPr>
                <a:tableStyleId>{BDBED569-4797-4DF1-A0F4-6AAB3CD982D8}</a:tableStyleId>
              </a:tblPr>
              <a:tblGrid>
                <a:gridCol w="5257800">
                  <a:extLst>
                    <a:ext uri="{9D8B030D-6E8A-4147-A177-3AD203B41FA5}">
                      <a16:colId xmlns:a16="http://schemas.microsoft.com/office/drawing/2014/main" val="553634638"/>
                    </a:ext>
                  </a:extLst>
                </a:gridCol>
                <a:gridCol w="5257800">
                  <a:extLst>
                    <a:ext uri="{9D8B030D-6E8A-4147-A177-3AD203B41FA5}">
                      <a16:colId xmlns:a16="http://schemas.microsoft.com/office/drawing/2014/main" val="1551834299"/>
                    </a:ext>
                  </a:extLst>
                </a:gridCol>
              </a:tblGrid>
              <a:tr h="0">
                <a:tc>
                  <a:txBody>
                    <a:bodyPr/>
                    <a:lstStyle/>
                    <a:p>
                      <a:pPr>
                        <a:lnSpc>
                          <a:spcPct val="150000"/>
                        </a:lnSpc>
                        <a:buNone/>
                      </a:pPr>
                      <a:r>
                        <a:rPr lang="en-US" sz="2800" dirty="0">
                          <a:latin typeface="Calibir"/>
                        </a:rPr>
                        <a:t>Model</a:t>
                      </a:r>
                    </a:p>
                  </a:txBody>
                  <a:tcPr anchor="ctr">
                    <a:solidFill>
                      <a:schemeClr val="accent5">
                        <a:lumMod val="20000"/>
                        <a:lumOff val="80000"/>
                      </a:schemeClr>
                    </a:solidFill>
                  </a:tcPr>
                </a:tc>
                <a:tc>
                  <a:txBody>
                    <a:bodyPr/>
                    <a:lstStyle/>
                    <a:p>
                      <a:pPr>
                        <a:lnSpc>
                          <a:spcPct val="150000"/>
                        </a:lnSpc>
                        <a:buNone/>
                      </a:pPr>
                      <a:r>
                        <a:rPr lang="en-US" sz="2800" dirty="0">
                          <a:latin typeface="Calibir"/>
                        </a:rPr>
                        <a:t>Performance</a:t>
                      </a:r>
                    </a:p>
                  </a:txBody>
                  <a:tcPr anchor="ctr">
                    <a:solidFill>
                      <a:schemeClr val="accent5">
                        <a:lumMod val="20000"/>
                        <a:lumOff val="80000"/>
                      </a:schemeClr>
                    </a:solidFill>
                  </a:tcPr>
                </a:tc>
                <a:extLst>
                  <a:ext uri="{0D108BD9-81ED-4DB2-BD59-A6C34878D82A}">
                    <a16:rowId xmlns:a16="http://schemas.microsoft.com/office/drawing/2014/main" val="3660341311"/>
                  </a:ext>
                </a:extLst>
              </a:tr>
              <a:tr h="0">
                <a:tc>
                  <a:txBody>
                    <a:bodyPr/>
                    <a:lstStyle/>
                    <a:p>
                      <a:pPr>
                        <a:lnSpc>
                          <a:spcPct val="150000"/>
                        </a:lnSpc>
                        <a:buNone/>
                      </a:pPr>
                      <a:r>
                        <a:rPr lang="en-US" sz="2800" dirty="0">
                          <a:latin typeface="Calibir"/>
                        </a:rPr>
                        <a:t>Linear Regression</a:t>
                      </a:r>
                    </a:p>
                  </a:txBody>
                  <a:tcPr anchor="ctr"/>
                </a:tc>
                <a:tc>
                  <a:txBody>
                    <a:bodyPr/>
                    <a:lstStyle/>
                    <a:p>
                      <a:pPr>
                        <a:lnSpc>
                          <a:spcPct val="150000"/>
                        </a:lnSpc>
                        <a:buNone/>
                      </a:pPr>
                      <a:r>
                        <a:rPr lang="en-US" sz="2800">
                          <a:latin typeface="Calibir"/>
                        </a:rPr>
                        <a:t>lower</a:t>
                      </a:r>
                    </a:p>
                  </a:txBody>
                  <a:tcPr anchor="ctr"/>
                </a:tc>
                <a:extLst>
                  <a:ext uri="{0D108BD9-81ED-4DB2-BD59-A6C34878D82A}">
                    <a16:rowId xmlns:a16="http://schemas.microsoft.com/office/drawing/2014/main" val="2442406998"/>
                  </a:ext>
                </a:extLst>
              </a:tr>
              <a:tr h="0">
                <a:tc>
                  <a:txBody>
                    <a:bodyPr/>
                    <a:lstStyle/>
                    <a:p>
                      <a:pPr>
                        <a:lnSpc>
                          <a:spcPct val="150000"/>
                        </a:lnSpc>
                        <a:buNone/>
                      </a:pPr>
                      <a:r>
                        <a:rPr lang="en-US" sz="2800" dirty="0">
                          <a:latin typeface="Calibir"/>
                        </a:rPr>
                        <a:t>Random Forest</a:t>
                      </a:r>
                    </a:p>
                  </a:txBody>
                  <a:tcPr anchor="ctr"/>
                </a:tc>
                <a:tc>
                  <a:txBody>
                    <a:bodyPr/>
                    <a:lstStyle/>
                    <a:p>
                      <a:pPr>
                        <a:lnSpc>
                          <a:spcPct val="150000"/>
                        </a:lnSpc>
                        <a:buNone/>
                      </a:pPr>
                      <a:r>
                        <a:rPr lang="en-US" sz="2800" dirty="0">
                          <a:latin typeface="Calibir"/>
                        </a:rPr>
                        <a:t>better</a:t>
                      </a:r>
                    </a:p>
                  </a:txBody>
                  <a:tcPr anchor="ctr"/>
                </a:tc>
                <a:extLst>
                  <a:ext uri="{0D108BD9-81ED-4DB2-BD59-A6C34878D82A}">
                    <a16:rowId xmlns:a16="http://schemas.microsoft.com/office/drawing/2014/main" val="1234414207"/>
                  </a:ext>
                </a:extLst>
              </a:tr>
            </a:tbl>
          </a:graphicData>
        </a:graphic>
      </p:graphicFrame>
      <p:sp>
        <p:nvSpPr>
          <p:cNvPr id="11" name="TextBox 10">
            <a:extLst>
              <a:ext uri="{FF2B5EF4-FFF2-40B4-BE49-F238E27FC236}">
                <a16:creationId xmlns:a16="http://schemas.microsoft.com/office/drawing/2014/main" id="{D5B1F4BD-750E-D23F-DEC7-13D7BE8D903B}"/>
              </a:ext>
            </a:extLst>
          </p:cNvPr>
          <p:cNvSpPr txBox="1"/>
          <p:nvPr/>
        </p:nvSpPr>
        <p:spPr>
          <a:xfrm>
            <a:off x="0" y="4527968"/>
            <a:ext cx="10836166" cy="1318181"/>
          </a:xfrm>
          <a:prstGeom prst="rect">
            <a:avLst/>
          </a:prstGeom>
          <a:noFill/>
        </p:spPr>
        <p:txBody>
          <a:bodyPr wrap="square">
            <a:spAutoFit/>
          </a:bodyPr>
          <a:lstStyle/>
          <a:p>
            <a:pPr>
              <a:lnSpc>
                <a:spcPct val="150000"/>
              </a:lnSpc>
              <a:buNone/>
            </a:pPr>
            <a:r>
              <a:rPr lang="en-US" sz="2800" dirty="0">
                <a:latin typeface="Calibir"/>
              </a:rPr>
              <a:t>Why?</a:t>
            </a:r>
          </a:p>
          <a:p>
            <a:pPr marL="914400" lvl="1" indent="-457200">
              <a:lnSpc>
                <a:spcPct val="150000"/>
              </a:lnSpc>
              <a:buFont typeface="Arial" panose="020B0604020202020204" pitchFamily="34" charset="0"/>
              <a:buChar char="•"/>
            </a:pPr>
            <a:r>
              <a:rPr lang="en-US" sz="2800" dirty="0">
                <a:latin typeface="Calibir"/>
              </a:rPr>
              <a:t>Data is complex → simple model struggles</a:t>
            </a:r>
          </a:p>
        </p:txBody>
      </p:sp>
      <p:sp>
        <p:nvSpPr>
          <p:cNvPr id="12" name="object 2">
            <a:extLst>
              <a:ext uri="{FF2B5EF4-FFF2-40B4-BE49-F238E27FC236}">
                <a16:creationId xmlns:a16="http://schemas.microsoft.com/office/drawing/2014/main" id="{B778F7E3-6A2C-53CB-068B-3B75386D14AC}"/>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Expected Results</a:t>
            </a:r>
          </a:p>
        </p:txBody>
      </p:sp>
    </p:spTree>
    <p:extLst>
      <p:ext uri="{BB962C8B-B14F-4D97-AF65-F5344CB8AC3E}">
        <p14:creationId xmlns:p14="http://schemas.microsoft.com/office/powerpoint/2010/main" val="2509656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1000"/>
                                        <p:tgtEl>
                                          <p:spTgt spid="11">
                                            <p:txEl>
                                              <p:pRg st="1" end="1"/>
                                            </p:txEl>
                                          </p:spTgt>
                                        </p:tgtEl>
                                      </p:cBhvr>
                                    </p:animEffect>
                                    <p:anim calcmode="lin" valueType="num">
                                      <p:cBhvr>
                                        <p:cTn id="8"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36C7D-4598-F327-8A0E-77D93A8A990D}"/>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AF42EE25-2D47-6133-28A5-534058692D16}"/>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5BE0D34A-B931-03EF-0DDF-992245C689F1}"/>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63566413-86BD-034E-58EC-A0A5A0F4466A}"/>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Compare both models</a:t>
            </a:r>
          </a:p>
        </p:txBody>
      </p:sp>
      <p:graphicFrame>
        <p:nvGraphicFramePr>
          <p:cNvPr id="5" name="Table 4">
            <a:extLst>
              <a:ext uri="{FF2B5EF4-FFF2-40B4-BE49-F238E27FC236}">
                <a16:creationId xmlns:a16="http://schemas.microsoft.com/office/drawing/2014/main" id="{B92D7B5C-4719-07EF-3153-A429A37AE02E}"/>
              </a:ext>
            </a:extLst>
          </p:cNvPr>
          <p:cNvGraphicFramePr>
            <a:graphicFrameLocks noGrp="1"/>
          </p:cNvGraphicFramePr>
          <p:nvPr>
            <p:extLst>
              <p:ext uri="{D42A27DB-BD31-4B8C-83A1-F6EECF244321}">
                <p14:modId xmlns:p14="http://schemas.microsoft.com/office/powerpoint/2010/main" val="3145466246"/>
              </p:ext>
            </p:extLst>
          </p:nvPr>
        </p:nvGraphicFramePr>
        <p:xfrm>
          <a:off x="838200" y="2561427"/>
          <a:ext cx="10515600" cy="2636139"/>
        </p:xfrm>
        <a:graphic>
          <a:graphicData uri="http://schemas.openxmlformats.org/drawingml/2006/table">
            <a:tbl>
              <a:tblPr>
                <a:tableStyleId>{BDBED569-4797-4DF1-A0F4-6AAB3CD982D8}</a:tableStyleId>
              </a:tblPr>
              <a:tblGrid>
                <a:gridCol w="2628900">
                  <a:extLst>
                    <a:ext uri="{9D8B030D-6E8A-4147-A177-3AD203B41FA5}">
                      <a16:colId xmlns:a16="http://schemas.microsoft.com/office/drawing/2014/main" val="1401058587"/>
                    </a:ext>
                  </a:extLst>
                </a:gridCol>
                <a:gridCol w="2628900">
                  <a:extLst>
                    <a:ext uri="{9D8B030D-6E8A-4147-A177-3AD203B41FA5}">
                      <a16:colId xmlns:a16="http://schemas.microsoft.com/office/drawing/2014/main" val="3001332868"/>
                    </a:ext>
                  </a:extLst>
                </a:gridCol>
                <a:gridCol w="2628900">
                  <a:extLst>
                    <a:ext uri="{9D8B030D-6E8A-4147-A177-3AD203B41FA5}">
                      <a16:colId xmlns:a16="http://schemas.microsoft.com/office/drawing/2014/main" val="1728617044"/>
                    </a:ext>
                  </a:extLst>
                </a:gridCol>
                <a:gridCol w="2628900">
                  <a:extLst>
                    <a:ext uri="{9D8B030D-6E8A-4147-A177-3AD203B41FA5}">
                      <a16:colId xmlns:a16="http://schemas.microsoft.com/office/drawing/2014/main" val="802364238"/>
                    </a:ext>
                  </a:extLst>
                </a:gridCol>
              </a:tblGrid>
              <a:tr h="0">
                <a:tc>
                  <a:txBody>
                    <a:bodyPr/>
                    <a:lstStyle/>
                    <a:p>
                      <a:pPr>
                        <a:lnSpc>
                          <a:spcPct val="150000"/>
                        </a:lnSpc>
                        <a:buNone/>
                      </a:pPr>
                      <a:r>
                        <a:rPr lang="en-US" sz="2800" b="1" dirty="0">
                          <a:latin typeface="Calibir"/>
                        </a:rPr>
                        <a:t>Model</a:t>
                      </a:r>
                    </a:p>
                  </a:txBody>
                  <a:tcPr anchor="ctr">
                    <a:solidFill>
                      <a:schemeClr val="accent5">
                        <a:lumMod val="20000"/>
                        <a:lumOff val="80000"/>
                      </a:schemeClr>
                    </a:solidFill>
                  </a:tcPr>
                </a:tc>
                <a:tc>
                  <a:txBody>
                    <a:bodyPr/>
                    <a:lstStyle/>
                    <a:p>
                      <a:pPr>
                        <a:lnSpc>
                          <a:spcPct val="150000"/>
                        </a:lnSpc>
                        <a:buNone/>
                      </a:pPr>
                      <a:r>
                        <a:rPr lang="en-US" sz="2800" b="1" dirty="0">
                          <a:latin typeface="Calibir"/>
                        </a:rPr>
                        <a:t>Error (MAE)</a:t>
                      </a:r>
                    </a:p>
                  </a:txBody>
                  <a:tcPr anchor="ctr">
                    <a:solidFill>
                      <a:schemeClr val="accent5">
                        <a:lumMod val="20000"/>
                        <a:lumOff val="80000"/>
                      </a:schemeClr>
                    </a:solidFill>
                  </a:tcPr>
                </a:tc>
                <a:tc>
                  <a:txBody>
                    <a:bodyPr/>
                    <a:lstStyle/>
                    <a:p>
                      <a:pPr>
                        <a:lnSpc>
                          <a:spcPct val="150000"/>
                        </a:lnSpc>
                        <a:buNone/>
                      </a:pPr>
                      <a:r>
                        <a:rPr lang="en-US" sz="2800" b="1" dirty="0">
                          <a:latin typeface="Calibir"/>
                        </a:rPr>
                        <a:t>R²</a:t>
                      </a:r>
                    </a:p>
                  </a:txBody>
                  <a:tcPr anchor="ctr">
                    <a:solidFill>
                      <a:schemeClr val="accent5">
                        <a:lumMod val="20000"/>
                        <a:lumOff val="80000"/>
                      </a:schemeClr>
                    </a:solidFill>
                  </a:tcPr>
                </a:tc>
                <a:tc>
                  <a:txBody>
                    <a:bodyPr/>
                    <a:lstStyle/>
                    <a:p>
                      <a:pPr>
                        <a:lnSpc>
                          <a:spcPct val="150000"/>
                        </a:lnSpc>
                        <a:buNone/>
                      </a:pPr>
                      <a:r>
                        <a:rPr lang="en-US" sz="2800" b="1" dirty="0">
                          <a:latin typeface="Calibir"/>
                        </a:rPr>
                        <a:t>Performance</a:t>
                      </a:r>
                    </a:p>
                  </a:txBody>
                  <a:tcPr anchor="ctr">
                    <a:solidFill>
                      <a:schemeClr val="accent5">
                        <a:lumMod val="20000"/>
                        <a:lumOff val="80000"/>
                      </a:schemeClr>
                    </a:solidFill>
                  </a:tcPr>
                </a:tc>
                <a:extLst>
                  <a:ext uri="{0D108BD9-81ED-4DB2-BD59-A6C34878D82A}">
                    <a16:rowId xmlns:a16="http://schemas.microsoft.com/office/drawing/2014/main" val="237101200"/>
                  </a:ext>
                </a:extLst>
              </a:tr>
              <a:tr h="0">
                <a:tc>
                  <a:txBody>
                    <a:bodyPr/>
                    <a:lstStyle/>
                    <a:p>
                      <a:pPr>
                        <a:lnSpc>
                          <a:spcPct val="150000"/>
                        </a:lnSpc>
                        <a:buNone/>
                      </a:pPr>
                      <a:r>
                        <a:rPr lang="en-US" sz="2800">
                          <a:latin typeface="Calibir"/>
                        </a:rPr>
                        <a:t>Linear Regression</a:t>
                      </a:r>
                    </a:p>
                  </a:txBody>
                  <a:tcPr anchor="ctr"/>
                </a:tc>
                <a:tc>
                  <a:txBody>
                    <a:bodyPr/>
                    <a:lstStyle/>
                    <a:p>
                      <a:pPr>
                        <a:lnSpc>
                          <a:spcPct val="150000"/>
                        </a:lnSpc>
                        <a:buNone/>
                      </a:pPr>
                      <a:r>
                        <a:rPr lang="en-US" sz="2800" dirty="0">
                          <a:latin typeface="Calibir"/>
                        </a:rPr>
                        <a:t>Higher</a:t>
                      </a:r>
                    </a:p>
                  </a:txBody>
                  <a:tcPr anchor="ctr"/>
                </a:tc>
                <a:tc>
                  <a:txBody>
                    <a:bodyPr/>
                    <a:lstStyle/>
                    <a:p>
                      <a:pPr>
                        <a:lnSpc>
                          <a:spcPct val="150000"/>
                        </a:lnSpc>
                        <a:buNone/>
                      </a:pPr>
                      <a:r>
                        <a:rPr lang="en-US" sz="2800" dirty="0">
                          <a:latin typeface="Calibir"/>
                        </a:rPr>
                        <a:t>Lower</a:t>
                      </a:r>
                    </a:p>
                  </a:txBody>
                  <a:tcPr anchor="ctr"/>
                </a:tc>
                <a:tc>
                  <a:txBody>
                    <a:bodyPr/>
                    <a:lstStyle/>
                    <a:p>
                      <a:pPr>
                        <a:lnSpc>
                          <a:spcPct val="150000"/>
                        </a:lnSpc>
                        <a:buNone/>
                      </a:pPr>
                      <a:r>
                        <a:rPr lang="en-US" sz="2800">
                          <a:latin typeface="Calibir"/>
                        </a:rPr>
                        <a:t>Worse</a:t>
                      </a:r>
                    </a:p>
                  </a:txBody>
                  <a:tcPr anchor="ctr"/>
                </a:tc>
                <a:extLst>
                  <a:ext uri="{0D108BD9-81ED-4DB2-BD59-A6C34878D82A}">
                    <a16:rowId xmlns:a16="http://schemas.microsoft.com/office/drawing/2014/main" val="3943995415"/>
                  </a:ext>
                </a:extLst>
              </a:tr>
              <a:tr h="0">
                <a:tc>
                  <a:txBody>
                    <a:bodyPr/>
                    <a:lstStyle/>
                    <a:p>
                      <a:pPr>
                        <a:lnSpc>
                          <a:spcPct val="150000"/>
                        </a:lnSpc>
                        <a:buNone/>
                      </a:pPr>
                      <a:r>
                        <a:rPr lang="en-US" sz="2800">
                          <a:latin typeface="Calibir"/>
                        </a:rPr>
                        <a:t>Random Forest</a:t>
                      </a:r>
                    </a:p>
                  </a:txBody>
                  <a:tcPr anchor="ctr"/>
                </a:tc>
                <a:tc>
                  <a:txBody>
                    <a:bodyPr/>
                    <a:lstStyle/>
                    <a:p>
                      <a:pPr>
                        <a:lnSpc>
                          <a:spcPct val="150000"/>
                        </a:lnSpc>
                        <a:buNone/>
                      </a:pPr>
                      <a:r>
                        <a:rPr lang="en-US" sz="2800" dirty="0">
                          <a:latin typeface="Calibir"/>
                        </a:rPr>
                        <a:t>Lower</a:t>
                      </a:r>
                    </a:p>
                  </a:txBody>
                  <a:tcPr anchor="ctr"/>
                </a:tc>
                <a:tc>
                  <a:txBody>
                    <a:bodyPr/>
                    <a:lstStyle/>
                    <a:p>
                      <a:pPr>
                        <a:lnSpc>
                          <a:spcPct val="150000"/>
                        </a:lnSpc>
                        <a:buNone/>
                      </a:pPr>
                      <a:r>
                        <a:rPr lang="en-US" sz="2800" dirty="0">
                          <a:latin typeface="Calibir"/>
                        </a:rPr>
                        <a:t>Higher</a:t>
                      </a:r>
                    </a:p>
                  </a:txBody>
                  <a:tcPr anchor="ctr"/>
                </a:tc>
                <a:tc>
                  <a:txBody>
                    <a:bodyPr/>
                    <a:lstStyle/>
                    <a:p>
                      <a:pPr>
                        <a:lnSpc>
                          <a:spcPct val="150000"/>
                        </a:lnSpc>
                        <a:buNone/>
                      </a:pPr>
                      <a:r>
                        <a:rPr lang="en-US" sz="2800" dirty="0">
                          <a:latin typeface="Calibir"/>
                        </a:rPr>
                        <a:t>Better</a:t>
                      </a:r>
                    </a:p>
                  </a:txBody>
                  <a:tcPr anchor="ctr"/>
                </a:tc>
                <a:extLst>
                  <a:ext uri="{0D108BD9-81ED-4DB2-BD59-A6C34878D82A}">
                    <a16:rowId xmlns:a16="http://schemas.microsoft.com/office/drawing/2014/main" val="3855085029"/>
                  </a:ext>
                </a:extLst>
              </a:tr>
            </a:tbl>
          </a:graphicData>
        </a:graphic>
      </p:graphicFrame>
    </p:spTree>
    <p:extLst>
      <p:ext uri="{BB962C8B-B14F-4D97-AF65-F5344CB8AC3E}">
        <p14:creationId xmlns:p14="http://schemas.microsoft.com/office/powerpoint/2010/main" val="7264388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3DA30-049D-85D9-37DD-50DB739B593B}"/>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3B06F126-3F5C-7D2E-8DD7-81C1FDF50EA0}"/>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D7B3137E-1B0D-1DA4-EF48-2682931B2EC0}"/>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6019771A-A4D3-B119-9742-9A0CB8B2DA56}"/>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Key Insights</a:t>
            </a:r>
          </a:p>
        </p:txBody>
      </p:sp>
      <p:sp>
        <p:nvSpPr>
          <p:cNvPr id="3" name="TextBox 2">
            <a:extLst>
              <a:ext uri="{FF2B5EF4-FFF2-40B4-BE49-F238E27FC236}">
                <a16:creationId xmlns:a16="http://schemas.microsoft.com/office/drawing/2014/main" id="{2CBCCA21-855C-B651-A4DA-73709ABC339C}"/>
              </a:ext>
            </a:extLst>
          </p:cNvPr>
          <p:cNvSpPr txBox="1"/>
          <p:nvPr/>
        </p:nvSpPr>
        <p:spPr>
          <a:xfrm>
            <a:off x="334537" y="2018105"/>
            <a:ext cx="10861286" cy="3257174"/>
          </a:xfrm>
          <a:prstGeom prst="rect">
            <a:avLst/>
          </a:prstGeom>
          <a:noFill/>
        </p:spPr>
        <p:txBody>
          <a:bodyPr wrap="square">
            <a:spAutoFit/>
          </a:bodyPr>
          <a:lstStyle/>
          <a:p>
            <a:pPr>
              <a:lnSpc>
                <a:spcPct val="150000"/>
              </a:lnSpc>
              <a:buNone/>
            </a:pPr>
            <a:r>
              <a:rPr lang="en-US" sz="2800" b="1" dirty="0">
                <a:latin typeface="Calibir"/>
              </a:rPr>
              <a:t>Random Forest:</a:t>
            </a:r>
          </a:p>
          <a:p>
            <a:pPr marL="457200" indent="-457200">
              <a:lnSpc>
                <a:spcPct val="150000"/>
              </a:lnSpc>
              <a:buFont typeface="Arial" panose="020B0604020202020204" pitchFamily="34" charset="0"/>
              <a:buChar char="•"/>
            </a:pPr>
            <a:r>
              <a:rPr lang="en-US" sz="2800" dirty="0">
                <a:latin typeface="Calibir"/>
              </a:rPr>
              <a:t>Handles complex patterns better </a:t>
            </a:r>
          </a:p>
          <a:p>
            <a:pPr marL="457200" indent="-457200">
              <a:lnSpc>
                <a:spcPct val="150000"/>
              </a:lnSpc>
              <a:buFont typeface="Arial" panose="020B0604020202020204" pitchFamily="34" charset="0"/>
              <a:buChar char="•"/>
            </a:pPr>
            <a:r>
              <a:rPr lang="en-US" sz="2800" dirty="0">
                <a:latin typeface="Calibir"/>
              </a:rPr>
              <a:t>Gives more accurate predictions </a:t>
            </a:r>
          </a:p>
          <a:p>
            <a:pPr>
              <a:lnSpc>
                <a:spcPct val="150000"/>
              </a:lnSpc>
              <a:buNone/>
            </a:pPr>
            <a:r>
              <a:rPr lang="en-US" sz="2800" b="1" dirty="0">
                <a:latin typeface="Calibir"/>
              </a:rPr>
              <a:t>Linear Regression:</a:t>
            </a:r>
          </a:p>
          <a:p>
            <a:pPr marL="457200" indent="-457200">
              <a:lnSpc>
                <a:spcPct val="150000"/>
              </a:lnSpc>
              <a:buFont typeface="Arial" panose="020B0604020202020204" pitchFamily="34" charset="0"/>
              <a:buChar char="•"/>
            </a:pPr>
            <a:r>
              <a:rPr lang="en-US" sz="2800" dirty="0">
                <a:latin typeface="Calibir"/>
              </a:rPr>
              <a:t>Too simple for this dataset</a:t>
            </a:r>
          </a:p>
        </p:txBody>
      </p:sp>
    </p:spTree>
    <p:extLst>
      <p:ext uri="{BB962C8B-B14F-4D97-AF65-F5344CB8AC3E}">
        <p14:creationId xmlns:p14="http://schemas.microsoft.com/office/powerpoint/2010/main" val="28075133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E2624-C37A-6656-CCFD-6B6A3E2AC14F}"/>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D36A3EC9-698A-0EF6-D387-91DC40A5B7B7}"/>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E5C752B6-B99C-F250-8F54-68FC4C655E65}"/>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532430B3-4C77-485D-DA71-01953D8C46EB}"/>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Summary</a:t>
            </a:r>
          </a:p>
        </p:txBody>
      </p:sp>
      <p:sp>
        <p:nvSpPr>
          <p:cNvPr id="3" name="TextBox 2">
            <a:extLst>
              <a:ext uri="{FF2B5EF4-FFF2-40B4-BE49-F238E27FC236}">
                <a16:creationId xmlns:a16="http://schemas.microsoft.com/office/drawing/2014/main" id="{BD87A824-03BD-C8A2-E601-9FE9B84EA7A3}"/>
              </a:ext>
            </a:extLst>
          </p:cNvPr>
          <p:cNvSpPr txBox="1"/>
          <p:nvPr/>
        </p:nvSpPr>
        <p:spPr>
          <a:xfrm>
            <a:off x="334537" y="2018105"/>
            <a:ext cx="10861286" cy="1964512"/>
          </a:xfrm>
          <a:prstGeom prst="rect">
            <a:avLst/>
          </a:prstGeom>
          <a:noFill/>
        </p:spPr>
        <p:txBody>
          <a:bodyPr wrap="square">
            <a:spAutoFit/>
          </a:bodyPr>
          <a:lstStyle/>
          <a:p>
            <a:pPr>
              <a:lnSpc>
                <a:spcPct val="150000"/>
              </a:lnSpc>
            </a:pPr>
            <a:r>
              <a:rPr lang="en-US" sz="2800" dirty="0">
                <a:latin typeface="Calibir"/>
              </a:rPr>
              <a:t>Random Forest performs better than Linear Regression because it can learn more complex patterns in the data. It has lower error and explains more of the variation in wine quality.</a:t>
            </a:r>
          </a:p>
        </p:txBody>
      </p:sp>
    </p:spTree>
    <p:extLst>
      <p:ext uri="{BB962C8B-B14F-4D97-AF65-F5344CB8AC3E}">
        <p14:creationId xmlns:p14="http://schemas.microsoft.com/office/powerpoint/2010/main" val="26859771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F30E0-9D9A-2708-5169-EC7C1F6DCD2D}"/>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01E87399-D16A-DFA0-13A9-A1E9B2BC4614}"/>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3C9CB557-8FB9-3C0F-B71B-872475C5CD63}"/>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A761D7CE-A126-D070-039D-CB3D70742DDA}"/>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Summary</a:t>
            </a:r>
          </a:p>
        </p:txBody>
      </p:sp>
      <p:sp>
        <p:nvSpPr>
          <p:cNvPr id="3" name="TextBox 2">
            <a:extLst>
              <a:ext uri="{FF2B5EF4-FFF2-40B4-BE49-F238E27FC236}">
                <a16:creationId xmlns:a16="http://schemas.microsoft.com/office/drawing/2014/main" id="{40B8FE51-2860-9645-F408-6FC078774C7D}"/>
              </a:ext>
            </a:extLst>
          </p:cNvPr>
          <p:cNvSpPr txBox="1"/>
          <p:nvPr/>
        </p:nvSpPr>
        <p:spPr>
          <a:xfrm>
            <a:off x="334537" y="2018105"/>
            <a:ext cx="10861286" cy="2610843"/>
          </a:xfrm>
          <a:prstGeom prst="rect">
            <a:avLst/>
          </a:prstGeom>
          <a:noFill/>
        </p:spPr>
        <p:txBody>
          <a:bodyPr wrap="square">
            <a:spAutoFit/>
          </a:bodyPr>
          <a:lstStyle/>
          <a:p>
            <a:pPr>
              <a:lnSpc>
                <a:spcPct val="150000"/>
              </a:lnSpc>
            </a:pPr>
            <a:r>
              <a:rPr lang="en-US" sz="2800" b="1" dirty="0">
                <a:latin typeface="Calibir"/>
              </a:rPr>
              <a:t>Classification:</a:t>
            </a:r>
          </a:p>
          <a:p>
            <a:pPr>
              <a:lnSpc>
                <a:spcPct val="150000"/>
              </a:lnSpc>
            </a:pPr>
            <a:r>
              <a:rPr lang="en-US" sz="2800" dirty="0">
                <a:latin typeface="Calibir"/>
              </a:rPr>
              <a:t>Model is good, but struggles with minority class (&gt;50K)</a:t>
            </a:r>
          </a:p>
          <a:p>
            <a:pPr>
              <a:lnSpc>
                <a:spcPct val="150000"/>
              </a:lnSpc>
            </a:pPr>
            <a:r>
              <a:rPr lang="en-US" sz="2800" b="1" dirty="0">
                <a:latin typeface="Calibir"/>
              </a:rPr>
              <a:t>Regression:</a:t>
            </a:r>
          </a:p>
          <a:p>
            <a:pPr>
              <a:lnSpc>
                <a:spcPct val="150000"/>
              </a:lnSpc>
            </a:pPr>
            <a:r>
              <a:rPr lang="en-US" sz="2800" dirty="0">
                <a:latin typeface="Calibir"/>
              </a:rPr>
              <a:t>Complex model (Random Forest) performs better than simple model</a:t>
            </a:r>
          </a:p>
        </p:txBody>
      </p:sp>
    </p:spTree>
    <p:extLst>
      <p:ext uri="{BB962C8B-B14F-4D97-AF65-F5344CB8AC3E}">
        <p14:creationId xmlns:p14="http://schemas.microsoft.com/office/powerpoint/2010/main" val="19910131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DF5D6-7EE4-AF33-4012-A871F8E42191}"/>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6D046F40-0289-DDBB-7088-8F20B1BD16BB}"/>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20090F34-B0B1-1B73-3ACA-E80C13947819}"/>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DAAC0831-AECF-9DF0-D186-D066481FAEFF}"/>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Tasks for Example 2: Task 1 – Compare models</a:t>
            </a:r>
          </a:p>
        </p:txBody>
      </p:sp>
      <p:sp>
        <p:nvSpPr>
          <p:cNvPr id="9" name="TextBox 8">
            <a:extLst>
              <a:ext uri="{FF2B5EF4-FFF2-40B4-BE49-F238E27FC236}">
                <a16:creationId xmlns:a16="http://schemas.microsoft.com/office/drawing/2014/main" id="{4FEB5E96-E7B0-1F15-AF07-743D523D7123}"/>
              </a:ext>
            </a:extLst>
          </p:cNvPr>
          <p:cNvSpPr txBox="1"/>
          <p:nvPr/>
        </p:nvSpPr>
        <p:spPr>
          <a:xfrm>
            <a:off x="1" y="1555532"/>
            <a:ext cx="10710040" cy="1318181"/>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Which model has lower MAE? </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Which has higher R²? </a:t>
            </a:r>
          </a:p>
        </p:txBody>
      </p:sp>
    </p:spTree>
    <p:extLst>
      <p:ext uri="{BB962C8B-B14F-4D97-AF65-F5344CB8AC3E}">
        <p14:creationId xmlns:p14="http://schemas.microsoft.com/office/powerpoint/2010/main" val="2640646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54AF8-B9FC-ABAB-CDA6-5F383A64218F}"/>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42204146-7882-AAC3-2ED4-02C18DFAB2FF}"/>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2896B69F-7522-8099-6F27-0DAD49A0177A}"/>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17AA9F75-D80B-EFFF-B2A8-DB81DB78B3F0}"/>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Tasks for Example 2: Task 2 – Remove one feature</a:t>
            </a:r>
          </a:p>
        </p:txBody>
      </p:sp>
      <p:sp>
        <p:nvSpPr>
          <p:cNvPr id="9" name="TextBox 8">
            <a:extLst>
              <a:ext uri="{FF2B5EF4-FFF2-40B4-BE49-F238E27FC236}">
                <a16:creationId xmlns:a16="http://schemas.microsoft.com/office/drawing/2014/main" id="{89189CCA-02F7-C693-0295-B77432A83861}"/>
              </a:ext>
            </a:extLst>
          </p:cNvPr>
          <p:cNvSpPr txBox="1"/>
          <p:nvPr/>
        </p:nvSpPr>
        <p:spPr>
          <a:xfrm>
            <a:off x="1" y="1555532"/>
            <a:ext cx="10710040" cy="1964512"/>
          </a:xfrm>
          <a:prstGeom prst="rect">
            <a:avLst/>
          </a:prstGeom>
          <a:noFill/>
        </p:spPr>
        <p:txBody>
          <a:bodyPr wrap="square">
            <a:spAutoFit/>
          </a:bodyPr>
          <a:lstStyle/>
          <a:p>
            <a:pPr>
              <a:lnSpc>
                <a:spcPct val="150000"/>
              </a:lnSpc>
            </a:pPr>
            <a:r>
              <a:rPr lang="en-US" sz="2800" dirty="0">
                <a:highlight>
                  <a:srgbClr val="FFFF00"/>
                </a:highlight>
                <a:latin typeface="Calibir"/>
              </a:rPr>
              <a:t>X = </a:t>
            </a:r>
            <a:r>
              <a:rPr lang="en-US" sz="2800" dirty="0" err="1">
                <a:highlight>
                  <a:srgbClr val="FFFF00"/>
                </a:highlight>
                <a:latin typeface="Calibir"/>
              </a:rPr>
              <a:t>df.drop</a:t>
            </a:r>
            <a:r>
              <a:rPr lang="en-US" sz="2800" dirty="0">
                <a:highlight>
                  <a:srgbClr val="FFFF00"/>
                </a:highlight>
                <a:latin typeface="Calibir"/>
              </a:rPr>
              <a:t>(["quality", "alcohol"], axis=1)</a:t>
            </a:r>
          </a:p>
          <a:p>
            <a:pPr marL="914400" lvl="1" indent="-457200">
              <a:lnSpc>
                <a:spcPct val="150000"/>
              </a:lnSpc>
              <a:buFont typeface="Arial" panose="020B0604020202020204" pitchFamily="34" charset="0"/>
              <a:buChar char="•"/>
            </a:pPr>
            <a:r>
              <a:rPr lang="en-US" sz="2800" dirty="0">
                <a:latin typeface="Calibir"/>
              </a:rPr>
              <a:t>Does performance drop? </a:t>
            </a:r>
          </a:p>
          <a:p>
            <a:pPr marL="914400" lvl="1" indent="-457200">
              <a:lnSpc>
                <a:spcPct val="150000"/>
              </a:lnSpc>
              <a:buFont typeface="Arial" panose="020B0604020202020204" pitchFamily="34" charset="0"/>
              <a:buChar char="•"/>
            </a:pPr>
            <a:r>
              <a:rPr lang="en-US" sz="2800" dirty="0">
                <a:latin typeface="Calibir"/>
              </a:rPr>
              <a:t>Which features are important?</a:t>
            </a:r>
          </a:p>
        </p:txBody>
      </p:sp>
    </p:spTree>
    <p:extLst>
      <p:ext uri="{BB962C8B-B14F-4D97-AF65-F5344CB8AC3E}">
        <p14:creationId xmlns:p14="http://schemas.microsoft.com/office/powerpoint/2010/main" val="36513496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855EA-56A5-FB43-35B1-74C7A4C063F7}"/>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E985BE3-FF0B-338C-BEED-B0709D128039}"/>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88B15FFB-C4B4-0E02-A47D-C0FEFDC196DE}"/>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1CA28410-E29D-E789-EDCC-87643F86EBD9}"/>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Mini Activity</a:t>
            </a:r>
          </a:p>
        </p:txBody>
      </p:sp>
      <p:sp>
        <p:nvSpPr>
          <p:cNvPr id="9" name="TextBox 8">
            <a:extLst>
              <a:ext uri="{FF2B5EF4-FFF2-40B4-BE49-F238E27FC236}">
                <a16:creationId xmlns:a16="http://schemas.microsoft.com/office/drawing/2014/main" id="{198F6D30-1692-997A-A6FA-E268A59C88E2}"/>
              </a:ext>
            </a:extLst>
          </p:cNvPr>
          <p:cNvSpPr txBox="1"/>
          <p:nvPr/>
        </p:nvSpPr>
        <p:spPr>
          <a:xfrm>
            <a:off x="1" y="1555532"/>
            <a:ext cx="10710040" cy="2610843"/>
          </a:xfrm>
          <a:prstGeom prst="rect">
            <a:avLst/>
          </a:prstGeom>
          <a:noFill/>
        </p:spPr>
        <p:txBody>
          <a:bodyPr wrap="square">
            <a:spAutoFit/>
          </a:bodyPr>
          <a:lstStyle/>
          <a:p>
            <a:pPr>
              <a:lnSpc>
                <a:spcPct val="150000"/>
              </a:lnSpc>
            </a:pPr>
            <a:r>
              <a:rPr lang="en-US" sz="2800" b="1" dirty="0">
                <a:latin typeface="Calibir"/>
              </a:rPr>
              <a:t>Task:</a:t>
            </a:r>
          </a:p>
          <a:p>
            <a:pPr>
              <a:lnSpc>
                <a:spcPct val="150000"/>
              </a:lnSpc>
            </a:pPr>
            <a:r>
              <a:rPr lang="en-US" sz="2800" dirty="0">
                <a:highlight>
                  <a:srgbClr val="FFFF00"/>
                </a:highlight>
                <a:latin typeface="Calibir"/>
              </a:rPr>
              <a:t>print(</a:t>
            </a:r>
            <a:r>
              <a:rPr lang="en-US" sz="2800" dirty="0" err="1">
                <a:highlight>
                  <a:srgbClr val="FFFF00"/>
                </a:highlight>
                <a:latin typeface="Calibir"/>
              </a:rPr>
              <a:t>df.corr</a:t>
            </a:r>
            <a:r>
              <a:rPr lang="en-US" sz="2800" dirty="0">
                <a:highlight>
                  <a:srgbClr val="FFFF00"/>
                </a:highlight>
                <a:latin typeface="Calibir"/>
              </a:rPr>
              <a:t>()["quality"])</a:t>
            </a:r>
          </a:p>
          <a:p>
            <a:pPr marL="914400" lvl="1" indent="-457200">
              <a:lnSpc>
                <a:spcPct val="150000"/>
              </a:lnSpc>
              <a:buFont typeface="Arial" panose="020B0604020202020204" pitchFamily="34" charset="0"/>
              <a:buChar char="•"/>
            </a:pPr>
            <a:r>
              <a:rPr lang="en-US" sz="2800" dirty="0">
                <a:latin typeface="Calibir"/>
              </a:rPr>
              <a:t>Which feature is most related to quality? </a:t>
            </a:r>
          </a:p>
          <a:p>
            <a:pPr marL="914400" lvl="1" indent="-457200">
              <a:lnSpc>
                <a:spcPct val="150000"/>
              </a:lnSpc>
              <a:buFont typeface="Arial" panose="020B0604020202020204" pitchFamily="34" charset="0"/>
              <a:buChar char="•"/>
            </a:pPr>
            <a:r>
              <a:rPr lang="en-US" sz="2800" dirty="0">
                <a:latin typeface="Calibir"/>
              </a:rPr>
              <a:t>Does it match model behavior?</a:t>
            </a:r>
          </a:p>
        </p:txBody>
      </p:sp>
    </p:spTree>
    <p:extLst>
      <p:ext uri="{BB962C8B-B14F-4D97-AF65-F5344CB8AC3E}">
        <p14:creationId xmlns:p14="http://schemas.microsoft.com/office/powerpoint/2010/main" val="27194938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88BB-F8CF-F8B4-0602-95E8A87F0848}"/>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4252B49C-2684-0FFD-24B0-5DEC714C5CB2}"/>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A947EDD9-7F3F-9C22-8735-5C0C66F854DA}"/>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DEF869CE-A3F0-6E2D-34AC-F812501715A6}"/>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Key Learning Outcomes (Week 3)</a:t>
            </a:r>
          </a:p>
        </p:txBody>
      </p:sp>
      <p:sp>
        <p:nvSpPr>
          <p:cNvPr id="9" name="TextBox 8">
            <a:extLst>
              <a:ext uri="{FF2B5EF4-FFF2-40B4-BE49-F238E27FC236}">
                <a16:creationId xmlns:a16="http://schemas.microsoft.com/office/drawing/2014/main" id="{E5D372B5-A735-15CB-58DE-A3AF685C8377}"/>
              </a:ext>
            </a:extLst>
          </p:cNvPr>
          <p:cNvSpPr txBox="1"/>
          <p:nvPr/>
        </p:nvSpPr>
        <p:spPr>
          <a:xfrm>
            <a:off x="1" y="1555532"/>
            <a:ext cx="10710040" cy="3257174"/>
          </a:xfrm>
          <a:prstGeom prst="rect">
            <a:avLst/>
          </a:prstGeom>
          <a:noFill/>
        </p:spPr>
        <p:txBody>
          <a:bodyPr wrap="square">
            <a:spAutoFit/>
          </a:bodyPr>
          <a:lstStyle/>
          <a:p>
            <a:pPr>
              <a:lnSpc>
                <a:spcPct val="150000"/>
              </a:lnSpc>
            </a:pPr>
            <a:r>
              <a:rPr lang="en-US" sz="2800" dirty="0">
                <a:latin typeface="Calibir"/>
              </a:rPr>
              <a:t>Students should understand:</a:t>
            </a:r>
          </a:p>
          <a:p>
            <a:pPr marL="971550" lvl="1" indent="-514350">
              <a:lnSpc>
                <a:spcPct val="150000"/>
              </a:lnSpc>
              <a:buFont typeface="+mj-lt"/>
              <a:buAutoNum type="arabicPeriod"/>
            </a:pPr>
            <a:r>
              <a:rPr lang="en-US" sz="2800" dirty="0">
                <a:latin typeface="Calibir"/>
              </a:rPr>
              <a:t>Models can be improved </a:t>
            </a:r>
          </a:p>
          <a:p>
            <a:pPr marL="971550" lvl="1" indent="-514350">
              <a:lnSpc>
                <a:spcPct val="150000"/>
              </a:lnSpc>
              <a:buFont typeface="+mj-lt"/>
              <a:buAutoNum type="arabicPeriod"/>
            </a:pPr>
            <a:r>
              <a:rPr lang="en-US" sz="2800" dirty="0">
                <a:latin typeface="Calibir"/>
              </a:rPr>
              <a:t>Different models give different results </a:t>
            </a:r>
          </a:p>
          <a:p>
            <a:pPr marL="971550" lvl="1" indent="-514350">
              <a:lnSpc>
                <a:spcPct val="150000"/>
              </a:lnSpc>
              <a:buFont typeface="+mj-lt"/>
              <a:buAutoNum type="arabicPeriod"/>
            </a:pPr>
            <a:r>
              <a:rPr lang="en-US" sz="2800" dirty="0">
                <a:latin typeface="Calibir"/>
              </a:rPr>
              <a:t>Some features are more important </a:t>
            </a:r>
          </a:p>
          <a:p>
            <a:pPr marL="971550" lvl="1" indent="-514350">
              <a:lnSpc>
                <a:spcPct val="150000"/>
              </a:lnSpc>
              <a:buFont typeface="+mj-lt"/>
              <a:buAutoNum type="arabicPeriod"/>
            </a:pPr>
            <a:r>
              <a:rPr lang="en-US" sz="2800" dirty="0">
                <a:latin typeface="Calibir"/>
              </a:rPr>
              <a:t>Evaluation metrics help choose the best model</a:t>
            </a:r>
          </a:p>
        </p:txBody>
      </p:sp>
    </p:spTree>
    <p:extLst>
      <p:ext uri="{BB962C8B-B14F-4D97-AF65-F5344CB8AC3E}">
        <p14:creationId xmlns:p14="http://schemas.microsoft.com/office/powerpoint/2010/main" val="3970920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AF781-4560-5FB9-CA77-69C14836C3F4}"/>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B393EBC2-DE8B-5D20-CD1A-2B0A9BD282EE}"/>
              </a:ext>
            </a:extLst>
          </p:cNvPr>
          <p:cNvSpPr>
            <a:spLocks noChangeArrowheads="1"/>
          </p:cNvSpPr>
          <p:nvPr/>
        </p:nvSpPr>
        <p:spPr bwMode="auto">
          <a:xfrm>
            <a:off x="-659904" y="2197865"/>
            <a:ext cx="103937" cy="3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4" tIns="25718" rIns="51434" bIns="25718" numCol="1" anchor="ctr" anchorCtr="0" compatLnSpc="1">
            <a:prstTxWarp prst="textNoShape">
              <a:avLst/>
            </a:prstTxWarp>
            <a:spAutoFit/>
          </a:bodyPr>
          <a:lstStyle/>
          <a:p>
            <a:pPr algn="l" rtl="0" eaLnBrk="0" fontAlgn="base" hangingPunct="0">
              <a:spcBef>
                <a:spcPct val="0"/>
              </a:spcBef>
              <a:spcAft>
                <a:spcPct val="0"/>
              </a:spcAft>
            </a:pPr>
            <a:endParaRPr lang="en-US" altLang="en-US" sz="675" b="1">
              <a:latin typeface="+mj-lt"/>
            </a:endParaRPr>
          </a:p>
          <a:p>
            <a:pPr algn="l" rtl="0" eaLnBrk="0" fontAlgn="base" hangingPunct="0">
              <a:spcBef>
                <a:spcPct val="0"/>
              </a:spcBef>
              <a:spcAft>
                <a:spcPct val="0"/>
              </a:spcAft>
            </a:pPr>
            <a:endParaRPr lang="en-US" altLang="en-US" sz="1350">
              <a:latin typeface="+mj-lt"/>
            </a:endParaRPr>
          </a:p>
        </p:txBody>
      </p:sp>
      <p:pic>
        <p:nvPicPr>
          <p:cNvPr id="4" name="object 3">
            <a:extLst>
              <a:ext uri="{FF2B5EF4-FFF2-40B4-BE49-F238E27FC236}">
                <a16:creationId xmlns:a16="http://schemas.microsoft.com/office/drawing/2014/main" id="{D0C2555F-3B3C-7766-ED0A-63E07BAA6EA0}"/>
              </a:ext>
            </a:extLst>
          </p:cNvPr>
          <p:cNvPicPr/>
          <p:nvPr/>
        </p:nvPicPr>
        <p:blipFill>
          <a:blip r:embed="rId2" cstate="print"/>
          <a:srcRect l="24413" r="9390"/>
          <a:stretch>
            <a:fillRect/>
          </a:stretch>
        </p:blipFill>
        <p:spPr>
          <a:xfrm>
            <a:off x="10710041" y="73691"/>
            <a:ext cx="1481959" cy="1944414"/>
          </a:xfrm>
          <a:prstGeom prst="rect">
            <a:avLst/>
          </a:prstGeom>
        </p:spPr>
      </p:pic>
      <p:sp>
        <p:nvSpPr>
          <p:cNvPr id="7" name="object 2">
            <a:extLst>
              <a:ext uri="{FF2B5EF4-FFF2-40B4-BE49-F238E27FC236}">
                <a16:creationId xmlns:a16="http://schemas.microsoft.com/office/drawing/2014/main" id="{3065745E-AE74-BE78-1F13-7276EAB9D9A9}"/>
              </a:ext>
            </a:extLst>
          </p:cNvPr>
          <p:cNvSpPr txBox="1"/>
          <p:nvPr/>
        </p:nvSpPr>
        <p:spPr>
          <a:xfrm>
            <a:off x="94419" y="68639"/>
            <a:ext cx="9196726" cy="515045"/>
          </a:xfrm>
          <a:prstGeom prst="rect">
            <a:avLst/>
          </a:prstGeom>
        </p:spPr>
        <p:txBody>
          <a:bodyPr vert="horz" wrap="square" lIns="0" tIns="7144" rIns="0" bIns="0" rtlCol="0">
            <a:spAutoFit/>
          </a:bodyPr>
          <a:lstStyle/>
          <a:p>
            <a:r>
              <a:rPr lang="en-US" sz="3300" b="1" dirty="0">
                <a:latin typeface="Calibir"/>
              </a:rPr>
              <a:t>Summary</a:t>
            </a:r>
          </a:p>
        </p:txBody>
      </p:sp>
      <p:sp>
        <p:nvSpPr>
          <p:cNvPr id="9" name="TextBox 8">
            <a:extLst>
              <a:ext uri="{FF2B5EF4-FFF2-40B4-BE49-F238E27FC236}">
                <a16:creationId xmlns:a16="http://schemas.microsoft.com/office/drawing/2014/main" id="{4A00033D-0E4E-BC26-BBF3-41FF781F6BBD}"/>
              </a:ext>
            </a:extLst>
          </p:cNvPr>
          <p:cNvSpPr txBox="1"/>
          <p:nvPr/>
        </p:nvSpPr>
        <p:spPr>
          <a:xfrm>
            <a:off x="1" y="1555532"/>
            <a:ext cx="10710040" cy="2614434"/>
          </a:xfrm>
          <a:prstGeom prst="rect">
            <a:avLst/>
          </a:prstGeom>
          <a:noFill/>
        </p:spPr>
        <p:txBody>
          <a:bodyPr wrap="square">
            <a:spAutoFit/>
          </a:bodyPr>
          <a:lstStyle/>
          <a:p>
            <a:pPr>
              <a:lnSpc>
                <a:spcPct val="150000"/>
              </a:lnSpc>
            </a:pPr>
            <a:r>
              <a:rPr lang="en-US" sz="2800" dirty="0">
                <a:latin typeface="Calibir"/>
              </a:rPr>
              <a:t>In this tutorial, we learned that different models can give different results. Some models are simple, while others are more powerful. We also learned how to compare models and choose the best one using evaluation metrics like accuracy, MAE, and R².</a:t>
            </a:r>
          </a:p>
        </p:txBody>
      </p:sp>
    </p:spTree>
    <p:extLst>
      <p:ext uri="{BB962C8B-B14F-4D97-AF65-F5344CB8AC3E}">
        <p14:creationId xmlns:p14="http://schemas.microsoft.com/office/powerpoint/2010/main" val="42241356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BCADA-C2BC-8C89-F224-6C84B30E1807}"/>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2E8AB4A3-BE79-06FA-AC7C-BEC57E783D0D}"/>
              </a:ext>
            </a:extLst>
          </p:cNvPr>
          <p:cNvSpPr>
            <a:spLocks noGrp="1"/>
          </p:cNvSpPr>
          <p:nvPr>
            <p:ph type="title"/>
          </p:nvPr>
        </p:nvSpPr>
        <p:spPr>
          <a:xfrm>
            <a:off x="0" y="0"/>
            <a:ext cx="9144000" cy="577517"/>
          </a:xfrm>
        </p:spPr>
        <p:txBody>
          <a:bodyPr>
            <a:normAutofit/>
          </a:bodyPr>
          <a:lstStyle/>
          <a:p>
            <a:r>
              <a:rPr lang="en-US" sz="3000" b="1" dirty="0">
                <a:latin typeface="Calibir"/>
              </a:rPr>
              <a:t>Let’s Answer Your Questions</a:t>
            </a:r>
            <a:endParaRPr lang="en-AU" sz="3000" b="1" dirty="0">
              <a:latin typeface="Calibir"/>
            </a:endParaRPr>
          </a:p>
        </p:txBody>
      </p:sp>
      <p:pic>
        <p:nvPicPr>
          <p:cNvPr id="1028" name="Picture 4" descr="Answering Questions In Complete Sentences">
            <a:extLst>
              <a:ext uri="{FF2B5EF4-FFF2-40B4-BE49-F238E27FC236}">
                <a16:creationId xmlns:a16="http://schemas.microsoft.com/office/drawing/2014/main" id="{84E5527E-4D0B-667B-4471-EFDB8B3143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3244" y="1036133"/>
            <a:ext cx="3385511" cy="21159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10BBB43-1E60-3AC7-6893-6AAB3EFF1E14}"/>
              </a:ext>
            </a:extLst>
          </p:cNvPr>
          <p:cNvSpPr txBox="1"/>
          <p:nvPr/>
        </p:nvSpPr>
        <p:spPr>
          <a:xfrm>
            <a:off x="0" y="3299222"/>
            <a:ext cx="12192000" cy="3257174"/>
          </a:xfrm>
          <a:prstGeom prst="rect">
            <a:avLst/>
          </a:prstGeom>
          <a:noFill/>
        </p:spPr>
        <p:txBody>
          <a:bodyPr wrap="square" rtlCol="0">
            <a:spAutoFit/>
          </a:bodyPr>
          <a:lstStyle/>
          <a:p>
            <a:pPr marL="385763" indent="-385763" eaLnBrk="0" fontAlgn="base" hangingPunct="0">
              <a:lnSpc>
                <a:spcPct val="150000"/>
              </a:lnSpc>
              <a:spcBef>
                <a:spcPct val="0"/>
              </a:spcBef>
              <a:spcAft>
                <a:spcPct val="0"/>
              </a:spcAft>
              <a:buFont typeface="+mj-lt"/>
              <a:buAutoNum type="arabicPeriod"/>
              <a:defRPr/>
            </a:pPr>
            <a:r>
              <a:rPr lang="en-US" altLang="en-US" sz="2800" b="1" kern="0" dirty="0">
                <a:solidFill>
                  <a:sysClr val="windowText" lastClr="000000"/>
                </a:solidFill>
                <a:latin typeface="Calibri" panose="020F0502020204030204" pitchFamily="34" charset="0"/>
                <a:cs typeface="Calibri" panose="020F0502020204030204" pitchFamily="34" charset="0"/>
              </a:rPr>
              <a:t>Live during class</a:t>
            </a:r>
            <a:r>
              <a:rPr lang="en-US" altLang="en-US" sz="2800" kern="0" dirty="0">
                <a:solidFill>
                  <a:sysClr val="windowText" lastClr="000000"/>
                </a:solidFill>
                <a:latin typeface="Calibri" panose="020F0502020204030204" pitchFamily="34" charset="0"/>
                <a:cs typeface="Calibri" panose="020F0502020204030204" pitchFamily="34" charset="0"/>
              </a:rPr>
              <a:t> – Ask directly during sessions.</a:t>
            </a:r>
          </a:p>
          <a:p>
            <a:pPr marL="385763" indent="-385763" eaLnBrk="0" fontAlgn="base" hangingPunct="0">
              <a:lnSpc>
                <a:spcPct val="150000"/>
              </a:lnSpc>
              <a:spcBef>
                <a:spcPct val="0"/>
              </a:spcBef>
              <a:spcAft>
                <a:spcPct val="0"/>
              </a:spcAft>
              <a:buFont typeface="+mj-lt"/>
              <a:buAutoNum type="arabicPeriod"/>
              <a:defRPr/>
            </a:pPr>
            <a:r>
              <a:rPr lang="en-US" altLang="en-US" sz="2800" b="1" kern="0" dirty="0">
                <a:solidFill>
                  <a:sysClr val="windowText" lastClr="000000"/>
                </a:solidFill>
                <a:latin typeface="Calibri" panose="020F0502020204030204" pitchFamily="34" charset="0"/>
                <a:cs typeface="Calibri" panose="020F0502020204030204" pitchFamily="34" charset="0"/>
              </a:rPr>
              <a:t>Canvas Inbox</a:t>
            </a:r>
            <a:r>
              <a:rPr lang="en-US" altLang="en-US" sz="2800" kern="0" dirty="0">
                <a:solidFill>
                  <a:sysClr val="windowText" lastClr="000000"/>
                </a:solidFill>
                <a:latin typeface="Calibri" panose="020F0502020204030204" pitchFamily="34" charset="0"/>
                <a:cs typeface="Calibri" panose="020F0502020204030204" pitchFamily="34" charset="0"/>
              </a:rPr>
              <a:t> – For structured academic queries.</a:t>
            </a:r>
          </a:p>
          <a:p>
            <a:pPr marL="385763" indent="-385763" eaLnBrk="0" fontAlgn="base" hangingPunct="0">
              <a:lnSpc>
                <a:spcPct val="150000"/>
              </a:lnSpc>
              <a:spcBef>
                <a:spcPct val="0"/>
              </a:spcBef>
              <a:spcAft>
                <a:spcPct val="0"/>
              </a:spcAft>
              <a:buFont typeface="+mj-lt"/>
              <a:buAutoNum type="arabicPeriod"/>
              <a:defRPr/>
            </a:pPr>
            <a:r>
              <a:rPr lang="en-US" altLang="en-US" sz="2800" b="1" kern="0" dirty="0">
                <a:solidFill>
                  <a:sysClr val="windowText" lastClr="000000"/>
                </a:solidFill>
                <a:latin typeface="Calibri" panose="020F0502020204030204" pitchFamily="34" charset="0"/>
                <a:cs typeface="Calibri" panose="020F0502020204030204" pitchFamily="34" charset="0"/>
              </a:rPr>
              <a:t>Email</a:t>
            </a:r>
            <a:r>
              <a:rPr lang="en-US" altLang="en-US" sz="2800" kern="0" dirty="0">
                <a:solidFill>
                  <a:sysClr val="windowText" lastClr="000000"/>
                </a:solidFill>
                <a:latin typeface="Calibri" panose="020F0502020204030204" pitchFamily="34" charset="0"/>
                <a:cs typeface="Calibri" panose="020F0502020204030204" pitchFamily="34" charset="0"/>
              </a:rPr>
              <a:t> – For formal communications or attachments.</a:t>
            </a:r>
          </a:p>
          <a:p>
            <a:pPr marL="385763" indent="-385763" eaLnBrk="0" fontAlgn="base" hangingPunct="0">
              <a:lnSpc>
                <a:spcPct val="150000"/>
              </a:lnSpc>
              <a:spcBef>
                <a:spcPct val="0"/>
              </a:spcBef>
              <a:spcAft>
                <a:spcPct val="0"/>
              </a:spcAft>
              <a:buFont typeface="+mj-lt"/>
              <a:buAutoNum type="arabicPeriod"/>
              <a:defRPr/>
            </a:pPr>
            <a:r>
              <a:rPr lang="en-US" altLang="en-US" sz="2800" b="1" kern="0" dirty="0">
                <a:solidFill>
                  <a:sysClr val="windowText" lastClr="000000"/>
                </a:solidFill>
                <a:latin typeface="Calibri" panose="020F0502020204030204" pitchFamily="34" charset="0"/>
                <a:cs typeface="Calibri" panose="020F0502020204030204" pitchFamily="34" charset="0"/>
              </a:rPr>
              <a:t>Canvas Discussion </a:t>
            </a:r>
            <a:r>
              <a:rPr lang="en-US" altLang="en-US" sz="2800" kern="0" dirty="0">
                <a:solidFill>
                  <a:sysClr val="windowText" lastClr="000000"/>
                </a:solidFill>
                <a:latin typeface="Calibri" panose="020F0502020204030204" pitchFamily="34" charset="0"/>
                <a:cs typeface="Calibri" panose="020F0502020204030204" pitchFamily="34" charset="0"/>
              </a:rPr>
              <a:t>– For sharing your questions.</a:t>
            </a:r>
          </a:p>
          <a:p>
            <a:pPr marL="385763" indent="-385763" eaLnBrk="0" fontAlgn="base" hangingPunct="0">
              <a:lnSpc>
                <a:spcPct val="150000"/>
              </a:lnSpc>
              <a:spcBef>
                <a:spcPct val="0"/>
              </a:spcBef>
              <a:spcAft>
                <a:spcPct val="0"/>
              </a:spcAft>
              <a:buFont typeface="+mj-lt"/>
              <a:buAutoNum type="arabicPeriod"/>
              <a:defRPr/>
            </a:pPr>
            <a:r>
              <a:rPr lang="en-US" altLang="en-US" sz="2800" b="1" kern="0" dirty="0">
                <a:solidFill>
                  <a:sysClr val="windowText" lastClr="000000"/>
                </a:solidFill>
                <a:latin typeface="Calibri" panose="020F0502020204030204" pitchFamily="34" charset="0"/>
                <a:cs typeface="Calibri" panose="020F0502020204030204" pitchFamily="34" charset="0"/>
              </a:rPr>
              <a:t>Microsoft Team </a:t>
            </a:r>
            <a:r>
              <a:rPr lang="en-US" altLang="en-US" sz="2800" kern="0" dirty="0">
                <a:solidFill>
                  <a:sysClr val="windowText" lastClr="000000"/>
                </a:solidFill>
                <a:latin typeface="Calibri" panose="020F0502020204030204" pitchFamily="34" charset="0"/>
                <a:cs typeface="Calibri" panose="020F0502020204030204" pitchFamily="34" charset="0"/>
              </a:rPr>
              <a:t>– Send a reminder if I did not reply after 3 business days</a:t>
            </a:r>
          </a:p>
        </p:txBody>
      </p:sp>
    </p:spTree>
    <p:extLst>
      <p:ext uri="{BB962C8B-B14F-4D97-AF65-F5344CB8AC3E}">
        <p14:creationId xmlns:p14="http://schemas.microsoft.com/office/powerpoint/2010/main" val="39106300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1903064" y="1272864"/>
            <a:ext cx="4306642" cy="4306642"/>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3" name="TextBox 2">
            <a:extLst>
              <a:ext uri="{FF2B5EF4-FFF2-40B4-BE49-F238E27FC236}">
                <a16:creationId xmlns:a16="http://schemas.microsoft.com/office/drawing/2014/main" id="{84845029-98A4-9C92-04B4-320B6AFDD1B8}"/>
              </a:ext>
            </a:extLst>
          </p:cNvPr>
          <p:cNvSpPr txBox="1"/>
          <p:nvPr/>
        </p:nvSpPr>
        <p:spPr>
          <a:xfrm>
            <a:off x="6390404" y="1272866"/>
            <a:ext cx="5664962" cy="4003328"/>
          </a:xfrm>
          <a:prstGeom prst="rect">
            <a:avLst/>
          </a:prstGeom>
        </p:spPr>
        <p:txBody>
          <a:bodyPr vert="horz" lIns="68580" tIns="34290" rIns="68580" bIns="34290" rtlCol="0" anchor="t">
            <a:noAutofit/>
          </a:bodyPr>
          <a:lstStyle/>
          <a:p>
            <a:pPr defTabSz="685800">
              <a:lnSpc>
                <a:spcPct val="150000"/>
              </a:lnSpc>
              <a:spcAft>
                <a:spcPts val="450"/>
              </a:spcAft>
              <a:defRPr/>
            </a:pPr>
            <a:r>
              <a:rPr lang="en-US" sz="2800" b="1" dirty="0">
                <a:solidFill>
                  <a:prstClr val="black">
                    <a:alpha val="80000"/>
                  </a:prstClr>
                </a:solidFill>
                <a:latin typeface="Calibri" panose="020F0502020204030204"/>
              </a:rPr>
              <a:t>Stay Connected:</a:t>
            </a:r>
            <a:br>
              <a:rPr lang="en-US" sz="2800" dirty="0">
                <a:solidFill>
                  <a:prstClr val="black">
                    <a:alpha val="80000"/>
                  </a:prstClr>
                </a:solidFill>
                <a:latin typeface="Calibri" panose="020F0502020204030204"/>
              </a:rPr>
            </a:br>
            <a:r>
              <a:rPr lang="en-US" sz="2800" dirty="0">
                <a:solidFill>
                  <a:prstClr val="black">
                    <a:alpha val="80000"/>
                  </a:prstClr>
                </a:solidFill>
                <a:latin typeface="Calibri" panose="020F0502020204030204"/>
                <a:hlinkClick r:id="rId3"/>
              </a:rPr>
              <a:t>linkedin.com/in/farshid-keivanian</a:t>
            </a:r>
            <a:r>
              <a:rPr lang="en-US" sz="2800" dirty="0">
                <a:solidFill>
                  <a:prstClr val="black">
                    <a:alpha val="80000"/>
                  </a:prstClr>
                </a:solidFill>
                <a:latin typeface="Calibri" panose="020F0502020204030204"/>
              </a:rPr>
              <a:t> </a:t>
            </a:r>
            <a:br>
              <a:rPr lang="en-US" sz="2800" dirty="0">
                <a:solidFill>
                  <a:prstClr val="black">
                    <a:alpha val="80000"/>
                  </a:prstClr>
                </a:solidFill>
                <a:latin typeface="Calibri" panose="020F0502020204030204"/>
              </a:rPr>
            </a:br>
            <a:r>
              <a:rPr lang="en-US" sz="2800" dirty="0">
                <a:solidFill>
                  <a:prstClr val="black">
                    <a:alpha val="80000"/>
                  </a:prstClr>
                </a:solidFill>
                <a:latin typeface="Calibri" panose="020F0502020204030204"/>
                <a:hlinkClick r:id="rId4"/>
              </a:rPr>
              <a:t>github.com/FarshidKeivanian</a:t>
            </a:r>
            <a:r>
              <a:rPr lang="en-US" sz="2800" dirty="0">
                <a:solidFill>
                  <a:prstClr val="black">
                    <a:alpha val="80000"/>
                  </a:prstClr>
                </a:solidFill>
                <a:latin typeface="Calibri" panose="020F0502020204030204"/>
              </a:rPr>
              <a:t> </a:t>
            </a:r>
          </a:p>
          <a:p>
            <a:pPr indent="-171450" defTabSz="685800">
              <a:lnSpc>
                <a:spcPct val="150000"/>
              </a:lnSpc>
              <a:spcAft>
                <a:spcPts val="450"/>
              </a:spcAft>
              <a:buFont typeface="Arial" panose="020B0604020202020204" pitchFamily="34" charset="0"/>
              <a:buChar char="•"/>
              <a:defRPr/>
            </a:pPr>
            <a:r>
              <a:rPr lang="en-US" sz="2800" i="1" dirty="0">
                <a:solidFill>
                  <a:prstClr val="black">
                    <a:alpha val="80000"/>
                  </a:prstClr>
                </a:solidFill>
                <a:latin typeface="Calibri" panose="020F0502020204030204"/>
              </a:rPr>
              <a:t>Education is the most powerful weapon you can use to change the world. </a:t>
            </a:r>
            <a:r>
              <a:rPr lang="en-US" sz="2800" dirty="0">
                <a:solidFill>
                  <a:prstClr val="black">
                    <a:alpha val="80000"/>
                  </a:prstClr>
                </a:solidFill>
                <a:latin typeface="Calibri" panose="020F0502020204030204"/>
              </a:rPr>
              <a:t>— Nelson Mandela</a:t>
            </a:r>
          </a:p>
        </p:txBody>
      </p:sp>
      <p:sp>
        <p:nvSpPr>
          <p:cNvPr id="2" name="object 2">
            <a:extLst>
              <a:ext uri="{FF2B5EF4-FFF2-40B4-BE49-F238E27FC236}">
                <a16:creationId xmlns:a16="http://schemas.microsoft.com/office/drawing/2014/main" id="{92EB8C87-8395-5CF8-FB02-8B57ECDD50A8}"/>
              </a:ext>
            </a:extLst>
          </p:cNvPr>
          <p:cNvSpPr txBox="1">
            <a:spLocks noGrp="1"/>
          </p:cNvSpPr>
          <p:nvPr>
            <p:ph type="title"/>
          </p:nvPr>
        </p:nvSpPr>
        <p:spPr>
          <a:xfrm>
            <a:off x="0" y="0"/>
            <a:ext cx="6920865" cy="723788"/>
          </a:xfrm>
          <a:prstGeom prst="rect">
            <a:avLst/>
          </a:prstGeom>
        </p:spPr>
        <p:txBody>
          <a:bodyPr vert="horz" wrap="square" lIns="0" tIns="259588" rIns="0" bIns="0" rtlCol="0" anchor="ctr">
            <a:spAutoFit/>
          </a:bodyPr>
          <a:lstStyle/>
          <a:p>
            <a:pPr marL="123825">
              <a:lnSpc>
                <a:spcPct val="100000"/>
              </a:lnSpc>
              <a:spcBef>
                <a:spcPts val="100"/>
              </a:spcBef>
            </a:pPr>
            <a:r>
              <a:rPr lang="en-US" sz="3000" b="1" spc="-20" dirty="0">
                <a:latin typeface="Calibir"/>
              </a:rPr>
              <a:t>Happy Learning and Bright Futures Ahead!</a:t>
            </a:r>
            <a:endParaRPr sz="3000" b="1" spc="-20" dirty="0">
              <a:latin typeface="Calibir"/>
            </a:endParaRPr>
          </a:p>
        </p:txBody>
      </p:sp>
    </p:spTree>
    <p:extLst>
      <p:ext uri="{BB962C8B-B14F-4D97-AF65-F5344CB8AC3E}">
        <p14:creationId xmlns:p14="http://schemas.microsoft.com/office/powerpoint/2010/main" val="319086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CB339-E632-9E22-A7B6-C9019F91C54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9FBAC6E-9EAC-CF1D-420B-AB0E38575A55}"/>
              </a:ext>
            </a:extLst>
          </p:cNvPr>
          <p:cNvSpPr txBox="1">
            <a:spLocks noGrp="1"/>
          </p:cNvSpPr>
          <p:nvPr>
            <p:ph type="title"/>
          </p:nvPr>
        </p:nvSpPr>
        <p:spPr>
          <a:xfrm>
            <a:off x="0" y="0"/>
            <a:ext cx="6553200" cy="520655"/>
          </a:xfrm>
          <a:prstGeom prst="rect">
            <a:avLst/>
          </a:prstGeom>
        </p:spPr>
        <p:txBody>
          <a:bodyPr vert="horz" wrap="square" lIns="0" tIns="12700" rIns="0" bIns="0" rtlCol="0" anchor="ctr">
            <a:spAutoFit/>
          </a:bodyPr>
          <a:lstStyle/>
          <a:p>
            <a:pPr marL="12700">
              <a:lnSpc>
                <a:spcPct val="100000"/>
              </a:lnSpc>
              <a:spcBef>
                <a:spcPts val="100"/>
              </a:spcBef>
            </a:pPr>
            <a:r>
              <a:rPr lang="en-US" sz="3300" b="1" dirty="0">
                <a:latin typeface="Calibir"/>
              </a:rPr>
              <a:t>Thank You</a:t>
            </a:r>
            <a:endParaRPr sz="3300" b="1" spc="-10" dirty="0">
              <a:latin typeface="Calibir"/>
            </a:endParaRPr>
          </a:p>
        </p:txBody>
      </p:sp>
      <p:sp>
        <p:nvSpPr>
          <p:cNvPr id="4" name="object 4">
            <a:extLst>
              <a:ext uri="{FF2B5EF4-FFF2-40B4-BE49-F238E27FC236}">
                <a16:creationId xmlns:a16="http://schemas.microsoft.com/office/drawing/2014/main" id="{524FA3D3-2D48-1396-02E0-E592D20AE6B7}"/>
              </a:ext>
            </a:extLst>
          </p:cNvPr>
          <p:cNvSpPr txBox="1">
            <a:spLocks noGrp="1"/>
          </p:cNvSpPr>
          <p:nvPr>
            <p:ph type="sldNum" sz="quarter" idx="7"/>
          </p:nvPr>
        </p:nvSpPr>
        <p:spPr>
          <a:xfrm>
            <a:off x="552269" y="6556594"/>
            <a:ext cx="3729354" cy="167640"/>
          </a:xfrm>
          <a:prstGeom prst="rect">
            <a:avLst/>
          </a:prstGeom>
        </p:spPr>
        <p:txBody>
          <a:bodyPr vert="horz" wrap="square" lIns="0" tIns="0" rIns="0" bIns="0" rtlCol="0">
            <a:spAutoFit/>
          </a:bodyPr>
          <a:lstStyle>
            <a:defPPr>
              <a:defRPr kern="0"/>
            </a:defPPr>
            <a:lvl1pPr>
              <a:defRPr sz="1000" b="0" i="0">
                <a:solidFill>
                  <a:srgbClr val="3D3935"/>
                </a:solidFill>
                <a:latin typeface="Arial"/>
                <a:cs typeface="Arial"/>
              </a:defRPr>
            </a:lvl1pPr>
          </a:lstStyle>
          <a:p>
            <a:pPr marL="38100">
              <a:spcBef>
                <a:spcPts val="5"/>
              </a:spcBef>
              <a:defRPr/>
            </a:pPr>
            <a:fld id="{81D60167-4931-47E6-BA6A-407CBD079E47}" type="slidenum">
              <a:rPr lang="en-US" smtClean="0"/>
              <a:pPr marL="38100">
                <a:spcBef>
                  <a:spcPts val="5"/>
                </a:spcBef>
                <a:defRPr/>
              </a:pPr>
              <a:t>48</a:t>
            </a:fld>
            <a:r>
              <a:rPr lang="en-US" spc="235"/>
              <a:t> </a:t>
            </a:r>
            <a:r>
              <a:rPr lang="en-US"/>
              <a:t>|</a:t>
            </a:r>
            <a:r>
              <a:rPr lang="en-US" spc="400"/>
              <a:t> </a:t>
            </a:r>
            <a:r>
              <a:rPr lang="en-US"/>
              <a:t>Faculty</a:t>
            </a:r>
            <a:r>
              <a:rPr lang="en-US" spc="-15"/>
              <a:t> </a:t>
            </a:r>
            <a:r>
              <a:rPr lang="en-US"/>
              <a:t>of</a:t>
            </a:r>
            <a:r>
              <a:rPr lang="en-US" spc="-20"/>
              <a:t> </a:t>
            </a:r>
            <a:r>
              <a:rPr lang="en-US"/>
              <a:t>Business</a:t>
            </a:r>
            <a:r>
              <a:rPr lang="en-US" spc="-20"/>
              <a:t> </a:t>
            </a:r>
            <a:r>
              <a:rPr lang="en-US"/>
              <a:t>and</a:t>
            </a:r>
            <a:r>
              <a:rPr lang="en-US" spc="-20"/>
              <a:t> </a:t>
            </a:r>
            <a:r>
              <a:rPr lang="en-US"/>
              <a:t>Law</a:t>
            </a:r>
            <a:r>
              <a:rPr lang="en-US" spc="-15"/>
              <a:t> </a:t>
            </a:r>
            <a:r>
              <a:rPr lang="en-US"/>
              <a:t>|</a:t>
            </a:r>
            <a:r>
              <a:rPr lang="en-US" spc="-15"/>
              <a:t> </a:t>
            </a:r>
            <a:r>
              <a:rPr lang="en-US"/>
              <a:t>Peter</a:t>
            </a:r>
            <a:r>
              <a:rPr lang="en-US" spc="-10"/>
              <a:t> </a:t>
            </a:r>
            <a:r>
              <a:rPr lang="en-US"/>
              <a:t>Faber</a:t>
            </a:r>
            <a:r>
              <a:rPr lang="en-US" spc="-15"/>
              <a:t> </a:t>
            </a:r>
            <a:r>
              <a:rPr lang="en-US"/>
              <a:t>Business</a:t>
            </a:r>
            <a:r>
              <a:rPr lang="en-US" spc="-15"/>
              <a:t> </a:t>
            </a:r>
            <a:r>
              <a:rPr lang="en-US" spc="-10"/>
              <a:t>School</a:t>
            </a:r>
            <a:endParaRPr sz="1000" kern="0" spc="-10" dirty="0">
              <a:solidFill>
                <a:srgbClr val="3D3935"/>
              </a:solidFill>
              <a:latin typeface="Arial"/>
              <a:cs typeface="Arial"/>
            </a:endParaRPr>
          </a:p>
        </p:txBody>
      </p:sp>
      <p:sp>
        <p:nvSpPr>
          <p:cNvPr id="3" name="object 3">
            <a:extLst>
              <a:ext uri="{FF2B5EF4-FFF2-40B4-BE49-F238E27FC236}">
                <a16:creationId xmlns:a16="http://schemas.microsoft.com/office/drawing/2014/main" id="{29AB1092-95B3-7ACF-8F0C-CB846267DED1}"/>
              </a:ext>
            </a:extLst>
          </p:cNvPr>
          <p:cNvSpPr txBox="1"/>
          <p:nvPr/>
        </p:nvSpPr>
        <p:spPr>
          <a:xfrm>
            <a:off x="2043611" y="1416812"/>
            <a:ext cx="7745095" cy="511037"/>
          </a:xfrm>
          <a:prstGeom prst="rect">
            <a:avLst/>
          </a:prstGeom>
        </p:spPr>
        <p:txBody>
          <a:bodyPr vert="horz" wrap="square" lIns="0" tIns="79375" rIns="0" bIns="0" rtlCol="0">
            <a:spAutoFit/>
          </a:bodyPr>
          <a:lstStyle/>
          <a:p>
            <a:pPr marL="456565" indent="-443865">
              <a:spcBef>
                <a:spcPts val="625"/>
              </a:spcBef>
              <a:buClr>
                <a:srgbClr val="F2120C"/>
              </a:buClr>
              <a:buSzPct val="75000"/>
              <a:buFont typeface="Arial"/>
              <a:buChar char="•"/>
              <a:tabLst>
                <a:tab pos="456565" algn="l"/>
              </a:tabLst>
              <a:defRPr/>
            </a:pPr>
            <a:r>
              <a:rPr lang="en-US" sz="2800" i="1" kern="0" dirty="0">
                <a:solidFill>
                  <a:srgbClr val="3D3935"/>
                </a:solidFill>
                <a:latin typeface="Calibri"/>
                <a:cs typeface="Arial"/>
              </a:rPr>
              <a:t>Have a Great Learning Day!</a:t>
            </a:r>
            <a:endParaRPr sz="2800" kern="0" dirty="0">
              <a:solidFill>
                <a:sysClr val="windowText" lastClr="000000"/>
              </a:solidFill>
              <a:latin typeface="Calibri"/>
              <a:cs typeface="Arial"/>
            </a:endParaRPr>
          </a:p>
        </p:txBody>
      </p:sp>
      <p:sp>
        <p:nvSpPr>
          <p:cNvPr id="5" name="object 3">
            <a:extLst>
              <a:ext uri="{FF2B5EF4-FFF2-40B4-BE49-F238E27FC236}">
                <a16:creationId xmlns:a16="http://schemas.microsoft.com/office/drawing/2014/main" id="{A0227068-EB5C-24F0-54DA-165117897DD9}"/>
              </a:ext>
            </a:extLst>
          </p:cNvPr>
          <p:cNvSpPr txBox="1"/>
          <p:nvPr/>
        </p:nvSpPr>
        <p:spPr>
          <a:xfrm>
            <a:off x="2076270" y="2107462"/>
            <a:ext cx="7745095" cy="511037"/>
          </a:xfrm>
          <a:prstGeom prst="rect">
            <a:avLst/>
          </a:prstGeom>
        </p:spPr>
        <p:txBody>
          <a:bodyPr vert="horz" wrap="square" lIns="0" tIns="79375" rIns="0" bIns="0" rtlCol="0">
            <a:spAutoFit/>
          </a:bodyPr>
          <a:lstStyle/>
          <a:p>
            <a:pPr marL="456565" indent="-443865">
              <a:spcBef>
                <a:spcPts val="625"/>
              </a:spcBef>
              <a:buClr>
                <a:srgbClr val="F2120C"/>
              </a:buClr>
              <a:buSzPct val="75000"/>
              <a:buFont typeface="Arial"/>
              <a:buChar char="•"/>
              <a:tabLst>
                <a:tab pos="456565" algn="l"/>
              </a:tabLst>
              <a:defRPr/>
            </a:pPr>
            <a:r>
              <a:rPr lang="en-US" sz="2800" kern="0" dirty="0">
                <a:solidFill>
                  <a:sysClr val="windowText" lastClr="000000"/>
                </a:solidFill>
                <a:latin typeface="Calibri"/>
              </a:rPr>
              <a:t>Feel free to reach out with any questions!</a:t>
            </a:r>
            <a:endParaRPr sz="2800" kern="0" dirty="0">
              <a:solidFill>
                <a:sysClr val="windowText" lastClr="000000"/>
              </a:solidFill>
              <a:latin typeface="Calibri"/>
              <a:cs typeface="Arial"/>
            </a:endParaRPr>
          </a:p>
        </p:txBody>
      </p:sp>
    </p:spTree>
    <p:extLst>
      <p:ext uri="{BB962C8B-B14F-4D97-AF65-F5344CB8AC3E}">
        <p14:creationId xmlns:p14="http://schemas.microsoft.com/office/powerpoint/2010/main" val="2517070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TotalTime>
  <Words>2307</Words>
  <Application>Microsoft Office PowerPoint</Application>
  <PresentationFormat>Widescreen</PresentationFormat>
  <Paragraphs>306</Paragraphs>
  <Slides>48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Aptos</vt:lpstr>
      <vt:lpstr>Aptos Display</vt:lpstr>
      <vt:lpstr>Arial</vt:lpstr>
      <vt:lpstr>Calibir</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Let’s Answer Your Questions</vt:lpstr>
      <vt:lpstr>Happy Learning and Bright Futures Ahead!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77</cp:revision>
  <dcterms:created xsi:type="dcterms:W3CDTF">2026-04-01T10:02:37Z</dcterms:created>
  <dcterms:modified xsi:type="dcterms:W3CDTF">2026-04-08T10:56:05Z</dcterms:modified>
</cp:coreProperties>
</file>